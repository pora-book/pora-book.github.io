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0"/>
  </p:notesMasterIdLst>
  <p:sldIdLst>
    <p:sldId id="390" r:id="rId2"/>
    <p:sldId id="548" r:id="rId3"/>
    <p:sldId id="389" r:id="rId4"/>
    <p:sldId id="373" r:id="rId5"/>
    <p:sldId id="374" r:id="rId6"/>
    <p:sldId id="376" r:id="rId7"/>
    <p:sldId id="378" r:id="rId8"/>
    <p:sldId id="377" r:id="rId9"/>
    <p:sldId id="375" r:id="rId10"/>
    <p:sldId id="549" r:id="rId11"/>
    <p:sldId id="550" r:id="rId12"/>
    <p:sldId id="381" r:id="rId13"/>
    <p:sldId id="382" r:id="rId14"/>
    <p:sldId id="383" r:id="rId15"/>
    <p:sldId id="384" r:id="rId16"/>
    <p:sldId id="385" r:id="rId17"/>
    <p:sldId id="386" r:id="rId18"/>
    <p:sldId id="38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CC25E8B-7885-9143-B6A6-C663038D90BB}">
          <p14:sldIdLst>
            <p14:sldId id="390"/>
            <p14:sldId id="548"/>
            <p14:sldId id="389"/>
            <p14:sldId id="373"/>
            <p14:sldId id="374"/>
            <p14:sldId id="376"/>
            <p14:sldId id="378"/>
            <p14:sldId id="377"/>
            <p14:sldId id="375"/>
            <p14:sldId id="549"/>
            <p14:sldId id="550"/>
            <p14:sldId id="381"/>
            <p14:sldId id="382"/>
            <p14:sldId id="383"/>
            <p14:sldId id="384"/>
            <p14:sldId id="385"/>
            <p14:sldId id="386"/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178"/>
    <p:restoredTop sz="84392"/>
  </p:normalViewPr>
  <p:slideViewPr>
    <p:cSldViewPr snapToGrid="0" snapToObjects="1">
      <p:cViewPr varScale="1">
        <p:scale>
          <a:sx n="100" d="100"/>
          <a:sy n="100" d="100"/>
        </p:scale>
        <p:origin x="18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shortest path formulation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85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J_N^*(\</a:t>
            </a:r>
            <a:r>
              <a:rPr lang="p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p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</a:t>
            </a:r>
            <a:r>
              <a:rPr lang="p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{1}{2}\</a:t>
            </a:r>
            <a:r>
              <a:rPr lang="p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p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^{\prime} H\</a:t>
            </a:r>
            <a:r>
              <a:rPr lang="p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p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:= \</a:t>
            </a:r>
            <a:r>
              <a:rPr lang="p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{1}{2}\</a:t>
            </a:r>
            <a:r>
              <a:rPr lang="p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p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^{\prime} P_N\</a:t>
            </a:r>
            <a:r>
              <a:rPr lang="p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endParaRPr lang="p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\begin{equation*}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\begin{split}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J_{N-1}(\x_{N-1}) =&amp; \min_{\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_{N-1}}\, \, 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\{ \x_{N-1}^{\prime} Q \x_{N-1}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_{N-1}^{\prime} R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 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^{\prime} H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\}\\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&amp;\min_{\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_{N-1}}\, \, 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\{ \x_{N-1}^{\prime} Q \x_{N-1}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_{N-1}^{\prime} R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  +\\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&amp;\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\quad (A_{N-1}\x_{N-1} + B_{N-1}\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_{N-1})^{\prime} H (A_{N-1}\x_{N-1} + B_{N-1}\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_{N-1})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\end{split}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\end{equation*}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8108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{\partial J^*_{N-1}(\x_{N-1})}{\partial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_{N-1}} = R\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 + B^{\prime}_{N-1}H(A_{N-1}\x_{N-1} + B_{N-1}\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_{N-1}) = 0</a:t>
            </a:r>
          </a:p>
          <a:p>
            <a:endParaRPr lang="en-US" dirty="0"/>
          </a:p>
          <a:p>
            <a:r>
              <a:rPr lang="en-US" dirty="0"/>
              <a:t>\</a:t>
            </a:r>
            <a:r>
              <a:rPr lang="en-US" dirty="0" err="1"/>
              <a:t>frac</a:t>
            </a:r>
            <a:r>
              <a:rPr lang="en-US" dirty="0"/>
              <a:t>{\partial^2 J^*_{N-1}(\x_{N-1})}{\partial \</a:t>
            </a:r>
            <a:r>
              <a:rPr lang="en-US" dirty="0" err="1"/>
              <a:t>uc</a:t>
            </a:r>
            <a:r>
              <a:rPr lang="en-US" dirty="0"/>
              <a:t>_{N-1}^2} = R + B_{N-1}^{\prime}HB_{N-1}&gt;0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47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(R+B^{\prime}_{N-1}HB_{N-1}) \</a:t>
            </a:r>
            <a:r>
              <a:rPr lang="en-US" dirty="0" err="1"/>
              <a:t>uc</a:t>
            </a:r>
            <a:r>
              <a:rPr lang="en-US" dirty="0"/>
              <a:t>^*_{N-1} + B^{\prime}_{N-1}H A_{N-1}\x_{N-1}  = 0</a:t>
            </a:r>
          </a:p>
          <a:p>
            <a:endParaRPr lang="en-US" dirty="0"/>
          </a:p>
          <a:p>
            <a:r>
              <a:rPr lang="en-US" dirty="0"/>
              <a:t>\</a:t>
            </a:r>
            <a:r>
              <a:rPr lang="en-US" dirty="0" err="1"/>
              <a:t>uc</a:t>
            </a:r>
            <a:r>
              <a:rPr lang="en-US" dirty="0"/>
              <a:t>^*_{N-1} = - (R+B^{\prime}_{N-1}HB_{N-1})^{-1}B^{\prime}_{N-1}H A_{N-1}\x_{N-1}:=F_{N-1}\x_{N-1}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1879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\begin{equation*}</a:t>
            </a:r>
          </a:p>
          <a:p>
            <a:r>
              <a:rPr lang="en-US" dirty="0"/>
              <a:t>\begin{split}</a:t>
            </a:r>
          </a:p>
          <a:p>
            <a:r>
              <a:rPr lang="en-US" dirty="0"/>
              <a:t>J_{N-1}(\x_{N-1}) =&amp;\</a:t>
            </a:r>
            <a:r>
              <a:rPr lang="en-US" dirty="0" err="1"/>
              <a:t>frac</a:t>
            </a:r>
            <a:r>
              <a:rPr lang="en-US" dirty="0"/>
              <a:t>{1}{2} \x_{N-1}^{\prime} \</a:t>
            </a:r>
            <a:r>
              <a:rPr lang="en-US" dirty="0" err="1"/>
              <a:t>biggl</a:t>
            </a:r>
            <a:r>
              <a:rPr lang="en-US" dirty="0"/>
              <a:t> \{  Q  + F_{N-1}^{\prime} R F_{N-1}  +\\</a:t>
            </a:r>
          </a:p>
          <a:p>
            <a:r>
              <a:rPr lang="en-US" dirty="0"/>
              <a:t>&amp;\</a:t>
            </a:r>
            <a:r>
              <a:rPr lang="en-US" dirty="0" err="1"/>
              <a:t>qquad</a:t>
            </a:r>
            <a:r>
              <a:rPr lang="en-US" dirty="0"/>
              <a:t>  (A_{N-1}+ B_{N-1}F_{N-1})^{\prime} H (A_{N-1}+ B_{N-1}F_{N-1}) \</a:t>
            </a:r>
            <a:r>
              <a:rPr lang="en-US" dirty="0" err="1"/>
              <a:t>biggr</a:t>
            </a:r>
            <a:r>
              <a:rPr lang="en-US" dirty="0"/>
              <a:t> \}\x_{N-1}\\</a:t>
            </a:r>
          </a:p>
          <a:p>
            <a:r>
              <a:rPr lang="en-US" dirty="0"/>
              <a:t>:=&amp;\x_{N-1}^{\prime}P_{N-1}\x_{N-1}\\</a:t>
            </a:r>
          </a:p>
          <a:p>
            <a:r>
              <a:rPr lang="en-US" dirty="0"/>
              <a:t>F_{N-1} =&amp;  - (R+B^{\prime}_{N-1} P_N B_{N-1})^{-1}B^{\prime}_{N-1} P_N A_{N-1}</a:t>
            </a:r>
          </a:p>
          <a:p>
            <a:r>
              <a:rPr lang="en-US" dirty="0"/>
              <a:t>\end{split}</a:t>
            </a:r>
          </a:p>
          <a:p>
            <a:r>
              <a:rPr lang="en-US" dirty="0"/>
              <a:t>\end{equation*}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7576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\begin{equation*}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\begin{split}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J_{N-1}(\x_{N-1}) =&amp;\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 \x_{N-1}^{\prime}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\{  Q  + F_{N-1}^{\prime} R F_{N-1}  +\\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&amp;\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(A_{N-1}+ B_{N-1}F_{N-1})^{\prime} H (A_{N-1}+ B_{N-1}F_{N-1})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\}\x_{N-1}\\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:=&amp;\x_{N-1}^{\prime}P_{N-1}\x_{N-1}\\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F_{N-1} =&amp;  - (R+B^{\prime}_{N-1} P_N B_{N-1})^{-1}B^{\prime}_{N-1} P_N A_{N-1}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\end{split}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\end{equation*}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05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BC89D-58DA-634B-8296-F8CCA53359BB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14857810-C9CE-AA41-B3E8-2CD7B9F9D4E5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2ABE7-9B40-DA43-A54E-0E2D84F36135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8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D33F0-B807-5741-B59B-CFE301968AC1}" type="datetime1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0F9E4-D7EC-714F-AA82-A05540119E6D}" type="datetime1">
              <a:rPr lang="en-US" smtClean="0"/>
              <a:t>4/18/26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3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D35CA-BAB6-4F41-849C-BB01D2B75BD3}" type="datetime1">
              <a:rPr lang="en-US" smtClean="0"/>
              <a:t>4/18/26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37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FC45-891D-574F-904A-3B6D3149C595}" type="datetime1">
              <a:rPr lang="en-US" smtClean="0"/>
              <a:t>4/18/26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30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A11B-141F-1F42-A8DE-73EF08CD622A}" type="datetime1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5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F2307-F840-674A-8564-1547B11E3D23}" type="datetime1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8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E35A-1E1A-0544-BED7-1276695905BE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3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F2EA1-1CA5-CF43-A07E-B47B8296C778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2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5D63E8-79C5-4E4F-8FCA-D23D4E833E66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203 | Lecture 7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tif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tif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AA203</a:t>
            </a:r>
            <a:br>
              <a:rPr lang="en-US" sz="4800" dirty="0"/>
            </a:br>
            <a:r>
              <a:rPr lang="en-US" sz="4800" dirty="0"/>
              <a:t>Optimal and Learning-based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611638" cy="1655762"/>
          </a:xfrm>
        </p:spPr>
        <p:txBody>
          <a:bodyPr/>
          <a:lstStyle/>
          <a:p>
            <a:r>
              <a:rPr lang="en-US" dirty="0"/>
              <a:t>Dynamic programming, discrete LQR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895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45F41-8626-064F-94B0-1AEE04E0B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61" name="Date Placeholder 3">
            <a:extLst>
              <a:ext uri="{FF2B5EF4-FFF2-40B4-BE49-F238E27FC236}">
                <a16:creationId xmlns:a16="http://schemas.microsoft.com/office/drawing/2014/main" id="{F1D8B968-149E-A741-A169-FDBA9B5EF3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4049B9A4-6C45-3644-BC49-213F451CC74F}" type="datetime1">
              <a:rPr lang="en-US" smtClean="0"/>
              <a:t>4/18/26</a:t>
            </a:fld>
            <a:endParaRPr lang="en-US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2102A20-2B85-AA49-B1B2-B2BD20529B3B}"/>
              </a:ext>
            </a:extLst>
          </p:cNvPr>
          <p:cNvGrpSpPr/>
          <p:nvPr/>
        </p:nvGrpSpPr>
        <p:grpSpPr>
          <a:xfrm>
            <a:off x="266696" y="3646326"/>
            <a:ext cx="5829304" cy="2484161"/>
            <a:chOff x="266696" y="3646326"/>
            <a:chExt cx="5829304" cy="2484161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E190DCF-50AC-E54D-9D82-6A94A8719F8B}"/>
                </a:ext>
              </a:extLst>
            </p:cNvPr>
            <p:cNvSpPr/>
            <p:nvPr/>
          </p:nvSpPr>
          <p:spPr>
            <a:xfrm>
              <a:off x="1303564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Open-loop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2653F64-F88A-B540-B01F-A17D2B669F49}"/>
                </a:ext>
              </a:extLst>
            </p:cNvPr>
            <p:cNvSpPr/>
            <p:nvPr/>
          </p:nvSpPr>
          <p:spPr>
            <a:xfrm>
              <a:off x="26669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Indirect methods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73E72EE-04D4-CC4A-AC49-3780F353E45C}"/>
                </a:ext>
              </a:extLst>
            </p:cNvPr>
            <p:cNvSpPr/>
            <p:nvPr/>
          </p:nvSpPr>
          <p:spPr>
            <a:xfrm>
              <a:off x="2390055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methods</a:t>
              </a:r>
            </a:p>
          </p:txBody>
        </p:sp>
        <p:cxnSp>
          <p:nvCxnSpPr>
            <p:cNvPr id="68" name="Elbow Connector 67">
              <a:extLst>
                <a:ext uri="{FF2B5EF4-FFF2-40B4-BE49-F238E27FC236}">
                  <a16:creationId xmlns:a16="http://schemas.microsoft.com/office/drawing/2014/main" id="{8F620346-E2CB-F04C-BF3C-C54B914EEBA2}"/>
                </a:ext>
              </a:extLst>
            </p:cNvPr>
            <p:cNvCxnSpPr>
              <a:cxnSpLocks/>
              <a:stCxn id="94" idx="2"/>
              <a:endCxn id="65" idx="0"/>
            </p:cNvCxnSpPr>
            <p:nvPr/>
          </p:nvCxnSpPr>
          <p:spPr>
            <a:xfrm rot="5400000">
              <a:off x="3908558" y="1947568"/>
              <a:ext cx="488684" cy="3886200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Elbow Connector 68">
              <a:extLst>
                <a:ext uri="{FF2B5EF4-FFF2-40B4-BE49-F238E27FC236}">
                  <a16:creationId xmlns:a16="http://schemas.microsoft.com/office/drawing/2014/main" id="{302246DB-B0A1-844C-B1CD-3E214BDE25FC}"/>
                </a:ext>
              </a:extLst>
            </p:cNvPr>
            <p:cNvCxnSpPr>
              <a:cxnSpLocks/>
              <a:stCxn id="65" idx="2"/>
              <a:endCxn id="66" idx="0"/>
            </p:cNvCxnSpPr>
            <p:nvPr/>
          </p:nvCxnSpPr>
          <p:spPr>
            <a:xfrm rot="5400000">
              <a:off x="1199814" y="4614314"/>
              <a:ext cx="983105" cy="1036868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DF1A6EB4-B45E-8343-9885-901C82D85BAE}"/>
                </a:ext>
              </a:extLst>
            </p:cNvPr>
            <p:cNvCxnSpPr>
              <a:cxnSpLocks/>
              <a:stCxn id="65" idx="2"/>
              <a:endCxn id="67" idx="0"/>
            </p:cNvCxnSpPr>
            <p:nvPr/>
          </p:nvCxnSpPr>
          <p:spPr>
            <a:xfrm rot="16200000" flipH="1">
              <a:off x="2266119" y="4584876"/>
              <a:ext cx="973852" cy="1086491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7DEEA8F-1310-B844-B107-4D882C3E8D9A}"/>
              </a:ext>
            </a:extLst>
          </p:cNvPr>
          <p:cNvGrpSpPr/>
          <p:nvPr/>
        </p:nvGrpSpPr>
        <p:grpSpPr>
          <a:xfrm>
            <a:off x="6095999" y="3646326"/>
            <a:ext cx="5698672" cy="2484161"/>
            <a:chOff x="6095999" y="3646326"/>
            <a:chExt cx="5698672" cy="2484161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D19FF11-D5FC-2A42-924D-BA9910FC079D}"/>
                </a:ext>
              </a:extLst>
            </p:cNvPr>
            <p:cNvSpPr/>
            <p:nvPr/>
          </p:nvSpPr>
          <p:spPr>
            <a:xfrm>
              <a:off x="8841921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Closed-loop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38C1858-C47D-B546-84AC-D7F52AA0B3B5}"/>
                </a:ext>
              </a:extLst>
            </p:cNvPr>
            <p:cNvSpPr/>
            <p:nvPr/>
          </p:nvSpPr>
          <p:spPr>
            <a:xfrm>
              <a:off x="775606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DP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D2FC903-E7EC-9B4C-A4DE-F9707B8BD12F}"/>
                </a:ext>
              </a:extLst>
            </p:cNvPr>
            <p:cNvSpPr/>
            <p:nvPr/>
          </p:nvSpPr>
          <p:spPr>
            <a:xfrm>
              <a:off x="9982200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HJB / HJI</a:t>
              </a:r>
            </a:p>
          </p:txBody>
        </p:sp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7EB63C26-49C2-FF47-928C-4A2748E4F665}"/>
                </a:ext>
              </a:extLst>
            </p:cNvPr>
            <p:cNvCxnSpPr>
              <a:cxnSpLocks/>
              <a:stCxn id="94" idx="2"/>
              <a:endCxn id="72" idx="0"/>
            </p:cNvCxnSpPr>
            <p:nvPr/>
          </p:nvCxnSpPr>
          <p:spPr>
            <a:xfrm rot="16200000" flipH="1">
              <a:off x="7677736" y="2064589"/>
              <a:ext cx="488684" cy="3652157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254C0504-F595-9A4B-AA09-1641F193AC0A}"/>
                </a:ext>
              </a:extLst>
            </p:cNvPr>
            <p:cNvCxnSpPr>
              <a:cxnSpLocks/>
              <a:stCxn id="72" idx="2"/>
              <a:endCxn id="74" idx="0"/>
            </p:cNvCxnSpPr>
            <p:nvPr/>
          </p:nvCxnSpPr>
          <p:spPr>
            <a:xfrm rot="16200000" flipH="1">
              <a:off x="9831370" y="4557982"/>
              <a:ext cx="973852" cy="1140279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Elbow Connector 76">
              <a:extLst>
                <a:ext uri="{FF2B5EF4-FFF2-40B4-BE49-F238E27FC236}">
                  <a16:creationId xmlns:a16="http://schemas.microsoft.com/office/drawing/2014/main" id="{8324C246-3E39-B043-B453-1E870C0E62F3}"/>
                </a:ext>
              </a:extLst>
            </p:cNvPr>
            <p:cNvCxnSpPr>
              <a:cxnSpLocks/>
              <a:stCxn id="72" idx="2"/>
              <a:endCxn id="73" idx="0"/>
            </p:cNvCxnSpPr>
            <p:nvPr/>
          </p:nvCxnSpPr>
          <p:spPr>
            <a:xfrm rot="5400000">
              <a:off x="8713678" y="4589821"/>
              <a:ext cx="983105" cy="1085855"/>
            </a:xfrm>
            <a:prstGeom prst="bentConnector3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4350572-617F-F24B-BEE1-079276C8585E}"/>
              </a:ext>
            </a:extLst>
          </p:cNvPr>
          <p:cNvGrpSpPr/>
          <p:nvPr/>
        </p:nvGrpSpPr>
        <p:grpSpPr>
          <a:xfrm>
            <a:off x="3116035" y="4133085"/>
            <a:ext cx="5725886" cy="506186"/>
            <a:chOff x="3116035" y="4133085"/>
            <a:chExt cx="5725886" cy="506186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948FB1AE-2159-4141-B5C1-C34252AF5330}"/>
                </a:ext>
              </a:extLst>
            </p:cNvPr>
            <p:cNvSpPr/>
            <p:nvPr/>
          </p:nvSpPr>
          <p:spPr>
            <a:xfrm>
              <a:off x="5189764" y="4133085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MPC</a:t>
              </a:r>
            </a:p>
          </p:txBody>
        </p:sp>
        <p:cxnSp>
          <p:nvCxnSpPr>
            <p:cNvPr id="80" name="Elbow Connector 79">
              <a:extLst>
                <a:ext uri="{FF2B5EF4-FFF2-40B4-BE49-F238E27FC236}">
                  <a16:creationId xmlns:a16="http://schemas.microsoft.com/office/drawing/2014/main" id="{5B037B2B-F124-9245-9DE6-7A129395F932}"/>
                </a:ext>
              </a:extLst>
            </p:cNvPr>
            <p:cNvCxnSpPr>
              <a:cxnSpLocks/>
              <a:stCxn id="65" idx="3"/>
              <a:endCxn id="79" idx="1"/>
            </p:cNvCxnSpPr>
            <p:nvPr/>
          </p:nvCxnSpPr>
          <p:spPr>
            <a:xfrm flipV="1">
              <a:off x="3116035" y="4386178"/>
              <a:ext cx="2073729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Elbow Connector 80">
              <a:extLst>
                <a:ext uri="{FF2B5EF4-FFF2-40B4-BE49-F238E27FC236}">
                  <a16:creationId xmlns:a16="http://schemas.microsoft.com/office/drawing/2014/main" id="{63095D97-06E0-0B40-8970-291754FE67C9}"/>
                </a:ext>
              </a:extLst>
            </p:cNvPr>
            <p:cNvCxnSpPr>
              <a:cxnSpLocks/>
              <a:stCxn id="72" idx="1"/>
              <a:endCxn id="79" idx="3"/>
            </p:cNvCxnSpPr>
            <p:nvPr/>
          </p:nvCxnSpPr>
          <p:spPr>
            <a:xfrm rot="10800000">
              <a:off x="7002235" y="4386179"/>
              <a:ext cx="1839686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F9F8273-8396-1643-8CF2-71D742BDA1D2}"/>
              </a:ext>
            </a:extLst>
          </p:cNvPr>
          <p:cNvGrpSpPr/>
          <p:nvPr/>
        </p:nvGrpSpPr>
        <p:grpSpPr>
          <a:xfrm>
            <a:off x="6096000" y="1653372"/>
            <a:ext cx="2566301" cy="1325563"/>
            <a:chOff x="6096000" y="1653372"/>
            <a:chExt cx="2566301" cy="1325563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89873C4C-56E2-C648-9D89-0298B723C125}"/>
                </a:ext>
              </a:extLst>
            </p:cNvPr>
            <p:cNvSpPr/>
            <p:nvPr/>
          </p:nvSpPr>
          <p:spPr>
            <a:xfrm>
              <a:off x="6849830" y="1653372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control</a:t>
              </a:r>
            </a:p>
          </p:txBody>
        </p: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5C1383A1-A3FA-1143-90E1-028DBA491743}"/>
                </a:ext>
              </a:extLst>
            </p:cNvPr>
            <p:cNvCxnSpPr>
              <a:cxnSpLocks/>
              <a:stCxn id="94" idx="0"/>
              <a:endCxn id="83" idx="1"/>
            </p:cNvCxnSpPr>
            <p:nvPr/>
          </p:nvCxnSpPr>
          <p:spPr>
            <a:xfrm rot="5400000" flipH="1" flipV="1">
              <a:off x="5936680" y="2065785"/>
              <a:ext cx="1072470" cy="753830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6E44216-4C6F-AA4D-A8DF-C7930EE8CBE3}"/>
              </a:ext>
            </a:extLst>
          </p:cNvPr>
          <p:cNvGrpSpPr/>
          <p:nvPr/>
        </p:nvGrpSpPr>
        <p:grpSpPr>
          <a:xfrm>
            <a:off x="8662301" y="1311739"/>
            <a:ext cx="2865114" cy="1264080"/>
            <a:chOff x="8215426" y="894093"/>
            <a:chExt cx="2865114" cy="126408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67952DBE-F75A-014A-95C6-410C04C44990}"/>
                </a:ext>
              </a:extLst>
            </p:cNvPr>
            <p:cNvGrpSpPr/>
            <p:nvPr/>
          </p:nvGrpSpPr>
          <p:grpSpPr>
            <a:xfrm>
              <a:off x="8215426" y="894093"/>
              <a:ext cx="2865114" cy="1264080"/>
              <a:chOff x="8215426" y="894093"/>
              <a:chExt cx="2865114" cy="1264080"/>
            </a:xfrm>
          </p:grpSpPr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82BD049F-A662-584A-959D-6A306F87BD96}"/>
                  </a:ext>
                </a:extLst>
              </p:cNvPr>
              <p:cNvGrpSpPr/>
              <p:nvPr/>
            </p:nvGrpSpPr>
            <p:grpSpPr>
              <a:xfrm>
                <a:off x="8215426" y="1488819"/>
                <a:ext cx="2865114" cy="669354"/>
                <a:chOff x="8215426" y="1488819"/>
                <a:chExt cx="2865114" cy="669354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DB3E2244-4BF5-5847-BF43-9AF9C841B3B9}"/>
                    </a:ext>
                  </a:extLst>
                </p:cNvPr>
                <p:cNvSpPr/>
                <p:nvPr/>
              </p:nvSpPr>
              <p:spPr>
                <a:xfrm>
                  <a:off x="9268069" y="1651987"/>
                  <a:ext cx="1812471" cy="50618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Model-based RL</a:t>
                  </a:r>
                </a:p>
              </p:txBody>
            </p:sp>
            <p:cxnSp>
              <p:nvCxnSpPr>
                <p:cNvPr id="91" name="Elbow Connector 90">
                  <a:extLst>
                    <a:ext uri="{FF2B5EF4-FFF2-40B4-BE49-F238E27FC236}">
                      <a16:creationId xmlns:a16="http://schemas.microsoft.com/office/drawing/2014/main" id="{C8F022AB-EDE9-124D-AD9C-4FE5F2C24E41}"/>
                    </a:ext>
                  </a:extLst>
                </p:cNvPr>
                <p:cNvCxnSpPr>
                  <a:cxnSpLocks/>
                  <a:stCxn id="83" idx="3"/>
                  <a:endCxn id="90" idx="1"/>
                </p:cNvCxnSpPr>
                <p:nvPr/>
              </p:nvCxnSpPr>
              <p:spPr>
                <a:xfrm>
                  <a:off x="8215426" y="1488819"/>
                  <a:ext cx="1052643" cy="416261"/>
                </a:xfrm>
                <a:prstGeom prst="bentConnector3">
                  <a:avLst>
                    <a:gd name="adj1" fmla="val 71717"/>
                  </a:avLst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44A8ED1D-FCC2-3742-8E4E-2DAD5D501C3E}"/>
                  </a:ext>
                </a:extLst>
              </p:cNvPr>
              <p:cNvSpPr/>
              <p:nvPr/>
            </p:nvSpPr>
            <p:spPr>
              <a:xfrm>
                <a:off x="9268069" y="894093"/>
                <a:ext cx="1812471" cy="5061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 RL</a:t>
                </a:r>
              </a:p>
            </p:txBody>
          </p:sp>
        </p:grp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C05A32B7-FE7A-8044-AF81-71CD120B012B}"/>
                </a:ext>
              </a:extLst>
            </p:cNvPr>
            <p:cNvCxnSpPr>
              <a:cxnSpLocks/>
              <a:endCxn id="89" idx="1"/>
            </p:cNvCxnSpPr>
            <p:nvPr/>
          </p:nvCxnSpPr>
          <p:spPr>
            <a:xfrm rot="5400000" flipH="1" flipV="1">
              <a:off x="8736988" y="1375383"/>
              <a:ext cx="759278" cy="302884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752D9E26-BB6E-6844-8B53-BB464B6B1299}"/>
              </a:ext>
            </a:extLst>
          </p:cNvPr>
          <p:cNvSpPr/>
          <p:nvPr/>
        </p:nvSpPr>
        <p:spPr>
          <a:xfrm>
            <a:off x="1944737" y="1651797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Control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2ADE1D8-EDB7-774D-A168-B30BF705CB58}"/>
              </a:ext>
            </a:extLst>
          </p:cNvPr>
          <p:cNvGrpSpPr/>
          <p:nvPr/>
        </p:nvGrpSpPr>
        <p:grpSpPr>
          <a:xfrm>
            <a:off x="586717" y="1904890"/>
            <a:ext cx="6415518" cy="1741436"/>
            <a:chOff x="586717" y="1904890"/>
            <a:chExt cx="6415518" cy="1741436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06B9F49-52EE-F945-BC21-4ED9B480AF00}"/>
                </a:ext>
              </a:extLst>
            </p:cNvPr>
            <p:cNvSpPr/>
            <p:nvPr/>
          </p:nvSpPr>
          <p:spPr>
            <a:xfrm>
              <a:off x="5189764" y="2978935"/>
              <a:ext cx="1812471" cy="6673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and learning</a:t>
              </a:r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control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67A9DD82-7A09-3C4D-85B3-0D574903C5E0}"/>
                </a:ext>
              </a:extLst>
            </p:cNvPr>
            <p:cNvSpPr/>
            <p:nvPr/>
          </p:nvSpPr>
          <p:spPr>
            <a:xfrm>
              <a:off x="2924176" y="256058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 control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ABE7BBA2-24A2-8B4D-80D1-6AA2986666E6}"/>
                </a:ext>
              </a:extLst>
            </p:cNvPr>
            <p:cNvSpPr/>
            <p:nvPr/>
          </p:nvSpPr>
          <p:spPr>
            <a:xfrm>
              <a:off x="586717" y="2569586"/>
              <a:ext cx="2057956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Feedback control</a:t>
              </a:r>
            </a:p>
          </p:txBody>
        </p: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C259DDF1-7D3F-7845-B129-6701B9C7D822}"/>
                </a:ext>
              </a:extLst>
            </p:cNvPr>
            <p:cNvCxnSpPr>
              <a:cxnSpLocks/>
              <a:stCxn id="92" idx="2"/>
              <a:endCxn id="96" idx="0"/>
            </p:cNvCxnSpPr>
            <p:nvPr/>
          </p:nvCxnSpPr>
          <p:spPr>
            <a:xfrm rot="5400000">
              <a:off x="2027533" y="1746145"/>
              <a:ext cx="411603" cy="12352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Elbow Connector 97">
              <a:extLst>
                <a:ext uri="{FF2B5EF4-FFF2-40B4-BE49-F238E27FC236}">
                  <a16:creationId xmlns:a16="http://schemas.microsoft.com/office/drawing/2014/main" id="{00652E00-DEAA-2541-B6BD-CABF317E2128}"/>
                </a:ext>
              </a:extLst>
            </p:cNvPr>
            <p:cNvCxnSpPr>
              <a:cxnSpLocks/>
              <a:stCxn id="92" idx="2"/>
              <a:endCxn id="95" idx="0"/>
            </p:cNvCxnSpPr>
            <p:nvPr/>
          </p:nvCxnSpPr>
          <p:spPr>
            <a:xfrm rot="16200000" flipH="1">
              <a:off x="3139393" y="1869562"/>
              <a:ext cx="402598" cy="979439"/>
            </a:xfrm>
            <a:prstGeom prst="bentConnector3">
              <a:avLst>
                <a:gd name="adj1" fmla="val 51633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Elbow Connector 98">
              <a:extLst>
                <a:ext uri="{FF2B5EF4-FFF2-40B4-BE49-F238E27FC236}">
                  <a16:creationId xmlns:a16="http://schemas.microsoft.com/office/drawing/2014/main" id="{E527CBEC-1CBA-F344-BFB4-ECB576A7A3CD}"/>
                </a:ext>
              </a:extLst>
            </p:cNvPr>
            <p:cNvCxnSpPr>
              <a:cxnSpLocks/>
              <a:stCxn id="92" idx="3"/>
              <a:endCxn id="94" idx="1"/>
            </p:cNvCxnSpPr>
            <p:nvPr/>
          </p:nvCxnSpPr>
          <p:spPr>
            <a:xfrm>
              <a:off x="3757208" y="1904890"/>
              <a:ext cx="1432556" cy="1407741"/>
            </a:xfrm>
            <a:prstGeom prst="bentConnector3">
              <a:avLst>
                <a:gd name="adj1" fmla="val 80715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0" name="Elbow Connector 60">
            <a:extLst>
              <a:ext uri="{FF2B5EF4-FFF2-40B4-BE49-F238E27FC236}">
                <a16:creationId xmlns:a16="http://schemas.microsoft.com/office/drawing/2014/main" id="{5EAD156A-51A7-B540-96B7-A1CA12984BAE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7736" y="2064589"/>
            <a:ext cx="488684" cy="3652157"/>
          </a:xfrm>
          <a:prstGeom prst="bentConnector3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61">
            <a:extLst>
              <a:ext uri="{FF2B5EF4-FFF2-40B4-BE49-F238E27FC236}">
                <a16:creationId xmlns:a16="http://schemas.microsoft.com/office/drawing/2014/main" id="{A124FD1D-C973-5F4F-A98A-E7B645CAB3E2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31370" y="4557982"/>
            <a:ext cx="973852" cy="1140279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C76C0C2-F38C-524B-8258-6A6BA131D60D}"/>
              </a:ext>
            </a:extLst>
          </p:cNvPr>
          <p:cNvSpPr/>
          <p:nvPr/>
        </p:nvSpPr>
        <p:spPr>
          <a:xfrm>
            <a:off x="7562935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389DCF4-9C0F-FA42-9251-38ECF222865B}"/>
              </a:ext>
            </a:extLst>
          </p:cNvPr>
          <p:cNvSpPr/>
          <p:nvPr/>
        </p:nvSpPr>
        <p:spPr>
          <a:xfrm>
            <a:off x="8318044" y="6425579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iLQR</a:t>
            </a:r>
            <a:endParaRPr lang="en-US" sz="1400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D0FB036-F33A-A545-ADC3-5A0CCDB6BF97}"/>
              </a:ext>
            </a:extLst>
          </p:cNvPr>
          <p:cNvSpPr/>
          <p:nvPr/>
        </p:nvSpPr>
        <p:spPr>
          <a:xfrm>
            <a:off x="9071249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DDP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62E52A96-CAD6-0B4B-9D2D-476DF93F64EB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8662302" y="6130487"/>
            <a:ext cx="1904" cy="29509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8">
            <a:extLst>
              <a:ext uri="{FF2B5EF4-FFF2-40B4-BE49-F238E27FC236}">
                <a16:creationId xmlns:a16="http://schemas.microsoft.com/office/drawing/2014/main" id="{1BB2117D-6CA4-E04B-A371-10319762145E}"/>
              </a:ext>
            </a:extLst>
          </p:cNvPr>
          <p:cNvCxnSpPr>
            <a:cxnSpLocks/>
            <a:endCxn id="102" idx="0"/>
          </p:cNvCxnSpPr>
          <p:nvPr/>
        </p:nvCxnSpPr>
        <p:spPr>
          <a:xfrm rot="5400000">
            <a:off x="8138906" y="5900679"/>
            <a:ext cx="293588" cy="753205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1">
            <a:extLst>
              <a:ext uri="{FF2B5EF4-FFF2-40B4-BE49-F238E27FC236}">
                <a16:creationId xmlns:a16="http://schemas.microsoft.com/office/drawing/2014/main" id="{922E3C62-15B6-9047-8E68-65880720ACCD}"/>
              </a:ext>
            </a:extLst>
          </p:cNvPr>
          <p:cNvCxnSpPr>
            <a:cxnSpLocks/>
            <a:endCxn id="104" idx="0"/>
          </p:cNvCxnSpPr>
          <p:nvPr/>
        </p:nvCxnSpPr>
        <p:spPr>
          <a:xfrm rot="16200000" flipH="1">
            <a:off x="8893062" y="5899726"/>
            <a:ext cx="293588" cy="755109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Slide Number Placeholder 15">
            <a:extLst>
              <a:ext uri="{FF2B5EF4-FFF2-40B4-BE49-F238E27FC236}">
                <a16:creationId xmlns:a16="http://schemas.microsoft.com/office/drawing/2014/main" id="{605CAB22-8F68-5F4A-A506-38EFA6296D55}"/>
              </a:ext>
            </a:extLst>
          </p:cNvPr>
          <p:cNvSpPr txBox="1">
            <a:spLocks/>
          </p:cNvSpPr>
          <p:nvPr/>
        </p:nvSpPr>
        <p:spPr>
          <a:xfrm>
            <a:off x="8610600" y="654209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A1F273-EF2F-3941-BBF8-D365CB27DD6A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11BD4049-618D-6942-8B29-B9389B84319D}"/>
              </a:ext>
            </a:extLst>
          </p:cNvPr>
          <p:cNvSpPr/>
          <p:nvPr/>
        </p:nvSpPr>
        <p:spPr>
          <a:xfrm>
            <a:off x="10846758" y="6422839"/>
            <a:ext cx="1268727" cy="4212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Reachability analysis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985B8C9-8310-E944-BDA7-8A3DF5B0A2F9}"/>
              </a:ext>
            </a:extLst>
          </p:cNvPr>
          <p:cNvSpPr/>
          <p:nvPr/>
        </p:nvSpPr>
        <p:spPr>
          <a:xfrm>
            <a:off x="9989790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cxnSp>
        <p:nvCxnSpPr>
          <p:cNvPr id="111" name="Elbow Connector 4">
            <a:extLst>
              <a:ext uri="{FF2B5EF4-FFF2-40B4-BE49-F238E27FC236}">
                <a16:creationId xmlns:a16="http://schemas.microsoft.com/office/drawing/2014/main" id="{377A68C9-A61A-574D-8006-45C1B5D23C67}"/>
              </a:ext>
            </a:extLst>
          </p:cNvPr>
          <p:cNvCxnSpPr>
            <a:cxnSpLocks/>
            <a:endCxn id="110" idx="0"/>
          </p:cNvCxnSpPr>
          <p:nvPr/>
        </p:nvCxnSpPr>
        <p:spPr>
          <a:xfrm rot="5400000">
            <a:off x="10460774" y="5996412"/>
            <a:ext cx="302841" cy="552484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7">
            <a:extLst>
              <a:ext uri="{FF2B5EF4-FFF2-40B4-BE49-F238E27FC236}">
                <a16:creationId xmlns:a16="http://schemas.microsoft.com/office/drawing/2014/main" id="{E296186C-6EBB-4A49-924A-3F2CFFCA42F9}"/>
              </a:ext>
            </a:extLst>
          </p:cNvPr>
          <p:cNvCxnSpPr>
            <a:cxnSpLocks/>
            <a:endCxn id="109" idx="0"/>
          </p:cNvCxnSpPr>
          <p:nvPr/>
        </p:nvCxnSpPr>
        <p:spPr>
          <a:xfrm rot="16200000" flipH="1">
            <a:off x="11033977" y="5975693"/>
            <a:ext cx="301605" cy="592686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ABC24032-658F-0842-88D8-7844348B5D53}"/>
              </a:ext>
            </a:extLst>
          </p:cNvPr>
          <p:cNvGrpSpPr/>
          <p:nvPr/>
        </p:nvGrpSpPr>
        <p:grpSpPr>
          <a:xfrm>
            <a:off x="8255259" y="2575819"/>
            <a:ext cx="3743202" cy="938160"/>
            <a:chOff x="8298994" y="2125151"/>
            <a:chExt cx="3743202" cy="93816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833D4C3-0FAE-6C4B-9873-F944350500E3}"/>
                </a:ext>
              </a:extLst>
            </p:cNvPr>
            <p:cNvSpPr/>
            <p:nvPr/>
          </p:nvSpPr>
          <p:spPr>
            <a:xfrm>
              <a:off x="8298994" y="2557125"/>
              <a:ext cx="1812471" cy="50618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Unconstrained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46D68485-3B76-C14C-8A46-06E824BE87E7}"/>
                </a:ext>
              </a:extLst>
            </p:cNvPr>
            <p:cNvSpPr/>
            <p:nvPr/>
          </p:nvSpPr>
          <p:spPr>
            <a:xfrm>
              <a:off x="10229725" y="2561185"/>
              <a:ext cx="1812471" cy="50212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Constrained</a:t>
              </a:r>
            </a:p>
          </p:txBody>
        </p: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11B4E97B-315E-9244-BF9A-993BC4939F41}"/>
                </a:ext>
              </a:extLst>
            </p:cNvPr>
            <p:cNvCxnSpPr>
              <a:cxnSpLocks/>
              <a:stCxn id="90" idx="2"/>
              <a:endCxn id="114" idx="0"/>
            </p:cNvCxnSpPr>
            <p:nvPr/>
          </p:nvCxnSpPr>
          <p:spPr>
            <a:xfrm rot="5400000">
              <a:off x="9719086" y="1611296"/>
              <a:ext cx="431974" cy="1459685"/>
            </a:xfrm>
            <a:prstGeom prst="bentConnector3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Elbow Connector 116">
              <a:extLst>
                <a:ext uri="{FF2B5EF4-FFF2-40B4-BE49-F238E27FC236}">
                  <a16:creationId xmlns:a16="http://schemas.microsoft.com/office/drawing/2014/main" id="{F703A413-091B-A441-8644-33FFA923FC6E}"/>
                </a:ext>
              </a:extLst>
            </p:cNvPr>
            <p:cNvCxnSpPr>
              <a:cxnSpLocks/>
              <a:stCxn id="90" idx="2"/>
              <a:endCxn id="115" idx="0"/>
            </p:cNvCxnSpPr>
            <p:nvPr/>
          </p:nvCxnSpPr>
          <p:spPr>
            <a:xfrm rot="16200000" flipH="1">
              <a:off x="10682421" y="2107645"/>
              <a:ext cx="436034" cy="471046"/>
            </a:xfrm>
            <a:prstGeom prst="bentConnector3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Footer Placeholder 4">
            <a:extLst>
              <a:ext uri="{FF2B5EF4-FFF2-40B4-BE49-F238E27FC236}">
                <a16:creationId xmlns:a16="http://schemas.microsoft.com/office/drawing/2014/main" id="{03111BFD-E9DD-3F4A-B02F-D91E4EDE2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84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0DC4-027D-C446-9BDB-90F7B291E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33364" cy="1325563"/>
          </a:xfrm>
        </p:spPr>
        <p:txBody>
          <a:bodyPr/>
          <a:lstStyle/>
          <a:p>
            <a:r>
              <a:rPr lang="en-US" dirty="0"/>
              <a:t>Basic problem – discrete-time setting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1ED757-1DAF-9F42-B34E-27038A2D99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System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𝐟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 err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b="1" dirty="0">
                  <a:latin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Control constraints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1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Cost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𝐽</m:t>
                      </m:r>
                      <m:sSub>
                        <m:sSubPr>
                          <m:ctrlPr>
                            <a:rPr lang="en-US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,…, </m:t>
                      </m:r>
                      <m:sSub>
                        <m:sSub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) = </m:t>
                      </m:r>
                      <m:sSub>
                        <m:sSubPr>
                          <m:ctrlPr>
                            <a:rPr lang="en-US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b="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dirty="0" err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i="1" dirty="0" err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dirty="0" smtClean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i="1" dirty="0" err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Focus is now on finding optimal </a:t>
                </a:r>
                <a:r>
                  <a:rPr lang="en-US" dirty="0">
                    <a:solidFill>
                      <a:srgbClr val="C00000"/>
                    </a:solidFill>
                  </a:rPr>
                  <a:t>closed-loop policies</a:t>
                </a:r>
                <a:r>
                  <a:rPr lang="en-US" dirty="0"/>
                  <a:t>:</a:t>
                </a:r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800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800" b="1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80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en-US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)</m:t>
                    </m:r>
                  </m:oMath>
                </a14:m>
                <a:r>
                  <a:rPr lang="en-US" dirty="0"/>
                  <a:t> (or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)) </a:t>
                </a:r>
                <a:endParaRPr lang="en-US" dirty="0"/>
              </a:p>
              <a:p>
                <a:endParaRPr lang="en-US" sz="10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1ED757-1DAF-9F42-B34E-27038A2D99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b="-7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43E79-1C3C-5449-8D81-25C99C14E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E84A6-72BB-9442-A9F4-67BA6681CF02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BB3FF-CA87-CD45-A9E4-B3FE145EE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018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CDA10-0858-3F40-8CCB-5FEB48BC5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Principle of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3D3F6-0263-6F44-8A50-72BF67B01A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5156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</a:t>
                </a: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key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concept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behind the dynamic programming approach is the </a:t>
                </a: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principle of optimality</a:t>
                </a: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Suppose optimal path for a multi-stage decision-making problem is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	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10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first decision yields segment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with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𝑎𝑏</m:t>
                        </m:r>
                      </m:sub>
                    </m:sSub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remaining decisions yield segments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with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optimal cost is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𝑎𝑒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𝑎𝑏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𝑏𝑒</m:t>
                        </m:r>
                      </m:sub>
                    </m:sSub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3D3F6-0263-6F44-8A50-72BF67B01A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515601" cy="5032375"/>
              </a:xfrm>
              <a:blipFill>
                <a:blip r:embed="rId2"/>
                <a:stretch>
                  <a:fillRect l="-1084" t="-201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76060-240B-0B4F-B1E3-AB406B86C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659E6-2BFB-4447-966F-9E3E12A5317C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5D9C4-7F9C-0C4E-A7BE-CDBD1B835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A6C25329-EF7F-DE49-BDF3-D331ACB5C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3094481"/>
            <a:ext cx="3548449" cy="1882185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9759994-E4B4-4141-8408-CBF79DE40CB6}"/>
              </a:ext>
            </a:extLst>
          </p:cNvPr>
          <p:cNvGrpSpPr/>
          <p:nvPr/>
        </p:nvGrpSpPr>
        <p:grpSpPr>
          <a:xfrm>
            <a:off x="5048250" y="3293073"/>
            <a:ext cx="3405145" cy="1165337"/>
            <a:chOff x="5048250" y="3429000"/>
            <a:chExt cx="3405145" cy="116533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A245E6B-0A61-DE4C-AC83-76157203C7AF}"/>
                </a:ext>
              </a:extLst>
            </p:cNvPr>
            <p:cNvSpPr/>
            <p:nvPr/>
          </p:nvSpPr>
          <p:spPr>
            <a:xfrm>
              <a:off x="5226908" y="3429000"/>
              <a:ext cx="1902941" cy="4139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AD1B0CA-8D66-5246-9286-47E9B39590B8}"/>
                </a:ext>
              </a:extLst>
            </p:cNvPr>
            <p:cNvSpPr/>
            <p:nvPr/>
          </p:nvSpPr>
          <p:spPr>
            <a:xfrm>
              <a:off x="6250459" y="3769906"/>
              <a:ext cx="1902941" cy="4139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E8D84F5-B92C-5940-AC7C-8AB4CA98A872}"/>
                </a:ext>
              </a:extLst>
            </p:cNvPr>
            <p:cNvSpPr/>
            <p:nvPr/>
          </p:nvSpPr>
          <p:spPr>
            <a:xfrm>
              <a:off x="6550454" y="4091202"/>
              <a:ext cx="1902941" cy="50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04B6CED-597E-104E-97AF-59165954412A}"/>
                </a:ext>
              </a:extLst>
            </p:cNvPr>
            <p:cNvSpPr/>
            <p:nvPr/>
          </p:nvSpPr>
          <p:spPr>
            <a:xfrm>
              <a:off x="5048250" y="3708333"/>
              <a:ext cx="1902941" cy="152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4562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6ECC3-05B9-6A48-8943-15A58874C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Principle of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A4DAE3-1D70-1346-B471-4FAF931D0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Claim: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optimal path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optimal path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Proof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the optimal path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Then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𝑏𝑐𝑒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𝑏𝑒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and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𝑎𝑏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𝑏𝑐𝑒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𝑎𝑏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𝑏𝑒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𝑎𝑒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A4DAE3-1D70-1346-B471-4FAF931D0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B9E81-E747-C046-8377-C1251B71C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CB7B5-BAE2-5047-9260-7799B1BE806E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C8976-575B-504A-921C-621C260B2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DE64B1-73F9-514A-A903-3BC9E1557337}"/>
              </a:ext>
            </a:extLst>
          </p:cNvPr>
          <p:cNvSpPr txBox="1"/>
          <p:nvPr/>
        </p:nvSpPr>
        <p:spPr>
          <a:xfrm>
            <a:off x="9118344" y="5915353"/>
            <a:ext cx="23647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Contradiction!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1CDB1CB7-9F85-0546-AB59-F0DA940EE6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4709333"/>
            <a:ext cx="3548449" cy="1882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575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57C23-1AF8-4444-8B4B-3647FBAEA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Principle of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83EB32-37F4-0A4D-ADB2-43273B3F47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2154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Principle of optimality</a:t>
                </a: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Let</a:t>
                </a:r>
                <a14:m>
                  <m:oMath xmlns:m="http://schemas.openxmlformats.org/officeDocument/2006/math"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lit/>
                      </m:rPr>
                      <a:rPr lang="en-US" sz="2600" i="1" dirty="0">
                        <a:latin typeface="Cambria Math" panose="02040503050406030204" pitchFamily="18" charset="0"/>
                      </a:rPr>
                      <m:t>{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6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sz="26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 an optimal control sequence, which together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determines the corresponding state sequence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600" i="1" dirty="0">
                        <a:latin typeface="Cambria Math" panose="02040503050406030204" pitchFamily="18" charset="0"/>
                      </a:rPr>
                      <m:t>{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. Consider the subproblem whereby we are 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6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at time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we wish to minimize the cost-to-go from time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time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600" b="0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600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600" b="0" i="0" dirty="0" smtClean="0">
                        <a:latin typeface="Cambria Math" panose="02040503050406030204" pitchFamily="18" charset="0"/>
                      </a:rPr>
                      <m:t>., 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600" b="1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600" b="1" dirty="0" err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600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2600" b="1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6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sz="2600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2600" i="1" dirty="0" err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+ </m:t>
                    </m:r>
                    <m:nary>
                      <m:naryPr>
                        <m:chr m:val="∑"/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6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6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b="1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dirty="0" err="1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sz="2600" b="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6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2600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dirty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en-US" sz="2600" b="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+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600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10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Then the truncated optimal sequence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600" i="1" dirty="0">
                        <a:latin typeface="Cambria Math" panose="02040503050406030204" pitchFamily="18" charset="0"/>
                      </a:rPr>
                      <m:t>{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optimal for the subproblem</a:t>
                </a:r>
              </a:p>
              <a:p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6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Tail </a:t>
                </a: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of optimal sequences optimal for </a:t>
                </a:r>
                <a:r>
                  <a:rPr lang="en-US" sz="26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tail</a:t>
                </a: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subproblems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83EB32-37F4-0A4D-ADB2-43273B3F47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21540"/>
              </a:xfrm>
              <a:blipFill>
                <a:blip r:embed="rId2"/>
                <a:stretch>
                  <a:fillRect l="-1086" t="-17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433AE6-2890-154F-A8FD-212EA409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A629-B1C9-BD4C-A831-E8E6D785349C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00E24D-67E9-6D4C-9F49-199971AE0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83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1C798-B6AA-0C43-A350-3E8A3FA93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the principle of optimality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A4B261D-700C-CC41-B4A8-28C2AF7CA5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63377" y="1637375"/>
            <a:ext cx="3890423" cy="234199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B6284-68CD-184D-8264-D345FDB59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BD294-5C28-4342-9753-6813AEB6C8E7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94CB10-8D35-7F48-8EE9-22DA3A3C7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61902D-87DC-7F4F-8328-E7D3A58A6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925" y="4189298"/>
            <a:ext cx="3517325" cy="26271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A7333E-472A-8D4A-818B-625D0488E915}"/>
                  </a:ext>
                </a:extLst>
              </p:cNvPr>
              <p:cNvSpPr txBox="1"/>
              <p:nvPr/>
            </p:nvSpPr>
            <p:spPr>
              <a:xfrm>
                <a:off x="838200" y="1806172"/>
                <a:ext cx="6116782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Principle of optimality: if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the initial segment of the optimal path from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is the terminal segment of this path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A7333E-472A-8D4A-818B-625D0488E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06172"/>
                <a:ext cx="6116782" cy="1815882"/>
              </a:xfrm>
              <a:prstGeom prst="rect">
                <a:avLst/>
              </a:prstGeom>
              <a:blipFill>
                <a:blip r:embed="rId4"/>
                <a:stretch>
                  <a:fillRect l="-1863" t="-2778" r="-2899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BF565F-DD6D-784C-BA7C-DE5BD71FCBFE}"/>
                  </a:ext>
                </a:extLst>
              </p:cNvPr>
              <p:cNvSpPr txBox="1"/>
              <p:nvPr/>
            </p:nvSpPr>
            <p:spPr>
              <a:xfrm>
                <a:off x="838200" y="4071190"/>
                <a:ext cx="6116782" cy="32522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Hence, the optimal trajectory is found by comparing:</a:t>
                </a:r>
                <a:endParaRPr lang="en-US" sz="2800" i="1" dirty="0">
                  <a:latin typeface="Cambria Math" panose="02040503050406030204" pitchFamily="18" charset="0"/>
                  <a:ea typeface="Source Sans Pro" panose="020B0503030403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𝐶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𝑏𝑐𝑓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=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𝐽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𝑏𝑐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 + 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𝐽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𝑐𝑓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∗</m:t>
                          </m:r>
                        </m:sup>
                      </m:sSubSup>
                      <m:r>
                        <a:rPr lang="en-US" sz="2800" i="1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  </m:t>
                      </m:r>
                    </m:oMath>
                  </m:oMathPara>
                </a14:m>
                <a:endParaRPr lang="en-US" sz="2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𝐶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𝑏𝑑𝑓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  =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𝐽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𝑏𝑑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 + 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𝐽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𝑑𝑓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∗</m:t>
                          </m:r>
                        </m:sup>
                      </m:sSubSup>
                      <m:r>
                        <a:rPr lang="en-US" sz="2800" i="1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𝐶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𝑏𝑒𝑓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=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𝐽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𝑏𝑒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Source Sans Pro" panose="020B0503030403020204" pitchFamily="34" charset="0"/>
                        </a:rPr>
                        <m:t> + 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𝐽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𝑒𝑓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BF565F-DD6D-784C-BA7C-DE5BD71FCB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71190"/>
                <a:ext cx="6116782" cy="3252237"/>
              </a:xfrm>
              <a:prstGeom prst="rect">
                <a:avLst/>
              </a:prstGeom>
              <a:blipFill>
                <a:blip r:embed="rId5"/>
                <a:stretch>
                  <a:fillRect l="-1863" t="-1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932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6AA01-48FA-C940-9242-EDE0C1D79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the principle of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F67A34-7CAC-DD4C-994F-5BE76DDB85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need only to compare the concatenations of immediate decisions and optimal decisions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significant decrease in computation  / possibilities 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 practice: carry out this procedure </a:t>
                </a: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backward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in time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F67A34-7CAC-DD4C-994F-5BE76DDB85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20797-A09B-B84C-A24C-06F92F8FD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980A-CB93-4746-BC1C-9D256F0B9D21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2316B-9536-4343-BE86-C528BBDD3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398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037DB-0ACD-D343-BF6B-AE265949D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9F35E3-65F1-3448-AA9D-EE68A3BB7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028B9-0550-144E-B323-62B14E431B95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A5530-DCE1-AD4D-A3F3-D51242542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48D033-FA68-644A-B7D1-DB3DB0F03E32}"/>
                  </a:ext>
                </a:extLst>
              </p:cNvPr>
              <p:cNvSpPr txBox="1"/>
              <p:nvPr/>
            </p:nvSpPr>
            <p:spPr>
              <a:xfrm>
                <a:off x="1406074" y="5477002"/>
                <a:ext cx="6647974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Optimal cost: </a:t>
                </a:r>
                <a:r>
                  <a:rPr lang="en-US" sz="2800" i="0" dirty="0">
                    <a:latin typeface="+mj-lt"/>
                  </a:rPr>
                  <a:t>18</a:t>
                </a:r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	</a:t>
                </a:r>
              </a:p>
              <a:p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Optimal path: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	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48D033-FA68-644A-B7D1-DB3DB0F03E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6074" y="5477002"/>
                <a:ext cx="6647974" cy="954107"/>
              </a:xfrm>
              <a:prstGeom prst="rect">
                <a:avLst/>
              </a:prstGeom>
              <a:blipFill>
                <a:blip r:embed="rId3"/>
                <a:stretch>
                  <a:fillRect l="-1905" t="-6579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Shape&#10;&#10;Description automatically generated">
            <a:extLst>
              <a:ext uri="{FF2B5EF4-FFF2-40B4-BE49-F238E27FC236}">
                <a16:creationId xmlns:a16="http://schemas.microsoft.com/office/drawing/2014/main" id="{51EACB91-89DE-B942-A97E-DEAEC2866A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8950" y="1491027"/>
            <a:ext cx="6134100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661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A5933-6BC8-2D4D-83B1-EFC90C73A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DP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E5799-D554-1B4C-914F-29B5289DE9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0499"/>
                <a:ext cx="10515600" cy="4716465"/>
              </a:xfrm>
            </p:spPr>
            <p:txBody>
              <a:bodyPr>
                <a:noAutofit/>
              </a:bodyPr>
              <a:lstStyle/>
              <a:p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b="1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1" dirty="0" err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600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6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sz="2600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6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      </m:t>
                        </m:r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600" b="1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600" b="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600" b="1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600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Cost: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𝐽</m:t>
                    </m:r>
                    <m:sSub>
                      <m:sSubPr>
                        <m:ctrlPr>
                          <a:rPr lang="en-US" sz="26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b="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600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err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600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  <m:r>
                      <a:rPr lang="en-US" sz="2600" i="1" dirty="0">
                        <a:latin typeface="Cambria Math" panose="02040503050406030204" pitchFamily="18" charset="0"/>
                      </a:rPr>
                      <m:t>+ </m:t>
                    </m:r>
                    <m:nary>
                      <m:naryPr>
                        <m:chr m:val="∑"/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b="1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dirty="0" err="1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sz="2600" i="1" dirty="0" err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600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sz="26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b="0" i="1" dirty="0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600" b="0" i="1" dirty="0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en-US" sz="2600" b="1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600" b="1" i="0" dirty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sz="2600" i="1" dirty="0" err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10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6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DP Algorithm</a:t>
                </a: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For every 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 optimal cost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6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b="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given by the last step of the following algorithm, which proceeds backward in time from stage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stage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</a:t>
                </a:r>
              </a:p>
              <a:p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6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0" dirty="0" err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600" i="1" dirty="0" err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) = </m:t>
                      </m:r>
                      <m:sSub>
                        <m:sSubPr>
                          <m:ctrlPr>
                            <a:rPr lang="en-US" sz="26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 dirty="0" err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600" i="1" dirty="0" err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6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0" dirty="0" err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600" i="1" dirty="0" err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2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600" i="1" dirty="0" err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0" dirty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600" i="0" dirty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sSub>
                            <m:sSubPr>
                              <m:ctrlPr>
                                <a:rPr lang="en-US" sz="26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0" dirty="0" smtClean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0" dirty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lim>
                      </m:limLow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b="1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0" dirty="0" err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600" b="0" i="1" dirty="0" err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6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0" dirty="0" smtClean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600" i="1" dirty="0" err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b="1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dirty="0" err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sz="2600" b="0" i="1" dirty="0" err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600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dirty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2600" i="1" dirty="0" err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=0, …, </m:t>
                      </m:r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10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Furthermore, if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6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600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600" b="1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6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b="0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 minimizes the right-hand side of the above equation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600" b="0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 policy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600" i="1" dirty="0">
                        <a:latin typeface="Cambria Math" panose="02040503050406030204" pitchFamily="18" charset="0"/>
                      </a:rPr>
                      <m:t>{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optimal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E5799-D554-1B4C-914F-29B5289DE9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0499"/>
                <a:ext cx="10515600" cy="4716465"/>
              </a:xfrm>
              <a:blipFill>
                <a:blip r:embed="rId2"/>
                <a:stretch>
                  <a:fillRect l="-1086" t="-4032" b="-10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8E464D-D952-6E4F-ACFF-C05FEBAD7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EBAC-B927-D54E-8BA5-C882D2B4C03F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253DD-61EB-0645-BBD1-E2CD07677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F05761-8563-A641-B72C-3DAFF6B75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88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C0BC-7DD7-AF48-9555-6F98FFEE8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179D1-B249-9242-A6A6-532E50F47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discretization (from differential equations to difference equations)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quantization (from continuous to discrete state variables / controls)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global minimum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constraints, in general, simplify the numerical procedure 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optimal control in </a:t>
            </a:r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closed-loop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form 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curse of dimensionality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FD032-FF69-074D-A6BD-514B59418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EBAC-B927-D54E-8BA5-C882D2B4C03F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7C3-AD11-4145-B007-D8FB9621B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59522-10E9-3049-BA75-1A3BEBC1B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52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7247C-DD58-8E4C-8883-466015CAC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discrete LQR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F0886-34AD-9D4A-BEC6-D7B68EB380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 most cases, DP algorithm needs to be performed numerically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few cases can be solved analytically</a:t>
                </a:r>
              </a:p>
              <a:p>
                <a:endParaRPr lang="en-US" sz="10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Discrete LQR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select control inputs to minimize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+ 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dirty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subject to the dynamics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10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Assumption: </a:t>
                </a:r>
                <a14:m>
                  <m:oMath xmlns:m="http://schemas.openxmlformats.org/officeDocument/2006/math">
                    <m:r>
                      <a:rPr lang="pt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pt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pt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" b="0" i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" b="0" i="1" dirty="0">
                        <a:latin typeface="Cambria Math" panose="02040503050406030204" pitchFamily="18" charset="0"/>
                      </a:rPr>
                      <m:t> 0,  </m:t>
                    </m:r>
                    <m:r>
                      <a:rPr lang="pt" b="0" i="1" dirty="0" err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" b="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" b="0" i="1" dirty="0" err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" b="0" i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" b="0" i="1" dirty="0">
                        <a:latin typeface="Cambria Math" panose="02040503050406030204" pitchFamily="18" charset="0"/>
                      </a:rPr>
                      <m:t> 0, </m:t>
                    </m:r>
                    <m:r>
                      <a:rPr lang="pt" b="0" i="1" dirty="0" err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" b="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" b="0" i="1" dirty="0" err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pt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" b="0" i="1" dirty="0">
                        <a:latin typeface="Cambria Math" panose="02040503050406030204" pitchFamily="18" charset="0"/>
                      </a:rPr>
                      <m:t>&gt; 0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F0886-34AD-9D4A-BEC6-D7B68EB380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206" t="-2168" b="-6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8004E-DD69-B245-8522-0774FC358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34068-C760-3747-89DD-BD27190EB64C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9B12BA-93C5-6F40-8BAA-72E0E6645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3241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B8C6B-46EC-374E-A824-263358A36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discrete LQR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5A500-1B38-EA4B-B6F5-300D9D821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First step:</a:t>
            </a: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Going backward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57975-7375-2E46-802D-CDE67133E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FA671-5AD2-494A-9BAB-D2D9CDAD1BEC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B19DB-5F98-1041-9DC3-2DE8E259C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CB66E2-5F8A-534E-9F21-12A8037BC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893" y="2247900"/>
            <a:ext cx="4914214" cy="6540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0D6F43-538E-4249-B25E-709FCADCD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666" y="4046684"/>
            <a:ext cx="10136667" cy="232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67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B372D-F618-6E45-B54F-0C6354157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discrete LQR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E885A-7722-E740-BC3A-EFA06E145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Taking derivative</a:t>
            </a: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</a:t>
            </a: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D25FB-CA8C-DD49-AB71-5C0093453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946B6-B9AF-4D43-8E17-2DE79EE570E1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2A747-B285-604A-9280-E5297B2FC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943D56-AF4E-9A40-B34E-E880A472B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81" y="2611220"/>
            <a:ext cx="10163838" cy="817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B8695B-7B84-1D46-B028-9A28791D8B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431" y="4650937"/>
            <a:ext cx="5671138" cy="81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916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36CAA-0A25-6A44-9888-8B34A79DE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DP for discrete LQR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407F5-8E21-A64E-82C7-3FCCBA4165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Hence, the optimizer satisfies</a:t>
            </a: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so</a:t>
            </a: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91CB6-D5AC-ED4F-8211-DE3EE26C5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CC148-864C-2D4B-A4BD-6E3DD1CCB535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77D4B-6CE5-F04E-997D-9CAD9D494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00E783-F49D-8341-9EAD-B9174EFD4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04" y="2600657"/>
            <a:ext cx="7809391" cy="3681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9255F48-726F-0840-8977-081D3A221C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154" y="4017668"/>
            <a:ext cx="9649691" cy="371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234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F97A0-1ED9-CD4D-8BEB-4DD52820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DP for discrete LQR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1AA4E-52BD-344E-9525-653EF1AD3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Plugging 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374A9-7DAC-8241-A803-2B6179B4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FEFE7-C411-7E44-8C02-BBD66DF3460D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C3509-5A26-924A-A0D2-C2143B39B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FCF32E-4D38-EA40-A808-3B4EBB84F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194" y="2700410"/>
            <a:ext cx="9935611" cy="2601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043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A4A96-19B4-F04F-B0DB-C55DF7742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DP for discrete LQR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B02C93-73BD-B345-BC59-4E7D48681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Proceeding by induction, the solution is given by 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dirty="0" err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sSub>
                      <m:sSubPr>
                        <m:ctrlPr>
                          <a:rPr lang="en-US" b="1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dirty="0" err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 − 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 = 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err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where</a:t>
                </a:r>
              </a:p>
              <a:p>
                <a:pPr marL="0" indent="0">
                  <a:buNone/>
                </a:pPr>
                <a:endParaRPr lang="en-US" sz="80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 =  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 + </m:t>
                      </m:r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  + 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At the end,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B02C93-73BD-B345-BC59-4E7D48681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A3741-D1E6-9840-BF4A-CB1BB2494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41A89-09E2-DF40-BAE8-8023EE61C3D8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7040C-DD82-BD49-8994-BB092175D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0383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B1D8C-12B8-E942-8D6E-DF4E377F4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4691A-C030-2D48-9FCF-CB9350BA1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Nonlinear LQR for tracking and trajectory generation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B8A00-EE7C-6341-A090-6507B8E18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BFD19-73C7-A64C-BECA-C092D91C2BF3}" type="datetime1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48CFD-3727-ED4E-ACDB-B638B7EE0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083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16943</TotalTime>
  <Words>1624</Words>
  <Application>Microsoft Macintosh PowerPoint</Application>
  <PresentationFormat>Widescreen</PresentationFormat>
  <Paragraphs>206</Paragraphs>
  <Slides>18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Source Sans Pro</vt:lpstr>
      <vt:lpstr>Office Theme</vt:lpstr>
      <vt:lpstr>AA203 Optimal and Learning-based Control</vt:lpstr>
      <vt:lpstr>Roadmap</vt:lpstr>
      <vt:lpstr>Basic problem – discrete-time setting</vt:lpstr>
      <vt:lpstr>Principle of optimality</vt:lpstr>
      <vt:lpstr>Principle of optimality</vt:lpstr>
      <vt:lpstr>Principle of optimality</vt:lpstr>
      <vt:lpstr>Applying the principle of optimality</vt:lpstr>
      <vt:lpstr>Applying the principle of optimality</vt:lpstr>
      <vt:lpstr>Example</vt:lpstr>
      <vt:lpstr>DP Algorithm</vt:lpstr>
      <vt:lpstr>Comments</vt:lpstr>
      <vt:lpstr>Example: discrete LQR</vt:lpstr>
      <vt:lpstr>Example: discrete LQR</vt:lpstr>
      <vt:lpstr>Example: discrete LQR</vt:lpstr>
      <vt:lpstr>DP for discrete LQR</vt:lpstr>
      <vt:lpstr>DP for discrete LQR</vt:lpstr>
      <vt:lpstr>DP for discrete LQR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 274 Principles of Robotic Autonomy</dc:title>
  <dc:creator>Marco Pavone</dc:creator>
  <cp:lastModifiedBy>Marco Pavone</cp:lastModifiedBy>
  <cp:revision>246</cp:revision>
  <cp:lastPrinted>2019-01-07T20:05:58Z</cp:lastPrinted>
  <dcterms:created xsi:type="dcterms:W3CDTF">2017-01-06T12:29:52Z</dcterms:created>
  <dcterms:modified xsi:type="dcterms:W3CDTF">2026-04-20T17:16:55Z</dcterms:modified>
</cp:coreProperties>
</file>