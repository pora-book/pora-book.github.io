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4"/>
  </p:notesMasterIdLst>
  <p:sldIdLst>
    <p:sldId id="256" r:id="rId5"/>
    <p:sldId id="334" r:id="rId6"/>
    <p:sldId id="542" r:id="rId7"/>
    <p:sldId id="261" r:id="rId8"/>
    <p:sldId id="263" r:id="rId9"/>
    <p:sldId id="267" r:id="rId10"/>
    <p:sldId id="543" r:id="rId11"/>
    <p:sldId id="544" r:id="rId12"/>
    <p:sldId id="270" r:id="rId13"/>
    <p:sldId id="271" r:id="rId14"/>
    <p:sldId id="566" r:id="rId15"/>
    <p:sldId id="567" r:id="rId16"/>
    <p:sldId id="568" r:id="rId17"/>
    <p:sldId id="573" r:id="rId18"/>
    <p:sldId id="571" r:id="rId19"/>
    <p:sldId id="572" r:id="rId20"/>
    <p:sldId id="274" r:id="rId21"/>
    <p:sldId id="574" r:id="rId22"/>
    <p:sldId id="276" r:id="rId23"/>
    <p:sldId id="277" r:id="rId24"/>
    <p:sldId id="279" r:id="rId25"/>
    <p:sldId id="280" r:id="rId26"/>
    <p:sldId id="285" r:id="rId27"/>
    <p:sldId id="545" r:id="rId28"/>
    <p:sldId id="575" r:id="rId29"/>
    <p:sldId id="289" r:id="rId30"/>
    <p:sldId id="550" r:id="rId31"/>
    <p:sldId id="295" r:id="rId32"/>
    <p:sldId id="297" r:id="rId33"/>
    <p:sldId id="298" r:id="rId34"/>
    <p:sldId id="299" r:id="rId35"/>
    <p:sldId id="300" r:id="rId36"/>
    <p:sldId id="301" r:id="rId37"/>
    <p:sldId id="302" r:id="rId38"/>
    <p:sldId id="576" r:id="rId39"/>
    <p:sldId id="305" r:id="rId40"/>
    <p:sldId id="552" r:id="rId41"/>
    <p:sldId id="553" r:id="rId42"/>
    <p:sldId id="555" r:id="rId43"/>
    <p:sldId id="312" r:id="rId44"/>
    <p:sldId id="313" r:id="rId45"/>
    <p:sldId id="316" r:id="rId46"/>
    <p:sldId id="317" r:id="rId47"/>
    <p:sldId id="560" r:id="rId48"/>
    <p:sldId id="561" r:id="rId49"/>
    <p:sldId id="563" r:id="rId50"/>
    <p:sldId id="562" r:id="rId51"/>
    <p:sldId id="565" r:id="rId52"/>
    <p:sldId id="331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CC25E8B-7885-9143-B6A6-C663038D90BB}">
          <p14:sldIdLst>
            <p14:sldId id="256"/>
            <p14:sldId id="334"/>
            <p14:sldId id="542"/>
            <p14:sldId id="261"/>
            <p14:sldId id="263"/>
            <p14:sldId id="267"/>
            <p14:sldId id="543"/>
            <p14:sldId id="544"/>
            <p14:sldId id="270"/>
            <p14:sldId id="271"/>
            <p14:sldId id="566"/>
            <p14:sldId id="567"/>
            <p14:sldId id="568"/>
            <p14:sldId id="573"/>
            <p14:sldId id="571"/>
            <p14:sldId id="572"/>
            <p14:sldId id="274"/>
            <p14:sldId id="574"/>
            <p14:sldId id="276"/>
            <p14:sldId id="277"/>
            <p14:sldId id="279"/>
            <p14:sldId id="280"/>
            <p14:sldId id="285"/>
            <p14:sldId id="545"/>
            <p14:sldId id="575"/>
            <p14:sldId id="289"/>
            <p14:sldId id="550"/>
            <p14:sldId id="295"/>
            <p14:sldId id="297"/>
            <p14:sldId id="298"/>
            <p14:sldId id="299"/>
            <p14:sldId id="300"/>
            <p14:sldId id="301"/>
            <p14:sldId id="302"/>
            <p14:sldId id="576"/>
            <p14:sldId id="305"/>
            <p14:sldId id="552"/>
            <p14:sldId id="553"/>
            <p14:sldId id="555"/>
            <p14:sldId id="312"/>
            <p14:sldId id="313"/>
            <p14:sldId id="316"/>
            <p14:sldId id="317"/>
            <p14:sldId id="560"/>
            <p14:sldId id="561"/>
            <p14:sldId id="563"/>
            <p14:sldId id="562"/>
            <p14:sldId id="565"/>
            <p14:sldId id="33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A23B23-8F0B-450D-A8CD-AFF6177A84CD}" v="251" dt="2022-04-25T07:17:35.3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816"/>
    <p:restoredTop sz="83997"/>
  </p:normalViewPr>
  <p:slideViewPr>
    <p:cSldViewPr snapToGrid="0" snapToObjects="1">
      <p:cViewPr>
        <p:scale>
          <a:sx n="135" d="100"/>
          <a:sy n="135" d="100"/>
        </p:scale>
        <p:origin x="335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ward Fu Schmerling" userId="c8b75dde-c097-4599-bb13-81e931e3f9a3" providerId="ADAL" clId="{9EA23B23-8F0B-450D-A8CD-AFF6177A84CD}"/>
    <pc:docChg chg="undo redo custSel addSld delSld modSld modSection">
      <pc:chgData name="Edward Fu Schmerling" userId="c8b75dde-c097-4599-bb13-81e931e3f9a3" providerId="ADAL" clId="{9EA23B23-8F0B-450D-A8CD-AFF6177A84CD}" dt="2022-04-27T15:15:12.829" v="353" actId="47"/>
      <pc:docMkLst>
        <pc:docMk/>
      </pc:docMkLst>
      <pc:sldChg chg="modSp mod">
        <pc:chgData name="Edward Fu Schmerling" userId="c8b75dde-c097-4599-bb13-81e931e3f9a3" providerId="ADAL" clId="{9EA23B23-8F0B-450D-A8CD-AFF6177A84CD}" dt="2022-04-25T06:45:40.294" v="350" actId="20577"/>
        <pc:sldMkLst>
          <pc:docMk/>
          <pc:sldMk cId="3651528683" sldId="399"/>
        </pc:sldMkLst>
        <pc:spChg chg="mod">
          <ac:chgData name="Edward Fu Schmerling" userId="c8b75dde-c097-4599-bb13-81e931e3f9a3" providerId="ADAL" clId="{9EA23B23-8F0B-450D-A8CD-AFF6177A84CD}" dt="2022-04-25T06:45:40.294" v="350" actId="20577"/>
          <ac:spMkLst>
            <pc:docMk/>
            <pc:sldMk cId="3651528683" sldId="399"/>
            <ac:spMk id="3" creationId="{041834AB-4990-1841-A099-C9C9563E417D}"/>
          </ac:spMkLst>
        </pc:spChg>
      </pc:sldChg>
      <pc:sldChg chg="modSp mod">
        <pc:chgData name="Edward Fu Schmerling" userId="c8b75dde-c097-4599-bb13-81e931e3f9a3" providerId="ADAL" clId="{9EA23B23-8F0B-450D-A8CD-AFF6177A84CD}" dt="2022-04-25T03:23:54.980" v="32" actId="27636"/>
        <pc:sldMkLst>
          <pc:docMk/>
          <pc:sldMk cId="308399181" sldId="403"/>
        </pc:sldMkLst>
        <pc:spChg chg="mod">
          <ac:chgData name="Edward Fu Schmerling" userId="c8b75dde-c097-4599-bb13-81e931e3f9a3" providerId="ADAL" clId="{9EA23B23-8F0B-450D-A8CD-AFF6177A84CD}" dt="2022-04-25T03:23:54.980" v="32" actId="27636"/>
          <ac:spMkLst>
            <pc:docMk/>
            <pc:sldMk cId="308399181" sldId="403"/>
            <ac:spMk id="3" creationId="{7FE419F9-38B8-5748-96FC-3F2C8969DC11}"/>
          </ac:spMkLst>
        </pc:spChg>
      </pc:sldChg>
      <pc:sldChg chg="modSp mod">
        <pc:chgData name="Edward Fu Schmerling" userId="c8b75dde-c097-4599-bb13-81e931e3f9a3" providerId="ADAL" clId="{9EA23B23-8F0B-450D-A8CD-AFF6177A84CD}" dt="2022-04-25T05:19:44.498" v="112" actId="20577"/>
        <pc:sldMkLst>
          <pc:docMk/>
          <pc:sldMk cId="1620177077" sldId="407"/>
        </pc:sldMkLst>
        <pc:spChg chg="mod">
          <ac:chgData name="Edward Fu Schmerling" userId="c8b75dde-c097-4599-bb13-81e931e3f9a3" providerId="ADAL" clId="{9EA23B23-8F0B-450D-A8CD-AFF6177A84CD}" dt="2022-04-25T05:19:44.498" v="112" actId="20577"/>
          <ac:spMkLst>
            <pc:docMk/>
            <pc:sldMk cId="1620177077" sldId="407"/>
            <ac:spMk id="3" creationId="{2603C417-5649-6241-B462-0B1D331A5A35}"/>
          </ac:spMkLst>
        </pc:spChg>
        <pc:spChg chg="mod">
          <ac:chgData name="Edward Fu Schmerling" userId="c8b75dde-c097-4599-bb13-81e931e3f9a3" providerId="ADAL" clId="{9EA23B23-8F0B-450D-A8CD-AFF6177A84CD}" dt="2022-04-25T04:22:57.176" v="98"/>
          <ac:spMkLst>
            <pc:docMk/>
            <pc:sldMk cId="1620177077" sldId="407"/>
            <ac:spMk id="8" creationId="{C292EE42-DD56-3B47-8244-92E029036876}"/>
          </ac:spMkLst>
        </pc:spChg>
        <pc:spChg chg="mod">
          <ac:chgData name="Edward Fu Schmerling" userId="c8b75dde-c097-4599-bb13-81e931e3f9a3" providerId="ADAL" clId="{9EA23B23-8F0B-450D-A8CD-AFF6177A84CD}" dt="2022-04-25T04:22:57.176" v="98"/>
          <ac:spMkLst>
            <pc:docMk/>
            <pc:sldMk cId="1620177077" sldId="407"/>
            <ac:spMk id="9" creationId="{DC3C3FAD-E9A5-B248-BFBC-0E2DD0886F88}"/>
          </ac:spMkLst>
        </pc:spChg>
        <pc:spChg chg="mod">
          <ac:chgData name="Edward Fu Schmerling" userId="c8b75dde-c097-4599-bb13-81e931e3f9a3" providerId="ADAL" clId="{9EA23B23-8F0B-450D-A8CD-AFF6177A84CD}" dt="2022-04-25T04:22:57.176" v="98"/>
          <ac:spMkLst>
            <pc:docMk/>
            <pc:sldMk cId="1620177077" sldId="407"/>
            <ac:spMk id="10" creationId="{E0244029-09B9-3F43-BFDD-32BF1801ECCD}"/>
          </ac:spMkLst>
        </pc:spChg>
        <pc:spChg chg="mod">
          <ac:chgData name="Edward Fu Schmerling" userId="c8b75dde-c097-4599-bb13-81e931e3f9a3" providerId="ADAL" clId="{9EA23B23-8F0B-450D-A8CD-AFF6177A84CD}" dt="2022-04-25T04:22:57.176" v="98"/>
          <ac:spMkLst>
            <pc:docMk/>
            <pc:sldMk cId="1620177077" sldId="407"/>
            <ac:spMk id="11" creationId="{84643577-8DA0-8847-9E71-8593808739F3}"/>
          </ac:spMkLst>
        </pc:spChg>
        <pc:spChg chg="mod">
          <ac:chgData name="Edward Fu Schmerling" userId="c8b75dde-c097-4599-bb13-81e931e3f9a3" providerId="ADAL" clId="{9EA23B23-8F0B-450D-A8CD-AFF6177A84CD}" dt="2022-04-25T04:22:57.176" v="98"/>
          <ac:spMkLst>
            <pc:docMk/>
            <pc:sldMk cId="1620177077" sldId="407"/>
            <ac:spMk id="12" creationId="{8D93A7A7-0A1C-0641-9120-D032DF7AE07A}"/>
          </ac:spMkLst>
        </pc:spChg>
        <pc:spChg chg="mod">
          <ac:chgData name="Edward Fu Schmerling" userId="c8b75dde-c097-4599-bb13-81e931e3f9a3" providerId="ADAL" clId="{9EA23B23-8F0B-450D-A8CD-AFF6177A84CD}" dt="2022-04-25T04:22:57.176" v="98"/>
          <ac:spMkLst>
            <pc:docMk/>
            <pc:sldMk cId="1620177077" sldId="407"/>
            <ac:spMk id="13" creationId="{5395126F-1CED-FB49-B17E-729E383E74EC}"/>
          </ac:spMkLst>
        </pc:spChg>
        <pc:spChg chg="mod">
          <ac:chgData name="Edward Fu Schmerling" userId="c8b75dde-c097-4599-bb13-81e931e3f9a3" providerId="ADAL" clId="{9EA23B23-8F0B-450D-A8CD-AFF6177A84CD}" dt="2022-04-25T04:22:57.176" v="98"/>
          <ac:spMkLst>
            <pc:docMk/>
            <pc:sldMk cId="1620177077" sldId="407"/>
            <ac:spMk id="14" creationId="{9DB94763-DABB-A345-AA92-987E72C0F8EC}"/>
          </ac:spMkLst>
        </pc:spChg>
        <pc:spChg chg="mod">
          <ac:chgData name="Edward Fu Schmerling" userId="c8b75dde-c097-4599-bb13-81e931e3f9a3" providerId="ADAL" clId="{9EA23B23-8F0B-450D-A8CD-AFF6177A84CD}" dt="2022-04-25T04:22:57.176" v="98"/>
          <ac:spMkLst>
            <pc:docMk/>
            <pc:sldMk cId="1620177077" sldId="407"/>
            <ac:spMk id="15" creationId="{B0782DB2-EABF-D644-884C-52125BBB734B}"/>
          </ac:spMkLst>
        </pc:spChg>
        <pc:grpChg chg="mod">
          <ac:chgData name="Edward Fu Schmerling" userId="c8b75dde-c097-4599-bb13-81e931e3f9a3" providerId="ADAL" clId="{9EA23B23-8F0B-450D-A8CD-AFF6177A84CD}" dt="2022-04-25T04:22:57.176" v="98"/>
          <ac:grpSpMkLst>
            <pc:docMk/>
            <pc:sldMk cId="1620177077" sldId="407"/>
            <ac:grpSpMk id="4" creationId="{7F7B69DA-56F5-CB44-BCAD-04A01B434DA5}"/>
          </ac:grpSpMkLst>
        </pc:grpChg>
        <pc:grpChg chg="mod">
          <ac:chgData name="Edward Fu Schmerling" userId="c8b75dde-c097-4599-bb13-81e931e3f9a3" providerId="ADAL" clId="{9EA23B23-8F0B-450D-A8CD-AFF6177A84CD}" dt="2022-04-25T04:22:57.176" v="98"/>
          <ac:grpSpMkLst>
            <pc:docMk/>
            <pc:sldMk cId="1620177077" sldId="407"/>
            <ac:grpSpMk id="5" creationId="{C6BCB2EB-6966-7247-8930-72C3386B9CFE}"/>
          </ac:grpSpMkLst>
        </pc:grpChg>
        <pc:picChg chg="mod">
          <ac:chgData name="Edward Fu Schmerling" userId="c8b75dde-c097-4599-bb13-81e931e3f9a3" providerId="ADAL" clId="{9EA23B23-8F0B-450D-A8CD-AFF6177A84CD}" dt="2022-04-25T04:22:57.176" v="98"/>
          <ac:picMkLst>
            <pc:docMk/>
            <pc:sldMk cId="1620177077" sldId="407"/>
            <ac:picMk id="7" creationId="{5D7475E8-37FA-C641-8930-657494BF9F6C}"/>
          </ac:picMkLst>
        </pc:picChg>
      </pc:sldChg>
      <pc:sldChg chg="addSp delSp modSp mod">
        <pc:chgData name="Edward Fu Schmerling" userId="c8b75dde-c097-4599-bb13-81e931e3f9a3" providerId="ADAL" clId="{9EA23B23-8F0B-450D-A8CD-AFF6177A84CD}" dt="2022-04-25T05:44:07.698" v="188" actId="1035"/>
        <pc:sldMkLst>
          <pc:docMk/>
          <pc:sldMk cId="2277185333" sldId="408"/>
        </pc:sldMkLst>
        <pc:spChg chg="mod">
          <ac:chgData name="Edward Fu Schmerling" userId="c8b75dde-c097-4599-bb13-81e931e3f9a3" providerId="ADAL" clId="{9EA23B23-8F0B-450D-A8CD-AFF6177A84CD}" dt="2022-04-25T05:43:42.902" v="175" actId="20577"/>
          <ac:spMkLst>
            <pc:docMk/>
            <pc:sldMk cId="2277185333" sldId="408"/>
            <ac:spMk id="3" creationId="{D0B2FEF2-AE55-5940-8228-B23174AC5E7A}"/>
          </ac:spMkLst>
        </pc:spChg>
        <pc:spChg chg="add mod">
          <ac:chgData name="Edward Fu Schmerling" userId="c8b75dde-c097-4599-bb13-81e931e3f9a3" providerId="ADAL" clId="{9EA23B23-8F0B-450D-A8CD-AFF6177A84CD}" dt="2022-04-25T05:28:21.639" v="155" actId="164"/>
          <ac:spMkLst>
            <pc:docMk/>
            <pc:sldMk cId="2277185333" sldId="408"/>
            <ac:spMk id="4" creationId="{7D6852BB-24C9-4A21-98A5-5192DF360FD1}"/>
          </ac:spMkLst>
        </pc:spChg>
        <pc:spChg chg="add mod">
          <ac:chgData name="Edward Fu Schmerling" userId="c8b75dde-c097-4599-bb13-81e931e3f9a3" providerId="ADAL" clId="{9EA23B23-8F0B-450D-A8CD-AFF6177A84CD}" dt="2022-04-25T05:28:21.639" v="155" actId="164"/>
          <ac:spMkLst>
            <pc:docMk/>
            <pc:sldMk cId="2277185333" sldId="408"/>
            <ac:spMk id="10" creationId="{C0FA4F24-7D41-48EF-BBF5-68D91CE65808}"/>
          </ac:spMkLst>
        </pc:spChg>
        <pc:spChg chg="add mod">
          <ac:chgData name="Edward Fu Schmerling" userId="c8b75dde-c097-4599-bb13-81e931e3f9a3" providerId="ADAL" clId="{9EA23B23-8F0B-450D-A8CD-AFF6177A84CD}" dt="2022-04-25T05:28:33.313" v="158" actId="1037"/>
          <ac:spMkLst>
            <pc:docMk/>
            <pc:sldMk cId="2277185333" sldId="408"/>
            <ac:spMk id="14" creationId="{7DF96BB7-A8B7-49C1-AFE7-368E103AB5E1}"/>
          </ac:spMkLst>
        </pc:spChg>
        <pc:grpChg chg="add del mod">
          <ac:chgData name="Edward Fu Schmerling" userId="c8b75dde-c097-4599-bb13-81e931e3f9a3" providerId="ADAL" clId="{9EA23B23-8F0B-450D-A8CD-AFF6177A84CD}" dt="2022-04-25T05:36:32.997" v="168" actId="478"/>
          <ac:grpSpMkLst>
            <pc:docMk/>
            <pc:sldMk cId="2277185333" sldId="408"/>
            <ac:grpSpMk id="5" creationId="{94800D36-B9F2-4411-A766-74C819D291E3}"/>
          </ac:grpSpMkLst>
        </pc:grpChg>
        <pc:picChg chg="mod">
          <ac:chgData name="Edward Fu Schmerling" userId="c8b75dde-c097-4599-bb13-81e931e3f9a3" providerId="ADAL" clId="{9EA23B23-8F0B-450D-A8CD-AFF6177A84CD}" dt="2022-04-25T05:44:07.698" v="188" actId="1035"/>
          <ac:picMkLst>
            <pc:docMk/>
            <pc:sldMk cId="2277185333" sldId="408"/>
            <ac:picMk id="4" creationId="{D03E03EA-8CE3-D546-AB93-E6C4FDC556D4}"/>
          </ac:picMkLst>
        </pc:picChg>
        <pc:picChg chg="del">
          <ac:chgData name="Edward Fu Schmerling" userId="c8b75dde-c097-4599-bb13-81e931e3f9a3" providerId="ADAL" clId="{9EA23B23-8F0B-450D-A8CD-AFF6177A84CD}" dt="2022-04-25T05:43:55.458" v="179" actId="478"/>
          <ac:picMkLst>
            <pc:docMk/>
            <pc:sldMk cId="2277185333" sldId="408"/>
            <ac:picMk id="7" creationId="{4DBDD128-6D15-2644-AF9A-C6A3E08E8EAB}"/>
          </ac:picMkLst>
        </pc:picChg>
        <pc:picChg chg="mod">
          <ac:chgData name="Edward Fu Schmerling" userId="c8b75dde-c097-4599-bb13-81e931e3f9a3" providerId="ADAL" clId="{9EA23B23-8F0B-450D-A8CD-AFF6177A84CD}" dt="2022-04-25T05:28:21.639" v="155" actId="164"/>
          <ac:picMkLst>
            <pc:docMk/>
            <pc:sldMk cId="2277185333" sldId="408"/>
            <ac:picMk id="8" creationId="{2904DD92-3841-6E4D-848C-9BA9D0687DCB}"/>
          </ac:picMkLst>
        </pc:picChg>
        <pc:picChg chg="mod">
          <ac:chgData name="Edward Fu Schmerling" userId="c8b75dde-c097-4599-bb13-81e931e3f9a3" providerId="ADAL" clId="{9EA23B23-8F0B-450D-A8CD-AFF6177A84CD}" dt="2022-04-25T05:43:40.618" v="174" actId="1076"/>
          <ac:picMkLst>
            <pc:docMk/>
            <pc:sldMk cId="2277185333" sldId="408"/>
            <ac:picMk id="18" creationId="{FA477285-1F1F-5B4B-A0E5-C6EFAD168C6B}"/>
          </ac:picMkLst>
        </pc:picChg>
      </pc:sldChg>
      <pc:sldChg chg="modSp mod">
        <pc:chgData name="Edward Fu Schmerling" userId="c8b75dde-c097-4599-bb13-81e931e3f9a3" providerId="ADAL" clId="{9EA23B23-8F0B-450D-A8CD-AFF6177A84CD}" dt="2022-04-25T05:44:44.874" v="189" actId="14100"/>
        <pc:sldMkLst>
          <pc:docMk/>
          <pc:sldMk cId="3073302647" sldId="410"/>
        </pc:sldMkLst>
        <pc:spChg chg="mod">
          <ac:chgData name="Edward Fu Schmerling" userId="c8b75dde-c097-4599-bb13-81e931e3f9a3" providerId="ADAL" clId="{9EA23B23-8F0B-450D-A8CD-AFF6177A84CD}" dt="2022-04-25T05:44:44.874" v="189" actId="14100"/>
          <ac:spMkLst>
            <pc:docMk/>
            <pc:sldMk cId="3073302647" sldId="410"/>
            <ac:spMk id="3" creationId="{1EA36D0E-48EC-B248-996D-FB2D083592D4}"/>
          </ac:spMkLst>
        </pc:spChg>
      </pc:sldChg>
      <pc:sldChg chg="modSp mod">
        <pc:chgData name="Edward Fu Schmerling" userId="c8b75dde-c097-4599-bb13-81e931e3f9a3" providerId="ADAL" clId="{9EA23B23-8F0B-450D-A8CD-AFF6177A84CD}" dt="2022-04-25T06:26:32.911" v="304" actId="368"/>
        <pc:sldMkLst>
          <pc:docMk/>
          <pc:sldMk cId="1320528044" sldId="411"/>
        </pc:sldMkLst>
        <pc:spChg chg="mod">
          <ac:chgData name="Edward Fu Schmerling" userId="c8b75dde-c097-4599-bb13-81e931e3f9a3" providerId="ADAL" clId="{9EA23B23-8F0B-450D-A8CD-AFF6177A84CD}" dt="2022-04-25T06:26:32.911" v="304" actId="368"/>
          <ac:spMkLst>
            <pc:docMk/>
            <pc:sldMk cId="1320528044" sldId="411"/>
            <ac:spMk id="3" creationId="{AEF1C16D-FC4B-794C-844C-B00A86A30890}"/>
          </ac:spMkLst>
        </pc:spChg>
      </pc:sldChg>
      <pc:sldChg chg="modSp mod">
        <pc:chgData name="Edward Fu Schmerling" userId="c8b75dde-c097-4599-bb13-81e931e3f9a3" providerId="ADAL" clId="{9EA23B23-8F0B-450D-A8CD-AFF6177A84CD}" dt="2022-04-25T06:35:23.652" v="307" actId="1076"/>
        <pc:sldMkLst>
          <pc:docMk/>
          <pc:sldMk cId="2899107199" sldId="412"/>
        </pc:sldMkLst>
        <pc:picChg chg="mod modCrop">
          <ac:chgData name="Edward Fu Schmerling" userId="c8b75dde-c097-4599-bb13-81e931e3f9a3" providerId="ADAL" clId="{9EA23B23-8F0B-450D-A8CD-AFF6177A84CD}" dt="2022-04-25T06:35:23.652" v="307" actId="1076"/>
          <ac:picMkLst>
            <pc:docMk/>
            <pc:sldMk cId="2899107199" sldId="412"/>
            <ac:picMk id="9" creationId="{1423415A-CA14-144D-9B79-17C90C8A9CBD}"/>
          </ac:picMkLst>
        </pc:picChg>
      </pc:sldChg>
      <pc:sldChg chg="add del">
        <pc:chgData name="Edward Fu Schmerling" userId="c8b75dde-c097-4599-bb13-81e931e3f9a3" providerId="ADAL" clId="{9EA23B23-8F0B-450D-A8CD-AFF6177A84CD}" dt="2022-04-27T15:15:12.829" v="353" actId="47"/>
        <pc:sldMkLst>
          <pc:docMk/>
          <pc:sldMk cId="137478247" sldId="416"/>
        </pc:sldMkLst>
      </pc:sldChg>
      <pc:sldChg chg="addSp modSp add mod">
        <pc:chgData name="Edward Fu Schmerling" userId="c8b75dde-c097-4599-bb13-81e931e3f9a3" providerId="ADAL" clId="{9EA23B23-8F0B-450D-A8CD-AFF6177A84CD}" dt="2022-04-25T03:27:12.784" v="90" actId="1076"/>
        <pc:sldMkLst>
          <pc:docMk/>
          <pc:sldMk cId="4047473323" sldId="420"/>
        </pc:sldMkLst>
        <pc:spChg chg="add mod">
          <ac:chgData name="Edward Fu Schmerling" userId="c8b75dde-c097-4599-bb13-81e931e3f9a3" providerId="ADAL" clId="{9EA23B23-8F0B-450D-A8CD-AFF6177A84CD}" dt="2022-04-25T03:27:10.270" v="89" actId="208"/>
          <ac:spMkLst>
            <pc:docMk/>
            <pc:sldMk cId="4047473323" sldId="420"/>
            <ac:spMk id="4" creationId="{C0050957-D8A0-4DBE-A075-F1F7C8B2C9D4}"/>
          </ac:spMkLst>
        </pc:spChg>
        <pc:spChg chg="add mod">
          <ac:chgData name="Edward Fu Schmerling" userId="c8b75dde-c097-4599-bb13-81e931e3f9a3" providerId="ADAL" clId="{9EA23B23-8F0B-450D-A8CD-AFF6177A84CD}" dt="2022-04-25T03:27:12.784" v="90" actId="1076"/>
          <ac:spMkLst>
            <pc:docMk/>
            <pc:sldMk cId="4047473323" sldId="420"/>
            <ac:spMk id="6" creationId="{7441EB80-D0C1-40D4-AFFD-5D67CBD1B756}"/>
          </ac:spMkLst>
        </pc:spChg>
      </pc:sldChg>
    </pc:docChg>
  </pc:docChgLst>
  <pc:docChgLst>
    <pc:chgData name="Karen Yan Ming Leung" userId="5702c81a-7bc1-45f0-9e77-da815cac1d17" providerId="ADAL" clId="{C422858A-B3A0-3549-BF17-D2149089A683}"/>
    <pc:docChg chg="custSel modSld">
      <pc:chgData name="Karen Yan Ming Leung" userId="5702c81a-7bc1-45f0-9e77-da815cac1d17" providerId="ADAL" clId="{C422858A-B3A0-3549-BF17-D2149089A683}" dt="2022-04-25T05:43:32.282" v="28"/>
      <pc:docMkLst>
        <pc:docMk/>
      </pc:docMkLst>
      <pc:sldChg chg="modSp">
        <pc:chgData name="Karen Yan Ming Leung" userId="5702c81a-7bc1-45f0-9e77-da815cac1d17" providerId="ADAL" clId="{C422858A-B3A0-3549-BF17-D2149089A683}" dt="2022-04-24T07:55:22.728" v="13" actId="20577"/>
        <pc:sldMkLst>
          <pc:docMk/>
          <pc:sldMk cId="3356403099" sldId="404"/>
        </pc:sldMkLst>
        <pc:spChg chg="mod">
          <ac:chgData name="Karen Yan Ming Leung" userId="5702c81a-7bc1-45f0-9e77-da815cac1d17" providerId="ADAL" clId="{C422858A-B3A0-3549-BF17-D2149089A683}" dt="2022-04-24T07:55:22.728" v="13" actId="20577"/>
          <ac:spMkLst>
            <pc:docMk/>
            <pc:sldMk cId="3356403099" sldId="404"/>
            <ac:spMk id="3" creationId="{29B023E4-5EB1-AA47-888A-E03A42712FEE}"/>
          </ac:spMkLst>
        </pc:spChg>
      </pc:sldChg>
      <pc:sldChg chg="addSp delSp mod modNotesTx">
        <pc:chgData name="Karen Yan Ming Leung" userId="5702c81a-7bc1-45f0-9e77-da815cac1d17" providerId="ADAL" clId="{C422858A-B3A0-3549-BF17-D2149089A683}" dt="2022-04-25T05:43:32.282" v="28"/>
        <pc:sldMkLst>
          <pc:docMk/>
          <pc:sldMk cId="2277185333" sldId="408"/>
        </pc:sldMkLst>
        <pc:picChg chg="add">
          <ac:chgData name="Karen Yan Ming Leung" userId="5702c81a-7bc1-45f0-9e77-da815cac1d17" providerId="ADAL" clId="{C422858A-B3A0-3549-BF17-D2149089A683}" dt="2022-04-25T05:43:32.282" v="28"/>
          <ac:picMkLst>
            <pc:docMk/>
            <pc:sldMk cId="2277185333" sldId="408"/>
            <ac:picMk id="4" creationId="{D03E03EA-8CE3-D546-AB93-E6C4FDC556D4}"/>
          </ac:picMkLst>
        </pc:picChg>
        <pc:picChg chg="add del">
          <ac:chgData name="Karen Yan Ming Leung" userId="5702c81a-7bc1-45f0-9e77-da815cac1d17" providerId="ADAL" clId="{C422858A-B3A0-3549-BF17-D2149089A683}" dt="2022-04-25T05:36:12.614" v="15" actId="478"/>
          <ac:picMkLst>
            <pc:docMk/>
            <pc:sldMk cId="2277185333" sldId="408"/>
            <ac:picMk id="17" creationId="{C5183730-3936-3240-A6BE-291083174370}"/>
          </ac:picMkLst>
        </pc:picChg>
        <pc:picChg chg="add">
          <ac:chgData name="Karen Yan Ming Leung" userId="5702c81a-7bc1-45f0-9e77-da815cac1d17" providerId="ADAL" clId="{C422858A-B3A0-3549-BF17-D2149089A683}" dt="2022-04-25T05:36:22.254" v="25"/>
          <ac:picMkLst>
            <pc:docMk/>
            <pc:sldMk cId="2277185333" sldId="408"/>
            <ac:picMk id="18" creationId="{FA477285-1F1F-5B4B-A0E5-C6EFAD168C6B}"/>
          </ac:picMkLst>
        </pc:picChg>
      </pc:sldChg>
      <pc:sldChg chg="addSp delSp modSp mod modNotesTx">
        <pc:chgData name="Karen Yan Ming Leung" userId="5702c81a-7bc1-45f0-9e77-da815cac1d17" providerId="ADAL" clId="{C422858A-B3A0-3549-BF17-D2149089A683}" dt="2022-04-24T07:52:47.305" v="8" actId="20577"/>
        <pc:sldMkLst>
          <pc:docMk/>
          <pc:sldMk cId="856275544" sldId="417"/>
        </pc:sldMkLst>
        <pc:picChg chg="add mod">
          <ac:chgData name="Karen Yan Ming Leung" userId="5702c81a-7bc1-45f0-9e77-da815cac1d17" providerId="ADAL" clId="{C422858A-B3A0-3549-BF17-D2149089A683}" dt="2022-04-24T07:52:37.838" v="6" actId="1076"/>
          <ac:picMkLst>
            <pc:docMk/>
            <pc:sldMk cId="856275544" sldId="417"/>
            <ac:picMk id="3" creationId="{1026CC71-F344-304C-BB85-2F23B772BCC8}"/>
          </ac:picMkLst>
        </pc:picChg>
        <pc:picChg chg="del">
          <ac:chgData name="Karen Yan Ming Leung" userId="5702c81a-7bc1-45f0-9e77-da815cac1d17" providerId="ADAL" clId="{C422858A-B3A0-3549-BF17-D2149089A683}" dt="2022-04-24T07:52:33.755" v="5" actId="478"/>
          <ac:picMkLst>
            <pc:docMk/>
            <pc:sldMk cId="856275544" sldId="417"/>
            <ac:picMk id="18" creationId="{7D5B0E45-5784-7443-B08B-6EB0C093566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D6F028-2067-3740-AA48-A91E93570B1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2D7EC-928D-0645-AAE8-498D7443D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31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84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3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436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05CA-03CE-524D-978E-D876D08574F7}" type="datetime1">
              <a:rPr lang="en-US" smtClean="0"/>
              <a:t>8/10/26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013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42090"/>
            <a:ext cx="2743200" cy="365125"/>
          </a:xfrm>
        </p:spPr>
        <p:txBody>
          <a:bodyPr/>
          <a:lstStyle/>
          <a:p>
            <a:fld id="{54B948F4-3532-874B-B8AD-65779A0F3549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2090"/>
            <a:ext cx="4114800" cy="365125"/>
          </a:xfrm>
        </p:spPr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542090"/>
            <a:ext cx="2743200" cy="365125"/>
          </a:xfrm>
        </p:spPr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804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42090"/>
            <a:ext cx="2743200" cy="365125"/>
          </a:xfrm>
        </p:spPr>
        <p:txBody>
          <a:bodyPr/>
          <a:lstStyle/>
          <a:p>
            <a:fld id="{6C6F2E88-6F3D-E944-BBC4-1012CED0F250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2090"/>
            <a:ext cx="4114800" cy="365125"/>
          </a:xfrm>
        </p:spPr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542090"/>
            <a:ext cx="2743200" cy="365125"/>
          </a:xfrm>
        </p:spPr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86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04D55-97CE-CA4D-B4E3-21626F567ACA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80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F2662-FE0F-C142-8667-4B47408E8B11}" type="datetime1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19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BA9F0-D143-7A4F-BFA4-81CC8A5CBE3F}" type="datetime1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834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7A95C-5F91-2640-AE92-38F9A6DE941A}" type="datetime1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137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C1A96-E1E5-8245-995B-CDB24D9BF8BB}" type="datetime1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430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65A7-2293-2D49-8566-9AAB2EC1CED3}" type="datetime1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5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00D8D-602E-8542-ADF6-96A2031B661C}" type="datetime1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84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2450-E38C-F346-8161-971C2C0F1E83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34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A106C-7724-844F-B5C6-FECE26D8FF6F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22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03250" y="539750"/>
            <a:ext cx="10985500" cy="717475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864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16081" y="6625899"/>
            <a:ext cx="170130" cy="162256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82" name="AA203 | Lecture 10"/>
          <p:cNvSpPr txBox="1"/>
          <p:nvPr/>
        </p:nvSpPr>
        <p:spPr>
          <a:xfrm>
            <a:off x="5881957" y="6623670"/>
            <a:ext cx="809517" cy="16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1500"/>
            </a:lvl1pPr>
          </a:lstStyle>
          <a:p>
            <a:r>
              <a:rPr sz="750"/>
              <a:t>AA203 | Lecture 10</a:t>
            </a:r>
          </a:p>
        </p:txBody>
      </p:sp>
      <p:sp>
        <p:nvSpPr>
          <p:cNvPr id="83" name="5/3/2023"/>
          <p:cNvSpPr txBox="1"/>
          <p:nvPr/>
        </p:nvSpPr>
        <p:spPr>
          <a:xfrm>
            <a:off x="562032" y="6623670"/>
            <a:ext cx="413575" cy="16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1500"/>
            </a:lvl1pPr>
          </a:lstStyle>
          <a:p>
            <a:r>
              <a:rPr sz="750"/>
              <a:t>5/3/2023</a:t>
            </a:r>
          </a:p>
        </p:txBody>
      </p:sp>
    </p:spTree>
    <p:extLst>
      <p:ext uri="{BB962C8B-B14F-4D97-AF65-F5344CB8AC3E}">
        <p14:creationId xmlns:p14="http://schemas.microsoft.com/office/powerpoint/2010/main" val="13331050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DFED8-1A23-8B43-A132-012FFCC73482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64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4.tif"/><Relationship Id="rId7" Type="http://schemas.openxmlformats.org/officeDocument/2006/relationships/image" Target="../media/image11.tif"/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tif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if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emf"/><Relationship Id="rId5" Type="http://schemas.openxmlformats.org/officeDocument/2006/relationships/image" Target="../media/image47.emf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49.t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5.png"/><Relationship Id="rId7" Type="http://schemas.openxmlformats.org/officeDocument/2006/relationships/image" Target="../media/image50.t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1.png"/><Relationship Id="rId9" Type="http://schemas.openxmlformats.org/officeDocument/2006/relationships/image" Target="../media/image7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tif"/><Relationship Id="rId2" Type="http://schemas.openxmlformats.org/officeDocument/2006/relationships/image" Target="../media/image49.t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t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tif"/><Relationship Id="rId4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56.png"/><Relationship Id="rId4" Type="http://schemas.openxmlformats.org/officeDocument/2006/relationships/image" Target="../media/image8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51.ti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75.png"/><Relationship Id="rId7" Type="http://schemas.openxmlformats.org/officeDocument/2006/relationships/image" Target="../media/image84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76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emf"/><Relationship Id="rId4" Type="http://schemas.openxmlformats.org/officeDocument/2006/relationships/image" Target="../media/image10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6.emf"/><Relationship Id="rId4" Type="http://schemas.openxmlformats.org/officeDocument/2006/relationships/image" Target="../media/image101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AA203</a:t>
            </a:r>
            <a:br>
              <a:rPr lang="en-US" sz="4800" dirty="0"/>
            </a:br>
            <a:r>
              <a:rPr lang="en-US" sz="4800" dirty="0"/>
              <a:t>Optimal and Learning-based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611638" cy="1655762"/>
          </a:xfrm>
        </p:spPr>
        <p:txBody>
          <a:bodyPr/>
          <a:lstStyle/>
          <a:p>
            <a:r>
              <a:rPr lang="en-US" dirty="0"/>
              <a:t>Fundamentals of Reinforcement Learning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87942"/>
            <a:ext cx="12192000" cy="117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827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15EB0-859B-8F49-BAC1-B9771EAA7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2F1A6-CE8E-F247-8F94-6C91E06E5B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420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0D5BF8-34F9-3145-A3CA-294D02CA0539}" type="datetime1">
              <a:rPr lang="en-US" smtClean="0"/>
              <a:t>8/10/26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9F19D-A0DD-0546-8ED9-1A8C40EA2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4209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/>
              <a:t>AA 203 | Lecture 16</a:t>
            </a:r>
            <a:endParaRPr lang="en-US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EFC02E8-F080-8C4D-9827-FD29FB686390}"/>
              </a:ext>
            </a:extLst>
          </p:cNvPr>
          <p:cNvGrpSpPr/>
          <p:nvPr/>
        </p:nvGrpSpPr>
        <p:grpSpPr>
          <a:xfrm>
            <a:off x="266696" y="3646326"/>
            <a:ext cx="5829304" cy="2484161"/>
            <a:chOff x="266696" y="3646326"/>
            <a:chExt cx="5829304" cy="248416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8159E4-F76B-AF48-ACBA-A9406062575D}"/>
                </a:ext>
              </a:extLst>
            </p:cNvPr>
            <p:cNvSpPr/>
            <p:nvPr/>
          </p:nvSpPr>
          <p:spPr>
            <a:xfrm>
              <a:off x="1303564" y="4135010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Open-loop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CD1227-A9D0-1044-8E5A-1E1450389921}"/>
                </a:ext>
              </a:extLst>
            </p:cNvPr>
            <p:cNvSpPr/>
            <p:nvPr/>
          </p:nvSpPr>
          <p:spPr>
            <a:xfrm>
              <a:off x="266696" y="5624301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Indirect methods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D4E527-0DD0-0145-8383-CB96670F0E0A}"/>
                </a:ext>
              </a:extLst>
            </p:cNvPr>
            <p:cNvSpPr/>
            <p:nvPr/>
          </p:nvSpPr>
          <p:spPr>
            <a:xfrm>
              <a:off x="2390055" y="5615048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Direct </a:t>
              </a:r>
            </a:p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methods</a:t>
              </a:r>
            </a:p>
          </p:txBody>
        </p:sp>
        <p:cxnSp>
          <p:nvCxnSpPr>
            <p:cNvPr id="20" name="Elbow Connector 19">
              <a:extLst>
                <a:ext uri="{FF2B5EF4-FFF2-40B4-BE49-F238E27FC236}">
                  <a16:creationId xmlns:a16="http://schemas.microsoft.com/office/drawing/2014/main" id="{76BDC580-E5E7-B841-B2CC-8D3DD0F326F6}"/>
                </a:ext>
              </a:extLst>
            </p:cNvPr>
            <p:cNvCxnSpPr>
              <a:cxnSpLocks/>
              <a:stCxn id="7" idx="2"/>
              <a:endCxn id="10" idx="0"/>
            </p:cNvCxnSpPr>
            <p:nvPr/>
          </p:nvCxnSpPr>
          <p:spPr>
            <a:xfrm rot="5400000">
              <a:off x="3908558" y="1947568"/>
              <a:ext cx="488684" cy="3886200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lbow Connector 25">
              <a:extLst>
                <a:ext uri="{FF2B5EF4-FFF2-40B4-BE49-F238E27FC236}">
                  <a16:creationId xmlns:a16="http://schemas.microsoft.com/office/drawing/2014/main" id="{1F3F29AF-ADD3-8545-A48F-8844C2DE0849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 rot="5400000">
              <a:off x="1199814" y="4614314"/>
              <a:ext cx="983105" cy="1036868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lbow Connector 28">
              <a:extLst>
                <a:ext uri="{FF2B5EF4-FFF2-40B4-BE49-F238E27FC236}">
                  <a16:creationId xmlns:a16="http://schemas.microsoft.com/office/drawing/2014/main" id="{0D0B3B7E-BA89-3A47-90EF-9AC28A2A57DD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rot="16200000" flipH="1">
              <a:off x="2266119" y="4584876"/>
              <a:ext cx="973852" cy="1086491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DBFF4A7-7A79-4D47-9FB6-51723308636A}"/>
              </a:ext>
            </a:extLst>
          </p:cNvPr>
          <p:cNvGrpSpPr/>
          <p:nvPr/>
        </p:nvGrpSpPr>
        <p:grpSpPr>
          <a:xfrm>
            <a:off x="6095999" y="3646326"/>
            <a:ext cx="5698672" cy="2484161"/>
            <a:chOff x="6095999" y="3646326"/>
            <a:chExt cx="5698672" cy="248416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A1AFB6-6135-2748-9654-25742D8481A0}"/>
                </a:ext>
              </a:extLst>
            </p:cNvPr>
            <p:cNvSpPr/>
            <p:nvPr/>
          </p:nvSpPr>
          <p:spPr>
            <a:xfrm>
              <a:off x="8841921" y="4135010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Closed-loop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318DE2-C5EF-2D45-8BA9-48E3C38CF59F}"/>
                </a:ext>
              </a:extLst>
            </p:cNvPr>
            <p:cNvSpPr/>
            <p:nvPr/>
          </p:nvSpPr>
          <p:spPr>
            <a:xfrm>
              <a:off x="7756066" y="5624301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DP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90C56BC-249B-954B-9C8E-2CF880AED83D}"/>
                </a:ext>
              </a:extLst>
            </p:cNvPr>
            <p:cNvSpPr/>
            <p:nvPr/>
          </p:nvSpPr>
          <p:spPr>
            <a:xfrm>
              <a:off x="9982200" y="5615048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HJB / HJI</a:t>
              </a:r>
            </a:p>
          </p:txBody>
        </p: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F356C1F8-239F-224C-B68F-7FEF03C2138F}"/>
                </a:ext>
              </a:extLst>
            </p:cNvPr>
            <p:cNvCxnSpPr>
              <a:cxnSpLocks/>
              <a:stCxn id="7" idx="2"/>
              <a:endCxn id="15" idx="0"/>
            </p:cNvCxnSpPr>
            <p:nvPr/>
          </p:nvCxnSpPr>
          <p:spPr>
            <a:xfrm rot="16200000" flipH="1">
              <a:off x="7677736" y="2064589"/>
              <a:ext cx="488684" cy="3652157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lbow Connector 31">
              <a:extLst>
                <a:ext uri="{FF2B5EF4-FFF2-40B4-BE49-F238E27FC236}">
                  <a16:creationId xmlns:a16="http://schemas.microsoft.com/office/drawing/2014/main" id="{8015047E-6A13-FC43-A315-69FCAC0DD633}"/>
                </a:ext>
              </a:extLst>
            </p:cNvPr>
            <p:cNvCxnSpPr>
              <a:cxnSpLocks/>
              <a:stCxn id="15" idx="2"/>
              <a:endCxn id="17" idx="0"/>
            </p:cNvCxnSpPr>
            <p:nvPr/>
          </p:nvCxnSpPr>
          <p:spPr>
            <a:xfrm rot="16200000" flipH="1">
              <a:off x="9831370" y="4557982"/>
              <a:ext cx="973852" cy="1140279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lbow Connector 34">
              <a:extLst>
                <a:ext uri="{FF2B5EF4-FFF2-40B4-BE49-F238E27FC236}">
                  <a16:creationId xmlns:a16="http://schemas.microsoft.com/office/drawing/2014/main" id="{049E8514-8C99-6B47-A95B-CB9E244D9595}"/>
                </a:ext>
              </a:extLst>
            </p:cNvPr>
            <p:cNvCxnSpPr>
              <a:cxnSpLocks/>
              <a:stCxn id="15" idx="2"/>
              <a:endCxn id="16" idx="0"/>
            </p:cNvCxnSpPr>
            <p:nvPr/>
          </p:nvCxnSpPr>
          <p:spPr>
            <a:xfrm rot="5400000">
              <a:off x="8713678" y="4589821"/>
              <a:ext cx="983105" cy="1085855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65FE300-9F3D-2348-B1CA-40319A58DBA2}"/>
              </a:ext>
            </a:extLst>
          </p:cNvPr>
          <p:cNvGrpSpPr/>
          <p:nvPr/>
        </p:nvGrpSpPr>
        <p:grpSpPr>
          <a:xfrm>
            <a:off x="3116035" y="4133085"/>
            <a:ext cx="5725886" cy="506186"/>
            <a:chOff x="3116035" y="4133085"/>
            <a:chExt cx="5725886" cy="50618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0BD4215-7DBB-694B-AEEF-8410F5B3DE7D}"/>
                </a:ext>
              </a:extLst>
            </p:cNvPr>
            <p:cNvSpPr/>
            <p:nvPr/>
          </p:nvSpPr>
          <p:spPr>
            <a:xfrm>
              <a:off x="5189764" y="4133085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MPC</a:t>
              </a:r>
            </a:p>
          </p:txBody>
        </p:sp>
        <p:cxnSp>
          <p:nvCxnSpPr>
            <p:cNvPr id="38" name="Elbow Connector 37">
              <a:extLst>
                <a:ext uri="{FF2B5EF4-FFF2-40B4-BE49-F238E27FC236}">
                  <a16:creationId xmlns:a16="http://schemas.microsoft.com/office/drawing/2014/main" id="{7B96D170-6F26-A647-982B-C3E39217A824}"/>
                </a:ext>
              </a:extLst>
            </p:cNvPr>
            <p:cNvCxnSpPr>
              <a:cxnSpLocks/>
              <a:stCxn id="10" idx="3"/>
              <a:endCxn id="18" idx="1"/>
            </p:cNvCxnSpPr>
            <p:nvPr/>
          </p:nvCxnSpPr>
          <p:spPr>
            <a:xfrm flipV="1">
              <a:off x="3116035" y="4386178"/>
              <a:ext cx="2073729" cy="1925"/>
            </a:xfrm>
            <a:prstGeom prst="bentConnector3">
              <a:avLst/>
            </a:prstGeom>
            <a:ln w="19050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lbow Connector 40">
              <a:extLst>
                <a:ext uri="{FF2B5EF4-FFF2-40B4-BE49-F238E27FC236}">
                  <a16:creationId xmlns:a16="http://schemas.microsoft.com/office/drawing/2014/main" id="{2DA3809E-B837-9344-9064-BE668AFC2D1B}"/>
                </a:ext>
              </a:extLst>
            </p:cNvPr>
            <p:cNvCxnSpPr>
              <a:cxnSpLocks/>
              <a:stCxn id="15" idx="1"/>
              <a:endCxn id="18" idx="3"/>
            </p:cNvCxnSpPr>
            <p:nvPr/>
          </p:nvCxnSpPr>
          <p:spPr>
            <a:xfrm rot="10800000">
              <a:off x="7002235" y="4386179"/>
              <a:ext cx="1839686" cy="1925"/>
            </a:xfrm>
            <a:prstGeom prst="bentConnector3">
              <a:avLst/>
            </a:prstGeom>
            <a:ln w="19050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A60F783-B6BC-B549-95D9-5B6D4DE656D0}"/>
              </a:ext>
            </a:extLst>
          </p:cNvPr>
          <p:cNvGrpSpPr/>
          <p:nvPr/>
        </p:nvGrpSpPr>
        <p:grpSpPr>
          <a:xfrm>
            <a:off x="6096000" y="1653372"/>
            <a:ext cx="2566301" cy="1325563"/>
            <a:chOff x="6096000" y="1653372"/>
            <a:chExt cx="2566301" cy="1325563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220A9DD-65A8-E245-B704-10F2D9CBAFFC}"/>
                </a:ext>
              </a:extLst>
            </p:cNvPr>
            <p:cNvSpPr/>
            <p:nvPr/>
          </p:nvSpPr>
          <p:spPr>
            <a:xfrm>
              <a:off x="6849830" y="1653372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Adaptive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optimal control</a:t>
              </a:r>
            </a:p>
          </p:txBody>
        </p:sp>
        <p:cxnSp>
          <p:nvCxnSpPr>
            <p:cNvPr id="50" name="Elbow Connector 49">
              <a:extLst>
                <a:ext uri="{FF2B5EF4-FFF2-40B4-BE49-F238E27FC236}">
                  <a16:creationId xmlns:a16="http://schemas.microsoft.com/office/drawing/2014/main" id="{1A761A74-15ED-654D-A9D2-E96C3FA93B61}"/>
                </a:ext>
              </a:extLst>
            </p:cNvPr>
            <p:cNvCxnSpPr>
              <a:cxnSpLocks/>
              <a:stCxn id="7" idx="0"/>
              <a:endCxn id="45" idx="1"/>
            </p:cNvCxnSpPr>
            <p:nvPr/>
          </p:nvCxnSpPr>
          <p:spPr>
            <a:xfrm rot="5400000" flipH="1" flipV="1">
              <a:off x="5936680" y="2065785"/>
              <a:ext cx="1072470" cy="753830"/>
            </a:xfrm>
            <a:prstGeom prst="bentConnector2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FBCE122-E5AF-F245-BC72-050C52A3E997}"/>
              </a:ext>
            </a:extLst>
          </p:cNvPr>
          <p:cNvGrpSpPr/>
          <p:nvPr/>
        </p:nvGrpSpPr>
        <p:grpSpPr>
          <a:xfrm>
            <a:off x="8662301" y="1311739"/>
            <a:ext cx="2865114" cy="1264080"/>
            <a:chOff x="8215426" y="894093"/>
            <a:chExt cx="2865114" cy="126408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FBDD4E9-6136-2A45-8D22-FE929F393D53}"/>
                </a:ext>
              </a:extLst>
            </p:cNvPr>
            <p:cNvGrpSpPr/>
            <p:nvPr/>
          </p:nvGrpSpPr>
          <p:grpSpPr>
            <a:xfrm>
              <a:off x="8215426" y="894093"/>
              <a:ext cx="2865114" cy="1264080"/>
              <a:chOff x="8215426" y="894093"/>
              <a:chExt cx="2865114" cy="1264080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1B2459BD-F4FF-6748-A528-AAF8E6026457}"/>
                  </a:ext>
                </a:extLst>
              </p:cNvPr>
              <p:cNvGrpSpPr/>
              <p:nvPr/>
            </p:nvGrpSpPr>
            <p:grpSpPr>
              <a:xfrm>
                <a:off x="8215426" y="1488819"/>
                <a:ext cx="2865114" cy="669354"/>
                <a:chOff x="8215426" y="1488819"/>
                <a:chExt cx="2865114" cy="669354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BFC8CE76-6BCF-594D-99AD-8FE0C1822182}"/>
                    </a:ext>
                  </a:extLst>
                </p:cNvPr>
                <p:cNvSpPr/>
                <p:nvPr/>
              </p:nvSpPr>
              <p:spPr>
                <a:xfrm>
                  <a:off x="9268069" y="1651987"/>
                  <a:ext cx="1812471" cy="50618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Model-based RL</a:t>
                  </a:r>
                </a:p>
              </p:txBody>
            </p:sp>
            <p:cxnSp>
              <p:nvCxnSpPr>
                <p:cNvPr id="53" name="Elbow Connector 52">
                  <a:extLst>
                    <a:ext uri="{FF2B5EF4-FFF2-40B4-BE49-F238E27FC236}">
                      <a16:creationId xmlns:a16="http://schemas.microsoft.com/office/drawing/2014/main" id="{46539B03-025C-1C40-878E-064D58DC4EE7}"/>
                    </a:ext>
                  </a:extLst>
                </p:cNvPr>
                <p:cNvCxnSpPr>
                  <a:cxnSpLocks/>
                  <a:stCxn id="45" idx="3"/>
                  <a:endCxn id="46" idx="1"/>
                </p:cNvCxnSpPr>
                <p:nvPr/>
              </p:nvCxnSpPr>
              <p:spPr>
                <a:xfrm>
                  <a:off x="8215426" y="1488819"/>
                  <a:ext cx="1052643" cy="416261"/>
                </a:xfrm>
                <a:prstGeom prst="bentConnector3">
                  <a:avLst>
                    <a:gd name="adj1" fmla="val 71717"/>
                  </a:avLst>
                </a:prstGeom>
                <a:ln w="3810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1019E0F-2F16-0544-8491-1C8D30122397}"/>
                  </a:ext>
                </a:extLst>
              </p:cNvPr>
              <p:cNvSpPr/>
              <p:nvPr/>
            </p:nvSpPr>
            <p:spPr>
              <a:xfrm>
                <a:off x="9268069" y="894093"/>
                <a:ext cx="1812471" cy="5061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Model-free RL</a:t>
                </a:r>
              </a:p>
            </p:txBody>
          </p:sp>
        </p:grp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6E0BE9E2-31AB-B240-A24D-2776EC5EF061}"/>
                </a:ext>
              </a:extLst>
            </p:cNvPr>
            <p:cNvCxnSpPr>
              <a:cxnSpLocks/>
              <a:endCxn id="36" idx="1"/>
            </p:cNvCxnSpPr>
            <p:nvPr/>
          </p:nvCxnSpPr>
          <p:spPr>
            <a:xfrm rot="5400000" flipH="1" flipV="1">
              <a:off x="8736988" y="1375383"/>
              <a:ext cx="759278" cy="302884"/>
            </a:xfrm>
            <a:prstGeom prst="bentConnector2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495E0BE3-2198-2A42-8259-F5E056FC7C15}"/>
              </a:ext>
            </a:extLst>
          </p:cNvPr>
          <p:cNvSpPr/>
          <p:nvPr/>
        </p:nvSpPr>
        <p:spPr>
          <a:xfrm>
            <a:off x="1944737" y="1651797"/>
            <a:ext cx="1812471" cy="5061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Control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91762BC-B081-3045-9AB4-125BDE48B386}"/>
              </a:ext>
            </a:extLst>
          </p:cNvPr>
          <p:cNvGrpSpPr/>
          <p:nvPr/>
        </p:nvGrpSpPr>
        <p:grpSpPr>
          <a:xfrm>
            <a:off x="586717" y="1904890"/>
            <a:ext cx="6415518" cy="1741436"/>
            <a:chOff x="586717" y="1904890"/>
            <a:chExt cx="6415518" cy="17414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9C3463D-E10B-D941-B86F-F87B3170D262}"/>
                </a:ext>
              </a:extLst>
            </p:cNvPr>
            <p:cNvSpPr/>
            <p:nvPr/>
          </p:nvSpPr>
          <p:spPr>
            <a:xfrm>
              <a:off x="5189764" y="2978935"/>
              <a:ext cx="1812471" cy="6673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Optimal and learning</a:t>
              </a:r>
              <a:r>
                <a:rPr lang="en-US" b="1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 </a:t>
              </a:r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control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1B614BB-27B7-E04F-8F62-37A9E767B23C}"/>
                </a:ext>
              </a:extLst>
            </p:cNvPr>
            <p:cNvSpPr/>
            <p:nvPr/>
          </p:nvSpPr>
          <p:spPr>
            <a:xfrm>
              <a:off x="2850972" y="2560581"/>
              <a:ext cx="1885675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Adaptive control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0D48959-DA94-684E-B5F7-08F0AFF0756A}"/>
                </a:ext>
              </a:extLst>
            </p:cNvPr>
            <p:cNvSpPr/>
            <p:nvPr/>
          </p:nvSpPr>
          <p:spPr>
            <a:xfrm>
              <a:off x="586717" y="2569586"/>
              <a:ext cx="2057956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Feedback control</a:t>
              </a:r>
            </a:p>
          </p:txBody>
        </p:sp>
        <p:cxnSp>
          <p:nvCxnSpPr>
            <p:cNvPr id="49" name="Elbow Connector 48">
              <a:extLst>
                <a:ext uri="{FF2B5EF4-FFF2-40B4-BE49-F238E27FC236}">
                  <a16:creationId xmlns:a16="http://schemas.microsoft.com/office/drawing/2014/main" id="{BEBDDB02-25C2-3C47-9423-D5C5D517C079}"/>
                </a:ext>
              </a:extLst>
            </p:cNvPr>
            <p:cNvCxnSpPr>
              <a:cxnSpLocks/>
              <a:stCxn id="42" idx="2"/>
              <a:endCxn id="44" idx="0"/>
            </p:cNvCxnSpPr>
            <p:nvPr/>
          </p:nvCxnSpPr>
          <p:spPr>
            <a:xfrm rot="5400000">
              <a:off x="2027533" y="1746145"/>
              <a:ext cx="411603" cy="1235278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>
              <a:extLst>
                <a:ext uri="{FF2B5EF4-FFF2-40B4-BE49-F238E27FC236}">
                  <a16:creationId xmlns:a16="http://schemas.microsoft.com/office/drawing/2014/main" id="{EB5D429F-18CB-6048-AFB3-3DE38CFC867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121092" y="1894394"/>
              <a:ext cx="402598" cy="942836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Elbow Connector 51">
              <a:extLst>
                <a:ext uri="{FF2B5EF4-FFF2-40B4-BE49-F238E27FC236}">
                  <a16:creationId xmlns:a16="http://schemas.microsoft.com/office/drawing/2014/main" id="{45CC049D-4BA9-4F4E-B8B0-C9C8619C5FB1}"/>
                </a:ext>
              </a:extLst>
            </p:cNvPr>
            <p:cNvCxnSpPr>
              <a:cxnSpLocks/>
              <a:stCxn id="42" idx="3"/>
              <a:endCxn id="7" idx="1"/>
            </p:cNvCxnSpPr>
            <p:nvPr/>
          </p:nvCxnSpPr>
          <p:spPr>
            <a:xfrm>
              <a:off x="3757208" y="1904890"/>
              <a:ext cx="1432556" cy="1407741"/>
            </a:xfrm>
            <a:prstGeom prst="bentConnector3">
              <a:avLst>
                <a:gd name="adj1" fmla="val 80715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D3A1D-0C3C-33BD-1B26-432330E8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</a:t>
            </a:fld>
            <a:endParaRPr lang="en-US"/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105D4433-AE9C-C985-652F-3EBB7DAE8D04}"/>
              </a:ext>
            </a:extLst>
          </p:cNvPr>
          <p:cNvCxnSpPr>
            <a:cxnSpLocks/>
            <a:endCxn id="9" idx="1"/>
          </p:cNvCxnSpPr>
          <p:nvPr/>
        </p:nvCxnSpPr>
        <p:spPr>
          <a:xfrm rot="5400000" flipH="1" flipV="1">
            <a:off x="8999790" y="1226704"/>
            <a:ext cx="1127422" cy="302884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060F7C1-26FF-A030-24A9-7E7D0F21287E}"/>
              </a:ext>
            </a:extLst>
          </p:cNvPr>
          <p:cNvSpPr/>
          <p:nvPr/>
        </p:nvSpPr>
        <p:spPr>
          <a:xfrm>
            <a:off x="9714943" y="533089"/>
            <a:ext cx="1812471" cy="5626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Imitation Learning</a:t>
            </a:r>
          </a:p>
        </p:txBody>
      </p:sp>
    </p:spTree>
    <p:extLst>
      <p:ext uri="{BB962C8B-B14F-4D97-AF65-F5344CB8AC3E}">
        <p14:creationId xmlns:p14="http://schemas.microsoft.com/office/powerpoint/2010/main" val="3140733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Outline"/>
          <p:cNvSpPr txBox="1">
            <a:spLocks noGrp="1"/>
          </p:cNvSpPr>
          <p:nvPr>
            <p:ph type="title"/>
          </p:nvPr>
        </p:nvSpPr>
        <p:spPr>
          <a:xfrm>
            <a:off x="733105" y="380884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Outline</a:t>
            </a:r>
          </a:p>
        </p:txBody>
      </p:sp>
      <p:sp>
        <p:nvSpPr>
          <p:cNvPr id="176" name="What is Reinforcement Learning? (and the RL setting)"/>
          <p:cNvSpPr txBox="1"/>
          <p:nvPr/>
        </p:nvSpPr>
        <p:spPr>
          <a:xfrm>
            <a:off x="733105" y="2305355"/>
            <a:ext cx="7289231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600" dirty="0"/>
              <a:t>Recap: The RL problem and exact methods (based on dynamic programming)</a:t>
            </a:r>
            <a:endParaRPr sz="1600" dirty="0"/>
          </a:p>
        </p:txBody>
      </p:sp>
      <p:sp>
        <p:nvSpPr>
          <p:cNvPr id="177" name="From exact methods to model-free control"/>
          <p:cNvSpPr txBox="1"/>
          <p:nvPr/>
        </p:nvSpPr>
        <p:spPr>
          <a:xfrm>
            <a:off x="733105" y="2762388"/>
            <a:ext cx="4935048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1600" dirty="0"/>
              <a:t>From exact methods to model-free control</a:t>
            </a:r>
          </a:p>
        </p:txBody>
      </p:sp>
      <p:sp>
        <p:nvSpPr>
          <p:cNvPr id="178" name="Monte Carlo Learning…"/>
          <p:cNvSpPr txBox="1"/>
          <p:nvPr/>
        </p:nvSpPr>
        <p:spPr>
          <a:xfrm>
            <a:off x="1095833" y="2984417"/>
            <a:ext cx="7913369" cy="742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marL="177800" indent="-177800" defTabSz="412750">
              <a:lnSpc>
                <a:spcPct val="15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Monte Carlo Learning</a:t>
            </a:r>
          </a:p>
          <a:p>
            <a:pPr marL="177800" indent="-177800" defTabSz="412750">
              <a:lnSpc>
                <a:spcPct val="15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Temporal-Difference (TD) Learning</a:t>
            </a:r>
          </a:p>
        </p:txBody>
      </p:sp>
      <p:sp>
        <p:nvSpPr>
          <p:cNvPr id="179" name="A taxonomy of RL algorithms &amp; important trade-offs"/>
          <p:cNvSpPr txBox="1"/>
          <p:nvPr/>
        </p:nvSpPr>
        <p:spPr>
          <a:xfrm>
            <a:off x="733105" y="3975510"/>
            <a:ext cx="4935048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600" dirty="0"/>
              <a:t>The skeleton of an RL algorithm</a:t>
            </a:r>
            <a:endParaRPr sz="16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B159CA-4A3B-AA26-3A4C-051182938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9DAF-61B3-2744-B8C8-B72AA2FC67FC}" type="datetime1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6F5BAE-A6BE-63F3-F35C-294103DF5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CC6FC-60EF-061B-D209-958F8286F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What is reinforcement learning?"/>
          <p:cNvSpPr txBox="1">
            <a:spLocks noGrp="1"/>
          </p:cNvSpPr>
          <p:nvPr>
            <p:ph type="title"/>
          </p:nvPr>
        </p:nvSpPr>
        <p:spPr>
          <a:xfrm>
            <a:off x="509555" y="373337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Recap: </a:t>
            </a:r>
            <a:r>
              <a:rPr dirty="0"/>
              <a:t>What is reinforcement learning?</a:t>
            </a:r>
          </a:p>
        </p:txBody>
      </p:sp>
      <p:sp>
        <p:nvSpPr>
          <p:cNvPr id="190" name="Fundamentally:…"/>
          <p:cNvSpPr txBox="1"/>
          <p:nvPr/>
        </p:nvSpPr>
        <p:spPr>
          <a:xfrm>
            <a:off x="561896" y="1693149"/>
            <a:ext cx="6198300" cy="1205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 algn="l">
              <a:defRPr sz="3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500" dirty="0"/>
              <a:t>Fundamentally:</a:t>
            </a:r>
          </a:p>
          <a:p>
            <a:pPr algn="l">
              <a:defRPr sz="3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 sz="1500" dirty="0"/>
          </a:p>
          <a:p>
            <a:pPr marL="190500" indent="-190500">
              <a:buSzPct val="70000"/>
              <a:buChar char="•"/>
              <a:defRPr sz="3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500" dirty="0"/>
              <a:t>A mathematical formalism for </a:t>
            </a:r>
            <a:r>
              <a:rPr sz="1500" dirty="0">
                <a:latin typeface="Helvetica Neue Medium"/>
                <a:ea typeface="Helvetica Neue Medium"/>
                <a:cs typeface="Helvetica Neue Medium"/>
                <a:sym typeface="Helvetica Neue Medium"/>
              </a:rPr>
              <a:t>learning-based</a:t>
            </a:r>
            <a:r>
              <a:rPr sz="1500" dirty="0"/>
              <a:t> decision making</a:t>
            </a:r>
          </a:p>
          <a:p>
            <a:pPr marL="190500" indent="-190500">
              <a:buSzPct val="70000"/>
              <a:buChar char="•"/>
              <a:defRPr sz="3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 sz="1500" dirty="0"/>
          </a:p>
          <a:p>
            <a:pPr marL="190500" indent="-190500">
              <a:buSzPct val="70000"/>
              <a:buChar char="•"/>
              <a:defRPr sz="3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500" dirty="0"/>
              <a:t>An approach for learning decision making and control </a:t>
            </a:r>
            <a:r>
              <a:rPr sz="1500" dirty="0">
                <a:latin typeface="Helvetica Neue Medium"/>
                <a:ea typeface="Helvetica Neue Medium"/>
                <a:cs typeface="Helvetica Neue Medium"/>
                <a:sym typeface="Helvetica Neue Medium"/>
              </a:rPr>
              <a:t>from experience </a:t>
            </a:r>
          </a:p>
        </p:txBody>
      </p:sp>
      <p:grpSp>
        <p:nvGrpSpPr>
          <p:cNvPr id="205" name="Group"/>
          <p:cNvGrpSpPr/>
          <p:nvPr/>
        </p:nvGrpSpPr>
        <p:grpSpPr>
          <a:xfrm>
            <a:off x="3166035" y="3351184"/>
            <a:ext cx="5859932" cy="3057424"/>
            <a:chOff x="0" y="0"/>
            <a:chExt cx="11719863" cy="6114845"/>
          </a:xfrm>
        </p:grpSpPr>
        <p:grpSp>
          <p:nvGrpSpPr>
            <p:cNvPr id="203" name="Group"/>
            <p:cNvGrpSpPr/>
            <p:nvPr/>
          </p:nvGrpSpPr>
          <p:grpSpPr>
            <a:xfrm>
              <a:off x="0" y="0"/>
              <a:ext cx="11719863" cy="4927021"/>
              <a:chOff x="0" y="0"/>
              <a:chExt cx="11719862" cy="4927020"/>
            </a:xfrm>
          </p:grpSpPr>
          <p:sp>
            <p:nvSpPr>
              <p:cNvPr id="191" name="Rectangle"/>
              <p:cNvSpPr/>
              <p:nvPr/>
            </p:nvSpPr>
            <p:spPr>
              <a:xfrm>
                <a:off x="5315756" y="1823236"/>
                <a:ext cx="2478492" cy="1711875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pic>
            <p:nvPicPr>
              <p:cNvPr id="192" name="Image" descr="Image"/>
              <p:cNvPicPr>
                <a:picLocks noChangeAspect="1"/>
              </p:cNvPicPr>
              <p:nvPr/>
            </p:nvPicPr>
            <p:blipFill>
              <a:blip r:embed="rId2"/>
              <a:srcRect r="68146"/>
              <a:stretch>
                <a:fillRect/>
              </a:stretch>
            </p:blipFill>
            <p:spPr>
              <a:xfrm>
                <a:off x="0" y="0"/>
                <a:ext cx="3109518" cy="460403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93" name="Image" descr="Image"/>
              <p:cNvPicPr>
                <a:picLocks noChangeAspect="1"/>
              </p:cNvPicPr>
              <p:nvPr/>
            </p:nvPicPr>
            <p:blipFill>
              <a:blip r:embed="rId2"/>
              <a:srcRect l="67637"/>
              <a:stretch>
                <a:fillRect/>
              </a:stretch>
            </p:blipFill>
            <p:spPr>
              <a:xfrm>
                <a:off x="8560644" y="87037"/>
                <a:ext cx="3159218" cy="460403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09" name="Connection Line"/>
              <p:cNvSpPr/>
              <p:nvPr/>
            </p:nvSpPr>
            <p:spPr>
              <a:xfrm>
                <a:off x="3479800" y="1351280"/>
                <a:ext cx="4709161" cy="7594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0408"/>
                    </a:moveTo>
                    <a:lnTo>
                      <a:pt x="0" y="0"/>
                    </a:ln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/>
              <a:lstStyle/>
              <a:p>
                <a:endParaRPr sz="900"/>
              </a:p>
            </p:txBody>
          </p:sp>
          <p:sp>
            <p:nvSpPr>
              <p:cNvPr id="195" name="Group"/>
              <p:cNvSpPr txBox="1"/>
              <p:nvPr/>
            </p:nvSpPr>
            <p:spPr>
              <a:xfrm>
                <a:off x="4784447" y="649355"/>
                <a:ext cx="1701437" cy="4974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25400" tIns="25400" rIns="25400" bIns="25400" numCol="1" anchor="ctr">
                <a:noAutofit/>
              </a:bodyPr>
              <a:lstStyle>
                <a:lvl1pPr defTabSz="825500">
                  <a:defRPr sz="2000">
                    <a:solidFill>
                      <a:srgbClr val="000000"/>
                    </a:solidFill>
                  </a:defRPr>
                </a:lvl1pPr>
              </a:lstStyle>
              <a:p>
                <a:r>
                  <a:rPr sz="1000"/>
                  <a:t>take action</a:t>
                </a:r>
              </a:p>
            </p:txBody>
          </p:sp>
          <p:sp>
            <p:nvSpPr>
              <p:cNvPr id="210" name="Connection Line"/>
              <p:cNvSpPr/>
              <p:nvPr/>
            </p:nvSpPr>
            <p:spPr>
              <a:xfrm>
                <a:off x="3488690" y="3045460"/>
                <a:ext cx="3020060" cy="751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20615"/>
                    </a:lnTo>
                    <a:lnTo>
                      <a:pt x="21600" y="20615"/>
                    </a:lnTo>
                    <a:lnTo>
                      <a:pt x="21600" y="21600"/>
                    </a:lnTo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/>
              <a:lstStyle/>
              <a:p>
                <a:endParaRPr sz="900"/>
              </a:p>
            </p:txBody>
          </p:sp>
          <p:sp>
            <p:nvSpPr>
              <p:cNvPr id="197" name="Group"/>
              <p:cNvSpPr txBox="1"/>
              <p:nvPr/>
            </p:nvSpPr>
            <p:spPr>
              <a:xfrm>
                <a:off x="2357306" y="3837458"/>
                <a:ext cx="2732362" cy="49742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25400" tIns="25400" rIns="25400" bIns="25400" numCol="1" anchor="ctr">
                <a:noAutofit/>
              </a:bodyPr>
              <a:lstStyle>
                <a:lvl1pPr defTabSz="825500">
                  <a:defRPr sz="2000">
                    <a:solidFill>
                      <a:srgbClr val="000000"/>
                    </a:solidFill>
                  </a:defRPr>
                </a:lvl1pPr>
              </a:lstStyle>
              <a:p>
                <a:r>
                  <a:rPr sz="1000"/>
                  <a:t>observe state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8" name="Equation"/>
                  <p:cNvSpPr txBox="1"/>
                  <p:nvPr/>
                </p:nvSpPr>
                <p:spPr>
                  <a:xfrm>
                    <a:off x="6450913" y="827603"/>
                    <a:ext cx="456408" cy="461664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defTabSz="457200" latinLnBrk="1">
                      <a:defRPr sz="1800">
                        <a:solidFill>
                          <a:srgbClr val="000000"/>
                        </a:solidFill>
                      </a:defRPr>
                    </a:pPr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sz="1500"/>
                  </a:p>
                </p:txBody>
              </p:sp>
            </mc:Choice>
            <mc:Fallback xmlns="">
              <p:sp>
                <p:nvSpPr>
                  <p:cNvPr id="198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50913" y="827603"/>
                    <a:ext cx="456408" cy="46166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0526" r="-5263" b="-15789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9" name="Equation"/>
                  <p:cNvSpPr txBox="1"/>
                  <p:nvPr/>
                </p:nvSpPr>
                <p:spPr>
                  <a:xfrm>
                    <a:off x="4692371" y="4036171"/>
                    <a:ext cx="510268" cy="53860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defTabSz="457200" latinLnBrk="1">
                      <a:defRPr sz="1800">
                        <a:solidFill>
                          <a:srgbClr val="000000"/>
                        </a:solidFill>
                      </a:defRPr>
                    </a:pPr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sz="17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17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17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sz="1750"/>
                  </a:p>
                </p:txBody>
              </p:sp>
            </mc:Choice>
            <mc:Fallback xmlns="">
              <p:sp>
                <p:nvSpPr>
                  <p:cNvPr id="199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92371" y="4036171"/>
                    <a:ext cx="510268" cy="53860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545" r="-4545" b="-13043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1" name="Connection Line"/>
              <p:cNvSpPr/>
              <p:nvPr/>
            </p:nvSpPr>
            <p:spPr>
              <a:xfrm>
                <a:off x="6546850" y="2990850"/>
                <a:ext cx="1649731" cy="7734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/>
              <a:lstStyle/>
              <a:p>
                <a:endParaRPr sz="9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1" name="Equation"/>
                  <p:cNvSpPr txBox="1"/>
                  <p:nvPr/>
                </p:nvSpPr>
                <p:spPr>
                  <a:xfrm>
                    <a:off x="7771021" y="4388412"/>
                    <a:ext cx="439608" cy="53860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defTabSz="457200" latinLnBrk="1">
                      <a:defRPr sz="1800">
                        <a:solidFill>
                          <a:srgbClr val="000000"/>
                        </a:solidFill>
                      </a:defRPr>
                    </a:pPr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sz="17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17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sz="17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sz="1750"/>
                  </a:p>
                </p:txBody>
              </p:sp>
            </mc:Choice>
            <mc:Fallback xmlns="">
              <p:sp>
                <p:nvSpPr>
                  <p:cNvPr id="201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71021" y="4388412"/>
                    <a:ext cx="439608" cy="53860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6667" r="-5556" b="-18182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2" name="Equation"/>
                  <p:cNvSpPr txBox="1"/>
                  <p:nvPr/>
                </p:nvSpPr>
                <p:spPr>
                  <a:xfrm>
                    <a:off x="7742795" y="3993991"/>
                    <a:ext cx="936666" cy="53860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defTabSz="457200" latinLnBrk="1">
                      <a:defRPr sz="1800">
                        <a:solidFill>
                          <a:srgbClr val="000000"/>
                        </a:solidFill>
                      </a:defRPr>
                    </a:pPr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sz="17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17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17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17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sz="1750"/>
                  </a:p>
                </p:txBody>
              </p:sp>
            </mc:Choice>
            <mc:Fallback xmlns="">
              <p:sp>
                <p:nvSpPr>
                  <p:cNvPr id="202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42795" y="3993991"/>
                    <a:ext cx="936666" cy="53860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632" r="-5263" b="-13043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Equation"/>
                <p:cNvSpPr txBox="1"/>
                <p:nvPr/>
              </p:nvSpPr>
              <p:spPr>
                <a:xfrm>
                  <a:off x="3096784" y="5314625"/>
                  <a:ext cx="6392775" cy="80022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defTabSz="4572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sz="2600" dirty="0"/>
                </a:p>
              </p:txBody>
            </p:sp>
          </mc:Choice>
          <mc:Fallback xmlns="">
            <p:sp>
              <p:nvSpPr>
                <p:cNvPr id="20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6784" y="5314625"/>
                  <a:ext cx="6392775" cy="800220"/>
                </a:xfrm>
                <a:prstGeom prst="rect">
                  <a:avLst/>
                </a:prstGeom>
                <a:blipFill>
                  <a:blip r:embed="rId7"/>
                  <a:stretch>
                    <a:fillRect l="-791" t="-3125" r="-2767" b="-3437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6" name="Line"/>
          <p:cNvSpPr/>
          <p:nvPr/>
        </p:nvSpPr>
        <p:spPr>
          <a:xfrm>
            <a:off x="6764488" y="2778771"/>
            <a:ext cx="330857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207" name="Success is measured by a scalar reward"/>
          <p:cNvSpPr txBox="1"/>
          <p:nvPr/>
        </p:nvSpPr>
        <p:spPr>
          <a:xfrm>
            <a:off x="7276002" y="2616434"/>
            <a:ext cx="3456908" cy="28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 defTabSz="412750">
              <a:defRPr sz="3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500"/>
              <a:t>Success is measured by a scalar </a:t>
            </a:r>
            <a:r>
              <a:rPr sz="1500" b="1">
                <a:sym typeface="Helvetica Neue"/>
              </a:rPr>
              <a:t>reward</a:t>
            </a:r>
            <a:r>
              <a:rPr sz="1500"/>
              <a:t> </a:t>
            </a:r>
          </a:p>
        </p:txBody>
      </p:sp>
      <p:sp>
        <p:nvSpPr>
          <p:cNvPr id="208" name="Line"/>
          <p:cNvSpPr/>
          <p:nvPr/>
        </p:nvSpPr>
        <p:spPr>
          <a:xfrm flipV="1">
            <a:off x="6427893" y="4818170"/>
            <a:ext cx="1" cy="717475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5B75F-0DAA-5993-F12B-E5E3721F0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B4E1-FD7D-8141-BA23-4D7750F02674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A587F-102D-FB5A-5574-C46DC51F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62386-C6EB-5439-2157-32C8018D3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Why reinforcement learning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Recap: </a:t>
            </a:r>
            <a:r>
              <a:rPr dirty="0"/>
              <a:t>Why reinforcement learning?</a:t>
            </a:r>
          </a:p>
        </p:txBody>
      </p:sp>
      <p:sp>
        <p:nvSpPr>
          <p:cNvPr id="217" name="Only need to specify a reward function and the agent learn everything else!"/>
          <p:cNvSpPr txBox="1"/>
          <p:nvPr/>
        </p:nvSpPr>
        <p:spPr>
          <a:xfrm>
            <a:off x="561896" y="1693149"/>
            <a:ext cx="6905224" cy="543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marL="381000" indent="-381000" algn="l">
              <a:buSzPct val="70000"/>
              <a:buChar char="•"/>
              <a:defRPr sz="3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 marL="190500" indent="-190500">
              <a:defRPr sz="3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en-US" sz="1600" dirty="0"/>
              <a:t>Only need to specify a reward function and the agent learns everything else!</a:t>
            </a:r>
          </a:p>
          <a:p>
            <a:pPr marL="190500" indent="-190500">
              <a:defRPr sz="3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en-US" sz="1600" dirty="0"/>
              <a:t>RL can discover new, unexpected solutions </a:t>
            </a:r>
          </a:p>
        </p:txBody>
      </p:sp>
      <p:pic>
        <p:nvPicPr>
          <p:cNvPr id="21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75" y="2797465"/>
            <a:ext cx="2649662" cy="1490435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Image" descr="Image"/>
          <p:cNvPicPr>
            <a:picLocks noChangeAspect="1"/>
          </p:cNvPicPr>
          <p:nvPr/>
        </p:nvPicPr>
        <p:blipFill>
          <a:blip r:embed="rId3"/>
          <a:srcRect l="51192" r="24264"/>
          <a:stretch>
            <a:fillRect/>
          </a:stretch>
        </p:blipFill>
        <p:spPr>
          <a:xfrm>
            <a:off x="3336969" y="2797450"/>
            <a:ext cx="2183856" cy="1490484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Silver et al. 2016"/>
          <p:cNvSpPr txBox="1"/>
          <p:nvPr/>
        </p:nvSpPr>
        <p:spPr>
          <a:xfrm>
            <a:off x="376962" y="2587098"/>
            <a:ext cx="916918" cy="197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825500">
              <a:defRPr sz="1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950"/>
              <a:t>Silver et al. 2016</a:t>
            </a:r>
          </a:p>
        </p:txBody>
      </p:sp>
      <p:sp>
        <p:nvSpPr>
          <p:cNvPr id="222" name="Levine*, Finn* et al. 2016"/>
          <p:cNvSpPr txBox="1"/>
          <p:nvPr/>
        </p:nvSpPr>
        <p:spPr>
          <a:xfrm>
            <a:off x="3329712" y="2587098"/>
            <a:ext cx="1346522" cy="197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825500">
              <a:defRPr sz="1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950"/>
              <a:t>Levine*, Finn* et al. 2016</a:t>
            </a:r>
          </a:p>
        </p:txBody>
      </p:sp>
      <p:sp>
        <p:nvSpPr>
          <p:cNvPr id="223" name="Mnih et al. 2014"/>
          <p:cNvSpPr txBox="1"/>
          <p:nvPr/>
        </p:nvSpPr>
        <p:spPr>
          <a:xfrm>
            <a:off x="5876062" y="2447398"/>
            <a:ext cx="891270" cy="197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825500">
              <a:defRPr sz="1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950"/>
              <a:t>Mnih et al. 2014</a:t>
            </a:r>
          </a:p>
        </p:txBody>
      </p:sp>
      <p:sp>
        <p:nvSpPr>
          <p:cNvPr id="224" name="ChatGPT “Alignment”- OpenAI"/>
          <p:cNvSpPr txBox="1"/>
          <p:nvPr/>
        </p:nvSpPr>
        <p:spPr>
          <a:xfrm>
            <a:off x="9431494" y="1464482"/>
            <a:ext cx="1848263" cy="197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825500">
              <a:defRPr sz="1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950" dirty="0"/>
              <a:t>LLM</a:t>
            </a:r>
            <a:r>
              <a:rPr sz="950" dirty="0"/>
              <a:t> “Alignment”</a:t>
            </a:r>
            <a:r>
              <a:rPr lang="en-US" sz="950" dirty="0"/>
              <a:t> and post-training</a:t>
            </a:r>
            <a:endParaRPr sz="950" dirty="0"/>
          </a:p>
        </p:txBody>
      </p:sp>
      <p:pic>
        <p:nvPicPr>
          <p:cNvPr id="225" name="Image" descr="Image"/>
          <p:cNvPicPr>
            <a:picLocks noChangeAspect="1"/>
          </p:cNvPicPr>
          <p:nvPr/>
        </p:nvPicPr>
        <p:blipFill>
          <a:blip r:embed="rId4"/>
          <a:srcRect l="32576" r="4673"/>
          <a:stretch>
            <a:fillRect/>
          </a:stretch>
        </p:blipFill>
        <p:spPr>
          <a:xfrm>
            <a:off x="8581288" y="3491685"/>
            <a:ext cx="3469340" cy="3207565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Rounded Rectangle"/>
          <p:cNvSpPr/>
          <p:nvPr/>
        </p:nvSpPr>
        <p:spPr>
          <a:xfrm>
            <a:off x="10350405" y="3463214"/>
            <a:ext cx="1763547" cy="3236352"/>
          </a:xfrm>
          <a:prstGeom prst="roundRect">
            <a:avLst>
              <a:gd name="adj" fmla="val 15749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227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552" y="4656778"/>
            <a:ext cx="2086109" cy="1949783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Deep Q Network"/>
          <p:cNvSpPr txBox="1"/>
          <p:nvPr/>
        </p:nvSpPr>
        <p:spPr>
          <a:xfrm>
            <a:off x="5752227" y="4660937"/>
            <a:ext cx="928139" cy="197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825500">
              <a:defRPr sz="1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950"/>
              <a:t>Deep Q Network</a:t>
            </a:r>
          </a:p>
        </p:txBody>
      </p:sp>
      <p:pic>
        <p:nvPicPr>
          <p:cNvPr id="229" name="Image" descr="Image"/>
          <p:cNvPicPr>
            <a:picLocks noChangeAspect="1"/>
          </p:cNvPicPr>
          <p:nvPr/>
        </p:nvPicPr>
        <p:blipFill>
          <a:blip r:embed="rId6"/>
          <a:srcRect l="14416" r="16645" b="23174"/>
          <a:stretch>
            <a:fillRect/>
          </a:stretch>
        </p:blipFill>
        <p:spPr>
          <a:xfrm>
            <a:off x="5412796" y="4851437"/>
            <a:ext cx="3144009" cy="1868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6306" y="2683887"/>
            <a:ext cx="2732099" cy="1889462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737CF-E7EE-3A36-D6E3-D7CA0B7A3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9808F-C032-1243-AAB5-3DD34E3EF06B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0472E-AC26-8E5B-4963-8C445601C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622F4-C04D-173A-6EAB-AE548388C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5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9B5F6B5-6CBB-AE8C-E018-F46330938D7B}"/>
              </a:ext>
            </a:extLst>
          </p:cNvPr>
          <p:cNvGrpSpPr/>
          <p:nvPr/>
        </p:nvGrpSpPr>
        <p:grpSpPr>
          <a:xfrm>
            <a:off x="8879441" y="1736262"/>
            <a:ext cx="2935597" cy="1455172"/>
            <a:chOff x="7403066" y="1228715"/>
            <a:chExt cx="4507775" cy="2234499"/>
          </a:xfrm>
        </p:grpSpPr>
        <p:pic>
          <p:nvPicPr>
            <p:cNvPr id="2" name="Picture 1" descr="Chatgpt Logo: Over 716 Royalty-Free Licensable Stock ...">
              <a:extLst>
                <a:ext uri="{FF2B5EF4-FFF2-40B4-BE49-F238E27FC236}">
                  <a16:creationId xmlns:a16="http://schemas.microsoft.com/office/drawing/2014/main" id="{12FB54C1-08F6-95FF-BD63-00662F79C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21305" y="1228715"/>
              <a:ext cx="911860" cy="1130405"/>
            </a:xfrm>
            <a:prstGeom prst="rect">
              <a:avLst/>
            </a:prstGeom>
          </p:spPr>
        </p:pic>
        <p:pic>
          <p:nvPicPr>
            <p:cNvPr id="3" name="Picture 2" descr="File:Google Gemini logo.svg - Wikimedia Commons">
              <a:extLst>
                <a:ext uri="{FF2B5EF4-FFF2-40B4-BE49-F238E27FC236}">
                  <a16:creationId xmlns:a16="http://schemas.microsoft.com/office/drawing/2014/main" id="{259190F8-0680-76A1-A1B8-573E56F6A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654591" y="1739762"/>
              <a:ext cx="1677245" cy="619358"/>
            </a:xfrm>
            <a:prstGeom prst="rect">
              <a:avLst/>
            </a:prstGeom>
          </p:spPr>
        </p:pic>
        <p:pic>
          <p:nvPicPr>
            <p:cNvPr id="7" name="Picture 6" descr="File:Claude AI logo.svg - Wikimedia Commons">
              <a:extLst>
                <a:ext uri="{FF2B5EF4-FFF2-40B4-BE49-F238E27FC236}">
                  <a16:creationId xmlns:a16="http://schemas.microsoft.com/office/drawing/2014/main" id="{A47CD225-99C7-AE3D-E492-A864A452F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403066" y="2359120"/>
              <a:ext cx="2266765" cy="486410"/>
            </a:xfrm>
            <a:prstGeom prst="rect">
              <a:avLst/>
            </a:prstGeom>
          </p:spPr>
        </p:pic>
        <p:pic>
          <p:nvPicPr>
            <p:cNvPr id="8" name="Picture 7" descr="File:DeepSeek logo.svg - Wikimedia Commons">
              <a:extLst>
                <a:ext uri="{FF2B5EF4-FFF2-40B4-BE49-F238E27FC236}">
                  <a16:creationId xmlns:a16="http://schemas.microsoft.com/office/drawing/2014/main" id="{2F5A69E1-EE5A-1BA9-9C0D-5F71CA702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532206" y="2957754"/>
              <a:ext cx="2378635" cy="5054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Markov Decision Process"/>
          <p:cNvSpPr txBox="1">
            <a:spLocks noGrp="1"/>
          </p:cNvSpPr>
          <p:nvPr>
            <p:ph type="title"/>
          </p:nvPr>
        </p:nvSpPr>
        <p:spPr>
          <a:xfrm>
            <a:off x="704717" y="38607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Recap: </a:t>
            </a:r>
            <a:r>
              <a:rPr dirty="0"/>
              <a:t>Markov Decision Process</a:t>
            </a:r>
          </a:p>
        </p:txBody>
      </p:sp>
      <p:sp>
        <p:nvSpPr>
          <p:cNvPr id="246" name="State:"/>
          <p:cNvSpPr txBox="1"/>
          <p:nvPr/>
        </p:nvSpPr>
        <p:spPr>
          <a:xfrm>
            <a:off x="711944" y="1825991"/>
            <a:ext cx="1415452" cy="373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825500">
              <a:lnSpc>
                <a:spcPct val="150000"/>
              </a:lnSpc>
              <a:defRPr sz="3200"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600" dirty="0">
                <a:solidFill>
                  <a:srgbClr val="C00000"/>
                </a:solidFill>
              </a:rPr>
              <a:t>State:              </a:t>
            </a:r>
          </a:p>
        </p:txBody>
      </p:sp>
      <p:sp>
        <p:nvSpPr>
          <p:cNvPr id="247" name="Action:"/>
          <p:cNvSpPr txBox="1"/>
          <p:nvPr/>
        </p:nvSpPr>
        <p:spPr>
          <a:xfrm>
            <a:off x="711944" y="2207470"/>
            <a:ext cx="1409040" cy="373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825500">
              <a:lnSpc>
                <a:spcPct val="150000"/>
              </a:lnSpc>
              <a:defRPr sz="3200"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600">
                <a:solidFill>
                  <a:srgbClr val="C00000"/>
                </a:solidFill>
              </a:rPr>
              <a:t>Action:     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Transition function / Dynamics:"/>
              <p:cNvSpPr txBox="1"/>
              <p:nvPr/>
            </p:nvSpPr>
            <p:spPr>
              <a:xfrm>
                <a:off x="704717" y="2623514"/>
                <a:ext cx="7531549" cy="35522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25400" tIns="25400" rIns="25400" bIns="25400" anchor="ctr">
                <a:spAutoFit/>
              </a:bodyPr>
              <a:lstStyle/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Transition function / Dynamics:</a:t>
                </a:r>
                <a:r>
                  <a:rPr lang="en-US" sz="1600" dirty="0">
                    <a:solidFill>
                      <a:srgbClr val="C00000"/>
                    </a:solidFill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sz="1975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sz="1975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97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97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197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ar-AE" sz="1975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sz="197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97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197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sz="197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ar-AE" sz="1975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sz="197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97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ar-AE" sz="197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sz="197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ar-AE" sz="1975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975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1975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97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97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197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ar-AE" sz="1975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sz="197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97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197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sz="197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ar-AE" sz="1975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sz="197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97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ar-AE" sz="197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sz="197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ar-AE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8" name="Transition function / Dynamics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717" y="2623514"/>
                <a:ext cx="7531549" cy="355225"/>
              </a:xfrm>
              <a:prstGeom prst="rect">
                <a:avLst/>
              </a:prstGeom>
              <a:blipFill>
                <a:blip r:embed="rId2"/>
                <a:stretch>
                  <a:fillRect l="-1347" t="-13793" r="-1684" b="-31034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Equation"/>
              <p:cNvSpPr txBox="1"/>
              <p:nvPr/>
            </p:nvSpPr>
            <p:spPr>
              <a:xfrm>
                <a:off x="4143342" y="2305616"/>
                <a:ext cx="698846" cy="30008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sz="1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sz="1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𝒰</m:t>
                      </m:r>
                    </m:oMath>
                  </m:oMathPara>
                </a14:m>
                <a:endParaRPr sz="1950"/>
              </a:p>
            </p:txBody>
          </p:sp>
        </mc:Choice>
        <mc:Fallback xmlns="">
          <p:sp>
            <p:nvSpPr>
              <p:cNvPr id="24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342" y="2305616"/>
                <a:ext cx="698846" cy="300082"/>
              </a:xfrm>
              <a:prstGeom prst="rect">
                <a:avLst/>
              </a:prstGeom>
              <a:blipFill>
                <a:blip r:embed="rId3"/>
                <a:stretch>
                  <a:fillRect l="-3571" r="-5357" b="-833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0" name="Equation"/>
              <p:cNvSpPr txBox="1"/>
              <p:nvPr/>
            </p:nvSpPr>
            <p:spPr>
              <a:xfrm>
                <a:off x="4141518" y="1926404"/>
                <a:ext cx="689291" cy="29238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𝒳</m:t>
                      </m:r>
                    </m:oMath>
                  </m:oMathPara>
                </a14:m>
                <a:endParaRPr sz="1900"/>
              </a:p>
            </p:txBody>
          </p:sp>
        </mc:Choice>
        <mc:Fallback xmlns="">
          <p:sp>
            <p:nvSpPr>
              <p:cNvPr id="25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518" y="1926404"/>
                <a:ext cx="689291" cy="292388"/>
              </a:xfrm>
              <a:prstGeom prst="rect">
                <a:avLst/>
              </a:prstGeom>
              <a:blipFill>
                <a:blip r:embed="rId4"/>
                <a:stretch>
                  <a:fillRect l="-3571" r="-5357" b="-833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Reward function:"/>
          <p:cNvSpPr txBox="1"/>
          <p:nvPr/>
        </p:nvSpPr>
        <p:spPr>
          <a:xfrm>
            <a:off x="721393" y="3021668"/>
            <a:ext cx="2354299" cy="373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825500">
              <a:lnSpc>
                <a:spcPct val="150000"/>
              </a:lnSpc>
              <a:defRPr sz="3200"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600">
                <a:solidFill>
                  <a:srgbClr val="C00000"/>
                </a:solidFill>
              </a:rPr>
              <a:t>Reward function:     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2" name="Equation"/>
              <p:cNvSpPr txBox="1"/>
              <p:nvPr/>
            </p:nvSpPr>
            <p:spPr>
              <a:xfrm>
                <a:off x="4136115" y="3119814"/>
                <a:ext cx="2735044" cy="30008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1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1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sz="1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1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1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):</m:t>
                      </m:r>
                      <m:r>
                        <a:rPr sz="1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𝒳</m:t>
                      </m:r>
                      <m:r>
                        <a:rPr sz="1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sz="1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𝒰</m:t>
                      </m:r>
                      <m:r>
                        <a:rPr sz="1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sz="1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sz="1950"/>
              </a:p>
            </p:txBody>
          </p:sp>
        </mc:Choice>
        <mc:Fallback xmlns="">
          <p:sp>
            <p:nvSpPr>
              <p:cNvPr id="25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115" y="3119814"/>
                <a:ext cx="2735044" cy="300082"/>
              </a:xfrm>
              <a:prstGeom prst="rect">
                <a:avLst/>
              </a:prstGeom>
              <a:blipFill>
                <a:blip r:embed="rId5"/>
                <a:stretch>
                  <a:fillRect l="-463" t="-4000" r="-1852" b="-280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3" name="Discount factor:"/>
          <p:cNvSpPr txBox="1"/>
          <p:nvPr/>
        </p:nvSpPr>
        <p:spPr>
          <a:xfrm>
            <a:off x="729496" y="3403147"/>
            <a:ext cx="1562928" cy="373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825500">
              <a:lnSpc>
                <a:spcPct val="150000"/>
              </a:lnSpc>
              <a:defRPr sz="3200"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600">
                <a:solidFill>
                  <a:srgbClr val="C00000"/>
                </a:solidFill>
              </a:rPr>
              <a:t>Discount factor: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Equation"/>
              <p:cNvSpPr txBox="1"/>
              <p:nvPr/>
            </p:nvSpPr>
            <p:spPr>
              <a:xfrm>
                <a:off x="4138061" y="3512367"/>
                <a:ext cx="997966" cy="29238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∈(0,1)</m:t>
                      </m:r>
                    </m:oMath>
                  </m:oMathPara>
                </a14:m>
                <a:endParaRPr sz="1900"/>
              </a:p>
            </p:txBody>
          </p:sp>
        </mc:Choice>
        <mc:Fallback xmlns="">
          <p:sp>
            <p:nvSpPr>
              <p:cNvPr id="25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061" y="3512367"/>
                <a:ext cx="997966" cy="292388"/>
              </a:xfrm>
              <a:prstGeom prst="rect">
                <a:avLst/>
              </a:prstGeom>
              <a:blipFill>
                <a:blip r:embed="rId6"/>
                <a:stretch>
                  <a:fillRect l="-5000" r="-7500" b="-3333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5" name="Typically represented as a tuple"/>
          <p:cNvSpPr txBox="1"/>
          <p:nvPr/>
        </p:nvSpPr>
        <p:spPr>
          <a:xfrm>
            <a:off x="8735244" y="2245269"/>
            <a:ext cx="2799100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1600"/>
              <a:t>Typically represented as a tuple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Equation"/>
              <p:cNvSpPr txBox="1"/>
              <p:nvPr/>
            </p:nvSpPr>
            <p:spPr>
              <a:xfrm>
                <a:off x="9177057" y="2642798"/>
                <a:ext cx="2064219" cy="29238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ℳ</m:t>
                      </m:r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𝒳</m:t>
                      </m:r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𝒰</m:t>
                      </m:r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1900"/>
              </a:p>
            </p:txBody>
          </p:sp>
        </mc:Choice>
        <mc:Fallback xmlns="">
          <p:sp>
            <p:nvSpPr>
              <p:cNvPr id="25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7057" y="2642798"/>
                <a:ext cx="2064219" cy="292388"/>
              </a:xfrm>
              <a:prstGeom prst="rect">
                <a:avLst/>
              </a:prstGeom>
              <a:blipFill>
                <a:blip r:embed="rId7"/>
                <a:stretch>
                  <a:fillRect l="-2439" r="-3049" b="-3913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7" name="Goal: choose a policy that maximizes cumulative (discounted) reward"/>
          <p:cNvSpPr txBox="1"/>
          <p:nvPr/>
        </p:nvSpPr>
        <p:spPr>
          <a:xfrm>
            <a:off x="707816" y="4662396"/>
            <a:ext cx="6218625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defTabSz="41275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>
                <a:solidFill>
                  <a:srgbClr val="C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Goal</a:t>
            </a:r>
            <a:r>
              <a:rPr sz="1600" dirty="0">
                <a:solidFill>
                  <a:srgbClr val="C00000"/>
                </a:solidFill>
              </a:rPr>
              <a:t>: </a:t>
            </a:r>
            <a:r>
              <a:rPr sz="1600" dirty="0"/>
              <a:t>choose a policy that maximizes cumulative (discounted) reward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Equation"/>
              <p:cNvSpPr txBox="1"/>
              <p:nvPr/>
            </p:nvSpPr>
            <p:spPr>
              <a:xfrm>
                <a:off x="4179254" y="5245385"/>
                <a:ext cx="3995196" cy="578813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ar-AE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lim>
                      </m:limLow>
                      <m:sSub>
                        <m:sSubPr>
                          <m:ctrlPr>
                            <a:rPr lang="ar-AE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ar-AE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ar-AE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lang="ar-AE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lim>
                          </m:limLow>
                          <m:sSup>
                            <m:sSupPr>
                              <m:ctrlPr>
                                <a:rPr lang="ar-AE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ar-AE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ar-AE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ar-AE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ar-AE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r-AE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25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254" y="5245385"/>
                <a:ext cx="3995196" cy="578813"/>
              </a:xfrm>
              <a:prstGeom prst="rect">
                <a:avLst/>
              </a:prstGeom>
              <a:blipFill>
                <a:blip r:embed="rId8"/>
                <a:stretch>
                  <a:fillRect l="-635" b="-1063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2EB03-8EAF-0327-F543-5C900567C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B8AD-274B-B141-BF41-9D6BC4F2EBE0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7B535-F1B5-2C6B-F51C-0EF9F9723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6C19A-7283-D7D2-27AC-155724F37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Markov Decision Proces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Recap: </a:t>
            </a:r>
            <a:r>
              <a:rPr lang="en-US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</a:rPr>
              <a:t>Value functions</a:t>
            </a:r>
          </a:p>
        </p:txBody>
      </p:sp>
      <p:sp>
        <p:nvSpPr>
          <p:cNvPr id="2" name="How does RL differ from other machine learning paradigms?">
            <a:extLst>
              <a:ext uri="{FF2B5EF4-FFF2-40B4-BE49-F238E27FC236}">
                <a16:creationId xmlns:a16="http://schemas.microsoft.com/office/drawing/2014/main" id="{9167F757-3D27-6238-1BC0-DF4BE1D23D32}"/>
              </a:ext>
            </a:extLst>
          </p:cNvPr>
          <p:cNvSpPr txBox="1"/>
          <p:nvPr/>
        </p:nvSpPr>
        <p:spPr>
          <a:xfrm>
            <a:off x="707789" y="2015374"/>
            <a:ext cx="7559912" cy="543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600" dirty="0"/>
              <a:t>State-value function: “</a:t>
            </a:r>
            <a:r>
              <a:rPr lang="en-US" sz="1600" i="1" dirty="0"/>
              <a:t>the expected total reward if we start in that state and act 			     accordingly to a particular policy</a:t>
            </a:r>
            <a:r>
              <a:rPr lang="en-US" sz="1600" dirty="0"/>
              <a:t>”</a:t>
            </a:r>
          </a:p>
        </p:txBody>
      </p:sp>
      <p:sp>
        <p:nvSpPr>
          <p:cNvPr id="3" name="How does RL differ from other machine learning paradigms?">
            <a:extLst>
              <a:ext uri="{FF2B5EF4-FFF2-40B4-BE49-F238E27FC236}">
                <a16:creationId xmlns:a16="http://schemas.microsoft.com/office/drawing/2014/main" id="{B0EB15BA-6A2C-4812-ABA0-949E32B01B14}"/>
              </a:ext>
            </a:extLst>
          </p:cNvPr>
          <p:cNvSpPr txBox="1"/>
          <p:nvPr/>
        </p:nvSpPr>
        <p:spPr>
          <a:xfrm>
            <a:off x="707789" y="3157130"/>
            <a:ext cx="6931261" cy="1036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600" dirty="0"/>
              <a:t>Action-state value function: “</a:t>
            </a:r>
            <a:r>
              <a:rPr lang="en-US" sz="1600" i="1" dirty="0"/>
              <a:t>the expected total reward if we start in that state, 			take an action, and act accordingly to a particular 			policy</a:t>
            </a:r>
            <a:r>
              <a:rPr lang="en-US" sz="1600" dirty="0"/>
              <a:t>”</a:t>
            </a:r>
          </a:p>
          <a:p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28EE7E-05BC-04D3-A9DC-E7AF4BB71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999" y="1782677"/>
            <a:ext cx="3304212" cy="2107214"/>
          </a:xfrm>
          <a:prstGeom prst="rect">
            <a:avLst/>
          </a:prstGeom>
        </p:spPr>
      </p:pic>
      <p:sp>
        <p:nvSpPr>
          <p:cNvPr id="10" name="How does RL differ from other machine learning paradigms?">
            <a:extLst>
              <a:ext uri="{FF2B5EF4-FFF2-40B4-BE49-F238E27FC236}">
                <a16:creationId xmlns:a16="http://schemas.microsoft.com/office/drawing/2014/main" id="{F92129E0-6BE1-84A3-AE2D-1C2905DE250F}"/>
              </a:ext>
            </a:extLst>
          </p:cNvPr>
          <p:cNvSpPr txBox="1"/>
          <p:nvPr/>
        </p:nvSpPr>
        <p:spPr>
          <a:xfrm>
            <a:off x="620087" y="4791328"/>
            <a:ext cx="7559912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600" dirty="0"/>
              <a:t>Optimal state-value function:</a:t>
            </a:r>
          </a:p>
        </p:txBody>
      </p:sp>
      <p:sp>
        <p:nvSpPr>
          <p:cNvPr id="11" name="How does RL differ from other machine learning paradigms?">
            <a:extLst>
              <a:ext uri="{FF2B5EF4-FFF2-40B4-BE49-F238E27FC236}">
                <a16:creationId xmlns:a16="http://schemas.microsoft.com/office/drawing/2014/main" id="{3ABC2DF8-2390-FD83-746B-A2A0E1EC2426}"/>
              </a:ext>
            </a:extLst>
          </p:cNvPr>
          <p:cNvSpPr txBox="1"/>
          <p:nvPr/>
        </p:nvSpPr>
        <p:spPr>
          <a:xfrm>
            <a:off x="620087" y="5389345"/>
            <a:ext cx="7559912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600" dirty="0"/>
              <a:t>Optimal action-state value function: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069210-9DC8-423D-6654-A95741BC2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643" y="4804150"/>
            <a:ext cx="2886582" cy="1033896"/>
          </a:xfrm>
          <a:prstGeom prst="rect">
            <a:avLst/>
          </a:prstGeom>
        </p:spPr>
      </p:pic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2E32BD27-ADCA-F13F-FD73-EFCA80743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7C10E-CD30-6448-A3B3-C1CDEC8434FA}" type="datetime1">
              <a:rPr lang="en-US" smtClean="0"/>
              <a:t>8/10/26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C1DC0245-4565-32DB-F76E-E0775F0D0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F543255-787F-A636-DB8C-EE994E80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667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Markov Decision Process"/>
          <p:cNvSpPr txBox="1">
            <a:spLocks noGrp="1"/>
          </p:cNvSpPr>
          <p:nvPr>
            <p:ph type="title"/>
          </p:nvPr>
        </p:nvSpPr>
        <p:spPr>
          <a:xfrm>
            <a:off x="561238" y="379441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4000" dirty="0">
                <a:solidFill>
                  <a:srgbClr val="C00000"/>
                </a:solidFill>
              </a:rPr>
              <a:t>Recap: </a:t>
            </a:r>
            <a:r>
              <a:rPr lang="en-US" sz="40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</a:rPr>
              <a:t>Value Functions and Bellman Equations</a:t>
            </a:r>
          </a:p>
        </p:txBody>
      </p:sp>
      <p:sp>
        <p:nvSpPr>
          <p:cNvPr id="2" name="How does RL differ from other machine learning paradigms?">
            <a:extLst>
              <a:ext uri="{FF2B5EF4-FFF2-40B4-BE49-F238E27FC236}">
                <a16:creationId xmlns:a16="http://schemas.microsoft.com/office/drawing/2014/main" id="{9167F757-3D27-6238-1BC0-DF4BE1D23D32}"/>
              </a:ext>
            </a:extLst>
          </p:cNvPr>
          <p:cNvSpPr txBox="1"/>
          <p:nvPr/>
        </p:nvSpPr>
        <p:spPr>
          <a:xfrm>
            <a:off x="707789" y="1677243"/>
            <a:ext cx="7559912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600" dirty="0"/>
              <a:t>The optimal value function satisfies Bellman’s equation: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6B4D1E-7EA3-B20E-F2F2-FB0B22EFA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89" y="2253044"/>
            <a:ext cx="6779139" cy="11080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7A8826B-25C6-7303-8219-14E5DB939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89" y="5014862"/>
            <a:ext cx="6931262" cy="1207167"/>
          </a:xfrm>
          <a:prstGeom prst="rect">
            <a:avLst/>
          </a:prstGeom>
        </p:spPr>
      </p:pic>
      <p:sp>
        <p:nvSpPr>
          <p:cNvPr id="24" name="Bellman Optimality Equation">
            <a:extLst>
              <a:ext uri="{FF2B5EF4-FFF2-40B4-BE49-F238E27FC236}">
                <a16:creationId xmlns:a16="http://schemas.microsoft.com/office/drawing/2014/main" id="{2F3406D9-B542-B797-5D4C-9FCB1486DE00}"/>
              </a:ext>
            </a:extLst>
          </p:cNvPr>
          <p:cNvSpPr txBox="1"/>
          <p:nvPr/>
        </p:nvSpPr>
        <p:spPr>
          <a:xfrm>
            <a:off x="8480239" y="2483495"/>
            <a:ext cx="3108511" cy="464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 defTabSz="825500">
              <a:lnSpc>
                <a:spcPct val="150000"/>
              </a:lnSpc>
              <a:defRPr sz="3200" u="sng"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800" dirty="0">
                <a:solidFill>
                  <a:srgbClr val="C00000"/>
                </a:solidFill>
              </a:rPr>
              <a:t>Bellman Optimality Equation</a:t>
            </a:r>
          </a:p>
        </p:txBody>
      </p:sp>
      <p:sp>
        <p:nvSpPr>
          <p:cNvPr id="25" name="Bellman Optimality Equation">
            <a:extLst>
              <a:ext uri="{FF2B5EF4-FFF2-40B4-BE49-F238E27FC236}">
                <a16:creationId xmlns:a16="http://schemas.microsoft.com/office/drawing/2014/main" id="{B65FDA35-3B37-190D-B684-11B3CC87075C}"/>
              </a:ext>
            </a:extLst>
          </p:cNvPr>
          <p:cNvSpPr txBox="1"/>
          <p:nvPr/>
        </p:nvSpPr>
        <p:spPr>
          <a:xfrm>
            <a:off x="8480239" y="5272625"/>
            <a:ext cx="3335842" cy="464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 defTabSz="825500">
              <a:lnSpc>
                <a:spcPct val="150000"/>
              </a:lnSpc>
              <a:defRPr sz="3200" u="sng"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800" dirty="0">
                <a:solidFill>
                  <a:srgbClr val="C00000"/>
                </a:solidFill>
              </a:rPr>
              <a:t>Bellman </a:t>
            </a:r>
            <a:r>
              <a:rPr lang="en-US" sz="1800" dirty="0">
                <a:solidFill>
                  <a:srgbClr val="C00000"/>
                </a:solidFill>
              </a:rPr>
              <a:t>Expectation</a:t>
            </a:r>
            <a:r>
              <a:rPr sz="1800" dirty="0">
                <a:solidFill>
                  <a:srgbClr val="C00000"/>
                </a:solidFill>
              </a:rPr>
              <a:t> Equation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8E50B88-C3A0-0CDC-65CB-A492E6454756}"/>
              </a:ext>
            </a:extLst>
          </p:cNvPr>
          <p:cNvGrpSpPr/>
          <p:nvPr/>
        </p:nvGrpSpPr>
        <p:grpSpPr>
          <a:xfrm>
            <a:off x="707789" y="3764814"/>
            <a:ext cx="10880961" cy="932537"/>
            <a:chOff x="707788" y="3588591"/>
            <a:chExt cx="10880961" cy="932537"/>
          </a:xfrm>
        </p:grpSpPr>
        <p:sp>
          <p:nvSpPr>
            <p:cNvPr id="3" name="How does RL differ from other machine learning paradigms?">
              <a:extLst>
                <a:ext uri="{FF2B5EF4-FFF2-40B4-BE49-F238E27FC236}">
                  <a16:creationId xmlns:a16="http://schemas.microsoft.com/office/drawing/2014/main" id="{B0EB15BA-6A2C-4812-ABA0-949E32B01B14}"/>
                </a:ext>
              </a:extLst>
            </p:cNvPr>
            <p:cNvSpPr txBox="1"/>
            <p:nvPr/>
          </p:nvSpPr>
          <p:spPr>
            <a:xfrm>
              <a:off x="707788" y="3906102"/>
              <a:ext cx="10880961" cy="29751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>
              <a:spAutoFit/>
            </a:bodyPr>
            <a:lstStyle>
              <a:lvl1pPr algn="l" defTabSz="825500">
                <a:defRPr sz="3200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lvl1pPr>
            </a:lstStyle>
            <a:p>
              <a:r>
                <a:rPr lang="en-US" sz="1600" dirty="0"/>
                <a:t>For any stationary policy 𝜋, the values  				     are the unique solution to the equation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FAF6B5AA-77D9-0632-7176-91C409EF9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24252" y="3588591"/>
              <a:ext cx="3389570" cy="932537"/>
            </a:xfrm>
            <a:prstGeom prst="rect">
              <a:avLst/>
            </a:prstGeom>
          </p:spPr>
        </p:pic>
      </p:grp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B0A5F7C2-9BAF-9CBC-8BC1-021977F98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4FF3-173B-B243-919D-70B10AAB0F3B}" type="datetime1">
              <a:rPr lang="en-US" smtClean="0"/>
              <a:t>8/10/26</a:t>
            </a:fld>
            <a:endParaRPr lang="en-US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87852D6C-C604-BF73-2EBA-584D2E24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DF8E005F-7E71-7DC1-4230-620CBC414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99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For any stationary policy 𝜋, the value corresponding Q function satisfies"/>
          <p:cNvSpPr txBox="1"/>
          <p:nvPr/>
        </p:nvSpPr>
        <p:spPr>
          <a:xfrm>
            <a:off x="502300" y="4122062"/>
            <a:ext cx="11689700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1600" dirty="0"/>
              <a:t>For any stationary policy 𝜋, </a:t>
            </a:r>
            <a:r>
              <a:rPr lang="en-US" sz="1600" dirty="0"/>
              <a:t>the </a:t>
            </a:r>
            <a:r>
              <a:rPr sz="1600" dirty="0"/>
              <a:t>corresponding Q function satisfies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Equation"/>
              <p:cNvSpPr txBox="1"/>
              <p:nvPr/>
            </p:nvSpPr>
            <p:spPr>
              <a:xfrm>
                <a:off x="502300" y="4849197"/>
                <a:ext cx="7871899" cy="567463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ar-AE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ar-AE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ar-AE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ar-AE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limLow>
                        <m:limLowPr>
                          <m:ctrlP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sSub>
                            <m:sSubPr>
                              <m:ctrlPr>
                                <a:rPr lang="ar-AE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lim>
                      </m:limLow>
                      <m:r>
                        <a:rPr lang="ar-AE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ar-AE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ar-AE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ar-AE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sz="2200" dirty="0"/>
              </a:p>
            </p:txBody>
          </p:sp>
        </mc:Choice>
        <mc:Fallback xmlns="">
          <p:sp>
            <p:nvSpPr>
              <p:cNvPr id="28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300" y="4849197"/>
                <a:ext cx="7871899" cy="567463"/>
              </a:xfrm>
              <a:prstGeom prst="rect">
                <a:avLst/>
              </a:prstGeom>
              <a:blipFill>
                <a:blip r:embed="rId2"/>
                <a:stretch>
                  <a:fillRect l="-483" b="-8696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4" name="Bellman Expectation Equation"/>
          <p:cNvSpPr txBox="1"/>
          <p:nvPr/>
        </p:nvSpPr>
        <p:spPr>
          <a:xfrm>
            <a:off x="8933213" y="4822020"/>
            <a:ext cx="3085518" cy="373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algn="l" defTabSz="825500">
              <a:lnSpc>
                <a:spcPct val="150000"/>
              </a:lnSpc>
              <a:defRPr sz="3200" u="sng"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600" dirty="0">
                <a:solidFill>
                  <a:srgbClr val="C00000"/>
                </a:solidFill>
              </a:rPr>
              <a:t>Bellman Expectation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Equation"/>
              <p:cNvSpPr txBox="1"/>
              <p:nvPr/>
            </p:nvSpPr>
            <p:spPr>
              <a:xfrm>
                <a:off x="580597" y="2576999"/>
                <a:ext cx="7932684" cy="54316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limLow>
                        <m:limLow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sSub>
                            <m:sSubPr>
                              <m:ctrlP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lim>
                      </m:limLow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limLow>
                        <m:limLow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sSub>
                            <m:sSubPr>
                              <m:ctrlP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lim>
                      </m:limLow>
                      <m:sSup>
                        <m:sSup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sz="2200" dirty="0"/>
              </a:p>
            </p:txBody>
          </p:sp>
        </mc:Choice>
        <mc:Fallback xmlns="">
          <p:sp>
            <p:nvSpPr>
              <p:cNvPr id="28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97" y="2576999"/>
                <a:ext cx="7932684" cy="543162"/>
              </a:xfrm>
              <a:prstGeom prst="rect">
                <a:avLst/>
              </a:prstGeom>
              <a:blipFill>
                <a:blip r:embed="rId3"/>
                <a:stretch>
                  <a:fillRect l="-639" t="-2326" b="-1162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" name="The optimal state-action value function (Q function)   satisfies Bellman’s equation:"/>
              <p:cNvSpPr txBox="1"/>
              <p:nvPr/>
            </p:nvSpPr>
            <p:spPr>
              <a:xfrm>
                <a:off x="580597" y="1847845"/>
                <a:ext cx="9111328" cy="35195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/>
                  <a:t>The optimal state-action value function (Q function)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1600" dirty="0"/>
                  <a:t> satisfies Bellman’s equation:</a:t>
                </a:r>
              </a:p>
            </p:txBody>
          </p:sp>
        </mc:Choice>
        <mc:Fallback xmlns="">
          <p:sp>
            <p:nvSpPr>
              <p:cNvPr id="286" name="The optimal state-action value function (Q function)   satisfies Bellman’s equation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97" y="1847845"/>
                <a:ext cx="9111328" cy="351956"/>
              </a:xfrm>
              <a:prstGeom prst="rect">
                <a:avLst/>
              </a:prstGeom>
              <a:blipFill>
                <a:blip r:embed="rId4"/>
                <a:stretch>
                  <a:fillRect l="-1113" b="-2069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7" name="Bellman Optimality Equation"/>
          <p:cNvSpPr txBox="1"/>
          <p:nvPr/>
        </p:nvSpPr>
        <p:spPr>
          <a:xfrm>
            <a:off x="8900693" y="2578332"/>
            <a:ext cx="3085518" cy="373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algn="l" defTabSz="825500">
              <a:lnSpc>
                <a:spcPct val="150000"/>
              </a:lnSpc>
              <a:defRPr sz="3200" u="sng"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600" dirty="0">
                <a:solidFill>
                  <a:srgbClr val="C00000"/>
                </a:solidFill>
              </a:rPr>
              <a:t>Bellman Optimality Equation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20CE4-4AC9-3520-3B74-8E23E5BAD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8C20A-9FE3-4648-994C-2D245B9E3E00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EB7D7-90C8-D132-B603-8CFB97A3C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4382F-E7E7-EBE3-7B2E-8F1AEFEA6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9</a:t>
            </a:fld>
            <a:endParaRPr lang="en-US"/>
          </a:p>
        </p:txBody>
      </p:sp>
      <p:sp>
        <p:nvSpPr>
          <p:cNvPr id="8" name="Markov Decision Process">
            <a:extLst>
              <a:ext uri="{FF2B5EF4-FFF2-40B4-BE49-F238E27FC236}">
                <a16:creationId xmlns:a16="http://schemas.microsoft.com/office/drawing/2014/main" id="{74834FF0-1E59-4CA8-397D-FFE749E620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1238" y="379441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4000" dirty="0">
                <a:solidFill>
                  <a:srgbClr val="C00000"/>
                </a:solidFill>
              </a:rPr>
              <a:t>Recap: </a:t>
            </a:r>
            <a:r>
              <a:rPr lang="en-US" sz="40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</a:rPr>
              <a:t>Value Functions and Bellman Equations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olving MDPs"/>
          <p:cNvSpPr txBox="1">
            <a:spLocks noGrp="1"/>
          </p:cNvSpPr>
          <p:nvPr>
            <p:ph type="title"/>
          </p:nvPr>
        </p:nvSpPr>
        <p:spPr>
          <a:xfrm>
            <a:off x="580597" y="390737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Solving MDPs</a:t>
            </a:r>
          </a:p>
        </p:txBody>
      </p:sp>
      <p:pic>
        <p:nvPicPr>
          <p:cNvPr id="29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31" y="2171228"/>
            <a:ext cx="4145723" cy="1375134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In previous lectures, we resorted to exact methods"/>
          <p:cNvSpPr txBox="1"/>
          <p:nvPr/>
        </p:nvSpPr>
        <p:spPr>
          <a:xfrm>
            <a:off x="580597" y="1567542"/>
            <a:ext cx="9111328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1600"/>
              <a:t>In previous lectures, we resorted to exact methods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6BD79-3714-825E-7187-E75E47EF8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C351C-2F4D-D74A-9359-DAED12A79A36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FFA99-35E0-08B5-28D0-8B0972EB3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B6E63-A3F7-46C5-DD92-83A15CE1F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olving MDPs"/>
          <p:cNvSpPr txBox="1">
            <a:spLocks noGrp="1"/>
          </p:cNvSpPr>
          <p:nvPr>
            <p:ph type="title"/>
          </p:nvPr>
        </p:nvSpPr>
        <p:spPr>
          <a:xfrm>
            <a:off x="642258" y="437697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dirty="0"/>
              <a:t>(Another look at) Policy Iteration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70EC9-32E3-265D-8FA3-130324985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02778-C2B5-5A43-A8D2-EA5F2A47EFB2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9A509-93F0-74A7-8D5D-F11025695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DF676-0364-03B9-E767-E80E7253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11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3D1B7E-7690-697B-43CF-D35261436E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1042"/>
          <a:stretch/>
        </p:blipFill>
        <p:spPr>
          <a:xfrm>
            <a:off x="961803" y="1949450"/>
            <a:ext cx="10391997" cy="34099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C64B6A4-A03C-D6A3-52EB-C9D9B2606A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064" b="62607"/>
          <a:stretch/>
        </p:blipFill>
        <p:spPr>
          <a:xfrm>
            <a:off x="8488969" y="911606"/>
            <a:ext cx="3816446" cy="207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297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70EC9-32E3-265D-8FA3-130324985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63984-108B-AF40-BBE6-0CE172A811DB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9A509-93F0-74A7-8D5D-F11025695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DF676-0364-03B9-E767-E80E7253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0E36EE-FB7E-14B8-393D-29C2DC662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43467"/>
            <a:ext cx="11076127" cy="514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16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70EC9-32E3-265D-8FA3-130324985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E1E96-1EEA-1449-B681-60EF264835AC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9A509-93F0-74A7-8D5D-F11025695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DF676-0364-03B9-E767-E80E7253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A751C6-F21D-9566-49FE-B168614E7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64819"/>
            <a:ext cx="7772400" cy="612836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EE9FF0C-A5BF-6EB4-A3FD-DD0AD5E740E8}"/>
              </a:ext>
            </a:extLst>
          </p:cNvPr>
          <p:cNvSpPr/>
          <p:nvPr/>
        </p:nvSpPr>
        <p:spPr>
          <a:xfrm>
            <a:off x="6096000" y="2761439"/>
            <a:ext cx="2220097" cy="3645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68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70EC9-32E3-265D-8FA3-130324985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A894D-D1B7-AF4F-B79A-91BB4F37A68F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9A509-93F0-74A7-8D5D-F11025695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DF676-0364-03B9-E767-E80E7253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9482DB-F59A-FF1E-1660-753EAF74F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72466"/>
            <a:ext cx="7772400" cy="591306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96B14E3-D472-4EC5-81EE-5A9202656577}"/>
              </a:ext>
            </a:extLst>
          </p:cNvPr>
          <p:cNvSpPr/>
          <p:nvPr/>
        </p:nvSpPr>
        <p:spPr>
          <a:xfrm>
            <a:off x="6096000" y="1000897"/>
            <a:ext cx="3886200" cy="54057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EE7BC3-D53E-4760-0D22-827EB53D6F3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987" t="50997" r="20610" b="21042"/>
          <a:stretch/>
        </p:blipFill>
        <p:spPr>
          <a:xfrm>
            <a:off x="6096000" y="5041557"/>
            <a:ext cx="5524038" cy="10990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D589E2-3A23-DAFD-5353-F88A5B4A4F3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3064" b="62607"/>
          <a:stretch/>
        </p:blipFill>
        <p:spPr>
          <a:xfrm>
            <a:off x="6739596" y="2207063"/>
            <a:ext cx="4250202" cy="231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913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70EC9-32E3-265D-8FA3-130324985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7F8EE-D18F-974F-A975-6371C7608777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9A509-93F0-74A7-8D5D-F11025695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DF676-0364-03B9-E767-E80E7253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9482DB-F59A-FF1E-1660-753EAF74F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72466"/>
            <a:ext cx="7772400" cy="591306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9A81ECF-230E-D637-319D-0250AC6DE15E}"/>
              </a:ext>
            </a:extLst>
          </p:cNvPr>
          <p:cNvSpPr/>
          <p:nvPr/>
        </p:nvSpPr>
        <p:spPr>
          <a:xfrm>
            <a:off x="6220496" y="940158"/>
            <a:ext cx="2756079" cy="2859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9C5D96-3A13-740A-7C5F-2BB5AA49F0AB}"/>
              </a:ext>
            </a:extLst>
          </p:cNvPr>
          <p:cNvSpPr/>
          <p:nvPr/>
        </p:nvSpPr>
        <p:spPr>
          <a:xfrm>
            <a:off x="6220497" y="3799267"/>
            <a:ext cx="2034862" cy="7190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28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1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70EC9-32E3-265D-8FA3-130324985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355CF-302E-6443-BB52-155BE1616AB0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9A509-93F0-74A7-8D5D-F11025695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DF676-0364-03B9-E767-E80E7253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A751C6-F21D-9566-49FE-B168614E7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64819"/>
            <a:ext cx="7772400" cy="612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623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olving MDPs"/>
          <p:cNvSpPr txBox="1">
            <a:spLocks noGrp="1"/>
          </p:cNvSpPr>
          <p:nvPr>
            <p:ph type="title"/>
          </p:nvPr>
        </p:nvSpPr>
        <p:spPr>
          <a:xfrm>
            <a:off x="580597" y="382490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Solving MDPs</a:t>
            </a:r>
          </a:p>
        </p:txBody>
      </p:sp>
      <p:pic>
        <p:nvPicPr>
          <p:cNvPr id="31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31" y="2171228"/>
            <a:ext cx="4145723" cy="1375134"/>
          </a:xfrm>
          <a:prstGeom prst="rect">
            <a:avLst/>
          </a:prstGeom>
          <a:ln w="12700">
            <a:miter lim="400000"/>
          </a:ln>
        </p:spPr>
      </p:pic>
      <p:sp>
        <p:nvSpPr>
          <p:cNvPr id="312" name="All of these formulations require a model of the MDP!"/>
          <p:cNvSpPr txBox="1"/>
          <p:nvPr/>
        </p:nvSpPr>
        <p:spPr>
          <a:xfrm>
            <a:off x="5909750" y="2712110"/>
            <a:ext cx="5076862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 defTabSz="41275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All of these formulations require a </a:t>
            </a:r>
            <a:r>
              <a:rPr sz="1600" b="1" dirty="0">
                <a:solidFill>
                  <a:srgbClr val="C00000"/>
                </a:solidFill>
                <a:sym typeface="Helvetica Neue"/>
              </a:rPr>
              <a:t>model of the MDP!</a:t>
            </a:r>
          </a:p>
        </p:txBody>
      </p:sp>
      <p:sp>
        <p:nvSpPr>
          <p:cNvPr id="313" name="To solve unknown MDPs, we’ll use interactions with the environment"/>
          <p:cNvSpPr txBox="1"/>
          <p:nvPr/>
        </p:nvSpPr>
        <p:spPr>
          <a:xfrm>
            <a:off x="580597" y="3856679"/>
            <a:ext cx="9111328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 defTabSz="41275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To solve unknown MDPs, we’ll use </a:t>
            </a:r>
            <a:r>
              <a:rPr sz="1600" b="1" dirty="0">
                <a:solidFill>
                  <a:srgbClr val="C00000"/>
                </a:solidFill>
                <a:sym typeface="Helvetica Neue"/>
              </a:rPr>
              <a:t>interactions</a:t>
            </a:r>
            <a:r>
              <a:rPr sz="1600" dirty="0"/>
              <a:t> with the environment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Limitations of exact methods (such as Policy/Value Iteration):…"/>
              <p:cNvSpPr txBox="1"/>
              <p:nvPr/>
            </p:nvSpPr>
            <p:spPr>
              <a:xfrm>
                <a:off x="580597" y="4460364"/>
                <a:ext cx="9111328" cy="134780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/>
                  <a:t>Limitations of exact methods (such as Policy/Value Iteration):</a:t>
                </a:r>
              </a:p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sz="1600" dirty="0"/>
              </a:p>
              <a:p>
                <a:pPr marL="203200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/>
                  <a:t>Update equations (i.e., Bellman equations) require access to dynamics model </a:t>
                </a:r>
                <a14:m>
                  <m:oMath xmlns:m="http://schemas.openxmlformats.org/officeDocument/2006/math">
                    <m:r>
                      <a:rPr sz="20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sz="20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202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02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202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202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sz="20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sz="202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02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202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20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202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02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202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sz="1600" dirty="0"/>
              </a:p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sz="1600" dirty="0"/>
              </a:p>
              <a:p>
                <a:pPr marL="203200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/>
                  <a:t>Iteration over (and storage of) all states and actions requires small, discrete state-action space</a:t>
                </a:r>
              </a:p>
            </p:txBody>
          </p:sp>
        </mc:Choice>
        <mc:Fallback xmlns="">
          <p:sp>
            <p:nvSpPr>
              <p:cNvPr id="314" name="Limitations of exact methods (such as Policy/Value Iteration):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97" y="4460364"/>
                <a:ext cx="9111328" cy="1347805"/>
              </a:xfrm>
              <a:prstGeom prst="rect">
                <a:avLst/>
              </a:prstGeom>
              <a:blipFill>
                <a:blip r:embed="rId3"/>
                <a:stretch>
                  <a:fillRect l="-1113" t="-2804" b="-654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6" name="Function approximation"/>
          <p:cNvSpPr txBox="1"/>
          <p:nvPr/>
        </p:nvSpPr>
        <p:spPr>
          <a:xfrm>
            <a:off x="9427878" y="5549124"/>
            <a:ext cx="2152912" cy="259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825500">
              <a:defRPr sz="2700"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350">
                <a:solidFill>
                  <a:srgbClr val="C00000"/>
                </a:solidFill>
              </a:rPr>
              <a:t>Function approximation</a:t>
            </a:r>
          </a:p>
        </p:txBody>
      </p:sp>
      <p:sp>
        <p:nvSpPr>
          <p:cNvPr id="317" name="In previous lectures, we resorted to exact methods"/>
          <p:cNvSpPr txBox="1"/>
          <p:nvPr/>
        </p:nvSpPr>
        <p:spPr>
          <a:xfrm>
            <a:off x="580597" y="1567542"/>
            <a:ext cx="9111328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1600"/>
              <a:t>In previous lectures, we resorted to exact methods</a:t>
            </a:r>
          </a:p>
        </p:txBody>
      </p:sp>
      <p:sp>
        <p:nvSpPr>
          <p:cNvPr id="2" name="Sampling-based approximations">
            <a:extLst>
              <a:ext uri="{FF2B5EF4-FFF2-40B4-BE49-F238E27FC236}">
                <a16:creationId xmlns:a16="http://schemas.microsoft.com/office/drawing/2014/main" id="{7D9D3D64-E5F4-18DB-1096-948736A0D713}"/>
              </a:ext>
            </a:extLst>
          </p:cNvPr>
          <p:cNvSpPr txBox="1"/>
          <p:nvPr/>
        </p:nvSpPr>
        <p:spPr>
          <a:xfrm>
            <a:off x="9427878" y="5017741"/>
            <a:ext cx="2764122" cy="259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825500">
              <a:defRPr sz="2700"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350" dirty="0">
                <a:solidFill>
                  <a:srgbClr val="C00000"/>
                </a:solidFill>
              </a:rPr>
              <a:t>Sampling-based approximations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BEF44-9F51-62F8-F4B1-DC5AE9692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F147A-1651-D44F-93CE-6E72C72C77C1}" type="datetime1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C6E35-277A-908F-190B-DFDAB808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4F0DE-5860-7F7C-4E4D-828A15AA3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" grpId="0" animBg="1"/>
      <p:bldP spid="313" grpId="0" animBg="1"/>
      <p:bldP spid="314" grpId="0" animBg="1"/>
      <p:bldP spid="316" grpId="0" animBg="1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A0D8C-7D79-0653-8841-CDF58FD03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Outline">
            <a:extLst>
              <a:ext uri="{FF2B5EF4-FFF2-40B4-BE49-F238E27FC236}">
                <a16:creationId xmlns:a16="http://schemas.microsoft.com/office/drawing/2014/main" id="{901148FB-62A8-E44E-256C-3E72B42F08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3105" y="380884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Outline</a:t>
            </a:r>
          </a:p>
        </p:txBody>
      </p:sp>
      <p:sp>
        <p:nvSpPr>
          <p:cNvPr id="176" name="What is Reinforcement Learning? (and the RL setting)">
            <a:extLst>
              <a:ext uri="{FF2B5EF4-FFF2-40B4-BE49-F238E27FC236}">
                <a16:creationId xmlns:a16="http://schemas.microsoft.com/office/drawing/2014/main" id="{B18D59B6-1FD5-1AFC-6E85-9FFDB2DA92F4}"/>
              </a:ext>
            </a:extLst>
          </p:cNvPr>
          <p:cNvSpPr txBox="1"/>
          <p:nvPr/>
        </p:nvSpPr>
        <p:spPr>
          <a:xfrm>
            <a:off x="733105" y="2305355"/>
            <a:ext cx="7289231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600" dirty="0">
                <a:solidFill>
                  <a:srgbClr val="000000">
                    <a:alpha val="30000"/>
                  </a:srgbClr>
                </a:solidFill>
              </a:rPr>
              <a:t>Recap: The RL problem and exact methods (based on dynamic programming)</a:t>
            </a:r>
            <a:endParaRPr sz="1600" dirty="0">
              <a:solidFill>
                <a:srgbClr val="000000">
                  <a:alpha val="30000"/>
                </a:srgbClr>
              </a:solidFill>
            </a:endParaRPr>
          </a:p>
        </p:txBody>
      </p:sp>
      <p:sp>
        <p:nvSpPr>
          <p:cNvPr id="177" name="From exact methods to model-free control">
            <a:extLst>
              <a:ext uri="{FF2B5EF4-FFF2-40B4-BE49-F238E27FC236}">
                <a16:creationId xmlns:a16="http://schemas.microsoft.com/office/drawing/2014/main" id="{D0C4DE9B-500E-1750-458A-CBD48E0896EE}"/>
              </a:ext>
            </a:extLst>
          </p:cNvPr>
          <p:cNvSpPr txBox="1"/>
          <p:nvPr/>
        </p:nvSpPr>
        <p:spPr>
          <a:xfrm>
            <a:off x="733105" y="2762388"/>
            <a:ext cx="4935048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1600" dirty="0"/>
              <a:t>From exact methods to model-free control</a:t>
            </a:r>
          </a:p>
        </p:txBody>
      </p:sp>
      <p:sp>
        <p:nvSpPr>
          <p:cNvPr id="178" name="Monte Carlo Learning…">
            <a:extLst>
              <a:ext uri="{FF2B5EF4-FFF2-40B4-BE49-F238E27FC236}">
                <a16:creationId xmlns:a16="http://schemas.microsoft.com/office/drawing/2014/main" id="{784B0F96-5770-4825-AB90-68E35D08EDB1}"/>
              </a:ext>
            </a:extLst>
          </p:cNvPr>
          <p:cNvSpPr txBox="1"/>
          <p:nvPr/>
        </p:nvSpPr>
        <p:spPr>
          <a:xfrm>
            <a:off x="1095833" y="2984417"/>
            <a:ext cx="7913369" cy="742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marL="177800" indent="-177800" defTabSz="412750">
              <a:lnSpc>
                <a:spcPct val="15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Monte Carlo Learning</a:t>
            </a:r>
          </a:p>
          <a:p>
            <a:pPr marL="177800" indent="-177800" defTabSz="412750">
              <a:lnSpc>
                <a:spcPct val="15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>
                <a:solidFill>
                  <a:srgbClr val="000000">
                    <a:alpha val="30000"/>
                  </a:srgbClr>
                </a:solidFill>
              </a:rPr>
              <a:t>Temporal-Difference (TD) Learning</a:t>
            </a:r>
          </a:p>
        </p:txBody>
      </p:sp>
      <p:sp>
        <p:nvSpPr>
          <p:cNvPr id="179" name="A taxonomy of RL algorithms &amp; important trade-offs">
            <a:extLst>
              <a:ext uri="{FF2B5EF4-FFF2-40B4-BE49-F238E27FC236}">
                <a16:creationId xmlns:a16="http://schemas.microsoft.com/office/drawing/2014/main" id="{3FCADB4C-155C-BA9C-F4D1-001872CAD1E3}"/>
              </a:ext>
            </a:extLst>
          </p:cNvPr>
          <p:cNvSpPr txBox="1"/>
          <p:nvPr/>
        </p:nvSpPr>
        <p:spPr>
          <a:xfrm>
            <a:off x="733105" y="3975510"/>
            <a:ext cx="4935048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600" dirty="0">
                <a:solidFill>
                  <a:srgbClr val="000000">
                    <a:alpha val="30000"/>
                  </a:srgbClr>
                </a:solidFill>
              </a:rPr>
              <a:t>The skeleton of an RL algorithm</a:t>
            </a:r>
            <a:endParaRPr sz="1600" dirty="0">
              <a:solidFill>
                <a:srgbClr val="000000">
                  <a:alpha val="30000"/>
                </a:srgbClr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541D1-72E7-694A-E390-E394D42C7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9DAF-61B3-2744-B8C8-B72AA2FC67FC}" type="datetime1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739521-137C-3810-673D-97F47D4DF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92B46-FD0D-9166-79B7-50B099186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00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Monte Carlo Reinforcement Learning"/>
          <p:cNvSpPr txBox="1">
            <a:spLocks noGrp="1"/>
          </p:cNvSpPr>
          <p:nvPr>
            <p:ph type="title"/>
          </p:nvPr>
        </p:nvSpPr>
        <p:spPr>
          <a:xfrm>
            <a:off x="613818" y="440540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Monte Carlo Reinforcement Learning</a:t>
            </a:r>
          </a:p>
        </p:txBody>
      </p:sp>
      <p:sp>
        <p:nvSpPr>
          <p:cNvPr id="329" name="MC methods learn directly from episodes of experience…"/>
          <p:cNvSpPr txBox="1"/>
          <p:nvPr/>
        </p:nvSpPr>
        <p:spPr>
          <a:xfrm>
            <a:off x="613818" y="1858075"/>
            <a:ext cx="10190049" cy="2759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marL="203200" indent="-203200" defTabSz="41275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/>
              <a:t>MC methods learn directly from episodes of experience </a:t>
            </a:r>
          </a:p>
          <a:p>
            <a:pPr marL="203200" indent="-203200" defTabSz="41275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 sz="1600"/>
          </a:p>
          <a:p>
            <a:pPr marL="203200" indent="-203200" defTabSz="41275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/>
              <a:t>MC is model-free: no knowledge of MDP transitions / rewards</a:t>
            </a:r>
          </a:p>
          <a:p>
            <a:pPr marL="203200" indent="-203200" defTabSz="41275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 sz="1600"/>
          </a:p>
          <a:p>
            <a:pPr marL="203200" indent="-203200" defTabSz="41275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/>
              <a:t>MC uses the simplest possible idea: value = mean return </a:t>
            </a:r>
          </a:p>
          <a:p>
            <a:pPr marL="508000" lvl="1" indent="-203200" defTabSz="41275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/>
              <a:t>Recall that the return is the total discounted reward:</a:t>
            </a:r>
          </a:p>
          <a:p>
            <a:pPr marL="508000" lvl="1" indent="-203200" defTabSz="41275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 sz="1600"/>
          </a:p>
          <a:p>
            <a:pPr defTabSz="41275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 sz="1600"/>
          </a:p>
          <a:p>
            <a:pPr defTabSz="41275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 sz="1600"/>
          </a:p>
          <a:p>
            <a:pPr marL="203200" indent="-203200" defTabSz="41275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/>
              <a:t>Caveat: can only apply MC to episodic MDPs</a:t>
            </a:r>
          </a:p>
          <a:p>
            <a:pPr marL="508000" lvl="1" indent="-203200" defTabSz="41275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/>
              <a:t>All episodes must terminate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0" name="Equation"/>
              <p:cNvSpPr txBox="1"/>
              <p:nvPr/>
            </p:nvSpPr>
            <p:spPr>
              <a:xfrm>
                <a:off x="4563871" y="3616311"/>
                <a:ext cx="4011739" cy="3308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sz="2150"/>
              </a:p>
            </p:txBody>
          </p:sp>
        </mc:Choice>
        <mc:Fallback xmlns="">
          <p:sp>
            <p:nvSpPr>
              <p:cNvPr id="33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871" y="3616311"/>
                <a:ext cx="4011739" cy="330860"/>
              </a:xfrm>
              <a:prstGeom prst="rect">
                <a:avLst/>
              </a:prstGeom>
              <a:blipFill>
                <a:blip r:embed="rId2"/>
                <a:stretch>
                  <a:fillRect l="-1262" b="-14286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EB416-6A13-2BEC-903E-96B298F93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01364-C253-494A-BE90-9285DAC2EAFA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D7E77-8115-5755-89D7-18BBF3F05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BB4C7-406C-D399-7B1A-3E8C3587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Monte Carlo Policy Evaluation"/>
          <p:cNvSpPr txBox="1">
            <a:spLocks noGrp="1"/>
          </p:cNvSpPr>
          <p:nvPr>
            <p:ph type="title"/>
          </p:nvPr>
        </p:nvSpPr>
        <p:spPr>
          <a:xfrm>
            <a:off x="613818" y="368003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Monte Carlo Policy Evaluation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4" name="Let’s consider Monte Carlo methods for learning the state-value function   from episodes of experience under policy…"/>
              <p:cNvSpPr txBox="1"/>
              <p:nvPr/>
            </p:nvSpPr>
            <p:spPr>
              <a:xfrm>
                <a:off x="613818" y="1858075"/>
                <a:ext cx="10190049" cy="336406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marL="203200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/>
                  <a:t>Let’s consider Monte Carlo methods for learning the state-value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07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07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sz="207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sz="20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0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0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1600"/>
                  <a:t> from episodes of experience under policy </a:t>
                </a:r>
                <a14:m>
                  <m:oMath xmlns:m="http://schemas.openxmlformats.org/officeDocument/2006/math">
                    <m:r>
                      <a:rPr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sz="1600"/>
              </a:p>
              <a:p>
                <a:pPr marL="203200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sz="1600"/>
              </a:p>
              <a:p>
                <a:pPr marL="203200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/>
                  <a:t>Recall that the value function is the expected return </a:t>
                </a:r>
              </a:p>
              <a:p>
                <a:pPr marL="508000" lvl="1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sz="1600"/>
              </a:p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sz="1600"/>
              </a:p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sz="1600"/>
              </a:p>
              <a:p>
                <a:pPr marL="203200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sz="1600"/>
              </a:p>
              <a:p>
                <a:pPr marL="203200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sz="1600"/>
              </a:p>
              <a:p>
                <a:pPr marL="203200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sz="1600"/>
              </a:p>
              <a:p>
                <a:pPr marL="203200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sz="1600"/>
              </a:p>
              <a:p>
                <a:pPr marL="203200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sz="1600"/>
              </a:p>
              <a:p>
                <a:pPr marL="203200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/>
                  <a:t>Monte-Carlo policy evaluation uses empirical mean return instead of expected return</a:t>
                </a:r>
              </a:p>
            </p:txBody>
          </p:sp>
        </mc:Choice>
        <mc:Fallback xmlns="">
          <p:sp>
            <p:nvSpPr>
              <p:cNvPr id="334" name="Let’s consider Monte Carlo methods for learning the state-value function   from episodes of experience under policy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818" y="1858075"/>
                <a:ext cx="10190049" cy="3364062"/>
              </a:xfrm>
              <a:prstGeom prst="rect">
                <a:avLst/>
              </a:prstGeom>
              <a:blipFill>
                <a:blip r:embed="rId2"/>
                <a:stretch>
                  <a:fillRect l="-623" b="-188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Equation"/>
              <p:cNvSpPr txBox="1"/>
              <p:nvPr/>
            </p:nvSpPr>
            <p:spPr>
              <a:xfrm>
                <a:off x="4552250" y="3204441"/>
                <a:ext cx="4011739" cy="3308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sz="2150"/>
              </a:p>
            </p:txBody>
          </p:sp>
        </mc:Choice>
        <mc:Fallback xmlns="">
          <p:sp>
            <p:nvSpPr>
              <p:cNvPr id="33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250" y="3204441"/>
                <a:ext cx="4011739" cy="330860"/>
              </a:xfrm>
              <a:prstGeom prst="rect">
                <a:avLst/>
              </a:prstGeom>
              <a:blipFill>
                <a:blip r:embed="rId3"/>
                <a:stretch>
                  <a:fillRect l="-1262" t="-3704" b="-1851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Equation"/>
              <p:cNvSpPr txBox="1"/>
              <p:nvPr/>
            </p:nvSpPr>
            <p:spPr>
              <a:xfrm>
                <a:off x="3644354" y="3699810"/>
                <a:ext cx="5423088" cy="63094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sz="21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1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sz="21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21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sz="21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sz="21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sz="21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lim>
                          </m:limLow>
                          <m:sSup>
                            <m:sSupPr>
                              <m:ctrlPr>
                                <a:rPr sz="21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21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sz="21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21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sz="21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p>
                          </m:sSup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sz="21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21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1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sz="215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215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sz="215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sz="21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sz="21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sz="21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sz="215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215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sz="215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sz="215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sz="215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1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1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sz="21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sz="21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1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1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sz="2150"/>
              </a:p>
            </p:txBody>
          </p:sp>
        </mc:Choice>
        <mc:Fallback xmlns="">
          <p:sp>
            <p:nvSpPr>
              <p:cNvPr id="33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354" y="3699810"/>
                <a:ext cx="5423088" cy="630942"/>
              </a:xfrm>
              <a:prstGeom prst="rect">
                <a:avLst/>
              </a:prstGeom>
              <a:blipFill>
                <a:blip r:embed="rId4"/>
                <a:stretch>
                  <a:fillRect l="-703" b="-120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6A6ED-BBB0-6003-5118-52F72F840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800E0-49A2-5643-A570-F980AA14A4B9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7084A-B132-62BE-209B-C343EB42E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3929A-FF4E-E50C-1C65-4A3773C0F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Monte Carlo Policy Evaluation"/>
          <p:cNvSpPr txBox="1">
            <a:spLocks noGrp="1"/>
          </p:cNvSpPr>
          <p:nvPr>
            <p:ph type="title"/>
          </p:nvPr>
        </p:nvSpPr>
        <p:spPr>
          <a:xfrm>
            <a:off x="469025" y="480999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Monte Carlo Policy Evaluation</a:t>
            </a:r>
          </a:p>
        </p:txBody>
      </p:sp>
      <p:sp>
        <p:nvSpPr>
          <p:cNvPr id="347" name="Every-visit"/>
          <p:cNvSpPr txBox="1"/>
          <p:nvPr/>
        </p:nvSpPr>
        <p:spPr>
          <a:xfrm>
            <a:off x="8458002" y="1746980"/>
            <a:ext cx="868828" cy="28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000" b="1" u="sng">
                <a:solidFill>
                  <a:srgbClr val="000000"/>
                </a:solidFill>
              </a:defRPr>
            </a:lvl1pPr>
          </a:lstStyle>
          <a:p>
            <a:r>
              <a:rPr sz="1500"/>
              <a:t>Every-visit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To evaluate state…"/>
              <p:cNvSpPr txBox="1"/>
              <p:nvPr/>
            </p:nvSpPr>
            <p:spPr>
              <a:xfrm>
                <a:off x="6423664" y="2197729"/>
                <a:ext cx="5647983" cy="271651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marL="203200" indent="-203200" defTabSz="412750">
                  <a:lnSpc>
                    <a:spcPct val="150000"/>
                  </a:lnSpc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To evaluate state </a:t>
                </a:r>
                <a14:m>
                  <m:oMath xmlns:m="http://schemas.openxmlformats.org/officeDocument/2006/math">
                    <m:r>
                      <a:rPr lang="en-US" sz="18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1600" dirty="0"/>
              </a:p>
              <a:p>
                <a:pPr marL="203200" indent="-203200" defTabSz="412750">
                  <a:lnSpc>
                    <a:spcPct val="150000"/>
                  </a:lnSpc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Every</a:t>
                </a:r>
                <a:r>
                  <a:rPr lang="en-US" sz="1600" dirty="0">
                    <a:solidFill>
                      <a:srgbClr val="C00000"/>
                    </a:solidFill>
                  </a:rPr>
                  <a:t> </a:t>
                </a:r>
                <a:r>
                  <a:rPr lang="en-US" sz="1600" dirty="0"/>
                  <a:t>time-step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/>
                  <a:t> that state </a:t>
                </a:r>
                <a14:m>
                  <m:oMath xmlns:m="http://schemas.openxmlformats.org/officeDocument/2006/math">
                    <m:r>
                      <a:rPr lang="en-US" sz="18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/>
                  <a:t> is visited in an episode</a:t>
                </a:r>
              </a:p>
              <a:p>
                <a:pPr marL="203200" indent="-203200" defTabSz="412750">
                  <a:lnSpc>
                    <a:spcPct val="150000"/>
                  </a:lnSpc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Increment counter </a:t>
                </a:r>
                <a14:m>
                  <m:oMath xmlns:m="http://schemas.openxmlformats.org/officeDocument/2006/math">
                    <m:r>
                      <a:rPr lang="en-US" sz="19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9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9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)←</m:t>
                    </m:r>
                    <m:r>
                      <a:rPr lang="en-US" sz="19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9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9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)+1</m:t>
                    </m:r>
                  </m:oMath>
                </a14:m>
                <a:endParaRPr lang="en-US" sz="1600" dirty="0"/>
              </a:p>
              <a:p>
                <a:pPr marL="203200" indent="-203200" defTabSz="412750">
                  <a:lnSpc>
                    <a:spcPct val="150000"/>
                  </a:lnSpc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Increment total return </a:t>
                </a:r>
                <a14:m>
                  <m:oMath xmlns:m="http://schemas.openxmlformats.org/officeDocument/2006/math"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)←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ar-AE" sz="1600" dirty="0"/>
              </a:p>
              <a:p>
                <a:pPr marL="203200" indent="-203200" defTabSz="412750">
                  <a:lnSpc>
                    <a:spcPct val="150000"/>
                  </a:lnSpc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Value is estimated by mean return</a:t>
                </a:r>
                <a14:m>
                  <m:oMath xmlns:m="http://schemas.openxmlformats.org/officeDocument/2006/math">
                    <m:r>
                      <a:rPr lang="en-US" sz="195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)/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sz="1950" dirty="0"/>
              </a:p>
              <a:p>
                <a:pPr marL="203200" indent="-203200" defTabSz="412750">
                  <a:lnSpc>
                    <a:spcPct val="150000"/>
                  </a:lnSpc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By law of large numbers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ar-AE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ar-AE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9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" panose="02000503000000020004" pitchFamily="2" charset="0"/>
                  </a:rPr>
                  <a:t>as</a:t>
                </a:r>
                <a:r>
                  <a:rPr lang="en-US" sz="19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)→∞</m:t>
                    </m:r>
                  </m:oMath>
                </a14:m>
                <a:endParaRPr sz="1900" dirty="0"/>
              </a:p>
            </p:txBody>
          </p:sp>
        </mc:Choice>
        <mc:Fallback xmlns="">
          <p:sp>
            <p:nvSpPr>
              <p:cNvPr id="348" name="To evaluate state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664" y="2197729"/>
                <a:ext cx="5647983" cy="2716513"/>
              </a:xfrm>
              <a:prstGeom prst="rect">
                <a:avLst/>
              </a:prstGeom>
              <a:blipFill>
                <a:blip r:embed="rId2"/>
                <a:stretch>
                  <a:fillRect l="-897" b="-186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o evaluate state…">
                <a:extLst>
                  <a:ext uri="{FF2B5EF4-FFF2-40B4-BE49-F238E27FC236}">
                    <a16:creationId xmlns:a16="http://schemas.microsoft.com/office/drawing/2014/main" id="{4C273E10-138F-9FE1-16D6-D09075B2ABCF}"/>
                  </a:ext>
                </a:extLst>
              </p:cNvPr>
              <p:cNvSpPr txBox="1"/>
              <p:nvPr/>
            </p:nvSpPr>
            <p:spPr>
              <a:xfrm>
                <a:off x="469025" y="2197729"/>
                <a:ext cx="5314651" cy="270484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marL="203200" indent="-203200" defTabSz="412750">
                  <a:lnSpc>
                    <a:spcPct val="150000"/>
                  </a:lnSpc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To evaluate state </a:t>
                </a:r>
                <a14:m>
                  <m:oMath xmlns:m="http://schemas.openxmlformats.org/officeDocument/2006/math">
                    <m:r>
                      <a:rPr lang="en-US" sz="18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1600" dirty="0"/>
              </a:p>
              <a:p>
                <a:pPr marL="203200" indent="-203200" defTabSz="412750">
                  <a:lnSpc>
                    <a:spcPct val="150000"/>
                  </a:lnSpc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The </a:t>
                </a:r>
                <a:r>
                  <a:rPr lang="en-US" sz="1600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first</a:t>
                </a:r>
                <a:r>
                  <a:rPr lang="en-US" sz="1600" dirty="0"/>
                  <a:t> time-step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/>
                  <a:t> that state </a:t>
                </a:r>
                <a14:m>
                  <m:oMath xmlns:m="http://schemas.openxmlformats.org/officeDocument/2006/math">
                    <m:r>
                      <a:rPr lang="en-US" sz="18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/>
                  <a:t> is visited in an episode</a:t>
                </a:r>
              </a:p>
              <a:p>
                <a:pPr marL="203200" indent="-203200" defTabSz="412750">
                  <a:lnSpc>
                    <a:spcPct val="150000"/>
                  </a:lnSpc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Increment counter </a:t>
                </a:r>
                <a14:m>
                  <m:oMath xmlns:m="http://schemas.openxmlformats.org/officeDocument/2006/math">
                    <m:r>
                      <a:rPr lang="en-US" sz="19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9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9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)←</m:t>
                    </m:r>
                    <m:r>
                      <a:rPr lang="en-US" sz="19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9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9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)+1</m:t>
                    </m:r>
                  </m:oMath>
                </a14:m>
                <a:endParaRPr lang="en-US" sz="1600" dirty="0"/>
              </a:p>
              <a:p>
                <a:pPr marL="203200" indent="-203200" defTabSz="412750">
                  <a:lnSpc>
                    <a:spcPct val="150000"/>
                  </a:lnSpc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Increment total return </a:t>
                </a:r>
                <a14:m>
                  <m:oMath xmlns:m="http://schemas.openxmlformats.org/officeDocument/2006/math"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)←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ar-AE" sz="1600" dirty="0"/>
              </a:p>
              <a:p>
                <a:pPr marL="203200" indent="-203200" defTabSz="412750">
                  <a:lnSpc>
                    <a:spcPct val="150000"/>
                  </a:lnSpc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Value is estimated by mean return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)/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sz="1950" dirty="0"/>
              </a:p>
              <a:p>
                <a:pPr marL="203200" indent="-203200" defTabSz="412750">
                  <a:lnSpc>
                    <a:spcPct val="150000"/>
                  </a:lnSpc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By law of large numbers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9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9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ar-AE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ar-AE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9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1900" dirty="0">
                    <a:solidFill>
                      <a:srgbClr val="000000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" panose="02000503000000020004" pitchFamily="2" charset="0"/>
                  </a:rPr>
                  <a:t>as</a:t>
                </a:r>
                <a:r>
                  <a:rPr lang="en-US" sz="19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)→∞</m:t>
                    </m:r>
                  </m:oMath>
                </a14:m>
                <a:endParaRPr sz="1600" dirty="0"/>
              </a:p>
            </p:txBody>
          </p:sp>
        </mc:Choice>
        <mc:Fallback xmlns="">
          <p:sp>
            <p:nvSpPr>
              <p:cNvPr id="2" name="To evaluate state…">
                <a:extLst>
                  <a:ext uri="{FF2B5EF4-FFF2-40B4-BE49-F238E27FC236}">
                    <a16:creationId xmlns:a16="http://schemas.microsoft.com/office/drawing/2014/main" id="{4C273E10-138F-9FE1-16D6-D09075B2A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25" y="2197729"/>
                <a:ext cx="5314651" cy="2704843"/>
              </a:xfrm>
              <a:prstGeom prst="rect">
                <a:avLst/>
              </a:prstGeom>
              <a:blipFill>
                <a:blip r:embed="rId3"/>
                <a:stretch>
                  <a:fillRect l="-952" r="-2143" b="-375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irst-visit">
            <a:extLst>
              <a:ext uri="{FF2B5EF4-FFF2-40B4-BE49-F238E27FC236}">
                <a16:creationId xmlns:a16="http://schemas.microsoft.com/office/drawing/2014/main" id="{FFAFC2AE-4A2C-F8B3-27A4-DFD8743C6D45}"/>
              </a:ext>
            </a:extLst>
          </p:cNvPr>
          <p:cNvSpPr txBox="1"/>
          <p:nvPr/>
        </p:nvSpPr>
        <p:spPr>
          <a:xfrm>
            <a:off x="2320444" y="1746980"/>
            <a:ext cx="775853" cy="28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000" b="1" u="sng">
                <a:solidFill>
                  <a:srgbClr val="000000"/>
                </a:solidFill>
              </a:defRPr>
            </a:lvl1pPr>
          </a:lstStyle>
          <a:p>
            <a:r>
              <a:rPr sz="1500"/>
              <a:t>First-visit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C6E2217-5B5A-F43F-438C-700D1869F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E78F5-A521-D146-BC20-0CF4CE3EA711}" type="datetime1">
              <a:rPr lang="en-US" smtClean="0"/>
              <a:t>8/10/26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8DBC135-9260-59CA-0233-F1499BC61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A21CA45-7FF5-B293-D3C4-B4766303B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" grpId="0" animBg="1"/>
      <p:bldP spid="34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Example: Blackjack"/>
          <p:cNvSpPr txBox="1">
            <a:spLocks noGrp="1"/>
          </p:cNvSpPr>
          <p:nvPr>
            <p:ph type="title"/>
          </p:nvPr>
        </p:nvSpPr>
        <p:spPr>
          <a:xfrm>
            <a:off x="701570" y="374552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Example: Blackjack</a:t>
            </a:r>
          </a:p>
        </p:txBody>
      </p:sp>
      <p:sp>
        <p:nvSpPr>
          <p:cNvPr id="352" name="States (200 possible states):…"/>
          <p:cNvSpPr txBox="1"/>
          <p:nvPr/>
        </p:nvSpPr>
        <p:spPr>
          <a:xfrm>
            <a:off x="701570" y="1615054"/>
            <a:ext cx="5314651" cy="46754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marL="203200" indent="-203200" defTabSz="41275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>
                <a:solidFill>
                  <a:srgbClr val="C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States (200 possible states):</a:t>
            </a:r>
          </a:p>
          <a:p>
            <a:pPr marL="508000" lvl="1" indent="-203200" defTabSz="41275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Current sum (12-21)</a:t>
            </a:r>
          </a:p>
          <a:p>
            <a:pPr marL="508000" lvl="1" indent="-203200" defTabSz="41275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Dealer’s showing card (ace-10)</a:t>
            </a:r>
          </a:p>
          <a:p>
            <a:pPr marL="508000" lvl="1" indent="-203200" defTabSz="41275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Do I have a ‘usable’ ace (yes-no)</a:t>
            </a:r>
          </a:p>
          <a:p>
            <a:pPr marL="203200" indent="-203200" defTabSz="41275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>
                <a:solidFill>
                  <a:srgbClr val="C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Actions:</a:t>
            </a:r>
            <a:r>
              <a:rPr sz="1600" dirty="0">
                <a:solidFill>
                  <a:srgbClr val="C00000"/>
                </a:solidFill>
              </a:rPr>
              <a:t> </a:t>
            </a:r>
          </a:p>
          <a:p>
            <a:pPr marL="508000" lvl="1" indent="-203200" defTabSz="41275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Stand: stop receiving cards (and terminate)</a:t>
            </a:r>
          </a:p>
          <a:p>
            <a:pPr marL="508000" lvl="1" indent="-203200" defTabSz="41275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Hit: take another card (no replacement)</a:t>
            </a:r>
          </a:p>
          <a:p>
            <a:pPr marL="203200" indent="-203200" defTabSz="41275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>
                <a:solidFill>
                  <a:srgbClr val="C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Reward:</a:t>
            </a:r>
            <a:r>
              <a:rPr sz="1600" dirty="0">
                <a:solidFill>
                  <a:srgbClr val="C00000"/>
                </a:solidFill>
              </a:rPr>
              <a:t> </a:t>
            </a:r>
          </a:p>
          <a:p>
            <a:pPr marL="508000" lvl="1" indent="-203200" defTabSz="41275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For stand:</a:t>
            </a:r>
          </a:p>
          <a:p>
            <a:pPr marL="812800" lvl="2" indent="-203200" defTabSz="412750">
              <a:lnSpc>
                <a:spcPct val="15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+1 if sum of cards &gt; sum of dealer cards</a:t>
            </a:r>
          </a:p>
          <a:p>
            <a:pPr marL="812800" lvl="2" indent="-203200" defTabSz="412750">
              <a:lnSpc>
                <a:spcPct val="15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0 if sum of cards = sum of dealer cards</a:t>
            </a:r>
          </a:p>
          <a:p>
            <a:pPr marL="812800" lvl="2" indent="-203200" defTabSz="412750">
              <a:lnSpc>
                <a:spcPct val="15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-1 if sum of cards &lt; sum of dealer cards</a:t>
            </a:r>
          </a:p>
          <a:p>
            <a:pPr marL="508000" lvl="1" indent="-203200" defTabSz="41275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For hit:</a:t>
            </a:r>
          </a:p>
          <a:p>
            <a:pPr marL="812800" lvl="2" indent="-203200" defTabSz="41275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-1 if sum of cards &gt; 21 (and terminate)</a:t>
            </a:r>
          </a:p>
          <a:p>
            <a:pPr marL="812800" lvl="2" indent="-203200" defTabSz="41275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0 otherwise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ransitions:…"/>
              <p:cNvSpPr txBox="1"/>
              <p:nvPr/>
            </p:nvSpPr>
            <p:spPr>
              <a:xfrm>
                <a:off x="6091457" y="1615054"/>
                <a:ext cx="5314651" cy="126534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marL="203200" indent="-203200" defTabSz="412750">
                  <a:lnSpc>
                    <a:spcPct val="120000"/>
                  </a:lnSpc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Transitions:</a:t>
                </a:r>
              </a:p>
              <a:p>
                <a:pPr marL="508000" lvl="1" indent="-203200" defTabSz="412750">
                  <a:lnSpc>
                    <a:spcPct val="120000"/>
                  </a:lnSpc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/>
                  <a:t>Automatically hit if sum of cards &lt; 12</a:t>
                </a:r>
              </a:p>
              <a:p>
                <a:pPr marL="203200" indent="-203200" defTabSz="412750">
                  <a:lnSpc>
                    <a:spcPct val="120000"/>
                  </a:lnSpc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Policy:</a:t>
                </a:r>
              </a:p>
              <a:p>
                <a:pPr marL="508000" lvl="1" indent="-203200" defTabSz="412750">
                  <a:lnSpc>
                    <a:spcPct val="120000"/>
                  </a:lnSpc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/>
                  <a:t>Stand if sum of cards </a:t>
                </a:r>
                <a14:m>
                  <m:oMath xmlns:m="http://schemas.openxmlformats.org/officeDocument/2006/math">
                    <m:r>
                      <a:rPr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≥20</m:t>
                    </m:r>
                  </m:oMath>
                </a14:m>
                <a:r>
                  <a:rPr sz="1600" dirty="0"/>
                  <a:t>, otherwise hit</a:t>
                </a:r>
              </a:p>
            </p:txBody>
          </p:sp>
        </mc:Choice>
        <mc:Fallback xmlns="">
          <p:sp>
            <p:nvSpPr>
              <p:cNvPr id="353" name="Transitions: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457" y="1615054"/>
                <a:ext cx="5314651" cy="1265346"/>
              </a:xfrm>
              <a:prstGeom prst="rect">
                <a:avLst/>
              </a:prstGeom>
              <a:blipFill>
                <a:blip r:embed="rId2"/>
                <a:stretch>
                  <a:fillRect l="-1190" t="-1980" b="-396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171" y="3204682"/>
            <a:ext cx="4023591" cy="3017693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B6179-3D97-70C1-6E29-636F210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8C489-C615-054D-A939-58884ABD6D1E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E3E64-63A9-1054-49FA-E9A4ADFA4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7984F-A16D-0C26-DE32-2E752D0D2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Example: Blackjack"/>
          <p:cNvSpPr txBox="1">
            <a:spLocks noGrp="1"/>
          </p:cNvSpPr>
          <p:nvPr>
            <p:ph type="title"/>
          </p:nvPr>
        </p:nvSpPr>
        <p:spPr>
          <a:xfrm>
            <a:off x="659092" y="401639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Example: Blackjack</a:t>
            </a:r>
          </a:p>
        </p:txBody>
      </p:sp>
      <p:pic>
        <p:nvPicPr>
          <p:cNvPr id="37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9" y="1429848"/>
            <a:ext cx="7831631" cy="5026513"/>
          </a:xfrm>
          <a:prstGeom prst="rect">
            <a:avLst/>
          </a:prstGeom>
          <a:ln w="12700">
            <a:miter lim="400000"/>
          </a:ln>
        </p:spPr>
      </p:pic>
      <p:sp>
        <p:nvSpPr>
          <p:cNvPr id="378" name="Small exercise:…"/>
          <p:cNvSpPr txBox="1"/>
          <p:nvPr/>
        </p:nvSpPr>
        <p:spPr>
          <a:xfrm>
            <a:off x="7803363" y="1549172"/>
            <a:ext cx="4211136" cy="22672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defTabSz="41275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en-US" sz="1600" dirty="0"/>
              <a:t>Questions:</a:t>
            </a:r>
            <a:endParaRPr sz="1600" dirty="0"/>
          </a:p>
          <a:p>
            <a:pPr defTabSz="41275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 sz="1600" dirty="0"/>
          </a:p>
          <a:p>
            <a:pPr marL="296333" indent="-296333" defTabSz="412750">
              <a:buSzPct val="100000"/>
              <a:buAutoNum type="arabicPeriod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Consider the diagrams on the right</a:t>
            </a:r>
          </a:p>
          <a:p>
            <a:pPr marL="740833" lvl="1" indent="-296333" defTabSz="412750">
              <a:buSzPct val="100000"/>
              <a:buAutoNum type="alphaLcPeriod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Why does the estimated value function jump up for the last two rows in the rear?</a:t>
            </a:r>
            <a:br>
              <a:rPr sz="1600" dirty="0"/>
            </a:br>
            <a:endParaRPr sz="1600" dirty="0"/>
          </a:p>
          <a:p>
            <a:pPr marL="740833" lvl="1" indent="-296333" defTabSz="412750">
              <a:buSzPct val="100000"/>
              <a:buAutoNum type="alphaLcPeriod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Why does it drop off for the whole last row on the left?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9FC37-EDC1-1EAF-B344-9D7D4F71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3F05F-E7FE-A94C-9450-53D8171F41A9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64036-B862-0B90-B258-8A16ECB33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A8847-E5DF-4392-8227-556CEF45E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Example: Blackjac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dirty="0"/>
              <a:t>Incremental updates</a:t>
            </a:r>
            <a:endParaRPr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693ED38-5FA9-D024-B15F-0EA1D9DD68E3}"/>
              </a:ext>
            </a:extLst>
          </p:cNvPr>
          <p:cNvGrpSpPr/>
          <p:nvPr/>
        </p:nvGrpSpPr>
        <p:grpSpPr>
          <a:xfrm>
            <a:off x="603250" y="1539976"/>
            <a:ext cx="5492750" cy="4615126"/>
            <a:chOff x="603250" y="1625600"/>
            <a:chExt cx="5492750" cy="461512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D92DA97-7100-6D61-FED7-2B755A072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3250" y="1625600"/>
              <a:ext cx="5343181" cy="461512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From exact methods to model-free control">
                  <a:extLst>
                    <a:ext uri="{FF2B5EF4-FFF2-40B4-BE49-F238E27FC236}">
                      <a16:creationId xmlns:a16="http://schemas.microsoft.com/office/drawing/2014/main" id="{DF5FC37C-B3A0-3250-8661-F35E92725776}"/>
                    </a:ext>
                  </a:extLst>
                </p:cNvPr>
                <p:cNvSpPr txBox="1"/>
                <p:nvPr/>
              </p:nvSpPr>
              <p:spPr>
                <a:xfrm>
                  <a:off x="956885" y="1789532"/>
                  <a:ext cx="5139115" cy="543739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25400" tIns="25400" rIns="25400" bIns="25400" anchor="ctr">
                  <a:spAutoFit/>
                </a:bodyPr>
                <a:lstStyle>
                  <a:lvl1pPr algn="l" defTabSz="825500">
                    <a:defRPr sz="3200">
                      <a:solidFill>
                        <a:srgbClr val="000000"/>
                      </a:solidFill>
                      <a:latin typeface="Helvetica Neue Light"/>
                      <a:ea typeface="Helvetica Neue Light"/>
                      <a:cs typeface="Helvetica Neue Light"/>
                      <a:sym typeface="Helvetica Neue Light"/>
                    </a:defRPr>
                  </a:lvl1pPr>
                </a:lstStyle>
                <a:p>
                  <a:r>
                    <a:rPr lang="en-US" sz="1600" dirty="0"/>
                    <a:t>The mean  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 … </m:t>
                      </m:r>
                    </m:oMath>
                  </a14:m>
                  <a:r>
                    <a:rPr lang="en-US" sz="1600" dirty="0"/>
                    <a:t>of a sequence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, … </m:t>
                      </m:r>
                    </m:oMath>
                  </a14:m>
                  <a:r>
                    <a:rPr lang="en-US" sz="1600" dirty="0"/>
                    <a:t>  can be computed incrementally</a:t>
                  </a:r>
                </a:p>
              </p:txBody>
            </p:sp>
          </mc:Choice>
          <mc:Fallback xmlns="">
            <p:sp>
              <p:nvSpPr>
                <p:cNvPr id="6" name="From exact methods to model-free control">
                  <a:extLst>
                    <a:ext uri="{FF2B5EF4-FFF2-40B4-BE49-F238E27FC236}">
                      <a16:creationId xmlns:a16="http://schemas.microsoft.com/office/drawing/2014/main" id="{DF5FC37C-B3A0-3250-8661-F35E927257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885" y="1789532"/>
                  <a:ext cx="5139115" cy="543739"/>
                </a:xfrm>
                <a:prstGeom prst="rect">
                  <a:avLst/>
                </a:prstGeom>
                <a:blipFill>
                  <a:blip r:embed="rId3"/>
                  <a:stretch>
                    <a:fillRect l="-1970" t="-6818" b="-15909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From exact methods to model-free control">
                <a:extLst>
                  <a:ext uri="{FF2B5EF4-FFF2-40B4-BE49-F238E27FC236}">
                    <a16:creationId xmlns:a16="http://schemas.microsoft.com/office/drawing/2014/main" id="{41D0BF28-D420-7DEF-5416-218F047F029B}"/>
                  </a:ext>
                </a:extLst>
              </p:cNvPr>
              <p:cNvSpPr txBox="1"/>
              <p:nvPr/>
            </p:nvSpPr>
            <p:spPr>
              <a:xfrm>
                <a:off x="6300066" y="1539976"/>
                <a:ext cx="4829752" cy="141218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25400" tIns="25400" rIns="25400" bIns="25400" anchor="ctr">
                <a:spAutoFit/>
              </a:bodyPr>
              <a:lstStyle>
                <a:lvl1pPr algn="l" defTabSz="82550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lvl1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We incrementally update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ar-AE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 after every episode </a:t>
                </a:r>
                <a14:m>
                  <m:oMath xmlns:m="http://schemas.openxmlformats.org/officeDocument/2006/math">
                    <m:r>
                      <a:rPr lang="ar-AE" sz="16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ar-AE" sz="16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16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ar-AE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ar-AE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sz="1600" dirty="0"/>
              </a:p>
              <a:p>
                <a:r>
                  <a:rPr lang="en-US" sz="1600" dirty="0"/>
                  <a:t>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For each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/>
                  <a:t> with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/>
              </a:p>
            </p:txBody>
          </p:sp>
        </mc:Choice>
        <mc:Fallback xmlns="">
          <p:sp>
            <p:nvSpPr>
              <p:cNvPr id="7" name="From exact methods to model-free control">
                <a:extLst>
                  <a:ext uri="{FF2B5EF4-FFF2-40B4-BE49-F238E27FC236}">
                    <a16:creationId xmlns:a16="http://schemas.microsoft.com/office/drawing/2014/main" id="{41D0BF28-D420-7DEF-5416-218F047F0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066" y="1539976"/>
                <a:ext cx="4829752" cy="1412181"/>
              </a:xfrm>
              <a:prstGeom prst="rect">
                <a:avLst/>
              </a:prstGeom>
              <a:blipFill>
                <a:blip r:embed="rId4"/>
                <a:stretch>
                  <a:fillRect l="-1832" t="-1786" r="-78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7FAD8F3-2C80-A7A3-35AC-6C8E408C12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3940" y="2844927"/>
            <a:ext cx="4560936" cy="1264283"/>
          </a:xfrm>
          <a:prstGeom prst="rect">
            <a:avLst/>
          </a:prstGeom>
        </p:spPr>
      </p:pic>
      <p:sp>
        <p:nvSpPr>
          <p:cNvPr id="10" name="From exact methods to model-free control">
            <a:extLst>
              <a:ext uri="{FF2B5EF4-FFF2-40B4-BE49-F238E27FC236}">
                <a16:creationId xmlns:a16="http://schemas.microsoft.com/office/drawing/2014/main" id="{6ADB989D-6FED-EC2E-F8F0-F4F985A2E744}"/>
              </a:ext>
            </a:extLst>
          </p:cNvPr>
          <p:cNvSpPr txBox="1"/>
          <p:nvPr/>
        </p:nvSpPr>
        <p:spPr>
          <a:xfrm>
            <a:off x="6300066" y="4463175"/>
            <a:ext cx="5288684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1" name="From exact methods to model-free control">
            <a:extLst>
              <a:ext uri="{FF2B5EF4-FFF2-40B4-BE49-F238E27FC236}">
                <a16:creationId xmlns:a16="http://schemas.microsoft.com/office/drawing/2014/main" id="{FB3CB96E-6E9D-BB5D-EFC7-7E97B8A07829}"/>
              </a:ext>
            </a:extLst>
          </p:cNvPr>
          <p:cNvSpPr txBox="1"/>
          <p:nvPr/>
        </p:nvSpPr>
        <p:spPr>
          <a:xfrm>
            <a:off x="6300066" y="4463175"/>
            <a:ext cx="5288684" cy="1036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 non-stationary problems, it is often useful to track a running mean to forget old (and ultimately less relevant) episodes</a:t>
            </a:r>
          </a:p>
          <a:p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0A7C08-8687-B1B3-7AAC-4152D191F3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940" y="5499356"/>
            <a:ext cx="3865555" cy="531094"/>
          </a:xfrm>
          <a:prstGeom prst="rect">
            <a:avLst/>
          </a:prstGeom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878FB942-5F49-2DC4-6020-D45F3D5E2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21F5-CBED-8D4D-9D26-7AF3505042F8}" type="datetime1">
              <a:rPr lang="en-US" smtClean="0"/>
              <a:t>8/10/26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CD4D4C11-D313-D933-FAEE-92C315BF9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B6D3034-17E0-9DB0-767E-833B338A8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2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26F6F-0098-D3AD-62C2-6FBC79D83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Outline">
            <a:extLst>
              <a:ext uri="{FF2B5EF4-FFF2-40B4-BE49-F238E27FC236}">
                <a16:creationId xmlns:a16="http://schemas.microsoft.com/office/drawing/2014/main" id="{A12209DC-4AF1-041F-C068-6D347998FE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3105" y="4933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Outline</a:t>
            </a:r>
          </a:p>
        </p:txBody>
      </p:sp>
      <p:sp>
        <p:nvSpPr>
          <p:cNvPr id="176" name="What is Reinforcement Learning? (and the RL setting)">
            <a:extLst>
              <a:ext uri="{FF2B5EF4-FFF2-40B4-BE49-F238E27FC236}">
                <a16:creationId xmlns:a16="http://schemas.microsoft.com/office/drawing/2014/main" id="{D0392668-9CE9-B256-9F01-34D00C269B12}"/>
              </a:ext>
            </a:extLst>
          </p:cNvPr>
          <p:cNvSpPr txBox="1"/>
          <p:nvPr/>
        </p:nvSpPr>
        <p:spPr>
          <a:xfrm>
            <a:off x="733105" y="2305355"/>
            <a:ext cx="7289231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600" dirty="0">
                <a:solidFill>
                  <a:srgbClr val="000000">
                    <a:alpha val="30000"/>
                  </a:srgbClr>
                </a:solidFill>
              </a:rPr>
              <a:t>Recap: The RL problem and exact methods (based on dynamic programming)</a:t>
            </a:r>
            <a:endParaRPr sz="1600" dirty="0">
              <a:solidFill>
                <a:srgbClr val="000000">
                  <a:alpha val="30000"/>
                </a:srgbClr>
              </a:solidFill>
            </a:endParaRPr>
          </a:p>
        </p:txBody>
      </p:sp>
      <p:sp>
        <p:nvSpPr>
          <p:cNvPr id="177" name="From exact methods to model-free control">
            <a:extLst>
              <a:ext uri="{FF2B5EF4-FFF2-40B4-BE49-F238E27FC236}">
                <a16:creationId xmlns:a16="http://schemas.microsoft.com/office/drawing/2014/main" id="{083CC1B7-E7B2-E5E9-E23F-ABE53B74B711}"/>
              </a:ext>
            </a:extLst>
          </p:cNvPr>
          <p:cNvSpPr txBox="1"/>
          <p:nvPr/>
        </p:nvSpPr>
        <p:spPr>
          <a:xfrm>
            <a:off x="733105" y="2762388"/>
            <a:ext cx="4935048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1600" dirty="0"/>
              <a:t>From exact methods to model-free control</a:t>
            </a:r>
          </a:p>
        </p:txBody>
      </p:sp>
      <p:sp>
        <p:nvSpPr>
          <p:cNvPr id="178" name="Monte Carlo Learning…">
            <a:extLst>
              <a:ext uri="{FF2B5EF4-FFF2-40B4-BE49-F238E27FC236}">
                <a16:creationId xmlns:a16="http://schemas.microsoft.com/office/drawing/2014/main" id="{452D1003-91A4-DB9D-3961-7E6076CA878A}"/>
              </a:ext>
            </a:extLst>
          </p:cNvPr>
          <p:cNvSpPr txBox="1"/>
          <p:nvPr/>
        </p:nvSpPr>
        <p:spPr>
          <a:xfrm>
            <a:off x="1095833" y="2984417"/>
            <a:ext cx="7913369" cy="742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marL="177800" indent="-177800" defTabSz="412750">
              <a:lnSpc>
                <a:spcPct val="15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>
                <a:solidFill>
                  <a:srgbClr val="000000">
                    <a:alpha val="30000"/>
                  </a:srgbClr>
                </a:solidFill>
              </a:rPr>
              <a:t>Monte Carlo Learning</a:t>
            </a:r>
          </a:p>
          <a:p>
            <a:pPr marL="177800" indent="-177800" defTabSz="412750">
              <a:lnSpc>
                <a:spcPct val="15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Temporal-Difference (TD) Learning</a:t>
            </a:r>
          </a:p>
        </p:txBody>
      </p:sp>
      <p:sp>
        <p:nvSpPr>
          <p:cNvPr id="179" name="A taxonomy of RL algorithms &amp; important trade-offs">
            <a:extLst>
              <a:ext uri="{FF2B5EF4-FFF2-40B4-BE49-F238E27FC236}">
                <a16:creationId xmlns:a16="http://schemas.microsoft.com/office/drawing/2014/main" id="{F20B4964-AD3C-9A96-E623-A893337E910F}"/>
              </a:ext>
            </a:extLst>
          </p:cNvPr>
          <p:cNvSpPr txBox="1"/>
          <p:nvPr/>
        </p:nvSpPr>
        <p:spPr>
          <a:xfrm>
            <a:off x="733105" y="3975510"/>
            <a:ext cx="4935048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600" dirty="0">
                <a:solidFill>
                  <a:srgbClr val="000000">
                    <a:alpha val="30000"/>
                  </a:srgbClr>
                </a:solidFill>
              </a:rPr>
              <a:t>The skeleton of an RL algorithm</a:t>
            </a:r>
            <a:endParaRPr sz="1600" dirty="0">
              <a:solidFill>
                <a:srgbClr val="000000">
                  <a:alpha val="30000"/>
                </a:srgbClr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B093BE-D39C-25AA-72DD-58F5D0DE6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9DAF-61B3-2744-B8C8-B72AA2FC67FC}" type="datetime1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353310-39AD-AE13-E130-5D0BB5FDF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EC9EC-BC51-B593-4929-90DAA6DA1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3329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Temporal-Difference Learning"/>
          <p:cNvSpPr txBox="1">
            <a:spLocks noGrp="1"/>
          </p:cNvSpPr>
          <p:nvPr>
            <p:ph type="title"/>
          </p:nvPr>
        </p:nvSpPr>
        <p:spPr>
          <a:xfrm>
            <a:off x="613818" y="39340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Temporal-Difference Learning</a:t>
            </a:r>
          </a:p>
        </p:txBody>
      </p:sp>
      <p:sp>
        <p:nvSpPr>
          <p:cNvPr id="405" name="TD is a combination of Monte Carlo and Dynamic Programming ideas…"/>
          <p:cNvSpPr txBox="1"/>
          <p:nvPr/>
        </p:nvSpPr>
        <p:spPr>
          <a:xfrm>
            <a:off x="613818" y="1894080"/>
            <a:ext cx="10190049" cy="2021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marL="203200" indent="-203200" defTabSz="41275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TD is a combination of Monte Carlo and Dynamic Programming ideas</a:t>
            </a:r>
          </a:p>
          <a:p>
            <a:pPr defTabSz="41275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 sz="1600" dirty="0"/>
          </a:p>
          <a:p>
            <a:pPr marL="203200" indent="-203200" defTabSz="41275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Like MC, TD is model-free: no knowledge of MDP transitions / rewards. TD can learn from experience</a:t>
            </a:r>
          </a:p>
          <a:p>
            <a:pPr defTabSz="41275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 sz="1600" dirty="0"/>
          </a:p>
          <a:p>
            <a:pPr marL="203200" indent="-203200" defTabSz="41275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Like DP, TD methods update estimates based in part on other learned estimates, without waiting for a final outcome (they </a:t>
            </a:r>
            <a:r>
              <a:rPr sz="1600" dirty="0">
                <a:solidFill>
                  <a:srgbClr val="C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bootstrap</a:t>
            </a:r>
            <a:r>
              <a:rPr sz="1600" dirty="0"/>
              <a:t>)</a:t>
            </a:r>
          </a:p>
          <a:p>
            <a:pPr defTabSz="41275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 sz="1600" dirty="0"/>
          </a:p>
          <a:p>
            <a:pPr marL="203200" indent="-203200" defTabSz="41275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TD updates a guess towards a guess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39C68-2A6D-6CEE-4F2B-6ADB3C644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9D8B3-132A-C940-9049-DAD6C30A48AD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5ADB4-784F-64AA-8A15-A0776D10E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54FFF-1A63-26FB-5B2D-119EAE5A1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Temporal-Difference Learning"/>
          <p:cNvSpPr txBox="1">
            <a:spLocks noGrp="1"/>
          </p:cNvSpPr>
          <p:nvPr>
            <p:ph type="title"/>
          </p:nvPr>
        </p:nvSpPr>
        <p:spPr>
          <a:xfrm>
            <a:off x="613818" y="377239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Temporal-Difference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9" name="To compare MC and TD, let us consider the task of learning   from experience under policy…"/>
              <p:cNvSpPr txBox="1"/>
              <p:nvPr/>
            </p:nvSpPr>
            <p:spPr>
              <a:xfrm>
                <a:off x="613818" y="1736039"/>
                <a:ext cx="10190050" cy="44172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25400" tIns="25400" rIns="25400" bIns="25400" numCol="1" anchor="t">
                <a:spAutoFit/>
              </a:bodyPr>
              <a:lstStyle/>
              <a:p>
                <a:pPr marL="203200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To compare MC and TD, let us consider the task of learning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ar-AE" sz="1600" dirty="0"/>
                  <a:t> </a:t>
                </a:r>
                <a:r>
                  <a:rPr lang="en-US" sz="1600" dirty="0"/>
                  <a:t>from experience under policy </a:t>
                </a:r>
                <a14:m>
                  <m:oMath xmlns:m="http://schemas.openxmlformats.org/officeDocument/2006/math">
                    <m:r>
                      <a:rPr 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600" dirty="0"/>
              </a:p>
              <a:p>
                <a:pPr marL="203200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Incremental every-visit Monte Carlo:</a:t>
                </a:r>
              </a:p>
              <a:p>
                <a:pPr marL="508000" lvl="1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Update value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ar-A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ar-AE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toward </a:t>
                </a:r>
                <a:r>
                  <a:rPr lang="en-US" sz="1600" i="1" dirty="0">
                    <a:sym typeface="Helvetica Neue"/>
                  </a:rPr>
                  <a:t>actual </a:t>
                </a:r>
                <a:r>
                  <a:rPr lang="en-US" sz="1600" dirty="0"/>
                  <a:t>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2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2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sz="202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br>
                  <a:rPr lang="ar-AE" sz="1600" dirty="0"/>
                </a:br>
                <a:br>
                  <a:rPr lang="ar-AE" sz="1600" dirty="0"/>
                </a:br>
                <a:br>
                  <a:rPr lang="ar-AE" sz="1600" dirty="0"/>
                </a:br>
                <a:br>
                  <a:rPr lang="ar-AE" sz="1600" dirty="0"/>
                </a:br>
                <a:endParaRPr lang="ar-AE" sz="1600" dirty="0"/>
              </a:p>
              <a:p>
                <a:pPr marL="203200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Temporal-difference algorithm:</a:t>
                </a:r>
              </a:p>
              <a:p>
                <a:pPr marL="508000" lvl="1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Update value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ar-A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ar-AE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toward estimated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acc>
                      <m:accPr>
                        <m:chr m:val="̂"/>
                        <m:ctrlPr>
                          <a:rPr lang="ar-AE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ar-AE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br>
                  <a:rPr lang="ar-AE" sz="1600" dirty="0"/>
                </a:br>
                <a:br>
                  <a:rPr lang="ar-AE" sz="1600" dirty="0"/>
                </a:br>
                <a:br>
                  <a:rPr lang="ar-AE" sz="1600" dirty="0"/>
                </a:br>
                <a:br>
                  <a:rPr lang="ar-AE" sz="1600" dirty="0"/>
                </a:br>
                <a:br>
                  <a:rPr lang="ar-AE" sz="1600" dirty="0"/>
                </a:br>
                <a:endParaRPr lang="ar-AE" sz="1600" dirty="0"/>
              </a:p>
              <a:p>
                <a:pPr marL="508000" lvl="1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acc>
                      <m:accPr>
                        <m:chr m:val="̂"/>
                        <m:ctrlPr>
                          <a:rPr lang="ar-A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ar-A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is called </a:t>
                </a:r>
                <a:r>
                  <a:rPr lang="en-US" sz="1600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TD target</a:t>
                </a:r>
              </a:p>
              <a:p>
                <a:pPr marL="508000" lvl="1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acc>
                      <m:accPr>
                        <m:chr m:val="̂"/>
                        <m:ctrlPr>
                          <a:rPr lang="ar-A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ar-A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ar-A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ar-A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is called </a:t>
                </a:r>
                <a:r>
                  <a:rPr lang="en-US" sz="1600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TD error</a:t>
                </a:r>
                <a:endParaRPr sz="1600" dirty="0">
                  <a:solidFill>
                    <a:srgbClr val="C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429" name="To compare MC and TD, let us consider the task of learning   from experience under policy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818" y="1736039"/>
                <a:ext cx="10190050" cy="4417299"/>
              </a:xfrm>
              <a:prstGeom prst="rect">
                <a:avLst/>
              </a:prstGeom>
              <a:blipFill>
                <a:blip r:embed="rId2"/>
                <a:stretch>
                  <a:fillRect l="-623"/>
                </a:stretch>
              </a:blipFill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0" name="Equation"/>
              <p:cNvSpPr txBox="1"/>
              <p:nvPr/>
            </p:nvSpPr>
            <p:spPr>
              <a:xfrm>
                <a:off x="3937395" y="2780448"/>
                <a:ext cx="4288545" cy="5527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ar-A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lang="ar-A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ar-AE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acc>
                        <m:accPr>
                          <m:chr m:val="̂"/>
                          <m:ctrlPr>
                            <a:rPr lang="ar-A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lang="ar-A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ar-AE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ar-A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ar-AE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d>
                            <m:dPr>
                              <m:ctrlPr>
                                <a:rPr lang="ar-AE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sz="2600" dirty="0"/>
              </a:p>
            </p:txBody>
          </p:sp>
        </mc:Choice>
        <mc:Fallback xmlns="">
          <p:sp>
            <p:nvSpPr>
              <p:cNvPr id="43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395" y="2780448"/>
                <a:ext cx="4288545" cy="552715"/>
              </a:xfrm>
              <a:prstGeom prst="rect">
                <a:avLst/>
              </a:prstGeom>
              <a:blipFill>
                <a:blip r:embed="rId3"/>
                <a:stretch>
                  <a:fillRect l="-1183" t="-22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1" name="Equation"/>
              <p:cNvSpPr txBox="1"/>
              <p:nvPr/>
            </p:nvSpPr>
            <p:spPr>
              <a:xfrm>
                <a:off x="3398209" y="4481740"/>
                <a:ext cx="6639318" cy="60253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ar-AE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acc>
                        <m:accPr>
                          <m:chr m:val="̂"/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ar-AE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ar-AE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2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acc>
                            <m:accPr>
                              <m:chr m:val="̂"/>
                              <m:ctrlPr>
                                <a:rPr lang="ar-AE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d>
                            <m:dPr>
                              <m:ctrlPr>
                                <a:rPr lang="ar-AE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ar-AE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ar-AE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d>
                            <m:dPr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sz="2600" dirty="0"/>
              </a:p>
            </p:txBody>
          </p:sp>
        </mc:Choice>
        <mc:Fallback xmlns="">
          <p:sp>
            <p:nvSpPr>
              <p:cNvPr id="43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209" y="4481740"/>
                <a:ext cx="6639318" cy="602537"/>
              </a:xfrm>
              <a:prstGeom prst="rect">
                <a:avLst/>
              </a:prstGeom>
              <a:blipFill>
                <a:blip r:embed="rId4"/>
                <a:stretch>
                  <a:fillRect l="-7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3" name="TD methods combine:…"/>
          <p:cNvSpPr txBox="1"/>
          <p:nvPr/>
        </p:nvSpPr>
        <p:spPr>
          <a:xfrm>
            <a:off x="8087058" y="5444580"/>
            <a:ext cx="2881879" cy="1036181"/>
          </a:xfrm>
          <a:prstGeom prst="rect">
            <a:avLst/>
          </a:prstGeom>
          <a:ln w="25400">
            <a:solidFill>
              <a:srgbClr val="C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 algn="l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TD methods combine:</a:t>
            </a:r>
          </a:p>
          <a:p>
            <a:pPr marL="287073" indent="-287073">
              <a:buSzPct val="100000"/>
              <a:buAutoNum type="arabicParenR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 sz="1600" dirty="0"/>
          </a:p>
          <a:p>
            <a:pPr marL="287073" indent="-287073">
              <a:buSzPct val="100000"/>
              <a:buAutoNum type="arabicParenR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the sampling of Monte Carlo</a:t>
            </a:r>
          </a:p>
          <a:p>
            <a:pPr marL="287073" indent="-287073">
              <a:buSzPct val="100000"/>
              <a:buAutoNum type="arabicParenR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with the bootstrapping of DP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76D37-3DEA-CAA6-B40A-FF9F012B7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7B2C4-398E-074A-9196-88B205755FED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873BC-7175-12EF-E4C9-11D26FA1D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861D8-5E0B-B937-F898-54C30170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1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" grpId="0"/>
      <p:bldP spid="43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Advantages and disadvantages of MC vs TD"/>
          <p:cNvSpPr txBox="1">
            <a:spLocks noGrp="1"/>
          </p:cNvSpPr>
          <p:nvPr>
            <p:ph type="title"/>
          </p:nvPr>
        </p:nvSpPr>
        <p:spPr>
          <a:xfrm>
            <a:off x="486229" y="466725"/>
            <a:ext cx="10961914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Advantages and disadvantages of MC vs TD</a:t>
            </a:r>
          </a:p>
        </p:txBody>
      </p:sp>
      <p:sp>
        <p:nvSpPr>
          <p:cNvPr id="441" name="TD can learn before knowing the final outcome…"/>
          <p:cNvSpPr txBox="1"/>
          <p:nvPr/>
        </p:nvSpPr>
        <p:spPr>
          <a:xfrm>
            <a:off x="591670" y="1935363"/>
            <a:ext cx="10190049" cy="2513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marL="203200" indent="-203200" defTabSz="41275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TD can learn </a:t>
            </a:r>
            <a:r>
              <a:rPr sz="1600" i="1" dirty="0">
                <a:sym typeface="Helvetica Neue"/>
              </a:rPr>
              <a:t>before </a:t>
            </a:r>
            <a:r>
              <a:rPr sz="1600" dirty="0"/>
              <a:t>knowing the final outcome</a:t>
            </a:r>
          </a:p>
          <a:p>
            <a:pPr marL="508000" lvl="1" indent="-203200" defTabSz="41275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TD can learn online after every step</a:t>
            </a:r>
          </a:p>
          <a:p>
            <a:pPr marL="508000" lvl="1" indent="-203200" defTabSz="41275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MC must wait until the end of the episode</a:t>
            </a:r>
            <a:br>
              <a:rPr sz="1600" dirty="0"/>
            </a:br>
            <a:br>
              <a:rPr sz="1600" dirty="0"/>
            </a:br>
            <a:endParaRPr sz="1600" dirty="0"/>
          </a:p>
          <a:p>
            <a:pPr marL="203200" indent="-203200" defTabSz="41275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TD can learn without the final outcome</a:t>
            </a:r>
          </a:p>
          <a:p>
            <a:pPr marL="508000" lvl="1" indent="-203200" defTabSz="41275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TD can learn from incomplete sequences</a:t>
            </a:r>
          </a:p>
          <a:p>
            <a:pPr marL="508000" lvl="1" indent="-203200" defTabSz="41275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MC can only learn from complete sequences</a:t>
            </a:r>
          </a:p>
          <a:p>
            <a:pPr marL="508000" lvl="1" indent="-203200" defTabSz="41275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TD works in continuing (non-terminating) environments</a:t>
            </a:r>
          </a:p>
          <a:p>
            <a:pPr marL="508000" lvl="1" indent="-203200" defTabSz="41275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MC only works in episodic (terminating) environments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0C675-5016-C59B-3314-C8FABD795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40065-5006-F948-BC98-09D863C46554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05DB0-8893-254D-4853-6A891997B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8D58D-D711-EC19-2883-C2CE3D6AB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Bias-Variance Trade-off"/>
          <p:cNvSpPr txBox="1">
            <a:spLocks noGrp="1"/>
          </p:cNvSpPr>
          <p:nvPr>
            <p:ph type="title"/>
          </p:nvPr>
        </p:nvSpPr>
        <p:spPr>
          <a:xfrm>
            <a:off x="591670" y="495753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dirty="0"/>
              <a:t>Bias-Variance Trade-off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9" name="Return    is an unbiased estimate of…"/>
              <p:cNvSpPr txBox="1"/>
              <p:nvPr/>
            </p:nvSpPr>
            <p:spPr>
              <a:xfrm>
                <a:off x="591670" y="1935363"/>
                <a:ext cx="10190049" cy="242348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marL="203200" indent="-203200" defTabSz="412750">
                  <a:lnSpc>
                    <a:spcPct val="120000"/>
                  </a:lnSpc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/>
                  <a:t>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sz="1600" dirty="0"/>
                  <a:t>  is an unbiased estimate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07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07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sz="207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sz="20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0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0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600" dirty="0"/>
              </a:p>
              <a:p>
                <a:pPr marL="203200" indent="-203200" defTabSz="412750">
                  <a:lnSpc>
                    <a:spcPct val="120000"/>
                  </a:lnSpc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/>
                  <a:t>In theory</a:t>
                </a:r>
                <a:r>
                  <a:rPr lang="en-US" sz="1600" dirty="0"/>
                  <a:t>,</a:t>
                </a:r>
                <a:r>
                  <a:rPr sz="1600" dirty="0"/>
                  <a:t> the </a:t>
                </a:r>
                <a:r>
                  <a:rPr sz="1600" i="1" dirty="0">
                    <a:sym typeface="Helvetica Neue"/>
                  </a:rPr>
                  <a:t>true </a:t>
                </a:r>
                <a:r>
                  <a:rPr sz="1600" dirty="0"/>
                  <a:t>TD target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sz="1600" dirty="0"/>
                  <a:t> is also an unbiased estimate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07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07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sz="207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sz="20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0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0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600" dirty="0"/>
              </a:p>
              <a:p>
                <a:pPr marL="203200" indent="-203200" defTabSz="412750">
                  <a:lnSpc>
                    <a:spcPct val="120000"/>
                  </a:lnSpc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/>
                  <a:t>TD target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acc>
                      <m:accPr>
                        <m:chr m:val="̂"/>
                        <m:ctrlPr>
                          <a:rPr lang="ar-A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ar-A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sz="1600" dirty="0"/>
                  <a:t>is a biased estimate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07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07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sz="207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sz="20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0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0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600" dirty="0"/>
              </a:p>
              <a:p>
                <a:pPr marL="203200" indent="-203200" defTabSz="412750">
                  <a:lnSpc>
                    <a:spcPct val="120000"/>
                  </a:lnSpc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/>
                  <a:t>However, the TD target is much lower variance than the return </a:t>
                </a:r>
              </a:p>
              <a:p>
                <a:pPr marL="508000" lvl="1" indent="-203200" defTabSz="412750">
                  <a:lnSpc>
                    <a:spcPct val="120000"/>
                  </a:lnSpc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/>
                  <a:t>The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0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0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sz="20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sz="1600" dirty="0"/>
                  <a:t> depends on a</a:t>
                </a:r>
                <a:r>
                  <a:rPr sz="1600" dirty="0"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:r>
                  <a:rPr sz="1600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full sequence</a:t>
                </a:r>
                <a:r>
                  <a:rPr sz="1600" dirty="0">
                    <a:solidFill>
                      <a:srgbClr val="C00000"/>
                    </a:solidFill>
                  </a:rPr>
                  <a:t> </a:t>
                </a:r>
                <a:r>
                  <a:rPr sz="1600" dirty="0"/>
                  <a:t>of random actions, transitions, rewards (i.e., evaluated at the end of the episode)</a:t>
                </a:r>
              </a:p>
              <a:p>
                <a:pPr marL="508000" lvl="1" indent="-203200" defTabSz="412750">
                  <a:lnSpc>
                    <a:spcPct val="120000"/>
                  </a:lnSpc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/>
                  <a:t>The TD error only depends on </a:t>
                </a:r>
                <a:r>
                  <a:rPr sz="1600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one</a:t>
                </a:r>
                <a:r>
                  <a:rPr sz="1600" dirty="0"/>
                  <a:t> random action, transition, reward</a:t>
                </a:r>
              </a:p>
            </p:txBody>
          </p:sp>
        </mc:Choice>
        <mc:Fallback xmlns="">
          <p:sp>
            <p:nvSpPr>
              <p:cNvPr id="449" name="Return    is an unbiased estimate of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670" y="1935363"/>
                <a:ext cx="10190049" cy="2423484"/>
              </a:xfrm>
              <a:prstGeom prst="rect">
                <a:avLst/>
              </a:prstGeom>
              <a:blipFill>
                <a:blip r:embed="rId2"/>
                <a:stretch>
                  <a:fillRect l="-622" b="-208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1FB6B-FE45-A70F-1B1D-77BC30AAD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E8D8-0606-4949-B673-5574798707EB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858CD-21D1-C769-2F7C-28A51E26D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7980C-7882-8867-54FB-36F49A599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Monte-Carlo Backu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Monte-Carlo Backup</a:t>
            </a:r>
          </a:p>
        </p:txBody>
      </p:sp>
      <p:pic>
        <p:nvPicPr>
          <p:cNvPr id="45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699" y="2910933"/>
            <a:ext cx="10204602" cy="3171701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4" name="Equation"/>
              <p:cNvSpPr txBox="1"/>
              <p:nvPr/>
            </p:nvSpPr>
            <p:spPr>
              <a:xfrm>
                <a:off x="5624140" y="2496249"/>
                <a:ext cx="471860" cy="50013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3250" dirty="0"/>
              </a:p>
            </p:txBody>
          </p:sp>
        </mc:Choice>
        <mc:Fallback xmlns="">
          <p:sp>
            <p:nvSpPr>
              <p:cNvPr id="45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4140" y="2496249"/>
                <a:ext cx="471860" cy="500137"/>
              </a:xfrm>
              <a:prstGeom prst="rect">
                <a:avLst/>
              </a:prstGeom>
              <a:blipFill>
                <a:blip r:embed="rId3"/>
                <a:stretch>
                  <a:fillRect l="-13158" r="-2632" b="-1463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5" name="Equation"/>
              <p:cNvSpPr txBox="1"/>
              <p:nvPr/>
            </p:nvSpPr>
            <p:spPr>
              <a:xfrm>
                <a:off x="8865126" y="3384856"/>
                <a:ext cx="493533" cy="50013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3250"/>
              </a:p>
            </p:txBody>
          </p:sp>
        </mc:Choice>
        <mc:Fallback xmlns="">
          <p:sp>
            <p:nvSpPr>
              <p:cNvPr id="45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126" y="3384856"/>
                <a:ext cx="493533" cy="500137"/>
              </a:xfrm>
              <a:prstGeom prst="rect">
                <a:avLst/>
              </a:prstGeom>
              <a:blipFill>
                <a:blip r:embed="rId4"/>
                <a:stretch>
                  <a:fillRect l="-7500" r="-5000" b="-175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6" name="Equation"/>
              <p:cNvSpPr txBox="1"/>
              <p:nvPr/>
            </p:nvSpPr>
            <p:spPr>
              <a:xfrm>
                <a:off x="6280004" y="4221632"/>
                <a:ext cx="869405" cy="50013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sz="3250" dirty="0"/>
              </a:p>
            </p:txBody>
          </p:sp>
        </mc:Choice>
        <mc:Fallback xmlns="">
          <p:sp>
            <p:nvSpPr>
              <p:cNvPr id="45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004" y="4221632"/>
                <a:ext cx="869405" cy="500137"/>
              </a:xfrm>
              <a:prstGeom prst="rect">
                <a:avLst/>
              </a:prstGeom>
              <a:blipFill>
                <a:blip r:embed="rId5"/>
                <a:stretch>
                  <a:fillRect l="-5714" r="-2857" b="-175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" name="Equation"/>
              <p:cNvSpPr txBox="1"/>
              <p:nvPr/>
            </p:nvSpPr>
            <p:spPr>
              <a:xfrm>
                <a:off x="8333156" y="4246714"/>
                <a:ext cx="407676" cy="50013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3250" dirty="0"/>
              </a:p>
            </p:txBody>
          </p:sp>
        </mc:Choice>
        <mc:Fallback xmlns="">
          <p:sp>
            <p:nvSpPr>
              <p:cNvPr id="45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3156" y="4246714"/>
                <a:ext cx="407676" cy="500137"/>
              </a:xfrm>
              <a:prstGeom prst="rect">
                <a:avLst/>
              </a:prstGeom>
              <a:blipFill>
                <a:blip r:embed="rId6"/>
                <a:stretch>
                  <a:fillRect l="-12121" r="-6061" b="-175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8" name="Terminal state"/>
          <p:cNvSpPr txBox="1"/>
          <p:nvPr/>
        </p:nvSpPr>
        <p:spPr>
          <a:xfrm>
            <a:off x="7782004" y="6109966"/>
            <a:ext cx="1155766" cy="28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r>
              <a:rPr sz="1500"/>
              <a:t>Terminal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9" name="Equation"/>
              <p:cNvSpPr txBox="1"/>
              <p:nvPr/>
            </p:nvSpPr>
            <p:spPr>
              <a:xfrm>
                <a:off x="3952584" y="1641400"/>
                <a:ext cx="4843570" cy="60253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acc>
                        <m:accPr>
                          <m:chr m:val="̂"/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sz="2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d>
                            <m:dPr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sz="2600" dirty="0"/>
              </a:p>
            </p:txBody>
          </p:sp>
        </mc:Choice>
        <mc:Fallback xmlns="">
          <p:sp>
            <p:nvSpPr>
              <p:cNvPr id="45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84" y="1641400"/>
                <a:ext cx="4843570" cy="602537"/>
              </a:xfrm>
              <a:prstGeom prst="rect">
                <a:avLst/>
              </a:prstGeom>
              <a:blipFill>
                <a:blip r:embed="rId7"/>
                <a:stretch>
                  <a:fillRect l="-1309" t="-2083" b="-208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14290-F357-1302-7711-14ACC2A89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7022D-AEE0-C243-BF9E-B1224797F0EE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829CF-47B9-B8F0-8FC7-2D4484BC4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F501D-7AFA-2FDD-948D-545BA2630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Temporal-Difference Backu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Temporal-Difference Backup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3" name="Equation"/>
              <p:cNvSpPr txBox="1"/>
              <p:nvPr/>
            </p:nvSpPr>
            <p:spPr>
              <a:xfrm>
                <a:off x="5763867" y="2524942"/>
                <a:ext cx="471860" cy="50013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3250" dirty="0"/>
              </a:p>
            </p:txBody>
          </p:sp>
        </mc:Choice>
        <mc:Fallback xmlns="">
          <p:sp>
            <p:nvSpPr>
              <p:cNvPr id="46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867" y="2524942"/>
                <a:ext cx="471860" cy="500137"/>
              </a:xfrm>
              <a:prstGeom prst="rect">
                <a:avLst/>
              </a:prstGeom>
              <a:blipFill>
                <a:blip r:embed="rId3"/>
                <a:stretch>
                  <a:fillRect l="-13158" r="-2632" b="-1707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4" name="Equation"/>
              <p:cNvSpPr txBox="1"/>
              <p:nvPr/>
            </p:nvSpPr>
            <p:spPr>
              <a:xfrm>
                <a:off x="8865126" y="3384856"/>
                <a:ext cx="493533" cy="50013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3250"/>
              </a:p>
            </p:txBody>
          </p:sp>
        </mc:Choice>
        <mc:Fallback xmlns="">
          <p:sp>
            <p:nvSpPr>
              <p:cNvPr id="46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126" y="3384856"/>
                <a:ext cx="493533" cy="500137"/>
              </a:xfrm>
              <a:prstGeom prst="rect">
                <a:avLst/>
              </a:prstGeom>
              <a:blipFill>
                <a:blip r:embed="rId4"/>
                <a:stretch>
                  <a:fillRect l="-7500" r="-5000" b="-175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5" name="Equation"/>
              <p:cNvSpPr txBox="1"/>
              <p:nvPr/>
            </p:nvSpPr>
            <p:spPr>
              <a:xfrm>
                <a:off x="6492441" y="4348170"/>
                <a:ext cx="869405" cy="50013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sz="3250"/>
              </a:p>
            </p:txBody>
          </p:sp>
        </mc:Choice>
        <mc:Fallback xmlns="">
          <p:sp>
            <p:nvSpPr>
              <p:cNvPr id="46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441" y="4348170"/>
                <a:ext cx="869405" cy="500137"/>
              </a:xfrm>
              <a:prstGeom prst="rect">
                <a:avLst/>
              </a:prstGeom>
              <a:blipFill>
                <a:blip r:embed="rId5"/>
                <a:stretch>
                  <a:fillRect l="-5797" r="-4348" b="-175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6" name="Equation"/>
              <p:cNvSpPr txBox="1"/>
              <p:nvPr/>
            </p:nvSpPr>
            <p:spPr>
              <a:xfrm>
                <a:off x="8294491" y="4234493"/>
                <a:ext cx="407676" cy="50013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3250"/>
              </a:p>
            </p:txBody>
          </p:sp>
        </mc:Choice>
        <mc:Fallback xmlns="">
          <p:sp>
            <p:nvSpPr>
              <p:cNvPr id="46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4491" y="4234493"/>
                <a:ext cx="407676" cy="500137"/>
              </a:xfrm>
              <a:prstGeom prst="rect">
                <a:avLst/>
              </a:prstGeom>
              <a:blipFill>
                <a:blip r:embed="rId6"/>
                <a:stretch>
                  <a:fillRect l="-15152" r="-3030" b="-175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7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680" y="3025079"/>
            <a:ext cx="10136641" cy="3122294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8" name="Equation"/>
              <p:cNvSpPr txBox="1"/>
              <p:nvPr/>
            </p:nvSpPr>
            <p:spPr>
              <a:xfrm>
                <a:off x="2701235" y="3511654"/>
                <a:ext cx="493533" cy="50013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3250" dirty="0"/>
              </a:p>
            </p:txBody>
          </p:sp>
        </mc:Choice>
        <mc:Fallback xmlns="">
          <p:sp>
            <p:nvSpPr>
              <p:cNvPr id="46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235" y="3511654"/>
                <a:ext cx="493533" cy="500137"/>
              </a:xfrm>
              <a:prstGeom prst="rect">
                <a:avLst/>
              </a:prstGeom>
              <a:blipFill>
                <a:blip r:embed="rId8"/>
                <a:stretch>
                  <a:fillRect l="-10000" r="-5000" b="-200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9" name="Equation"/>
              <p:cNvSpPr txBox="1"/>
              <p:nvPr/>
            </p:nvSpPr>
            <p:spPr>
              <a:xfrm>
                <a:off x="5017802" y="4352327"/>
                <a:ext cx="869405" cy="50013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sz="3250" dirty="0"/>
              </a:p>
            </p:txBody>
          </p:sp>
        </mc:Choice>
        <mc:Fallback xmlns="">
          <p:sp>
            <p:nvSpPr>
              <p:cNvPr id="46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802" y="4352327"/>
                <a:ext cx="869405" cy="500137"/>
              </a:xfrm>
              <a:prstGeom prst="rect">
                <a:avLst/>
              </a:prstGeom>
              <a:blipFill>
                <a:blip r:embed="rId9"/>
                <a:stretch>
                  <a:fillRect l="-5797" r="-4348" b="-1707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0" name="Equation"/>
              <p:cNvSpPr txBox="1"/>
              <p:nvPr/>
            </p:nvSpPr>
            <p:spPr>
              <a:xfrm>
                <a:off x="3556223" y="4437612"/>
                <a:ext cx="407676" cy="50013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3250" dirty="0"/>
              </a:p>
            </p:txBody>
          </p:sp>
        </mc:Choice>
        <mc:Fallback xmlns="">
          <p:sp>
            <p:nvSpPr>
              <p:cNvPr id="47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223" y="4437612"/>
                <a:ext cx="407676" cy="500137"/>
              </a:xfrm>
              <a:prstGeom prst="rect">
                <a:avLst/>
              </a:prstGeom>
              <a:blipFill>
                <a:blip r:embed="rId10"/>
                <a:stretch>
                  <a:fillRect l="-9091" r="-6061" b="-175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" name="Equation"/>
              <p:cNvSpPr txBox="1"/>
              <p:nvPr/>
            </p:nvSpPr>
            <p:spPr>
              <a:xfrm>
                <a:off x="3194768" y="1641400"/>
                <a:ext cx="6639318" cy="60253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ar-AE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acc>
                        <m:accPr>
                          <m:chr m:val="̂"/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ar-AE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ar-AE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2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acc>
                            <m:accPr>
                              <m:chr m:val="̂"/>
                              <m:ctrlPr>
                                <a:rPr lang="ar-AE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d>
                            <m:dPr>
                              <m:ctrlPr>
                                <a:rPr lang="ar-AE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ar-AE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ar-AE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d>
                            <m:dPr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sz="2600" dirty="0"/>
              </a:p>
            </p:txBody>
          </p:sp>
        </mc:Choice>
        <mc:Fallback xmlns="">
          <p:sp>
            <p:nvSpPr>
              <p:cNvPr id="47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768" y="1641400"/>
                <a:ext cx="6639318" cy="602537"/>
              </a:xfrm>
              <a:prstGeom prst="rect">
                <a:avLst/>
              </a:prstGeom>
              <a:blipFill>
                <a:blip r:embed="rId11"/>
                <a:stretch>
                  <a:fillRect l="-763" t="-2083" b="-208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F81B4-029B-1F3D-D793-19CC3C27D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D8203-F931-E64A-B62B-30C0A216ACC6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3B6E5-3A58-1360-701C-AAB47945C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B1EC2-5360-5ACB-A2AE-73F21391B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Dynamic Programming Backu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Dynamic Programming Backup</a:t>
            </a:r>
          </a:p>
        </p:txBody>
      </p:sp>
      <p:grpSp>
        <p:nvGrpSpPr>
          <p:cNvPr id="479" name="Group"/>
          <p:cNvGrpSpPr/>
          <p:nvPr/>
        </p:nvGrpSpPr>
        <p:grpSpPr>
          <a:xfrm>
            <a:off x="1104002" y="2939293"/>
            <a:ext cx="9983997" cy="3172357"/>
            <a:chOff x="0" y="0"/>
            <a:chExt cx="19967993" cy="6344712"/>
          </a:xfrm>
        </p:grpSpPr>
        <p:pic>
          <p:nvPicPr>
            <p:cNvPr id="476" name="Image" descr="Image"/>
            <p:cNvPicPr>
              <a:picLocks noChangeAspect="1"/>
            </p:cNvPicPr>
            <p:nvPr/>
          </p:nvPicPr>
          <p:blipFill>
            <a:blip r:embed="rId2"/>
            <a:srcRect r="52045"/>
            <a:stretch>
              <a:fillRect/>
            </a:stretch>
          </p:blipFill>
          <p:spPr>
            <a:xfrm>
              <a:off x="0" y="1311"/>
              <a:ext cx="9787227" cy="63434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77" name="Image" descr="Image"/>
            <p:cNvPicPr>
              <a:picLocks noChangeAspect="1"/>
            </p:cNvPicPr>
            <p:nvPr/>
          </p:nvPicPr>
          <p:blipFill>
            <a:blip r:embed="rId3"/>
            <a:srcRect l="51962"/>
            <a:stretch>
              <a:fillRect/>
            </a:stretch>
          </p:blipFill>
          <p:spPr>
            <a:xfrm>
              <a:off x="10229136" y="0"/>
              <a:ext cx="9738858" cy="624458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78" name="Circle"/>
            <p:cNvSpPr/>
            <p:nvPr/>
          </p:nvSpPr>
          <p:spPr>
            <a:xfrm>
              <a:off x="9791072" y="441575"/>
              <a:ext cx="533294" cy="53329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</p:grpSp>
      <p:sp>
        <p:nvSpPr>
          <p:cNvPr id="480" name="Shape"/>
          <p:cNvSpPr/>
          <p:nvPr/>
        </p:nvSpPr>
        <p:spPr>
          <a:xfrm>
            <a:off x="1767092" y="3074650"/>
            <a:ext cx="8940522" cy="17248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4" h="21600" extrusionOk="0">
                <a:moveTo>
                  <a:pt x="10507" y="0"/>
                </a:moveTo>
                <a:cubicBezTo>
                  <a:pt x="8786" y="2176"/>
                  <a:pt x="7078" y="4631"/>
                  <a:pt x="5386" y="7361"/>
                </a:cubicBezTo>
                <a:cubicBezTo>
                  <a:pt x="3725" y="10043"/>
                  <a:pt x="2080" y="12988"/>
                  <a:pt x="454" y="16195"/>
                </a:cubicBezTo>
                <a:cubicBezTo>
                  <a:pt x="144" y="16362"/>
                  <a:pt x="-63" y="17930"/>
                  <a:pt x="17" y="19495"/>
                </a:cubicBezTo>
                <a:cubicBezTo>
                  <a:pt x="73" y="20587"/>
                  <a:pt x="263" y="21346"/>
                  <a:pt x="480" y="21346"/>
                </a:cubicBezTo>
                <a:lnTo>
                  <a:pt x="21097" y="21600"/>
                </a:lnTo>
                <a:cubicBezTo>
                  <a:pt x="21300" y="21312"/>
                  <a:pt x="21453" y="20431"/>
                  <a:pt x="21487" y="19347"/>
                </a:cubicBezTo>
                <a:cubicBezTo>
                  <a:pt x="21537" y="17730"/>
                  <a:pt x="21325" y="16209"/>
                  <a:pt x="21014" y="15960"/>
                </a:cubicBezTo>
                <a:lnTo>
                  <a:pt x="10507" y="0"/>
                </a:lnTo>
                <a:close/>
              </a:path>
            </a:pathLst>
          </a:custGeom>
          <a:solidFill>
            <a:srgbClr val="FFCCCC">
              <a:alpha val="7027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1" name="Equation"/>
              <p:cNvSpPr txBox="1"/>
              <p:nvPr/>
            </p:nvSpPr>
            <p:spPr>
              <a:xfrm>
                <a:off x="4007557" y="1645114"/>
                <a:ext cx="4176885" cy="48635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ar-AE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acc>
                            <m:accPr>
                              <m:chr m:val="̂"/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d>
                            <m:dPr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ar-AE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sz="2800" dirty="0"/>
              </a:p>
            </p:txBody>
          </p:sp>
        </mc:Choice>
        <mc:Fallback xmlns="">
          <p:sp>
            <p:nvSpPr>
              <p:cNvPr id="48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557" y="1645114"/>
                <a:ext cx="4176885" cy="486352"/>
              </a:xfrm>
              <a:prstGeom prst="rect">
                <a:avLst/>
              </a:prstGeom>
              <a:blipFill>
                <a:blip r:embed="rId4"/>
                <a:stretch>
                  <a:fillRect l="-909" t="-15385" b="-1282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5" name="Equation"/>
              <p:cNvSpPr txBox="1"/>
              <p:nvPr/>
            </p:nvSpPr>
            <p:spPr>
              <a:xfrm>
                <a:off x="6457415" y="2659944"/>
                <a:ext cx="471860" cy="50013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3250"/>
              </a:p>
            </p:txBody>
          </p:sp>
        </mc:Choice>
        <mc:Fallback xmlns="">
          <p:sp>
            <p:nvSpPr>
              <p:cNvPr id="47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415" y="2659944"/>
                <a:ext cx="471860" cy="500137"/>
              </a:xfrm>
              <a:prstGeom prst="rect">
                <a:avLst/>
              </a:prstGeom>
              <a:blipFill>
                <a:blip r:embed="rId5"/>
                <a:stretch>
                  <a:fillRect l="-10526" r="-5263" b="-175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4FAD7-9F52-0963-9F4A-83B5EF0AD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B484-54BC-8548-9B58-B69BEA9B0207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0B774-40BD-AF41-043D-03B4DF6B6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84576-8989-495C-649F-7693DC52A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Bootstrapping and sampling"/>
          <p:cNvSpPr txBox="1">
            <a:spLocks noGrp="1"/>
          </p:cNvSpPr>
          <p:nvPr>
            <p:ph type="title"/>
          </p:nvPr>
        </p:nvSpPr>
        <p:spPr>
          <a:xfrm>
            <a:off x="591670" y="401411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Bootstrapping and sampling</a:t>
            </a:r>
          </a:p>
        </p:txBody>
      </p:sp>
      <p:sp>
        <p:nvSpPr>
          <p:cNvPr id="485" name="Sampling: define the update through samples to approximate expectations…"/>
          <p:cNvSpPr txBox="1"/>
          <p:nvPr/>
        </p:nvSpPr>
        <p:spPr>
          <a:xfrm>
            <a:off x="591670" y="1935363"/>
            <a:ext cx="10190049" cy="2681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marL="203200" indent="-203200" defTabSz="41275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>
                <a:solidFill>
                  <a:srgbClr val="C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Sampling:</a:t>
            </a:r>
            <a:r>
              <a:rPr sz="1600" dirty="0"/>
              <a:t> define the update through samples to approximate expectations</a:t>
            </a:r>
          </a:p>
          <a:p>
            <a:pPr marL="508000" lvl="1" indent="-203200" defTabSz="41275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MC samples</a:t>
            </a:r>
          </a:p>
          <a:p>
            <a:pPr marL="508000" lvl="1" indent="-203200" defTabSz="41275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TD samples</a:t>
            </a:r>
          </a:p>
          <a:p>
            <a:pPr marL="508000" lvl="1" indent="-203200" defTabSz="41275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DP does not sample</a:t>
            </a:r>
          </a:p>
          <a:p>
            <a:pPr marL="508000" lvl="1" indent="-203200" defTabSz="41275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 sz="1600" dirty="0"/>
          </a:p>
          <a:p>
            <a:pPr marL="203200" indent="-203200" defTabSz="41275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>
                <a:solidFill>
                  <a:srgbClr val="C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Bootstrapping:</a:t>
            </a:r>
            <a:r>
              <a:rPr sz="1600" dirty="0">
                <a:solidFill>
                  <a:srgbClr val="C00000"/>
                </a:solidFill>
              </a:rPr>
              <a:t> </a:t>
            </a:r>
            <a:r>
              <a:rPr sz="1600" dirty="0"/>
              <a:t>define the update through an estimate</a:t>
            </a:r>
          </a:p>
          <a:p>
            <a:pPr marL="508000" lvl="1" indent="-203200" defTabSz="41275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MC does not bootstrap</a:t>
            </a:r>
          </a:p>
          <a:p>
            <a:pPr marL="508000" lvl="1" indent="-203200" defTabSz="41275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TD bootstraps</a:t>
            </a:r>
          </a:p>
          <a:p>
            <a:pPr marL="508000" lvl="1" indent="-203200" defTabSz="41275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DP bootstraps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078FC-6946-7524-4EED-5D8314BFC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3E493-C8E3-1240-AEB1-111FF9F3ED28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EDC16-8A2A-090C-0F03-C7224029E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67342-E3B3-00CF-843F-88941BD46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A unifying view of R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A unifying view of RL</a:t>
            </a:r>
          </a:p>
        </p:txBody>
      </p:sp>
      <p:pic>
        <p:nvPicPr>
          <p:cNvPr id="48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706" y="1237783"/>
            <a:ext cx="6280909" cy="5612727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0A842-81E4-3896-631C-835A98734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608C8-3C5A-3942-B1EC-65EB9E0B3437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A4999-6BE6-947E-6BF5-55E3EB1DE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FE534-9DB0-7CCD-F9BF-D12767434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907A6BC-4055-E85C-459B-94ABA376B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Outline">
            <a:extLst>
              <a:ext uri="{FF2B5EF4-FFF2-40B4-BE49-F238E27FC236}">
                <a16:creationId xmlns:a16="http://schemas.microsoft.com/office/drawing/2014/main" id="{E9DF0546-CA74-EF7C-3A92-44FB14B9BF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3105" y="380884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Outline</a:t>
            </a:r>
          </a:p>
        </p:txBody>
      </p:sp>
      <p:sp>
        <p:nvSpPr>
          <p:cNvPr id="176" name="What is Reinforcement Learning? (and the RL setting)">
            <a:extLst>
              <a:ext uri="{FF2B5EF4-FFF2-40B4-BE49-F238E27FC236}">
                <a16:creationId xmlns:a16="http://schemas.microsoft.com/office/drawing/2014/main" id="{982E0772-27C9-37BA-3CAB-917BE4EA4F20}"/>
              </a:ext>
            </a:extLst>
          </p:cNvPr>
          <p:cNvSpPr txBox="1"/>
          <p:nvPr/>
        </p:nvSpPr>
        <p:spPr>
          <a:xfrm>
            <a:off x="733105" y="2305355"/>
            <a:ext cx="7289231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600" dirty="0">
                <a:solidFill>
                  <a:srgbClr val="000000">
                    <a:alpha val="30000"/>
                  </a:srgbClr>
                </a:solidFill>
              </a:rPr>
              <a:t>Recap: The RL problem and exact methods (based on dynamic programming)</a:t>
            </a:r>
            <a:endParaRPr sz="1600" dirty="0">
              <a:solidFill>
                <a:srgbClr val="000000">
                  <a:alpha val="30000"/>
                </a:srgbClr>
              </a:solidFill>
            </a:endParaRPr>
          </a:p>
        </p:txBody>
      </p:sp>
      <p:sp>
        <p:nvSpPr>
          <p:cNvPr id="177" name="From exact methods to model-free control">
            <a:extLst>
              <a:ext uri="{FF2B5EF4-FFF2-40B4-BE49-F238E27FC236}">
                <a16:creationId xmlns:a16="http://schemas.microsoft.com/office/drawing/2014/main" id="{2F00F5F8-EC75-673C-7EA8-D517CA3E555F}"/>
              </a:ext>
            </a:extLst>
          </p:cNvPr>
          <p:cNvSpPr txBox="1"/>
          <p:nvPr/>
        </p:nvSpPr>
        <p:spPr>
          <a:xfrm>
            <a:off x="733105" y="2762388"/>
            <a:ext cx="4935048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1600" dirty="0">
                <a:solidFill>
                  <a:srgbClr val="000000">
                    <a:alpha val="30000"/>
                  </a:srgbClr>
                </a:solidFill>
              </a:rPr>
              <a:t>From exact methods to model-free control</a:t>
            </a:r>
          </a:p>
        </p:txBody>
      </p:sp>
      <p:sp>
        <p:nvSpPr>
          <p:cNvPr id="178" name="Monte Carlo Learning…">
            <a:extLst>
              <a:ext uri="{FF2B5EF4-FFF2-40B4-BE49-F238E27FC236}">
                <a16:creationId xmlns:a16="http://schemas.microsoft.com/office/drawing/2014/main" id="{E95D917F-0F80-B1EC-2CCD-E169E332F3A0}"/>
              </a:ext>
            </a:extLst>
          </p:cNvPr>
          <p:cNvSpPr txBox="1"/>
          <p:nvPr/>
        </p:nvSpPr>
        <p:spPr>
          <a:xfrm>
            <a:off x="1095833" y="2984417"/>
            <a:ext cx="7913369" cy="742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marL="177800" indent="-177800" defTabSz="412750">
              <a:lnSpc>
                <a:spcPct val="15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>
                <a:solidFill>
                  <a:srgbClr val="000000">
                    <a:alpha val="30000"/>
                  </a:srgbClr>
                </a:solidFill>
              </a:rPr>
              <a:t>Monte Carlo Learning</a:t>
            </a:r>
          </a:p>
          <a:p>
            <a:pPr marL="177800" indent="-177800" defTabSz="412750">
              <a:lnSpc>
                <a:spcPct val="15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>
                <a:solidFill>
                  <a:srgbClr val="000000">
                    <a:alpha val="30000"/>
                  </a:srgbClr>
                </a:solidFill>
              </a:rPr>
              <a:t>Temporal-Difference (TD) Learning</a:t>
            </a:r>
          </a:p>
        </p:txBody>
      </p:sp>
      <p:sp>
        <p:nvSpPr>
          <p:cNvPr id="179" name="A taxonomy of RL algorithms &amp; important trade-offs">
            <a:extLst>
              <a:ext uri="{FF2B5EF4-FFF2-40B4-BE49-F238E27FC236}">
                <a16:creationId xmlns:a16="http://schemas.microsoft.com/office/drawing/2014/main" id="{3D938C7F-1D08-4923-B028-24517D1E25F6}"/>
              </a:ext>
            </a:extLst>
          </p:cNvPr>
          <p:cNvSpPr txBox="1"/>
          <p:nvPr/>
        </p:nvSpPr>
        <p:spPr>
          <a:xfrm>
            <a:off x="733105" y="3975510"/>
            <a:ext cx="4935048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600" dirty="0"/>
              <a:t>The skeleton of an RL algorithm</a:t>
            </a:r>
            <a:endParaRPr sz="16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CC8046-9804-E69A-B26A-A43214236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9DAF-61B3-2744-B8C8-B72AA2FC67FC}" type="datetime1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910768-85D2-AB52-E809-25A3921A1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C2489-40AB-F9B9-C1C3-02BE7C405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4801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(Review) Generalized Policy Iteration"/>
          <p:cNvSpPr txBox="1">
            <a:spLocks noGrp="1"/>
          </p:cNvSpPr>
          <p:nvPr>
            <p:ph type="title"/>
          </p:nvPr>
        </p:nvSpPr>
        <p:spPr>
          <a:xfrm>
            <a:off x="677611" y="39198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Generalized Policy Iteration</a:t>
            </a:r>
          </a:p>
        </p:txBody>
      </p:sp>
      <p:pic>
        <p:nvPicPr>
          <p:cNvPr id="506" name="Image" descr="Image"/>
          <p:cNvPicPr>
            <a:picLocks noChangeAspect="1"/>
          </p:cNvPicPr>
          <p:nvPr/>
        </p:nvPicPr>
        <p:blipFill>
          <a:blip r:embed="rId2"/>
          <a:srcRect t="3263" b="3263"/>
          <a:stretch>
            <a:fillRect/>
          </a:stretch>
        </p:blipFill>
        <p:spPr>
          <a:xfrm>
            <a:off x="3615355" y="2995615"/>
            <a:ext cx="4995245" cy="2807615"/>
          </a:xfrm>
          <a:prstGeom prst="rect">
            <a:avLst/>
          </a:prstGeom>
          <a:ln w="12700">
            <a:miter lim="400000"/>
          </a:ln>
        </p:spPr>
      </p:pic>
      <p:sp>
        <p:nvSpPr>
          <p:cNvPr id="507" name="In Week 3, we discussed Policy Iteration as consisting of two simultaneous, interactive processes: Policy Evaluation and Policy Improvement…"/>
          <p:cNvSpPr txBox="1"/>
          <p:nvPr/>
        </p:nvSpPr>
        <p:spPr>
          <a:xfrm>
            <a:off x="722031" y="1543749"/>
            <a:ext cx="10426760" cy="1282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defTabSz="41275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en-US" sz="1600" dirty="0"/>
              <a:t>In previous lectures, </a:t>
            </a:r>
            <a:r>
              <a:rPr sz="1600" dirty="0"/>
              <a:t>we discussed Policy Iteration as consisting of two simultaneous, interactive processes: Policy </a:t>
            </a:r>
            <a:r>
              <a:rPr sz="1600" dirty="0">
                <a:solidFill>
                  <a:srgbClr val="C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Evaluation</a:t>
            </a:r>
            <a:r>
              <a:rPr sz="1600" dirty="0"/>
              <a:t> and Policy </a:t>
            </a:r>
            <a:r>
              <a:rPr sz="1600" dirty="0">
                <a:solidFill>
                  <a:srgbClr val="C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Improvement</a:t>
            </a:r>
          </a:p>
          <a:p>
            <a:pPr defTabSz="41275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 sz="1600" dirty="0">
              <a:solidFill>
                <a:schemeClr val="accent5">
                  <a:lumOff val="-29866"/>
                </a:schemeClr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 defTabSz="41275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We use the term </a:t>
            </a:r>
            <a:r>
              <a:rPr sz="1600" i="1" dirty="0">
                <a:sym typeface="Helvetica Neue"/>
              </a:rPr>
              <a:t>generalized policy iteration</a:t>
            </a:r>
            <a:r>
              <a:rPr sz="1600" dirty="0"/>
              <a:t> (GPI) to refer to the general idea of letting policy-evaluation and policy improvement processes interact, independent of the granularity and other details of the two processes.</a:t>
            </a:r>
          </a:p>
        </p:txBody>
      </p:sp>
      <p:sp>
        <p:nvSpPr>
          <p:cNvPr id="508" name="Policy Evaluation: Iterative policy evaluation…"/>
          <p:cNvSpPr txBox="1"/>
          <p:nvPr/>
        </p:nvSpPr>
        <p:spPr>
          <a:xfrm>
            <a:off x="3734605" y="5828887"/>
            <a:ext cx="4995268" cy="543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defTabSz="41275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Policy </a:t>
            </a:r>
            <a:r>
              <a:rPr sz="1600" dirty="0">
                <a:solidFill>
                  <a:srgbClr val="C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Evaluation:</a:t>
            </a:r>
            <a:r>
              <a:rPr sz="1600" dirty="0"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 </a:t>
            </a:r>
            <a:r>
              <a:rPr sz="1600" dirty="0"/>
              <a:t>Iterative policy evaluation</a:t>
            </a:r>
          </a:p>
          <a:p>
            <a:pPr defTabSz="41275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 dirty="0"/>
              <a:t>Policy </a:t>
            </a:r>
            <a:r>
              <a:rPr sz="1600" dirty="0">
                <a:solidFill>
                  <a:srgbClr val="C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Improvement:</a:t>
            </a:r>
            <a:r>
              <a:rPr sz="1600" dirty="0"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 </a:t>
            </a:r>
            <a:r>
              <a:rPr sz="1600" dirty="0"/>
              <a:t>Greedy policy improvement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DAD0C-A584-CA1E-ACE8-72AB9CD76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3782-323D-A040-B80F-16517726C18D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30805-4144-EDB6-E3DF-EF85FD13D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97EE6-55D6-ED68-3CA2-8895C8D1D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PI with Monte-Carlo Evalu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GPI with Monte-Carlo Evaluation</a:t>
            </a:r>
          </a:p>
        </p:txBody>
      </p:sp>
      <p:pic>
        <p:nvPicPr>
          <p:cNvPr id="517" name="Image" descr="Image"/>
          <p:cNvPicPr>
            <a:picLocks noChangeAspect="1"/>
          </p:cNvPicPr>
          <p:nvPr/>
        </p:nvPicPr>
        <p:blipFill>
          <a:blip r:embed="rId2"/>
          <a:srcRect t="3263" b="3263"/>
          <a:stretch>
            <a:fillRect/>
          </a:stretch>
        </p:blipFill>
        <p:spPr>
          <a:xfrm>
            <a:off x="603250" y="1813858"/>
            <a:ext cx="4378997" cy="2461248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18" name="Policy Evaluation: Monte-Carlo policy evaluation of  ?…"/>
              <p:cNvSpPr txBox="1"/>
              <p:nvPr/>
            </p:nvSpPr>
            <p:spPr>
              <a:xfrm>
                <a:off x="603250" y="4710300"/>
                <a:ext cx="5256637" cy="85946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25400" tIns="25400" rIns="25400" bIns="25400">
                <a:spAutoFit/>
              </a:bodyPr>
              <a:lstStyle/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/>
                  <a:t>Policy </a:t>
                </a:r>
                <a:r>
                  <a:rPr sz="1600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Evaluation:</a:t>
                </a:r>
                <a:r>
                  <a:rPr sz="1600" dirty="0"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:r>
                  <a:rPr sz="1600" dirty="0"/>
                  <a:t>Monte-Carlo policy evaluation of </a:t>
                </a:r>
                <a14:m>
                  <m:oMath xmlns:m="http://schemas.openxmlformats.org/officeDocument/2006/math"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1600" dirty="0"/>
                  <a:t>?</a:t>
                </a:r>
              </a:p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sz="1600" dirty="0"/>
              </a:p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/>
                  <a:t>Policy </a:t>
                </a:r>
                <a:r>
                  <a:rPr sz="1600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Improvement:</a:t>
                </a:r>
                <a:r>
                  <a:rPr sz="1600" dirty="0"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:r>
                  <a:rPr sz="1600" dirty="0"/>
                  <a:t>Greedy policy improvement?</a:t>
                </a:r>
              </a:p>
            </p:txBody>
          </p:sp>
        </mc:Choice>
        <mc:Fallback xmlns="">
          <p:sp>
            <p:nvSpPr>
              <p:cNvPr id="518" name="Policy Evaluation: Monte-Carlo policy evaluation of  ?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50" y="4710300"/>
                <a:ext cx="5256637" cy="859466"/>
              </a:xfrm>
              <a:prstGeom prst="rect">
                <a:avLst/>
              </a:prstGeom>
              <a:blipFill>
                <a:blip r:embed="rId3"/>
                <a:stretch>
                  <a:fillRect l="-1928" r="-1446" b="-10294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9" name="Problem:…"/>
              <p:cNvSpPr txBox="1"/>
              <p:nvPr/>
            </p:nvSpPr>
            <p:spPr>
              <a:xfrm>
                <a:off x="6033397" y="1807803"/>
                <a:ext cx="5782684" cy="288745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25400" tIns="25400" rIns="25400" bIns="25400">
                <a:spAutoFit/>
              </a:bodyPr>
              <a:lstStyle/>
              <a:p>
                <a:pPr defTabSz="412750">
                  <a:defRPr sz="3200"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r>
                  <a:rPr sz="1600" dirty="0">
                    <a:solidFill>
                      <a:srgbClr val="C00000"/>
                    </a:solidFill>
                  </a:rPr>
                  <a:t>Problem:</a:t>
                </a:r>
              </a:p>
              <a:p>
                <a:pPr defTabSz="412750">
                  <a:defRPr sz="3200"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 dirty="0"/>
              </a:p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/>
                  <a:t>Greedy policy improvement over </a:t>
                </a:r>
                <a14:m>
                  <m:oMath xmlns:m="http://schemas.openxmlformats.org/officeDocument/2006/math"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1600" dirty="0"/>
                  <a:t> requires a model of the MDP!</a:t>
                </a:r>
                <a:br>
                  <a:rPr sz="1600" dirty="0"/>
                </a:br>
                <a:br>
                  <a:rPr sz="1600" dirty="0"/>
                </a:br>
                <a:br>
                  <a:rPr sz="1600" dirty="0"/>
                </a:br>
                <a:br>
                  <a:rPr sz="1600" dirty="0"/>
                </a:br>
                <a:br>
                  <a:rPr sz="1600" dirty="0"/>
                </a:br>
                <a:br>
                  <a:rPr sz="1600" dirty="0"/>
                </a:br>
                <a:r>
                  <a:rPr sz="1600" dirty="0"/>
                  <a:t>On the other hand, greedy policy improvement over </a:t>
                </a:r>
                <a14:m>
                  <m:oMath xmlns:m="http://schemas.openxmlformats.org/officeDocument/2006/math">
                    <m:r>
                      <a:rPr sz="20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sz="20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0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0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20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20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1600" dirty="0"/>
                  <a:t> does not</a:t>
                </a:r>
              </a:p>
            </p:txBody>
          </p:sp>
        </mc:Choice>
        <mc:Fallback xmlns="">
          <p:sp>
            <p:nvSpPr>
              <p:cNvPr id="519" name="Problem: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397" y="1807803"/>
                <a:ext cx="5782684" cy="2887457"/>
              </a:xfrm>
              <a:prstGeom prst="rect">
                <a:avLst/>
              </a:prstGeom>
              <a:blipFill>
                <a:blip r:embed="rId4"/>
                <a:stretch>
                  <a:fillRect l="-1754" t="-1316" b="-219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0" name="Equation"/>
              <p:cNvSpPr txBox="1"/>
              <p:nvPr/>
            </p:nvSpPr>
            <p:spPr>
              <a:xfrm>
                <a:off x="6082544" y="2927100"/>
                <a:ext cx="5903667" cy="44896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lim>
                      </m:limLow>
                      <m:d>
                        <m:dPr>
                          <m:ctrlPr>
                            <a:rPr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limLow>
                            <m:limLowPr>
                              <m:ctrlPr>
                                <a:rPr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𝒳</m:t>
                              </m:r>
                            </m:lim>
                          </m:limLow>
                          <m:r>
                            <a:rPr sz="16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sz="165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165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165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165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sz="165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sz="165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sSub>
                                <m:sSubPr>
                                  <m:ctrlPr>
                                    <a:rPr sz="165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165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165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sz="165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sz="165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165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sz="165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d>
                            <m:dPr>
                              <m:ctrlPr>
                                <a:rPr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sz="1650" dirty="0"/>
              </a:p>
            </p:txBody>
          </p:sp>
        </mc:Choice>
        <mc:Fallback xmlns="">
          <p:sp>
            <p:nvSpPr>
              <p:cNvPr id="52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544" y="2927100"/>
                <a:ext cx="5903667" cy="448969"/>
              </a:xfrm>
              <a:prstGeom prst="rect">
                <a:avLst/>
              </a:prstGeom>
              <a:blipFill>
                <a:blip r:embed="rId5"/>
                <a:stretch>
                  <a:fillRect l="-215" b="-277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1" name="Equation"/>
              <p:cNvSpPr txBox="1"/>
              <p:nvPr/>
            </p:nvSpPr>
            <p:spPr>
              <a:xfrm>
                <a:off x="7719376" y="4856545"/>
                <a:ext cx="2410725" cy="33220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lim>
                      </m:limLow>
                      <m:r>
                        <a:rPr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1650" dirty="0"/>
              </a:p>
            </p:txBody>
          </p:sp>
        </mc:Choice>
        <mc:Fallback xmlns="">
          <p:sp>
            <p:nvSpPr>
              <p:cNvPr id="52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376" y="4856545"/>
                <a:ext cx="2410725" cy="332207"/>
              </a:xfrm>
              <a:prstGeom prst="rect">
                <a:avLst/>
              </a:prstGeom>
              <a:blipFill>
                <a:blip r:embed="rId6"/>
                <a:stretch>
                  <a:fillRect l="-524" r="-3141" b="-1111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6DBA4-8BCB-93EF-F82D-95EE6880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3FC82-E434-9F4A-8047-2FB33827C179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4EBA9-05BB-FD14-1EB9-9CAB344C8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450EC-3802-FB5E-43CE-24EA6EBA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53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9" grpId="0" animBg="1"/>
      <p:bldP spid="520" grpId="0" animBg="1"/>
      <p:bldP spid="52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PI with state-action value func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GPI with state-action value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0" name="Policy Evaluation: Monte-Carlo policy evaluation of…"/>
              <p:cNvSpPr txBox="1"/>
              <p:nvPr/>
            </p:nvSpPr>
            <p:spPr>
              <a:xfrm>
                <a:off x="551602" y="4690866"/>
                <a:ext cx="5506326" cy="85536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/>
                  <a:t>Policy </a:t>
                </a:r>
                <a:r>
                  <a:rPr sz="1600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Evaluation:</a:t>
                </a:r>
                <a:r>
                  <a:rPr sz="1600" dirty="0"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:r>
                  <a:rPr sz="1600" dirty="0"/>
                  <a:t>Monte-Carlo policy evaluation of </a:t>
                </a:r>
                <a14:m>
                  <m:oMath xmlns:m="http://schemas.openxmlformats.org/officeDocument/2006/math">
                    <m:r>
                      <a:rPr sz="20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sz="20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0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0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20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20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600" dirty="0"/>
              </a:p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sz="1600" dirty="0"/>
              </a:p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/>
                  <a:t>Policy </a:t>
                </a:r>
                <a:r>
                  <a:rPr sz="1600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Improvement:</a:t>
                </a:r>
                <a:r>
                  <a:rPr sz="1600" dirty="0"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:r>
                  <a:rPr sz="1600" dirty="0"/>
                  <a:t>Greedy policy improvement?</a:t>
                </a:r>
              </a:p>
            </p:txBody>
          </p:sp>
        </mc:Choice>
        <mc:Fallback xmlns="">
          <p:sp>
            <p:nvSpPr>
              <p:cNvPr id="530" name="Policy Evaluation: Monte-Carlo policy evaluation of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02" y="4690866"/>
                <a:ext cx="5506326" cy="855362"/>
              </a:xfrm>
              <a:prstGeom prst="rect">
                <a:avLst/>
              </a:prstGeom>
              <a:blipFill>
                <a:blip r:embed="rId2"/>
                <a:stretch>
                  <a:fillRect l="-1839" b="-10294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1" name="Problem:…"/>
              <p:cNvSpPr txBox="1"/>
              <p:nvPr/>
            </p:nvSpPr>
            <p:spPr>
              <a:xfrm>
                <a:off x="6313014" y="1711806"/>
                <a:ext cx="5327384" cy="422192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defTabSz="412750">
                  <a:defRPr sz="3200"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r>
                  <a:rPr lang="en-US" sz="1600" dirty="0">
                    <a:solidFill>
                      <a:srgbClr val="C00000"/>
                    </a:solidFill>
                  </a:rPr>
                  <a:t>Problem:</a:t>
                </a:r>
              </a:p>
              <a:p>
                <a:pPr defTabSz="412750">
                  <a:defRPr sz="3200"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lang="en-US" sz="1600" dirty="0"/>
              </a:p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Exploration! Let’s consider an example:</a:t>
                </a:r>
              </a:p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lang="en-US" sz="1600" dirty="0"/>
              </a:p>
              <a:p>
                <a:pPr marL="203200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Need to choose among two possible doors:</a:t>
                </a:r>
              </a:p>
              <a:p>
                <a:pPr marL="203200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You open the left door: </a:t>
                </a:r>
                <a14:m>
                  <m:oMath xmlns:m="http://schemas.openxmlformats.org/officeDocument/2006/math">
                    <m:r>
                      <a:rPr lang="en-US" sz="18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</m:t>
                    </m:r>
                    <m:r>
                      <a:rPr lang="en-US" sz="1875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875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75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75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sz="1875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left</m:t>
                    </m:r>
                    <m:r>
                      <a:rPr lang="en-US" sz="1875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US" sz="1600" dirty="0"/>
              </a:p>
              <a:p>
                <a:pPr marL="203200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You open the right door: </a:t>
                </a:r>
                <a14:m>
                  <m:oMath xmlns:m="http://schemas.openxmlformats.org/officeDocument/2006/math">
                    <m:r>
                      <a:rPr lang="en-US" sz="18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=1,</m:t>
                    </m:r>
                    <m:r>
                      <a:rPr lang="en-US" sz="1875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875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75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75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sz="1875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right</m:t>
                    </m:r>
                    <m:r>
                      <a:rPr lang="en-US" sz="1875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endParaRPr lang="en-US" sz="1600" dirty="0"/>
              </a:p>
              <a:p>
                <a:pPr marL="203200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You open the right door: </a:t>
                </a:r>
                <a14:m>
                  <m:oMath xmlns:m="http://schemas.openxmlformats.org/officeDocument/2006/math">
                    <m:r>
                      <a:rPr lang="en-US" sz="1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=3,</m:t>
                    </m:r>
                    <m:r>
                      <a:rPr lang="en-US" sz="185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8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5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5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sz="1850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right</m:t>
                    </m:r>
                    <m:r>
                      <a:rPr lang="en-US" sz="18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)=2</m:t>
                    </m:r>
                  </m:oMath>
                </a14:m>
                <a:endParaRPr lang="en-US" sz="1600" dirty="0"/>
              </a:p>
              <a:p>
                <a:pPr marL="203200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You open the right door: </a:t>
                </a:r>
                <a14:m>
                  <m:oMath xmlns:m="http://schemas.openxmlformats.org/officeDocument/2006/math">
                    <m:r>
                      <a:rPr lang="en-US" sz="1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=2,</m:t>
                    </m:r>
                    <m:r>
                      <a:rPr lang="en-US" sz="185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8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5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5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sz="1850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right</m:t>
                    </m:r>
                    <m:r>
                      <a:rPr lang="en-US" sz="18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)=2</m:t>
                    </m:r>
                  </m:oMath>
                </a14:m>
                <a:endParaRPr lang="en-US" sz="1600" dirty="0"/>
              </a:p>
              <a:p>
                <a:pPr marL="203200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…</a:t>
                </a:r>
              </a:p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lang="en-US" sz="1600" dirty="0"/>
              </a:p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To estimate state-action values through samples, every </a:t>
                </a:r>
                <a:r>
                  <a:rPr lang="en-US" sz="1600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state-action pair</a:t>
                </a:r>
                <a:r>
                  <a:rPr lang="en-US" sz="1600" dirty="0">
                    <a:solidFill>
                      <a:srgbClr val="C00000"/>
                    </a:solidFill>
                  </a:rPr>
                  <a:t> </a:t>
                </a:r>
                <a:r>
                  <a:rPr lang="en-US" sz="1600" dirty="0"/>
                  <a:t>needs to be visited (opposed to each state as in MC estimation of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)</a:t>
                </a:r>
              </a:p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lang="en-US" sz="1600" dirty="0"/>
              </a:p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Deterministic policies do not allow this exploration</a:t>
                </a:r>
                <a:endParaRPr sz="1600" dirty="0"/>
              </a:p>
            </p:txBody>
          </p:sp>
        </mc:Choice>
        <mc:Fallback xmlns="">
          <p:sp>
            <p:nvSpPr>
              <p:cNvPr id="531" name="Problem: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014" y="1711806"/>
                <a:ext cx="5327384" cy="4221925"/>
              </a:xfrm>
              <a:prstGeom prst="rect">
                <a:avLst/>
              </a:prstGeom>
              <a:blipFill>
                <a:blip r:embed="rId3"/>
                <a:stretch>
                  <a:fillRect l="-1905" t="-599" b="-119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32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50" y="1590430"/>
            <a:ext cx="4437128" cy="2896019"/>
          </a:xfrm>
          <a:prstGeom prst="rect">
            <a:avLst/>
          </a:prstGeom>
          <a:ln w="12700">
            <a:miter lim="400000"/>
          </a:ln>
        </p:spPr>
      </p:pic>
      <p:pic>
        <p:nvPicPr>
          <p:cNvPr id="533" name="Image" descr="Image"/>
          <p:cNvPicPr>
            <a:picLocks noChangeAspect="1"/>
          </p:cNvPicPr>
          <p:nvPr/>
        </p:nvPicPr>
        <p:blipFill>
          <a:blip r:embed="rId5"/>
          <a:srcRect l="15202" r="15202"/>
          <a:stretch>
            <a:fillRect/>
          </a:stretch>
        </p:blipFill>
        <p:spPr>
          <a:xfrm>
            <a:off x="10705354" y="1590430"/>
            <a:ext cx="1110727" cy="1197005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D6E55-AB60-E775-C0B0-B12A58173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3A2A-F2CB-1143-8514-911856E08F16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ACEBA-2EB8-7E5D-1D17-776EBEE6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B2BE8-CB84-CB1A-4C8A-A8520336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237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29" name="GPI with state-action value function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838200" y="593780"/>
                <a:ext cx="10515600" cy="132556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>
                  <a:defRPr b="0"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lvl1pPr>
              </a:lstStyle>
              <a:p>
                <a:r>
                  <a:rPr lang="en-US" dirty="0"/>
                  <a:t>A simple (but effective) strategy: </a:t>
                </a:r>
                <a:b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-Greedy Exploration</a:t>
                </a:r>
              </a:p>
            </p:txBody>
          </p:sp>
        </mc:Choice>
        <mc:Fallback xmlns="">
          <p:sp>
            <p:nvSpPr>
              <p:cNvPr id="529" name="GPI with state-action value function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593780"/>
                <a:ext cx="10515600" cy="1325563"/>
              </a:xfrm>
              <a:prstGeom prst="rect">
                <a:avLst/>
              </a:prstGeom>
              <a:blipFill>
                <a:blip r:embed="rId2"/>
                <a:stretch>
                  <a:fillRect l="-2413" t="-15094" b="-207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96B7DEAD-E51A-80CA-EAFF-8EC7FF473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98" y="3715054"/>
            <a:ext cx="4754993" cy="9899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038BEC-0863-E2FE-9F5B-9894F18461BC}"/>
                  </a:ext>
                </a:extLst>
              </p:cNvPr>
              <p:cNvSpPr txBox="1"/>
              <p:nvPr/>
            </p:nvSpPr>
            <p:spPr>
              <a:xfrm>
                <a:off x="603250" y="2159106"/>
                <a:ext cx="6596040" cy="1285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0000"/>
                    </a:solidFill>
                    <a:effectLst/>
                    <a:latin typeface="Helvetica Neue Light" panose="02000403000000020004" pitchFamily="2" charset="0"/>
                  </a:rPr>
                  <a:t>With probability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effectLst/>
                    <a:latin typeface="Helvetica Neue Light" panose="02000403000000020004" pitchFamily="2" charset="0"/>
                  </a:rPr>
                  <a:t>, choose the greedy action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0000"/>
                    </a:solidFill>
                    <a:effectLst/>
                    <a:latin typeface="Helvetica Neue Light" panose="02000403000000020004" pitchFamily="2" charset="0"/>
                  </a:rPr>
                  <a:t>With probability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effectLst/>
                    <a:latin typeface="Helvetica Neue Light" panose="02000403000000020004" pitchFamily="2" charset="0"/>
                  </a:rPr>
                  <a:t>, choose a random action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0000"/>
                    </a:solidFill>
                    <a:effectLst/>
                    <a:latin typeface="Helvetica Neue Light" panose="02000403000000020004" pitchFamily="2" charset="0"/>
                  </a:rPr>
                  <a:t>Ensures that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effectLst/>
                    <a:latin typeface="Helvetica Neue Light" panose="02000403000000020004" pitchFamily="2" charset="0"/>
                  </a:rPr>
                  <a:t>actions are tried with non-zero probability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038BEC-0863-E2FE-9F5B-9894F1846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50" y="2159106"/>
                <a:ext cx="6596040" cy="1285993"/>
              </a:xfrm>
              <a:prstGeom prst="rect">
                <a:avLst/>
              </a:prstGeom>
              <a:blipFill>
                <a:blip r:embed="rId4"/>
                <a:stretch>
                  <a:fillRect l="-577" b="-5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62CF7A2-AD7D-4E30-AD1F-EA54F27A6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5352" y="1780504"/>
            <a:ext cx="4460793" cy="29245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icy Evaluation: Monte-Carlo policy evaluation of…">
                <a:extLst>
                  <a:ext uri="{FF2B5EF4-FFF2-40B4-BE49-F238E27FC236}">
                    <a16:creationId xmlns:a16="http://schemas.microsoft.com/office/drawing/2014/main" id="{7122AEF7-114C-7E6D-E5E7-3D1F33A98266}"/>
                  </a:ext>
                </a:extLst>
              </p:cNvPr>
              <p:cNvSpPr txBox="1"/>
              <p:nvPr/>
            </p:nvSpPr>
            <p:spPr>
              <a:xfrm>
                <a:off x="6685674" y="4997890"/>
                <a:ext cx="5506326" cy="91691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/>
                  <a:t>Policy </a:t>
                </a:r>
                <a:r>
                  <a:rPr sz="1600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Evaluation:</a:t>
                </a:r>
                <a:r>
                  <a:rPr sz="1600" dirty="0"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:r>
                  <a:rPr sz="1600" dirty="0"/>
                  <a:t>Monte-Carlo policy evaluation of </a:t>
                </a:r>
                <a14:m>
                  <m:oMath xmlns:m="http://schemas.openxmlformats.org/officeDocument/2006/math">
                    <m:r>
                      <a:rPr sz="20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sz="20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0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0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20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20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600" dirty="0"/>
              </a:p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sz="1600" dirty="0"/>
              </a:p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/>
                  <a:t>Policy </a:t>
                </a:r>
                <a:r>
                  <a:rPr sz="1600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Improvement:</a:t>
                </a:r>
                <a:r>
                  <a:rPr sz="1600" dirty="0"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-</a:t>
                </a:r>
                <a:r>
                  <a:rPr sz="1600" dirty="0"/>
                  <a:t>Greedy policy improvement?</a:t>
                </a:r>
              </a:p>
            </p:txBody>
          </p:sp>
        </mc:Choice>
        <mc:Fallback xmlns="">
          <p:sp>
            <p:nvSpPr>
              <p:cNvPr id="8" name="Policy Evaluation: Monte-Carlo policy evaluation of…">
                <a:extLst>
                  <a:ext uri="{FF2B5EF4-FFF2-40B4-BE49-F238E27FC236}">
                    <a16:creationId xmlns:a16="http://schemas.microsoft.com/office/drawing/2014/main" id="{7122AEF7-114C-7E6D-E5E7-3D1F33A98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674" y="4997890"/>
                <a:ext cx="5506326" cy="916918"/>
              </a:xfrm>
              <a:prstGeom prst="rect">
                <a:avLst/>
              </a:prstGeom>
              <a:blipFill>
                <a:blip r:embed="rId6"/>
                <a:stretch>
                  <a:fillRect l="-1839" b="-1232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9412B0-952F-9F44-1F87-95E10AE91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EBF1-AB93-5F48-8611-8A9F32AC043A}" type="datetime1">
              <a:rPr lang="en-US" smtClean="0"/>
              <a:t>8/10/26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F492152-85E2-871C-04F1-13DEF5EA8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2E6608F-E90A-5041-9B0B-6094D0C58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292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Monte-Carlo Contro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Monte-Carlo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7" name="Policy Evaluation: Monte-Carlo policy evaluation of…"/>
              <p:cNvSpPr txBox="1"/>
              <p:nvPr/>
            </p:nvSpPr>
            <p:spPr>
              <a:xfrm>
                <a:off x="3045632" y="5165802"/>
                <a:ext cx="6968811" cy="94282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25400" tIns="25400" rIns="25400" bIns="25400">
                <a:spAutoFit/>
              </a:bodyPr>
              <a:lstStyle/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Policy </a:t>
                </a:r>
                <a:r>
                  <a:rPr lang="en-US" sz="1600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Evaluation:</a:t>
                </a:r>
                <a:r>
                  <a:rPr lang="en-US" sz="1600" dirty="0"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:r>
                  <a:rPr lang="en-US" sz="1600" dirty="0"/>
                  <a:t>Monte-Carlo policy evaluation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ar-AE" sz="19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19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19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19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ar-AE" sz="19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)≈</m:t>
                    </m:r>
                    <m:r>
                      <a:rPr lang="ar-AE" sz="19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ar-AE" sz="19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19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19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19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ar-AE" sz="19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sz="1600" dirty="0"/>
              </a:p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lang="ar-AE" sz="1600" dirty="0"/>
              </a:p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600" dirty="0"/>
                  <a:t>Policy </a:t>
                </a:r>
                <a:r>
                  <a:rPr lang="en-US" sz="1600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Improvement: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m:rPr>
                        <m:nor/>
                      </m:rPr>
                      <a:rPr lang="en-US" sz="20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600" dirty="0"/>
                  <a:t>Greedy policy improvement</a:t>
                </a:r>
                <a:endParaRPr sz="1600" dirty="0"/>
              </a:p>
            </p:txBody>
          </p:sp>
        </mc:Choice>
        <mc:Fallback xmlns="">
          <p:sp>
            <p:nvSpPr>
              <p:cNvPr id="547" name="Policy Evaluation: Monte-Carlo policy evaluation of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5632" y="5165802"/>
                <a:ext cx="6968811" cy="942822"/>
              </a:xfrm>
              <a:prstGeom prst="rect">
                <a:avLst/>
              </a:prstGeom>
              <a:blipFill>
                <a:blip r:embed="rId2"/>
                <a:stretch>
                  <a:fillRect l="-1639" t="-4000" b="-533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988" y="1475199"/>
            <a:ext cx="5372101" cy="360045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F5DC1-55C3-38FF-4FD6-18050242B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7BD1-3C62-2E4D-80F1-0A451A6E4FA4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78F88-6775-AD90-4CC8-106763751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F4FDB-5316-C4CD-E8FE-7DE9A8933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Example: Blackjac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Example: Blackjack</a:t>
            </a:r>
          </a:p>
        </p:txBody>
      </p:sp>
      <p:pic>
        <p:nvPicPr>
          <p:cNvPr id="55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225" y="1362075"/>
            <a:ext cx="6650366" cy="471849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4CD0E-8C5C-9880-C429-01FAB9CE7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B073D-A717-E443-A896-2DFEDE14096C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95A81-0A4F-0F3D-B4E5-13052571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36F5A-5C60-7740-8C17-68A44445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To recap…"/>
          <p:cNvSpPr txBox="1">
            <a:spLocks noGrp="1"/>
          </p:cNvSpPr>
          <p:nvPr>
            <p:ph type="title"/>
          </p:nvPr>
        </p:nvSpPr>
        <p:spPr>
          <a:xfrm>
            <a:off x="491697" y="402492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To recap…</a:t>
            </a:r>
          </a:p>
        </p:txBody>
      </p:sp>
      <p:sp>
        <p:nvSpPr>
          <p:cNvPr id="573" name="We introduced core ideas such as Monte-Carlo and Temporal-Difference Learning and derived ways to solve unknown MDPs"/>
          <p:cNvSpPr txBox="1"/>
          <p:nvPr/>
        </p:nvSpPr>
        <p:spPr>
          <a:xfrm>
            <a:off x="491697" y="3958714"/>
            <a:ext cx="7720529" cy="543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1600" dirty="0"/>
              <a:t>We introduced core ideas such as Monte-Carlo and Temporal-Difference Learning and derived ways to solve unknown MDPs</a:t>
            </a:r>
          </a:p>
        </p:txBody>
      </p:sp>
      <p:sp>
        <p:nvSpPr>
          <p:cNvPr id="574" name="However, we did not discuss methods to deal with high-dimensional state/action spaces… more on this later!"/>
          <p:cNvSpPr txBox="1"/>
          <p:nvPr/>
        </p:nvSpPr>
        <p:spPr>
          <a:xfrm>
            <a:off x="491697" y="5486126"/>
            <a:ext cx="7720529" cy="543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1600" dirty="0"/>
              <a:t>However, we did not discuss methods to deal with high-dimensional state/action spaces… more on this later!</a:t>
            </a:r>
          </a:p>
        </p:txBody>
      </p:sp>
      <p:pic>
        <p:nvPicPr>
          <p:cNvPr id="57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306" y="3805692"/>
            <a:ext cx="2965271" cy="2649816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We discussed the main limitations of exact methods (such as Policy/Value Iteration):…">
                <a:extLst>
                  <a:ext uri="{FF2B5EF4-FFF2-40B4-BE49-F238E27FC236}">
                    <a16:creationId xmlns:a16="http://schemas.microsoft.com/office/drawing/2014/main" id="{5E1FDB3F-40D6-F49E-10C9-081C6BC89A06}"/>
                  </a:ext>
                </a:extLst>
              </p:cNvPr>
              <p:cNvSpPr txBox="1"/>
              <p:nvPr/>
            </p:nvSpPr>
            <p:spPr>
              <a:xfrm>
                <a:off x="536147" y="1596514"/>
                <a:ext cx="9111328" cy="134780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/>
                  <a:t>We discussed the main limitations of exact methods (such as Policy/Value Iteration):</a:t>
                </a:r>
              </a:p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sz="1600" dirty="0"/>
              </a:p>
              <a:p>
                <a:pPr marL="203200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/>
                  <a:t>Update equations (i.e., Bellman equations) require access to dynamics model </a:t>
                </a:r>
                <a14:m>
                  <m:oMath xmlns:m="http://schemas.openxmlformats.org/officeDocument/2006/math">
                    <m:r>
                      <a:rPr sz="20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sz="20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202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02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202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202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sz="20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sz="202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02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202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20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202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02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202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sz="1600" dirty="0"/>
              </a:p>
              <a:p>
                <a:pPr defTabSz="41275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sz="1600" dirty="0"/>
              </a:p>
              <a:p>
                <a:pPr marL="203200" indent="-203200" defTabSz="41275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600" dirty="0"/>
                  <a:t>Iteration over (and storage of) all states and actions requires small, discrete state-action space</a:t>
                </a:r>
              </a:p>
            </p:txBody>
          </p:sp>
        </mc:Choice>
        <mc:Fallback xmlns="">
          <p:sp>
            <p:nvSpPr>
              <p:cNvPr id="2" name="We discussed the main limitations of exact methods (such as Policy/Value Iteration):…">
                <a:extLst>
                  <a:ext uri="{FF2B5EF4-FFF2-40B4-BE49-F238E27FC236}">
                    <a16:creationId xmlns:a16="http://schemas.microsoft.com/office/drawing/2014/main" id="{5E1FDB3F-40D6-F49E-10C9-081C6BC89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47" y="1596514"/>
                <a:ext cx="9111328" cy="1347805"/>
              </a:xfrm>
              <a:prstGeom prst="rect">
                <a:avLst/>
              </a:prstGeom>
              <a:blipFill>
                <a:blip r:embed="rId3"/>
                <a:stretch>
                  <a:fillRect l="-1114" t="-2804" b="-654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ampling-based approximations">
            <a:extLst>
              <a:ext uri="{FF2B5EF4-FFF2-40B4-BE49-F238E27FC236}">
                <a16:creationId xmlns:a16="http://schemas.microsoft.com/office/drawing/2014/main" id="{98ADA2FE-7760-82C8-8FD8-F140FAD99970}"/>
              </a:ext>
            </a:extLst>
          </p:cNvPr>
          <p:cNvSpPr txBox="1"/>
          <p:nvPr/>
        </p:nvSpPr>
        <p:spPr>
          <a:xfrm>
            <a:off x="9427878" y="2147014"/>
            <a:ext cx="2764122" cy="259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825500">
              <a:defRPr sz="2700"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350">
                <a:solidFill>
                  <a:srgbClr val="C00000"/>
                </a:solidFill>
              </a:rPr>
              <a:t>Sampling-based approximations</a:t>
            </a:r>
          </a:p>
        </p:txBody>
      </p:sp>
      <p:sp>
        <p:nvSpPr>
          <p:cNvPr id="4" name="Function approximation">
            <a:extLst>
              <a:ext uri="{FF2B5EF4-FFF2-40B4-BE49-F238E27FC236}">
                <a16:creationId xmlns:a16="http://schemas.microsoft.com/office/drawing/2014/main" id="{434B0BBF-FC23-89EC-C5DB-467FCD5DC313}"/>
              </a:ext>
            </a:extLst>
          </p:cNvPr>
          <p:cNvSpPr txBox="1"/>
          <p:nvPr/>
        </p:nvSpPr>
        <p:spPr>
          <a:xfrm>
            <a:off x="9464304" y="2653296"/>
            <a:ext cx="2152912" cy="259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825500">
              <a:defRPr sz="2700"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350">
                <a:solidFill>
                  <a:srgbClr val="C00000"/>
                </a:solidFill>
              </a:rPr>
              <a:t>Function approximation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E4D307-07E5-8503-6635-5E4F0A15D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A9BD4-066A-E845-8A3D-20CB89E5AFC3}" type="datetime1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783B21-480D-1DF8-30F6-6722DD6FC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5236C-5114-6B41-1180-B6A6EABBF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" grpId="0" animBg="1"/>
      <p:bldP spid="57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Outline"/>
          <p:cNvSpPr txBox="1">
            <a:spLocks noGrp="1"/>
          </p:cNvSpPr>
          <p:nvPr>
            <p:ph type="title"/>
          </p:nvPr>
        </p:nvSpPr>
        <p:spPr>
          <a:xfrm>
            <a:off x="733105" y="439751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Outline</a:t>
            </a:r>
          </a:p>
        </p:txBody>
      </p:sp>
      <p:sp>
        <p:nvSpPr>
          <p:cNvPr id="580" name="From exact methods to model-free control"/>
          <p:cNvSpPr txBox="1"/>
          <p:nvPr/>
        </p:nvSpPr>
        <p:spPr>
          <a:xfrm>
            <a:off x="733105" y="2762388"/>
            <a:ext cx="4935048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defTabSz="41275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600">
                <a:solidFill>
                  <a:srgbClr val="000000">
                    <a:alpha val="30000"/>
                  </a:srgbClr>
                </a:solidFill>
              </a:rPr>
              <a:t>From exact methods to model-free </a:t>
            </a:r>
            <a:r>
              <a:rPr sz="1600" b="1">
                <a:solidFill>
                  <a:srgbClr val="000000">
                    <a:alpha val="30000"/>
                  </a:srgbClr>
                </a:solidFill>
                <a:sym typeface="Helvetica Neue"/>
              </a:rPr>
              <a:t>control</a:t>
            </a:r>
          </a:p>
        </p:txBody>
      </p:sp>
      <p:sp>
        <p:nvSpPr>
          <p:cNvPr id="581" name="Monte Carlo Learning"/>
          <p:cNvSpPr txBox="1"/>
          <p:nvPr/>
        </p:nvSpPr>
        <p:spPr>
          <a:xfrm>
            <a:off x="1095833" y="3142913"/>
            <a:ext cx="7913369" cy="372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marL="355600" indent="-355600" algn="l" defTabSz="825500">
              <a:lnSpc>
                <a:spcPct val="15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1600">
                <a:solidFill>
                  <a:srgbClr val="000000">
                    <a:alpha val="30000"/>
                  </a:srgbClr>
                </a:solidFill>
              </a:rPr>
              <a:t>Monte Carlo Learning</a:t>
            </a:r>
          </a:p>
        </p:txBody>
      </p:sp>
      <p:sp>
        <p:nvSpPr>
          <p:cNvPr id="583" name="Temporal-Difference (TD) Learning"/>
          <p:cNvSpPr txBox="1"/>
          <p:nvPr/>
        </p:nvSpPr>
        <p:spPr>
          <a:xfrm>
            <a:off x="1099914" y="3477621"/>
            <a:ext cx="3428824" cy="372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355600" indent="-355600" algn="l" defTabSz="825500">
              <a:lnSpc>
                <a:spcPct val="15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1600" dirty="0">
                <a:solidFill>
                  <a:srgbClr val="000000">
                    <a:alpha val="30000"/>
                  </a:srgbClr>
                </a:solidFill>
              </a:rPr>
              <a:t>Temporal-Difference (TD) Learning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F5ADB-AB4F-C8E4-91D2-888D91D65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BFA7-ED34-AF4C-BBDE-42F5B5341E62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BA832-B94F-306E-2D3C-D344FFF3B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94D19-8F82-2B13-25F6-BE49BB856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43</a:t>
            </a:fld>
            <a:endParaRPr lang="en-US"/>
          </a:p>
        </p:txBody>
      </p:sp>
      <p:sp>
        <p:nvSpPr>
          <p:cNvPr id="2" name="What is Reinforcement Learning? (and the RL setting)">
            <a:extLst>
              <a:ext uri="{FF2B5EF4-FFF2-40B4-BE49-F238E27FC236}">
                <a16:creationId xmlns:a16="http://schemas.microsoft.com/office/drawing/2014/main" id="{6F5D6619-CADB-85C4-A407-58C93A96229F}"/>
              </a:ext>
            </a:extLst>
          </p:cNvPr>
          <p:cNvSpPr txBox="1"/>
          <p:nvPr/>
        </p:nvSpPr>
        <p:spPr>
          <a:xfrm>
            <a:off x="733105" y="2305355"/>
            <a:ext cx="6064637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600" dirty="0">
                <a:solidFill>
                  <a:srgbClr val="000000">
                    <a:alpha val="30000"/>
                  </a:srgbClr>
                </a:solidFill>
              </a:rPr>
              <a:t>Recap: The RL problem</a:t>
            </a:r>
            <a:endParaRPr sz="1600" dirty="0">
              <a:solidFill>
                <a:srgbClr val="000000">
                  <a:alpha val="30000"/>
                </a:srgbClr>
              </a:solidFill>
            </a:endParaRPr>
          </a:p>
        </p:txBody>
      </p:sp>
      <p:sp>
        <p:nvSpPr>
          <p:cNvPr id="3" name="A taxonomy of RL algorithms &amp; important trade-offs">
            <a:extLst>
              <a:ext uri="{FF2B5EF4-FFF2-40B4-BE49-F238E27FC236}">
                <a16:creationId xmlns:a16="http://schemas.microsoft.com/office/drawing/2014/main" id="{F8338C70-E12A-51AE-DC9D-979F2040C38C}"/>
              </a:ext>
            </a:extLst>
          </p:cNvPr>
          <p:cNvSpPr txBox="1"/>
          <p:nvPr/>
        </p:nvSpPr>
        <p:spPr>
          <a:xfrm>
            <a:off x="733105" y="3975510"/>
            <a:ext cx="4935048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600" dirty="0"/>
              <a:t>The skeleton of an RL algorithm</a:t>
            </a:r>
            <a:endParaRPr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A taxonomy of RL"/>
          <p:cNvSpPr txBox="1">
            <a:spLocks noGrp="1"/>
          </p:cNvSpPr>
          <p:nvPr>
            <p:ph type="title"/>
          </p:nvPr>
        </p:nvSpPr>
        <p:spPr>
          <a:xfrm>
            <a:off x="696285" y="351366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A taxonomy of RL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B16A2-05E4-70E9-7297-92F4B249D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16BDE-329D-F945-9CDD-DE57A01ADE41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81021-042E-A243-A0AE-A77CF0C14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A6D90-DDB2-C9C6-3247-4296BCB86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44</a:t>
            </a:fld>
            <a:endParaRPr lang="en-US"/>
          </a:p>
        </p:txBody>
      </p:sp>
      <p:sp>
        <p:nvSpPr>
          <p:cNvPr id="2" name="RL Algorithms">
            <a:extLst>
              <a:ext uri="{FF2B5EF4-FFF2-40B4-BE49-F238E27FC236}">
                <a16:creationId xmlns:a16="http://schemas.microsoft.com/office/drawing/2014/main" id="{3A65D786-B03C-9361-677E-ADADA995247F}"/>
              </a:ext>
            </a:extLst>
          </p:cNvPr>
          <p:cNvSpPr/>
          <p:nvPr/>
        </p:nvSpPr>
        <p:spPr>
          <a:xfrm>
            <a:off x="5273244" y="1669874"/>
            <a:ext cx="1635652" cy="408228"/>
          </a:xfrm>
          <a:prstGeom prst="roundRect">
            <a:avLst>
              <a:gd name="adj" fmla="val 23333"/>
            </a:avLst>
          </a:prstGeom>
          <a:noFill/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defTabSz="412750">
              <a:defRPr sz="14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rPr dirty="0"/>
              <a:t>RL Algorithms</a:t>
            </a:r>
          </a:p>
        </p:txBody>
      </p:sp>
      <p:sp>
        <p:nvSpPr>
          <p:cNvPr id="3" name="Model-free">
            <a:extLst>
              <a:ext uri="{FF2B5EF4-FFF2-40B4-BE49-F238E27FC236}">
                <a16:creationId xmlns:a16="http://schemas.microsoft.com/office/drawing/2014/main" id="{B933BE19-8B54-C46C-DB44-1A6616844823}"/>
              </a:ext>
            </a:extLst>
          </p:cNvPr>
          <p:cNvSpPr/>
          <p:nvPr/>
        </p:nvSpPr>
        <p:spPr>
          <a:xfrm>
            <a:off x="3524954" y="2356290"/>
            <a:ext cx="1635652" cy="408227"/>
          </a:xfrm>
          <a:prstGeom prst="roundRect">
            <a:avLst>
              <a:gd name="adj" fmla="val 23333"/>
            </a:avLst>
          </a:prstGeom>
          <a:noFill/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defTabSz="412750">
              <a:defRPr sz="14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rPr dirty="0"/>
              <a:t>Model-free</a:t>
            </a:r>
          </a:p>
        </p:txBody>
      </p:sp>
      <p:sp>
        <p:nvSpPr>
          <p:cNvPr id="7" name="Model-based">
            <a:extLst>
              <a:ext uri="{FF2B5EF4-FFF2-40B4-BE49-F238E27FC236}">
                <a16:creationId xmlns:a16="http://schemas.microsoft.com/office/drawing/2014/main" id="{0EACEE4F-FAED-D994-7378-2BF4B9460E20}"/>
              </a:ext>
            </a:extLst>
          </p:cNvPr>
          <p:cNvSpPr/>
          <p:nvPr/>
        </p:nvSpPr>
        <p:spPr>
          <a:xfrm>
            <a:off x="7021536" y="2356290"/>
            <a:ext cx="1635652" cy="408227"/>
          </a:xfrm>
          <a:prstGeom prst="roundRect">
            <a:avLst>
              <a:gd name="adj" fmla="val 23333"/>
            </a:avLst>
          </a:prstGeom>
          <a:noFill/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defTabSz="412750">
              <a:defRPr sz="14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rPr dirty="0"/>
              <a:t>Model-based</a:t>
            </a:r>
          </a:p>
        </p:txBody>
      </p:sp>
      <p:sp>
        <p:nvSpPr>
          <p:cNvPr id="8" name="Policy optimization">
            <a:extLst>
              <a:ext uri="{FF2B5EF4-FFF2-40B4-BE49-F238E27FC236}">
                <a16:creationId xmlns:a16="http://schemas.microsoft.com/office/drawing/2014/main" id="{C7BADFA4-3A56-5D2C-A70E-AC6225E92983}"/>
              </a:ext>
            </a:extLst>
          </p:cNvPr>
          <p:cNvSpPr/>
          <p:nvPr/>
        </p:nvSpPr>
        <p:spPr>
          <a:xfrm>
            <a:off x="1120926" y="3190892"/>
            <a:ext cx="1635652" cy="408228"/>
          </a:xfrm>
          <a:prstGeom prst="roundRect">
            <a:avLst>
              <a:gd name="adj" fmla="val 23333"/>
            </a:avLst>
          </a:prstGeom>
          <a:noFill/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defTabSz="412750">
              <a:defRPr sz="14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rPr dirty="0"/>
              <a:t>Policy optimization</a:t>
            </a:r>
          </a:p>
        </p:txBody>
      </p:sp>
      <p:sp>
        <p:nvSpPr>
          <p:cNvPr id="9" name="Value-based">
            <a:extLst>
              <a:ext uri="{FF2B5EF4-FFF2-40B4-BE49-F238E27FC236}">
                <a16:creationId xmlns:a16="http://schemas.microsoft.com/office/drawing/2014/main" id="{0B1B290A-0411-24E7-7C83-93D399F8DEB8}"/>
              </a:ext>
            </a:extLst>
          </p:cNvPr>
          <p:cNvSpPr/>
          <p:nvPr/>
        </p:nvSpPr>
        <p:spPr>
          <a:xfrm>
            <a:off x="3524954" y="3190892"/>
            <a:ext cx="1635652" cy="408228"/>
          </a:xfrm>
          <a:prstGeom prst="roundRect">
            <a:avLst>
              <a:gd name="adj" fmla="val 23333"/>
            </a:avLst>
          </a:prstGeom>
          <a:noFill/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defTabSz="412750">
              <a:defRPr sz="14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rPr dirty="0"/>
              <a:t>Value-based</a:t>
            </a:r>
          </a:p>
        </p:txBody>
      </p:sp>
      <p:sp>
        <p:nvSpPr>
          <p:cNvPr id="10" name="Connection Line">
            <a:extLst>
              <a:ext uri="{FF2B5EF4-FFF2-40B4-BE49-F238E27FC236}">
                <a16:creationId xmlns:a16="http://schemas.microsoft.com/office/drawing/2014/main" id="{402447CA-C154-782D-EACF-15BE97529EA1}"/>
              </a:ext>
            </a:extLst>
          </p:cNvPr>
          <p:cNvSpPr/>
          <p:nvPr/>
        </p:nvSpPr>
        <p:spPr>
          <a:xfrm>
            <a:off x="4381830" y="1874758"/>
            <a:ext cx="884920" cy="4774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0826" y="1434"/>
                  <a:pt x="3626" y="8634"/>
                  <a:pt x="0" y="21600"/>
                </a:cubicBezTo>
              </a:path>
            </a:pathLst>
          </a:custGeom>
          <a:noFill/>
          <a:ln w="127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Connection Line">
            <a:extLst>
              <a:ext uri="{FF2B5EF4-FFF2-40B4-BE49-F238E27FC236}">
                <a16:creationId xmlns:a16="http://schemas.microsoft.com/office/drawing/2014/main" id="{FB2EAD9B-7065-B9DA-ED10-F35BD76D1A64}"/>
              </a:ext>
            </a:extLst>
          </p:cNvPr>
          <p:cNvSpPr/>
          <p:nvPr/>
        </p:nvSpPr>
        <p:spPr>
          <a:xfrm>
            <a:off x="6912858" y="1874758"/>
            <a:ext cx="884920" cy="4774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10774" y="1434"/>
                  <a:pt x="17974" y="8634"/>
                  <a:pt x="21600" y="21600"/>
                </a:cubicBezTo>
              </a:path>
            </a:pathLst>
          </a:custGeom>
          <a:noFill/>
          <a:ln w="127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cxnSp>
        <p:nvCxnSpPr>
          <p:cNvPr id="12" name="Connection Line">
            <a:extLst>
              <a:ext uri="{FF2B5EF4-FFF2-40B4-BE49-F238E27FC236}">
                <a16:creationId xmlns:a16="http://schemas.microsoft.com/office/drawing/2014/main" id="{007B4600-E7C1-86F6-B7A1-90412C479F7B}"/>
              </a:ext>
            </a:extLst>
          </p:cNvPr>
          <p:cNvCxnSpPr>
            <a:cxnSpLocks/>
          </p:cNvCxnSpPr>
          <p:nvPr/>
        </p:nvCxnSpPr>
        <p:spPr>
          <a:xfrm flipH="1">
            <a:off x="2338086" y="2665069"/>
            <a:ext cx="1186868" cy="503780"/>
          </a:xfrm>
          <a:prstGeom prst="straightConnector1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</p:cxnSp>
      <p:cxnSp>
        <p:nvCxnSpPr>
          <p:cNvPr id="13" name="Connection Line">
            <a:extLst>
              <a:ext uri="{FF2B5EF4-FFF2-40B4-BE49-F238E27FC236}">
                <a16:creationId xmlns:a16="http://schemas.microsoft.com/office/drawing/2014/main" id="{DA233FC7-EFEA-EC57-314E-5ACC2A5C2FD3}"/>
              </a:ext>
            </a:extLst>
          </p:cNvPr>
          <p:cNvCxnSpPr>
            <a:cxnSpLocks/>
            <a:stCxn id="3" idx="2"/>
            <a:endCxn id="9" idx="0"/>
          </p:cNvCxnSpPr>
          <p:nvPr/>
        </p:nvCxnSpPr>
        <p:spPr>
          <a:xfrm>
            <a:off x="4342780" y="2764517"/>
            <a:ext cx="0" cy="426375"/>
          </a:xfrm>
          <a:prstGeom prst="straightConnector1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</p:cxnSp>
      <p:sp>
        <p:nvSpPr>
          <p:cNvPr id="14" name="Learn the model">
            <a:extLst>
              <a:ext uri="{FF2B5EF4-FFF2-40B4-BE49-F238E27FC236}">
                <a16:creationId xmlns:a16="http://schemas.microsoft.com/office/drawing/2014/main" id="{8FC34F9F-348F-5FDF-CC85-D6CC1D118F44}"/>
              </a:ext>
            </a:extLst>
          </p:cNvPr>
          <p:cNvSpPr/>
          <p:nvPr/>
        </p:nvSpPr>
        <p:spPr>
          <a:xfrm>
            <a:off x="7021536" y="3190892"/>
            <a:ext cx="1635652" cy="408228"/>
          </a:xfrm>
          <a:prstGeom prst="roundRect">
            <a:avLst>
              <a:gd name="adj" fmla="val 23333"/>
            </a:avLst>
          </a:prstGeom>
          <a:noFill/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defTabSz="412750">
              <a:defRPr sz="14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t>Learn the model</a:t>
            </a:r>
          </a:p>
        </p:txBody>
      </p:sp>
      <p:cxnSp>
        <p:nvCxnSpPr>
          <p:cNvPr id="15" name="Connection Line">
            <a:extLst>
              <a:ext uri="{FF2B5EF4-FFF2-40B4-BE49-F238E27FC236}">
                <a16:creationId xmlns:a16="http://schemas.microsoft.com/office/drawing/2014/main" id="{5AD7DAEF-497D-9171-ABF3-FFAA14F8338E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>
            <a:off x="7839362" y="2764517"/>
            <a:ext cx="0" cy="426375"/>
          </a:xfrm>
          <a:prstGeom prst="straightConnector1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</p:cxnSp>
      <p:cxnSp>
        <p:nvCxnSpPr>
          <p:cNvPr id="16" name="Connection Line">
            <a:extLst>
              <a:ext uri="{FF2B5EF4-FFF2-40B4-BE49-F238E27FC236}">
                <a16:creationId xmlns:a16="http://schemas.microsoft.com/office/drawing/2014/main" id="{67BD4161-9A8D-FFF9-E98E-D7FB6C162938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8657188" y="2665069"/>
            <a:ext cx="1736870" cy="525823"/>
          </a:xfrm>
          <a:prstGeom prst="straightConnector1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use dynamics">
                <a:extLst>
                  <a:ext uri="{FF2B5EF4-FFF2-40B4-BE49-F238E27FC236}">
                    <a16:creationId xmlns:a16="http://schemas.microsoft.com/office/drawing/2014/main" id="{A96EC53B-517B-4DFA-481A-06F7CFE2FC3C}"/>
                  </a:ext>
                </a:extLst>
              </p:cNvPr>
              <p:cNvSpPr txBox="1"/>
              <p:nvPr/>
            </p:nvSpPr>
            <p:spPr>
              <a:xfrm>
                <a:off x="8731359" y="2330023"/>
                <a:ext cx="2346540" cy="301365"/>
              </a:xfrm>
              <a:prstGeom prst="rect">
                <a:avLst/>
              </a:prstGeom>
              <a:noFill/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none" lIns="25400" tIns="25400" rIns="25400" bIns="25400">
                <a:spAutoFit/>
              </a:bodyPr>
              <a:lstStyle/>
              <a:p>
                <a:pPr algn="l" defTabSz="412750">
                  <a:defRPr sz="135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>
                    <a:solidFill>
                      <a:srgbClr val="000000"/>
                    </a:solidFill>
                  </a:rPr>
                  <a:t>use dynamics </a:t>
                </a:r>
                <a14:m>
                  <m:oMath xmlns:m="http://schemas.openxmlformats.org/officeDocument/2006/math">
                    <m:r>
                      <a:rPr lang="en-US" sz="16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6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ar-AE" sz="16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6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6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17" name="use dynamics">
                <a:extLst>
                  <a:ext uri="{FF2B5EF4-FFF2-40B4-BE49-F238E27FC236}">
                    <a16:creationId xmlns:a16="http://schemas.microsoft.com/office/drawing/2014/main" id="{A96EC53B-517B-4DFA-481A-06F7CFE2F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1359" y="2330023"/>
                <a:ext cx="2346540" cy="301365"/>
              </a:xfrm>
              <a:prstGeom prst="rect">
                <a:avLst/>
              </a:prstGeom>
              <a:blipFill>
                <a:blip r:embed="rId2"/>
                <a:stretch>
                  <a:fillRect l="-3226" t="-12000" r="-5914" b="-32000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do not use dynamics">
                <a:extLst>
                  <a:ext uri="{FF2B5EF4-FFF2-40B4-BE49-F238E27FC236}">
                    <a16:creationId xmlns:a16="http://schemas.microsoft.com/office/drawing/2014/main" id="{92724593-DB4D-D450-357E-A8995C187EC3}"/>
                  </a:ext>
                </a:extLst>
              </p:cNvPr>
              <p:cNvSpPr txBox="1"/>
              <p:nvPr/>
            </p:nvSpPr>
            <p:spPr>
              <a:xfrm>
                <a:off x="539726" y="2328121"/>
                <a:ext cx="2878737" cy="301365"/>
              </a:xfrm>
              <a:prstGeom prst="rect">
                <a:avLst/>
              </a:prstGeom>
              <a:noFill/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none" lIns="25400" tIns="25400" rIns="25400" bIns="25400">
                <a:spAutoFit/>
              </a:bodyPr>
              <a:lstStyle/>
              <a:p>
                <a:pPr algn="l" defTabSz="412750">
                  <a:defRPr sz="135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>
                    <a:solidFill>
                      <a:srgbClr val="000000"/>
                    </a:solidFill>
                  </a:rPr>
                  <a:t>do not use dynamics </a:t>
                </a:r>
                <a14:m>
                  <m:oMath xmlns:m="http://schemas.openxmlformats.org/officeDocument/2006/math">
                    <m:r>
                      <a:rPr lang="en-US" sz="16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6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ar-AE" sz="16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6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6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18" name="do not use dynamics">
                <a:extLst>
                  <a:ext uri="{FF2B5EF4-FFF2-40B4-BE49-F238E27FC236}">
                    <a16:creationId xmlns:a16="http://schemas.microsoft.com/office/drawing/2014/main" id="{92724593-DB4D-D450-357E-A8995C187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26" y="2328121"/>
                <a:ext cx="2878737" cy="301365"/>
              </a:xfrm>
              <a:prstGeom prst="rect">
                <a:avLst/>
              </a:prstGeom>
              <a:blipFill>
                <a:blip r:embed="rId3"/>
                <a:stretch>
                  <a:fillRect l="-2632" t="-12500" r="-4386" b="-37500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Given the model">
            <a:extLst>
              <a:ext uri="{FF2B5EF4-FFF2-40B4-BE49-F238E27FC236}">
                <a16:creationId xmlns:a16="http://schemas.microsoft.com/office/drawing/2014/main" id="{8DCDA226-28E2-C468-40E3-7FF1E264A71E}"/>
              </a:ext>
            </a:extLst>
          </p:cNvPr>
          <p:cNvSpPr/>
          <p:nvPr/>
        </p:nvSpPr>
        <p:spPr>
          <a:xfrm>
            <a:off x="9576232" y="3190892"/>
            <a:ext cx="1635652" cy="408228"/>
          </a:xfrm>
          <a:prstGeom prst="roundRect">
            <a:avLst>
              <a:gd name="adj" fmla="val 23333"/>
            </a:avLst>
          </a:prstGeom>
          <a:noFill/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defTabSz="412750">
              <a:defRPr sz="14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t>Given the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is known">
                <a:extLst>
                  <a:ext uri="{FF2B5EF4-FFF2-40B4-BE49-F238E27FC236}">
                    <a16:creationId xmlns:a16="http://schemas.microsoft.com/office/drawing/2014/main" id="{124958E4-739A-5D20-151B-68ACDB023B5A}"/>
                  </a:ext>
                </a:extLst>
              </p:cNvPr>
              <p:cNvSpPr txBox="1"/>
              <p:nvPr/>
            </p:nvSpPr>
            <p:spPr>
              <a:xfrm>
                <a:off x="9499508" y="3808817"/>
                <a:ext cx="1981055" cy="295594"/>
              </a:xfrm>
              <a:prstGeom prst="rect">
                <a:avLst/>
              </a:prstGeom>
              <a:noFill/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none" lIns="25400" tIns="25400" rIns="25400" bIns="25400">
                <a:spAutoFit/>
              </a:bodyPr>
              <a:lstStyle/>
              <a:p>
                <a:pPr algn="l" defTabSz="412750">
                  <a:defRPr sz="135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14:m>
                  <m:oMath xmlns:m="http://schemas.openxmlformats.org/officeDocument/2006/math">
                    <m:r>
                      <a:rPr lang="ar-AE" sz="1625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ar-AE" sz="1625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ar-AE" sz="16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6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ar-AE"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6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dirty="0">
                    <a:solidFill>
                      <a:srgbClr val="000000"/>
                    </a:solidFill>
                  </a:rPr>
                  <a:t> </a:t>
                </a:r>
                <a:r>
                  <a:rPr lang="en-US" dirty="0">
                    <a:solidFill>
                      <a:srgbClr val="000000"/>
                    </a:solidFill>
                  </a:rPr>
                  <a:t>is known</a:t>
                </a:r>
              </a:p>
            </p:txBody>
          </p:sp>
        </mc:Choice>
        <mc:Fallback>
          <p:sp>
            <p:nvSpPr>
              <p:cNvPr id="20" name="is known">
                <a:extLst>
                  <a:ext uri="{FF2B5EF4-FFF2-40B4-BE49-F238E27FC236}">
                    <a16:creationId xmlns:a16="http://schemas.microsoft.com/office/drawing/2014/main" id="{124958E4-739A-5D20-151B-68ACDB023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9508" y="3808817"/>
                <a:ext cx="1981055" cy="295594"/>
              </a:xfrm>
              <a:prstGeom prst="rect">
                <a:avLst/>
              </a:prstGeom>
              <a:blipFill>
                <a:blip r:embed="rId4"/>
                <a:stretch>
                  <a:fillRect l="-1911" t="-4167" r="-3185" b="-20833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directly maximize the RL objective">
                <a:extLst>
                  <a:ext uri="{FF2B5EF4-FFF2-40B4-BE49-F238E27FC236}">
                    <a16:creationId xmlns:a16="http://schemas.microsoft.com/office/drawing/2014/main" id="{38363120-0C8F-1CFF-4891-5344F46AEC5B}"/>
                  </a:ext>
                </a:extLst>
              </p:cNvPr>
              <p:cNvSpPr txBox="1"/>
              <p:nvPr/>
            </p:nvSpPr>
            <p:spPr>
              <a:xfrm>
                <a:off x="945879" y="3716715"/>
                <a:ext cx="1985746" cy="1184422"/>
              </a:xfrm>
              <a:prstGeom prst="rect">
                <a:avLst/>
              </a:prstGeom>
              <a:noFill/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25400" tIns="25400" rIns="25400" bIns="25400"/>
              <a:lstStyle/>
              <a:p>
                <a:pPr algn="ctr" defTabSz="412750">
                  <a:defRPr sz="135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>
                    <a:solidFill>
                      <a:srgbClr val="000000"/>
                    </a:solidFill>
                  </a:rPr>
                  <a:t>directly maximize the RL objective</a:t>
                </a:r>
              </a:p>
              <a:p>
                <a:pPr algn="ctr" defTabSz="412750">
                  <a:defRPr sz="135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lang="en-US" dirty="0">
                  <a:solidFill>
                    <a:srgbClr val="00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 sz="140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14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𝔼</m:t>
                          </m:r>
                        </m:e>
                        <m:sub>
                          <m:r>
                            <a:rPr lang="ar-AE" sz="14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𝜏</m:t>
                          </m:r>
                          <m:r>
                            <a:rPr lang="ar-AE" sz="14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∼</m:t>
                          </m:r>
                          <m:sSub>
                            <m:sSubPr>
                              <m:ctrlP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𝜋</m:t>
                              </m:r>
                            </m:sub>
                          </m:sSub>
                          <m:r>
                            <a:rPr lang="ar-AE" sz="14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ar-AE" sz="14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𝜏</m:t>
                          </m:r>
                          <m:r>
                            <a:rPr lang="ar-AE" sz="14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sub>
                      </m:sSub>
                      <m:r>
                        <a:rPr lang="ar-AE" sz="1400">
                          <a:solidFill>
                            <a:schemeClr val="tx1"/>
                          </a:solidFill>
                          <a:latin typeface="Cambria Math"/>
                        </a:rPr>
                        <m:t>​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𝐻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nary>
                          <m:r>
                            <a:rPr lang="ar-AE" sz="14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𝑟</m:t>
                          </m:r>
                          <m:r>
                            <a:rPr lang="ar-AE" sz="14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14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14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ar-AE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directly maximize the RL objective">
                <a:extLst>
                  <a:ext uri="{FF2B5EF4-FFF2-40B4-BE49-F238E27FC236}">
                    <a16:creationId xmlns:a16="http://schemas.microsoft.com/office/drawing/2014/main" id="{38363120-0C8F-1CFF-4891-5344F46AE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879" y="3716715"/>
                <a:ext cx="1985746" cy="1184422"/>
              </a:xfrm>
              <a:prstGeom prst="rect">
                <a:avLst/>
              </a:prstGeom>
              <a:blipFill>
                <a:blip r:embed="rId5"/>
                <a:stretch>
                  <a:fillRect l="-637" t="-4255" r="-5732" b="-98936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estimate">
                <a:extLst>
                  <a:ext uri="{FF2B5EF4-FFF2-40B4-BE49-F238E27FC236}">
                    <a16:creationId xmlns:a16="http://schemas.microsoft.com/office/drawing/2014/main" id="{9711CE57-5875-CA47-F522-C92F794DE00E}"/>
                  </a:ext>
                </a:extLst>
              </p:cNvPr>
              <p:cNvSpPr txBox="1"/>
              <p:nvPr/>
            </p:nvSpPr>
            <p:spPr>
              <a:xfrm>
                <a:off x="6910069" y="3769349"/>
                <a:ext cx="1858586" cy="505267"/>
              </a:xfrm>
              <a:prstGeom prst="rect">
                <a:avLst/>
              </a:prstGeom>
              <a:noFill/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none" lIns="25400" tIns="25400" rIns="25400" bIns="25400">
                <a:spAutoFit/>
              </a:bodyPr>
              <a:lstStyle/>
              <a:p>
                <a:pPr algn="ctr" defTabSz="412750">
                  <a:defRPr sz="135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>
                    <a:solidFill>
                      <a:srgbClr val="000000"/>
                    </a:solidFill>
                  </a:rPr>
                  <a:t>estimate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𝜃</m:t>
                          </m:r>
                        </m:sub>
                      </m:sSub>
                      <m:r>
                        <a:rPr lang="ar-AE" sz="1600">
                          <a:solidFill>
                            <a:schemeClr val="tx1"/>
                          </a:solidFill>
                          <a:latin typeface="Cambria Math"/>
                        </a:rPr>
                        <m:t>≈</m:t>
                      </m:r>
                      <m:r>
                        <a:rPr lang="ar-AE" sz="1600">
                          <a:solidFill>
                            <a:schemeClr val="tx1"/>
                          </a:solidFill>
                          <a:latin typeface="Cambria Math"/>
                        </a:rPr>
                        <m:t>𝑇</m:t>
                      </m:r>
                      <m:r>
                        <a:rPr lang="ar-AE" sz="1600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ar-AE" sz="1600">
                          <a:solidFill>
                            <a:schemeClr val="tx1"/>
                          </a:solidFill>
                          <a:latin typeface="Cambria Math"/>
                        </a:rPr>
                        <m:t>∣</m:t>
                      </m:r>
                      <m:sSub>
                        <m:sSubPr>
                          <m:ctrlP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ar-AE" sz="1600">
                          <a:solidFill>
                            <a:schemeClr val="tx1"/>
                          </a:solidFill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ar-AE" sz="1600">
                          <a:solidFill>
                            <a:schemeClr val="tx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ar-AE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2" name="estimate">
                <a:extLst>
                  <a:ext uri="{FF2B5EF4-FFF2-40B4-BE49-F238E27FC236}">
                    <a16:creationId xmlns:a16="http://schemas.microsoft.com/office/drawing/2014/main" id="{9711CE57-5875-CA47-F522-C92F794DE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069" y="3769349"/>
                <a:ext cx="1858586" cy="505267"/>
              </a:xfrm>
              <a:prstGeom prst="rect">
                <a:avLst/>
              </a:prstGeom>
              <a:blipFill>
                <a:blip r:embed="rId6"/>
                <a:stretch>
                  <a:fillRect l="-2041" t="-4878" r="-6803" b="-19512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policy implicitly defined via…">
                <a:extLst>
                  <a:ext uri="{FF2B5EF4-FFF2-40B4-BE49-F238E27FC236}">
                    <a16:creationId xmlns:a16="http://schemas.microsoft.com/office/drawing/2014/main" id="{2AE4B147-F640-BE1F-FD68-0521AF867B8C}"/>
                  </a:ext>
                </a:extLst>
              </p:cNvPr>
              <p:cNvSpPr txBox="1"/>
              <p:nvPr/>
            </p:nvSpPr>
            <p:spPr>
              <a:xfrm>
                <a:off x="3267264" y="3769349"/>
                <a:ext cx="2151031" cy="505267"/>
              </a:xfrm>
              <a:prstGeom prst="rect">
                <a:avLst/>
              </a:prstGeom>
              <a:noFill/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square" lIns="25400" tIns="25400" rIns="25400" bIns="25400">
                <a:spAutoFit/>
              </a:bodyPr>
              <a:lstStyle/>
              <a:p>
                <a:pPr algn="ctr" defTabSz="412750">
                  <a:defRPr sz="135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>
                    <a:solidFill>
                      <a:srgbClr val="000000"/>
                    </a:solidFill>
                  </a:rPr>
                  <a:t>policy implicitly defined via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1600">
                          <a:solidFill>
                            <a:schemeClr val="tx1"/>
                          </a:solidFill>
                          <a:latin typeface="Cambria Math"/>
                        </a:rPr>
                        <m:t>𝑉</m:t>
                      </m:r>
                      <m:r>
                        <a:rPr lang="en-US" sz="1600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600">
                          <a:solidFill>
                            <a:schemeClr val="tx1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>
                          <a:solidFill>
                            <a:schemeClr val="tx1"/>
                          </a:solidFill>
                          <a:latin typeface="Cambria Math"/>
                        </a:rPr>
                        <m:t>) </m:t>
                      </m:r>
                      <m:r>
                        <m:rPr>
                          <m:nor/>
                        </m:rPr>
                        <a:rPr lang="en-US" sz="1600" i="0">
                          <a:solidFill>
                            <a:schemeClr val="tx1"/>
                          </a:solidFill>
                          <a:latin typeface="Cambria Math"/>
                        </a:rPr>
                        <m:t>or</m:t>
                      </m:r>
                      <m:r>
                        <a:rPr lang="en-US" sz="1600">
                          <a:solidFill>
                            <a:schemeClr val="tx1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1600">
                          <a:solidFill>
                            <a:schemeClr val="tx1"/>
                          </a:solidFill>
                          <a:latin typeface="Cambria Math"/>
                        </a:rPr>
                        <m:t>𝑄</m:t>
                      </m:r>
                      <m:r>
                        <a:rPr lang="en-US" sz="1600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600">
                          <a:solidFill>
                            <a:schemeClr val="tx1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>
                          <a:solidFill>
                            <a:schemeClr val="tx1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600">
                          <a:solidFill>
                            <a:schemeClr val="tx1"/>
                          </a:solidFill>
                          <a:latin typeface="Cambria Math"/>
                        </a:rPr>
                        <m:t>𝑢</m:t>
                      </m:r>
                      <m:r>
                        <a:rPr lang="en-US" sz="1600">
                          <a:solidFill>
                            <a:schemeClr val="tx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3" name="policy implicitly defined via…">
                <a:extLst>
                  <a:ext uri="{FF2B5EF4-FFF2-40B4-BE49-F238E27FC236}">
                    <a16:creationId xmlns:a16="http://schemas.microsoft.com/office/drawing/2014/main" id="{2AE4B147-F640-BE1F-FD68-0521AF867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264" y="3769349"/>
                <a:ext cx="2151031" cy="505267"/>
              </a:xfrm>
              <a:prstGeom prst="rect">
                <a:avLst/>
              </a:prstGeom>
              <a:blipFill>
                <a:blip r:embed="rId7"/>
                <a:stretch>
                  <a:fillRect t="-4878" b="-12195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EB8DA43-36E2-81C6-1052-502C7DAB7437}"/>
                  </a:ext>
                </a:extLst>
              </p:cNvPr>
              <p:cNvSpPr txBox="1"/>
              <p:nvPr/>
            </p:nvSpPr>
            <p:spPr>
              <a:xfrm>
                <a:off x="2913935" y="4500851"/>
                <a:ext cx="311833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a:rPr lang="en-US" sz="1600" i="0" smtClean="0">
                          <a:solidFill>
                            <a:schemeClr val="tx1"/>
                          </a:solidFill>
                          <a:latin typeface="Cambria Math"/>
                        </a:rPr>
                        <m:t>set</m:t>
                      </m:r>
                      <m:r>
                        <a:rPr lang="en-US" sz="1600">
                          <a:solidFill>
                            <a:schemeClr val="tx1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1600">
                          <a:solidFill>
                            <a:schemeClr val="tx1"/>
                          </a:solidFill>
                          <a:latin typeface="Cambria Math"/>
                        </a:rPr>
                        <m:t>𝜋</m:t>
                      </m:r>
                      <m:r>
                        <a:rPr lang="en-US" sz="1600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ar-AE" sz="1600">
                          <a:solidFill>
                            <a:schemeClr val="tx1"/>
                          </a:solidFill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lang="en-US" sz="1600" i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argmax</m:t>
                          </m:r>
                        </m:e>
                        <m:sub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ar-AE" sz="1600">
                          <a:solidFill>
                            <a:schemeClr val="tx1"/>
                          </a:solidFill>
                          <a:latin typeface="Cambria Math"/>
                        </a:rPr>
                        <m:t>𝑄</m:t>
                      </m:r>
                      <m:r>
                        <a:rPr lang="ar-AE" sz="1600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ar-AE" sz="1600">
                          <a:solidFill>
                            <a:schemeClr val="tx1"/>
                          </a:solidFill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ar-AE" sz="1600">
                          <a:solidFill>
                            <a:schemeClr val="tx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ar-AE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EB8DA43-36E2-81C6-1052-502C7DAB7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935" y="4500851"/>
                <a:ext cx="3118339" cy="338554"/>
              </a:xfrm>
              <a:prstGeom prst="rect">
                <a:avLst/>
              </a:prstGeom>
              <a:blipFill>
                <a:blip r:embed="rId8"/>
                <a:stretch>
                  <a:fillRect t="-714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46399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The skeleton of an RL algorith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The skeleton of an RL algorithm </a:t>
            </a:r>
          </a:p>
        </p:txBody>
      </p:sp>
      <p:sp>
        <p:nvSpPr>
          <p:cNvPr id="685" name="Generate samples"/>
          <p:cNvSpPr/>
          <p:nvPr/>
        </p:nvSpPr>
        <p:spPr>
          <a:xfrm>
            <a:off x="2216970" y="3371321"/>
            <a:ext cx="2196732" cy="824734"/>
          </a:xfrm>
          <a:prstGeom prst="roundRect">
            <a:avLst>
              <a:gd name="adj" fmla="val 15998"/>
            </a:avLst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defTabSz="825500">
              <a:defRPr sz="28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endParaRPr sz="2000" dirty="0"/>
          </a:p>
        </p:txBody>
      </p:sp>
      <p:sp>
        <p:nvSpPr>
          <p:cNvPr id="686" name="Rounded Rectangle"/>
          <p:cNvSpPr/>
          <p:nvPr/>
        </p:nvSpPr>
        <p:spPr>
          <a:xfrm>
            <a:off x="5594630" y="2037953"/>
            <a:ext cx="2196732" cy="824734"/>
          </a:xfrm>
          <a:prstGeom prst="roundRect">
            <a:avLst>
              <a:gd name="adj" fmla="val 15998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defRPr sz="28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 sz="2000" dirty="0"/>
          </a:p>
        </p:txBody>
      </p:sp>
      <p:sp>
        <p:nvSpPr>
          <p:cNvPr id="687" name="Rounded Rectangle"/>
          <p:cNvSpPr/>
          <p:nvPr/>
        </p:nvSpPr>
        <p:spPr>
          <a:xfrm>
            <a:off x="5594630" y="4704687"/>
            <a:ext cx="2196732" cy="824734"/>
          </a:xfrm>
          <a:prstGeom prst="roundRect">
            <a:avLst>
              <a:gd name="adj" fmla="val 15998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defRPr sz="28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 sz="2000" dirty="0"/>
          </a:p>
        </p:txBody>
      </p:sp>
      <p:cxnSp>
        <p:nvCxnSpPr>
          <p:cNvPr id="688" name="Connection Line"/>
          <p:cNvCxnSpPr>
            <a:cxnSpLocks/>
            <a:endCxn id="686" idx="1"/>
          </p:cNvCxnSpPr>
          <p:nvPr/>
        </p:nvCxnSpPr>
        <p:spPr>
          <a:xfrm flipV="1">
            <a:off x="3759198" y="2450321"/>
            <a:ext cx="1835432" cy="899984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  <p:cxnSp>
        <p:nvCxnSpPr>
          <p:cNvPr id="689" name="Connection Line"/>
          <p:cNvCxnSpPr>
            <a:cxnSpLocks/>
            <a:endCxn id="687" idx="1"/>
          </p:cNvCxnSpPr>
          <p:nvPr/>
        </p:nvCxnSpPr>
        <p:spPr>
          <a:xfrm>
            <a:off x="3759198" y="4217070"/>
            <a:ext cx="1835432" cy="899984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headEnd type="triangle"/>
          </a:ln>
        </p:spPr>
      </p:cxnSp>
      <p:sp>
        <p:nvSpPr>
          <p:cNvPr id="690" name="Line"/>
          <p:cNvSpPr/>
          <p:nvPr/>
        </p:nvSpPr>
        <p:spPr>
          <a:xfrm>
            <a:off x="6709104" y="2878123"/>
            <a:ext cx="1" cy="181112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E7658193-E30A-AA5C-12B4-E5B48EB0F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B4081-DEC8-B74A-BF1A-2DAB807F338C}" type="datetime1">
              <a:rPr lang="en-US" smtClean="0"/>
              <a:t>8/10/26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B4EF61FA-E6A6-F76E-AEA7-842625214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8F1B739-F41E-7416-7812-C53FC08B5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45</a:t>
            </a:fld>
            <a:endParaRPr lang="en-US"/>
          </a:p>
        </p:txBody>
      </p:sp>
      <p:sp>
        <p:nvSpPr>
          <p:cNvPr id="2" name="Why even bother using less efficient algorithms? Wall-clock time is not the same as efficiency!">
            <a:extLst>
              <a:ext uri="{FF2B5EF4-FFF2-40B4-BE49-F238E27FC236}">
                <a16:creationId xmlns:a16="http://schemas.microsoft.com/office/drawing/2014/main" id="{ECE98129-667F-E2CE-12E0-5EBC51A0F1C9}"/>
              </a:ext>
            </a:extLst>
          </p:cNvPr>
          <p:cNvSpPr txBox="1"/>
          <p:nvPr/>
        </p:nvSpPr>
        <p:spPr>
          <a:xfrm>
            <a:off x="10164886" y="333810"/>
            <a:ext cx="1811962" cy="250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 defTabSz="825500">
              <a:lnSpc>
                <a:spcPct val="120000"/>
              </a:lnSpc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200" dirty="0"/>
              <a:t>Adapted from CS 185/285</a:t>
            </a:r>
            <a:endParaRPr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The skeleton of an RL algorith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The skeleton of an RL algorithm </a:t>
            </a:r>
          </a:p>
        </p:txBody>
      </p:sp>
      <p:pic>
        <p:nvPicPr>
          <p:cNvPr id="682" name="Image" descr="Image"/>
          <p:cNvPicPr>
            <a:picLocks noChangeAspect="1"/>
          </p:cNvPicPr>
          <p:nvPr/>
        </p:nvPicPr>
        <p:blipFill>
          <a:blip r:embed="rId2"/>
          <a:srcRect r="68146"/>
          <a:stretch>
            <a:fillRect/>
          </a:stretch>
        </p:blipFill>
        <p:spPr>
          <a:xfrm>
            <a:off x="1111729" y="3265180"/>
            <a:ext cx="659217" cy="976055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83" name="Equation"/>
              <p:cNvSpPr txBox="1"/>
              <p:nvPr/>
            </p:nvSpPr>
            <p:spPr>
              <a:xfrm>
                <a:off x="1056500" y="4329941"/>
                <a:ext cx="2642647" cy="3308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150" dirty="0"/>
              </a:p>
            </p:txBody>
          </p:sp>
        </mc:Choice>
        <mc:Fallback xmlns="">
          <p:sp>
            <p:nvSpPr>
              <p:cNvPr id="68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500" y="4329941"/>
                <a:ext cx="2642647" cy="330860"/>
              </a:xfrm>
              <a:prstGeom prst="rect">
                <a:avLst/>
              </a:prstGeom>
              <a:blipFill>
                <a:blip r:embed="rId3"/>
                <a:stretch>
                  <a:fillRect l="-957" r="-3349" b="-3214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4" name="Equation"/>
              <p:cNvSpPr txBox="1"/>
              <p:nvPr/>
            </p:nvSpPr>
            <p:spPr>
              <a:xfrm>
                <a:off x="911576" y="2889967"/>
                <a:ext cx="1059521" cy="3308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150" dirty="0"/>
              </a:p>
            </p:txBody>
          </p:sp>
        </mc:Choice>
        <mc:Fallback xmlns="">
          <p:sp>
            <p:nvSpPr>
              <p:cNvPr id="68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76" y="2889967"/>
                <a:ext cx="1059521" cy="330860"/>
              </a:xfrm>
              <a:prstGeom prst="rect">
                <a:avLst/>
              </a:prstGeom>
              <a:blipFill>
                <a:blip r:embed="rId4"/>
                <a:stretch>
                  <a:fillRect l="-3571" r="-8333" b="-3333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5" name="Generate samples"/>
          <p:cNvSpPr/>
          <p:nvPr/>
        </p:nvSpPr>
        <p:spPr>
          <a:xfrm>
            <a:off x="2216970" y="3371321"/>
            <a:ext cx="2196732" cy="824734"/>
          </a:xfrm>
          <a:prstGeom prst="roundRect">
            <a:avLst>
              <a:gd name="adj" fmla="val 15998"/>
            </a:avLst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defTabSz="825500">
              <a:defRPr sz="28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rPr sz="2000" dirty="0"/>
              <a:t>Generate samples</a:t>
            </a:r>
          </a:p>
        </p:txBody>
      </p:sp>
      <p:sp>
        <p:nvSpPr>
          <p:cNvPr id="686" name="Rounded Rectangle"/>
          <p:cNvSpPr/>
          <p:nvPr/>
        </p:nvSpPr>
        <p:spPr>
          <a:xfrm>
            <a:off x="5594630" y="2037953"/>
            <a:ext cx="2196732" cy="824734"/>
          </a:xfrm>
          <a:prstGeom prst="roundRect">
            <a:avLst>
              <a:gd name="adj" fmla="val 15998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defRPr sz="28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 sz="2000" dirty="0"/>
          </a:p>
        </p:txBody>
      </p:sp>
      <p:sp>
        <p:nvSpPr>
          <p:cNvPr id="687" name="Rounded Rectangle"/>
          <p:cNvSpPr/>
          <p:nvPr/>
        </p:nvSpPr>
        <p:spPr>
          <a:xfrm>
            <a:off x="5594630" y="4704687"/>
            <a:ext cx="2196732" cy="824734"/>
          </a:xfrm>
          <a:prstGeom prst="roundRect">
            <a:avLst>
              <a:gd name="adj" fmla="val 15998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defRPr sz="28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 sz="2000" dirty="0"/>
          </a:p>
        </p:txBody>
      </p:sp>
      <p:cxnSp>
        <p:nvCxnSpPr>
          <p:cNvPr id="688" name="Connection Line"/>
          <p:cNvCxnSpPr>
            <a:cxnSpLocks/>
            <a:endCxn id="686" idx="1"/>
          </p:cNvCxnSpPr>
          <p:nvPr/>
        </p:nvCxnSpPr>
        <p:spPr>
          <a:xfrm flipV="1">
            <a:off x="3759198" y="2450321"/>
            <a:ext cx="1835432" cy="899984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  <p:cxnSp>
        <p:nvCxnSpPr>
          <p:cNvPr id="689" name="Connection Line"/>
          <p:cNvCxnSpPr>
            <a:cxnSpLocks/>
            <a:endCxn id="687" idx="1"/>
          </p:cNvCxnSpPr>
          <p:nvPr/>
        </p:nvCxnSpPr>
        <p:spPr>
          <a:xfrm>
            <a:off x="3759198" y="4217070"/>
            <a:ext cx="1835432" cy="899984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headEnd type="triangle"/>
          </a:ln>
        </p:spPr>
      </p:cxnSp>
      <p:sp>
        <p:nvSpPr>
          <p:cNvPr id="690" name="Line"/>
          <p:cNvSpPr/>
          <p:nvPr/>
        </p:nvSpPr>
        <p:spPr>
          <a:xfrm>
            <a:off x="6709104" y="2878123"/>
            <a:ext cx="1" cy="181112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EF779-B2C1-3A0F-0D5B-29D5857AD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F3D3-FDF9-554D-B07F-B907436F0960}" type="datetime1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680F2-9021-010E-4A88-B4D1653FC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03AF08E-0038-1EAA-B81F-9CDD98C6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46</a:t>
            </a:fld>
            <a:endParaRPr lang="en-US"/>
          </a:p>
        </p:txBody>
      </p:sp>
      <p:sp>
        <p:nvSpPr>
          <p:cNvPr id="2" name="Why even bother using less efficient algorithms? Wall-clock time is not the same as efficiency!">
            <a:extLst>
              <a:ext uri="{FF2B5EF4-FFF2-40B4-BE49-F238E27FC236}">
                <a16:creationId xmlns:a16="http://schemas.microsoft.com/office/drawing/2014/main" id="{7E1F0C77-9291-4C40-4E92-FDC00AD9F79D}"/>
              </a:ext>
            </a:extLst>
          </p:cNvPr>
          <p:cNvSpPr txBox="1"/>
          <p:nvPr/>
        </p:nvSpPr>
        <p:spPr>
          <a:xfrm>
            <a:off x="10164886" y="333810"/>
            <a:ext cx="1811962" cy="250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 defTabSz="825500">
              <a:lnSpc>
                <a:spcPct val="120000"/>
              </a:lnSpc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200" dirty="0"/>
              <a:t>Adapted from CS 185/285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36558290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The skeleton of an RL algorith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The skeleton of an RL algorithm </a:t>
            </a:r>
          </a:p>
        </p:txBody>
      </p:sp>
      <p:pic>
        <p:nvPicPr>
          <p:cNvPr id="682" name="Image" descr="Image"/>
          <p:cNvPicPr>
            <a:picLocks noChangeAspect="1"/>
          </p:cNvPicPr>
          <p:nvPr/>
        </p:nvPicPr>
        <p:blipFill>
          <a:blip r:embed="rId2"/>
          <a:srcRect r="68146"/>
          <a:stretch>
            <a:fillRect/>
          </a:stretch>
        </p:blipFill>
        <p:spPr>
          <a:xfrm>
            <a:off x="1111729" y="3265180"/>
            <a:ext cx="659217" cy="976055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83" name="Equation"/>
              <p:cNvSpPr txBox="1"/>
              <p:nvPr/>
            </p:nvSpPr>
            <p:spPr>
              <a:xfrm>
                <a:off x="1056500" y="4329941"/>
                <a:ext cx="2642647" cy="3308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150" dirty="0"/>
              </a:p>
            </p:txBody>
          </p:sp>
        </mc:Choice>
        <mc:Fallback xmlns="">
          <p:sp>
            <p:nvSpPr>
              <p:cNvPr id="68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500" y="4329941"/>
                <a:ext cx="2642647" cy="330860"/>
              </a:xfrm>
              <a:prstGeom prst="rect">
                <a:avLst/>
              </a:prstGeom>
              <a:blipFill>
                <a:blip r:embed="rId3"/>
                <a:stretch>
                  <a:fillRect l="-957" r="-3349" b="-3214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4" name="Equation"/>
              <p:cNvSpPr txBox="1"/>
              <p:nvPr/>
            </p:nvSpPr>
            <p:spPr>
              <a:xfrm>
                <a:off x="911576" y="2889967"/>
                <a:ext cx="1059521" cy="3308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150" dirty="0"/>
              </a:p>
            </p:txBody>
          </p:sp>
        </mc:Choice>
        <mc:Fallback xmlns="">
          <p:sp>
            <p:nvSpPr>
              <p:cNvPr id="68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76" y="2889967"/>
                <a:ext cx="1059521" cy="330860"/>
              </a:xfrm>
              <a:prstGeom prst="rect">
                <a:avLst/>
              </a:prstGeom>
              <a:blipFill>
                <a:blip r:embed="rId4"/>
                <a:stretch>
                  <a:fillRect l="-3571" r="-8333" b="-3333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5" name="Generate samples"/>
          <p:cNvSpPr/>
          <p:nvPr/>
        </p:nvSpPr>
        <p:spPr>
          <a:xfrm>
            <a:off x="2216970" y="3371321"/>
            <a:ext cx="2196732" cy="824734"/>
          </a:xfrm>
          <a:prstGeom prst="roundRect">
            <a:avLst>
              <a:gd name="adj" fmla="val 15998"/>
            </a:avLst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defTabSz="825500">
              <a:defRPr sz="28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rPr sz="2000" dirty="0"/>
              <a:t>Generate samples</a:t>
            </a:r>
          </a:p>
        </p:txBody>
      </p:sp>
      <p:sp>
        <p:nvSpPr>
          <p:cNvPr id="686" name="Rounded Rectangle"/>
          <p:cNvSpPr/>
          <p:nvPr/>
        </p:nvSpPr>
        <p:spPr>
          <a:xfrm>
            <a:off x="5594630" y="2037953"/>
            <a:ext cx="2196732" cy="824734"/>
          </a:xfrm>
          <a:prstGeom prst="roundRect">
            <a:avLst>
              <a:gd name="adj" fmla="val 15998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defRPr sz="28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lang="en-US" sz="2000" dirty="0"/>
              <a:t>Fit a model / estimate return</a:t>
            </a:r>
            <a:endParaRPr sz="2000" dirty="0"/>
          </a:p>
        </p:txBody>
      </p:sp>
      <p:sp>
        <p:nvSpPr>
          <p:cNvPr id="687" name="Rounded Rectangle"/>
          <p:cNvSpPr/>
          <p:nvPr/>
        </p:nvSpPr>
        <p:spPr>
          <a:xfrm>
            <a:off x="5594630" y="4704687"/>
            <a:ext cx="2196732" cy="824734"/>
          </a:xfrm>
          <a:prstGeom prst="roundRect">
            <a:avLst>
              <a:gd name="adj" fmla="val 15998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defRPr sz="28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 sz="2000" dirty="0"/>
          </a:p>
        </p:txBody>
      </p:sp>
      <p:cxnSp>
        <p:nvCxnSpPr>
          <p:cNvPr id="688" name="Connection Line"/>
          <p:cNvCxnSpPr>
            <a:cxnSpLocks/>
            <a:endCxn id="686" idx="1"/>
          </p:cNvCxnSpPr>
          <p:nvPr/>
        </p:nvCxnSpPr>
        <p:spPr>
          <a:xfrm flipV="1">
            <a:off x="3759198" y="2450321"/>
            <a:ext cx="1835432" cy="899984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  <p:cxnSp>
        <p:nvCxnSpPr>
          <p:cNvPr id="689" name="Connection Line"/>
          <p:cNvCxnSpPr>
            <a:cxnSpLocks/>
            <a:endCxn id="687" idx="1"/>
          </p:cNvCxnSpPr>
          <p:nvPr/>
        </p:nvCxnSpPr>
        <p:spPr>
          <a:xfrm>
            <a:off x="3759198" y="4217070"/>
            <a:ext cx="1835432" cy="899984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headEnd type="triangle"/>
          </a:ln>
        </p:spPr>
      </p:cxnSp>
      <p:sp>
        <p:nvSpPr>
          <p:cNvPr id="690" name="Line"/>
          <p:cNvSpPr/>
          <p:nvPr/>
        </p:nvSpPr>
        <p:spPr>
          <a:xfrm>
            <a:off x="6709104" y="2878123"/>
            <a:ext cx="1" cy="181112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ED65A1-14BE-57E7-0834-2B6442A83B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398" y="2052405"/>
            <a:ext cx="2699164" cy="121277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097EB-151F-62D1-1999-D09A2E2E9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0F572-8644-554A-A840-5198B3417244}" type="datetime1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FBFD5-552B-BD98-A7A0-03CB18519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24EE7E-44A5-EA8A-6E57-89ECA625C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47</a:t>
            </a:fld>
            <a:endParaRPr lang="en-US"/>
          </a:p>
        </p:txBody>
      </p:sp>
      <p:sp>
        <p:nvSpPr>
          <p:cNvPr id="2" name="Why even bother using less efficient algorithms? Wall-clock time is not the same as efficiency!">
            <a:extLst>
              <a:ext uri="{FF2B5EF4-FFF2-40B4-BE49-F238E27FC236}">
                <a16:creationId xmlns:a16="http://schemas.microsoft.com/office/drawing/2014/main" id="{F6E192AA-6BFD-82FB-6703-128F4A967F33}"/>
              </a:ext>
            </a:extLst>
          </p:cNvPr>
          <p:cNvSpPr txBox="1"/>
          <p:nvPr/>
        </p:nvSpPr>
        <p:spPr>
          <a:xfrm>
            <a:off x="10164886" y="333810"/>
            <a:ext cx="1811962" cy="250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 defTabSz="825500">
              <a:lnSpc>
                <a:spcPct val="120000"/>
              </a:lnSpc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200" dirty="0"/>
              <a:t>Adapted from CS 185/285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29901577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The skeleton of an RL algorith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The skeleton of an RL algorithm </a:t>
            </a:r>
          </a:p>
        </p:txBody>
      </p:sp>
      <p:pic>
        <p:nvPicPr>
          <p:cNvPr id="682" name="Image" descr="Image"/>
          <p:cNvPicPr>
            <a:picLocks noChangeAspect="1"/>
          </p:cNvPicPr>
          <p:nvPr/>
        </p:nvPicPr>
        <p:blipFill>
          <a:blip r:embed="rId2"/>
          <a:srcRect r="68146"/>
          <a:stretch>
            <a:fillRect/>
          </a:stretch>
        </p:blipFill>
        <p:spPr>
          <a:xfrm>
            <a:off x="1111729" y="3265180"/>
            <a:ext cx="659217" cy="976055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83" name="Equation"/>
              <p:cNvSpPr txBox="1"/>
              <p:nvPr/>
            </p:nvSpPr>
            <p:spPr>
              <a:xfrm>
                <a:off x="1056500" y="4329941"/>
                <a:ext cx="2642647" cy="3308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150" dirty="0"/>
              </a:p>
            </p:txBody>
          </p:sp>
        </mc:Choice>
        <mc:Fallback xmlns="">
          <p:sp>
            <p:nvSpPr>
              <p:cNvPr id="68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500" y="4329941"/>
                <a:ext cx="2642647" cy="330860"/>
              </a:xfrm>
              <a:prstGeom prst="rect">
                <a:avLst/>
              </a:prstGeom>
              <a:blipFill>
                <a:blip r:embed="rId3"/>
                <a:stretch>
                  <a:fillRect l="-957" r="-3349" b="-3214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4" name="Equation"/>
              <p:cNvSpPr txBox="1"/>
              <p:nvPr/>
            </p:nvSpPr>
            <p:spPr>
              <a:xfrm>
                <a:off x="911576" y="2889967"/>
                <a:ext cx="1059521" cy="3308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0" tIns="0" rIns="0" bIns="0">
                <a:spAutoFit/>
              </a:bodyPr>
              <a:lstStyle/>
              <a:p>
                <a:pPr defTabSz="4572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150" dirty="0"/>
              </a:p>
            </p:txBody>
          </p:sp>
        </mc:Choice>
        <mc:Fallback xmlns="">
          <p:sp>
            <p:nvSpPr>
              <p:cNvPr id="68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76" y="2889967"/>
                <a:ext cx="1059521" cy="330860"/>
              </a:xfrm>
              <a:prstGeom prst="rect">
                <a:avLst/>
              </a:prstGeom>
              <a:blipFill>
                <a:blip r:embed="rId4"/>
                <a:stretch>
                  <a:fillRect l="-3571" r="-8333" b="-3333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5" name="Generate samples"/>
          <p:cNvSpPr/>
          <p:nvPr/>
        </p:nvSpPr>
        <p:spPr>
          <a:xfrm>
            <a:off x="2216970" y="3371321"/>
            <a:ext cx="2196732" cy="824734"/>
          </a:xfrm>
          <a:prstGeom prst="roundRect">
            <a:avLst>
              <a:gd name="adj" fmla="val 15998"/>
            </a:avLst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defTabSz="825500">
              <a:defRPr sz="28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rPr sz="2000" dirty="0"/>
              <a:t>Generate samples</a:t>
            </a:r>
          </a:p>
        </p:txBody>
      </p:sp>
      <p:sp>
        <p:nvSpPr>
          <p:cNvPr id="686" name="Rounded Rectangle"/>
          <p:cNvSpPr/>
          <p:nvPr/>
        </p:nvSpPr>
        <p:spPr>
          <a:xfrm>
            <a:off x="5594630" y="2037953"/>
            <a:ext cx="2196732" cy="824734"/>
          </a:xfrm>
          <a:prstGeom prst="roundRect">
            <a:avLst>
              <a:gd name="adj" fmla="val 15998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defRPr sz="28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lang="en-US" sz="2000" dirty="0"/>
              <a:t>Fit a model / estimate return</a:t>
            </a:r>
            <a:endParaRPr sz="2000" dirty="0"/>
          </a:p>
        </p:txBody>
      </p:sp>
      <p:sp>
        <p:nvSpPr>
          <p:cNvPr id="687" name="Rounded Rectangle"/>
          <p:cNvSpPr/>
          <p:nvPr/>
        </p:nvSpPr>
        <p:spPr>
          <a:xfrm>
            <a:off x="5594630" y="4704687"/>
            <a:ext cx="2196732" cy="824734"/>
          </a:xfrm>
          <a:prstGeom prst="roundRect">
            <a:avLst>
              <a:gd name="adj" fmla="val 15998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defRPr sz="28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lang="en-US" sz="2000" dirty="0"/>
              <a:t>Improve the policy</a:t>
            </a:r>
            <a:endParaRPr sz="2000" dirty="0"/>
          </a:p>
        </p:txBody>
      </p:sp>
      <p:cxnSp>
        <p:nvCxnSpPr>
          <p:cNvPr id="688" name="Connection Line"/>
          <p:cNvCxnSpPr>
            <a:cxnSpLocks/>
            <a:endCxn id="686" idx="1"/>
          </p:cNvCxnSpPr>
          <p:nvPr/>
        </p:nvCxnSpPr>
        <p:spPr>
          <a:xfrm flipV="1">
            <a:off x="3759198" y="2450321"/>
            <a:ext cx="1835432" cy="899984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  <p:cxnSp>
        <p:nvCxnSpPr>
          <p:cNvPr id="689" name="Connection Line"/>
          <p:cNvCxnSpPr>
            <a:cxnSpLocks/>
            <a:endCxn id="687" idx="1"/>
          </p:cNvCxnSpPr>
          <p:nvPr/>
        </p:nvCxnSpPr>
        <p:spPr>
          <a:xfrm>
            <a:off x="3759198" y="4217070"/>
            <a:ext cx="1835432" cy="899984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headEnd type="triangle"/>
          </a:ln>
        </p:spPr>
      </p:cxnSp>
      <p:sp>
        <p:nvSpPr>
          <p:cNvPr id="690" name="Line"/>
          <p:cNvSpPr/>
          <p:nvPr/>
        </p:nvSpPr>
        <p:spPr>
          <a:xfrm>
            <a:off x="6709104" y="2878123"/>
            <a:ext cx="1" cy="181112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ED65A1-14BE-57E7-0834-2B6442A83B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398" y="2052405"/>
            <a:ext cx="2699164" cy="1212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133D11-430D-1C54-3EBB-DBD2504900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0438" y="4679726"/>
            <a:ext cx="4236572" cy="121495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2EC6E-9228-79C5-1603-9D9C5D26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DE0A4-DFF5-724E-817C-EF90643FD6D2}" type="datetime1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376D0-111C-5820-20B9-96A4401C1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60A0593-A602-99EA-6B7A-9DB48C9CE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48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6092D1-893C-1486-4BC4-2216E2C0DD7A}"/>
              </a:ext>
            </a:extLst>
          </p:cNvPr>
          <p:cNvSpPr/>
          <p:nvPr/>
        </p:nvSpPr>
        <p:spPr>
          <a:xfrm>
            <a:off x="9422433" y="5029246"/>
            <a:ext cx="142809" cy="1271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553F06-FE40-0278-8C63-63EDF06A77E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3227" t="6194" r="42398" b="69947"/>
          <a:stretch/>
        </p:blipFill>
        <p:spPr>
          <a:xfrm>
            <a:off x="9422433" y="4953068"/>
            <a:ext cx="124521" cy="194742"/>
          </a:xfrm>
          <a:prstGeom prst="rect">
            <a:avLst/>
          </a:prstGeom>
        </p:spPr>
      </p:pic>
      <p:sp>
        <p:nvSpPr>
          <p:cNvPr id="9" name="Why even bother using less efficient algorithms? Wall-clock time is not the same as efficiency!">
            <a:extLst>
              <a:ext uri="{FF2B5EF4-FFF2-40B4-BE49-F238E27FC236}">
                <a16:creationId xmlns:a16="http://schemas.microsoft.com/office/drawing/2014/main" id="{ED63C084-A3AA-B97A-5A78-9CBAE101E34B}"/>
              </a:ext>
            </a:extLst>
          </p:cNvPr>
          <p:cNvSpPr txBox="1"/>
          <p:nvPr/>
        </p:nvSpPr>
        <p:spPr>
          <a:xfrm>
            <a:off x="10164886" y="333810"/>
            <a:ext cx="1811962" cy="250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 defTabSz="825500">
              <a:lnSpc>
                <a:spcPct val="120000"/>
              </a:lnSpc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1200" dirty="0"/>
              <a:t>Adapted from CS 185/285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10534976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Next tim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Next time</a:t>
            </a:r>
          </a:p>
        </p:txBody>
      </p:sp>
      <p:sp>
        <p:nvSpPr>
          <p:cNvPr id="733" name="MPC"/>
          <p:cNvSpPr txBox="1"/>
          <p:nvPr/>
        </p:nvSpPr>
        <p:spPr>
          <a:xfrm>
            <a:off x="2607089" y="2378797"/>
            <a:ext cx="7415084" cy="520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marL="406400" indent="-406400" algn="l" defTabSz="82550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2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rebuchet MS" panose="020B0703020202090204" pitchFamily="34" charset="0"/>
              </a:rPr>
              <a:t>Value-based RL</a:t>
            </a:r>
            <a:endParaRPr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65DBC-E91A-BDC7-7080-1570A6A25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DCDB-DEAC-F24C-99BD-78C20D345CA7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D76CE-F4DA-D3FF-AE20-C9B06E15A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D3165-1187-DF0E-DBC2-37E9A59DF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49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FBB6EF975807449194B44213CB1385" ma:contentTypeVersion="5" ma:contentTypeDescription="Create a new document." ma:contentTypeScope="" ma:versionID="6297688411df770d7ba805098bf03ebd">
  <xsd:schema xmlns:xsd="http://www.w3.org/2001/XMLSchema" xmlns:xs="http://www.w3.org/2001/XMLSchema" xmlns:p="http://schemas.microsoft.com/office/2006/metadata/properties" xmlns:ns3="d1af692f-475c-46b5-a87d-a47813ac8995" xmlns:ns4="ec38afac-11fd-4f05-b2a5-9d8ac7fc116b" targetNamespace="http://schemas.microsoft.com/office/2006/metadata/properties" ma:root="true" ma:fieldsID="a8acf1f0a3134d6bce4e4716f1f754da" ns3:_="" ns4:_="">
    <xsd:import namespace="d1af692f-475c-46b5-a87d-a47813ac8995"/>
    <xsd:import namespace="ec38afac-11fd-4f05-b2a5-9d8ac7fc116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af692f-475c-46b5-a87d-a47813ac89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38afac-11fd-4f05-b2a5-9d8ac7fc116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491A99-A98F-4E5B-91C4-75EDF7F9A3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DD998B-DDF4-43A4-8742-5AE47805ED40}">
  <ds:schemaRefs>
    <ds:schemaRef ds:uri="d1af692f-475c-46b5-a87d-a47813ac8995"/>
    <ds:schemaRef ds:uri="ec38afac-11fd-4f05-b2a5-9d8ac7fc116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321C71F-50EC-42A2-9BEA-F0A21830E09E}">
  <ds:schemaRefs>
    <ds:schemaRef ds:uri="d1af692f-475c-46b5-a87d-a47813ac8995"/>
    <ds:schemaRef ds:uri="ec38afac-11fd-4f05-b2a5-9d8ac7fc116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52154</TotalTime>
  <Words>2692</Words>
  <Application>Microsoft Macintosh PowerPoint</Application>
  <PresentationFormat>Widescreen</PresentationFormat>
  <Paragraphs>504</Paragraphs>
  <Slides>49</Slides>
  <Notes>4</Notes>
  <HiddenSlides>5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Arial</vt:lpstr>
      <vt:lpstr>Calibri</vt:lpstr>
      <vt:lpstr>Calibri Light</vt:lpstr>
      <vt:lpstr>Cambria Math</vt:lpstr>
      <vt:lpstr>Helvetica Neue</vt:lpstr>
      <vt:lpstr>Helvetica Neue Light</vt:lpstr>
      <vt:lpstr>Helvetica Neue Medium</vt:lpstr>
      <vt:lpstr>Source Sans Pro</vt:lpstr>
      <vt:lpstr>Trebuchet MS</vt:lpstr>
      <vt:lpstr>Office Theme</vt:lpstr>
      <vt:lpstr>AA203 Optimal and Learning-based Control</vt:lpstr>
      <vt:lpstr>Course overview</vt:lpstr>
      <vt:lpstr>Outline</vt:lpstr>
      <vt:lpstr>Recap: What is reinforcement learning?</vt:lpstr>
      <vt:lpstr>Recap: Why reinforcement learning?</vt:lpstr>
      <vt:lpstr>Recap: Markov Decision Process</vt:lpstr>
      <vt:lpstr>Recap: Value functions</vt:lpstr>
      <vt:lpstr>Recap: Value Functions and Bellman Equations</vt:lpstr>
      <vt:lpstr>Recap: Value Functions and Bellman Equations</vt:lpstr>
      <vt:lpstr>Solving MDPs</vt:lpstr>
      <vt:lpstr>(Another look at) Policy Iteration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Solving MDPs</vt:lpstr>
      <vt:lpstr>Outline</vt:lpstr>
      <vt:lpstr>Monte Carlo Reinforcement Learning</vt:lpstr>
      <vt:lpstr>Monte Carlo Policy Evaluation</vt:lpstr>
      <vt:lpstr>Monte Carlo Policy Evaluation</vt:lpstr>
      <vt:lpstr>Example: Blackjack</vt:lpstr>
      <vt:lpstr>Example: Blackjack</vt:lpstr>
      <vt:lpstr>Incremental updates</vt:lpstr>
      <vt:lpstr>Outline</vt:lpstr>
      <vt:lpstr>Temporal-Difference Learning</vt:lpstr>
      <vt:lpstr>Temporal-Difference Learning</vt:lpstr>
      <vt:lpstr>Advantages and disadvantages of MC vs TD</vt:lpstr>
      <vt:lpstr>Bias-Variance Trade-off</vt:lpstr>
      <vt:lpstr>Monte-Carlo Backup</vt:lpstr>
      <vt:lpstr>Temporal-Difference Backup</vt:lpstr>
      <vt:lpstr>Dynamic Programming Backup</vt:lpstr>
      <vt:lpstr>Bootstrapping and sampling</vt:lpstr>
      <vt:lpstr>A unifying view of RL</vt:lpstr>
      <vt:lpstr>Outline</vt:lpstr>
      <vt:lpstr>Generalized Policy Iteration</vt:lpstr>
      <vt:lpstr>GPI with Monte-Carlo Evaluation</vt:lpstr>
      <vt:lpstr>GPI with state-action value function</vt:lpstr>
      <vt:lpstr>A simple (but effective) strategy:  ϵ-Greedy Exploration</vt:lpstr>
      <vt:lpstr>Monte-Carlo Control</vt:lpstr>
      <vt:lpstr>Example: Blackjack</vt:lpstr>
      <vt:lpstr>To recap…</vt:lpstr>
      <vt:lpstr>Outline</vt:lpstr>
      <vt:lpstr>A taxonomy of RL</vt:lpstr>
      <vt:lpstr>The skeleton of an RL algorithm </vt:lpstr>
      <vt:lpstr>The skeleton of an RL algorithm </vt:lpstr>
      <vt:lpstr>The skeleton of an RL algorithm </vt:lpstr>
      <vt:lpstr>The skeleton of an RL algorithm 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AA203 Optimal and Learning-based Control</dc:title>
  <dc:creator>Marco Pavone</dc:creator>
  <cp:lastModifiedBy>Daniele Gammelli</cp:lastModifiedBy>
  <cp:revision>340</cp:revision>
  <cp:lastPrinted>2019-01-07T20:05:58Z</cp:lastPrinted>
  <dcterms:created xsi:type="dcterms:W3CDTF">2017-01-06T12:29:52Z</dcterms:created>
  <dcterms:modified xsi:type="dcterms:W3CDTF">2026-08-11T01:35:00Z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0x0101001AFBB6EF975807449194B44213CB1385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2026-08-11T01:32:24Z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1df38e35-3392-4fcc-9d54-cae2787ae310</vt:lpwstr>
  </property>
  <property fmtid="{D5CDD505-2E9C-101B-9397-08002B2CF9AE}" pid="8" name="MSIP_Label_defa4170-0d19-0005-0004-bc88714345d2_ActionId">
    <vt:lpwstr>bcb1af10-3908-4c41-9b9a-9861a637247d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50, 3, 0, 1</vt:lpwstr>
  </property>
</Properties>
</file>