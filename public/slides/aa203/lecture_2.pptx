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4"/>
  </p:notesMasterIdLst>
  <p:sldIdLst>
    <p:sldId id="256" r:id="rId5"/>
    <p:sldId id="357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52" r:id="rId15"/>
    <p:sldId id="356" r:id="rId16"/>
    <p:sldId id="399" r:id="rId17"/>
    <p:sldId id="401" r:id="rId18"/>
    <p:sldId id="403" r:id="rId19"/>
    <p:sldId id="404" r:id="rId20"/>
    <p:sldId id="358" r:id="rId21"/>
    <p:sldId id="359" r:id="rId22"/>
    <p:sldId id="360" r:id="rId23"/>
    <p:sldId id="361" r:id="rId24"/>
    <p:sldId id="402" r:id="rId25"/>
    <p:sldId id="405" r:id="rId26"/>
    <p:sldId id="406" r:id="rId27"/>
    <p:sldId id="368" r:id="rId28"/>
    <p:sldId id="367" r:id="rId29"/>
    <p:sldId id="369" r:id="rId30"/>
    <p:sldId id="370" r:id="rId31"/>
    <p:sldId id="371" r:id="rId32"/>
    <p:sldId id="35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C25E8B-7885-9143-B6A6-C663038D90BB}">
          <p14:sldIdLst>
            <p14:sldId id="256"/>
            <p14:sldId id="357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52"/>
            <p14:sldId id="356"/>
            <p14:sldId id="399"/>
            <p14:sldId id="401"/>
            <p14:sldId id="403"/>
            <p14:sldId id="404"/>
            <p14:sldId id="358"/>
            <p14:sldId id="359"/>
            <p14:sldId id="360"/>
            <p14:sldId id="361"/>
            <p14:sldId id="402"/>
            <p14:sldId id="405"/>
            <p14:sldId id="406"/>
            <p14:sldId id="368"/>
            <p14:sldId id="367"/>
            <p14:sldId id="369"/>
            <p14:sldId id="370"/>
            <p14:sldId id="371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8E4FBB-A91D-774B-B883-0EB894175B62}" v="2" dt="2026-04-06T04:10:29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1" autoAdjust="0"/>
    <p:restoredTop sz="85428" autoAdjust="0"/>
  </p:normalViewPr>
  <p:slideViewPr>
    <p:cSldViewPr snapToGrid="0" snapToObjects="1">
      <p:cViewPr varScale="1">
        <p:scale>
          <a:sx n="107" d="100"/>
          <a:sy n="107" d="100"/>
        </p:scale>
        <p:origin x="95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Gammelli" userId="292b8a31-f1ba-4b4c-b196-a231dc095d13" providerId="ADAL" clId="{6E670754-AB6A-5789-AA0A-6F6FD9CE3EEA}"/>
    <pc:docChg chg="modSld">
      <pc:chgData name="Daniele Gammelli" userId="292b8a31-f1ba-4b4c-b196-a231dc095d13" providerId="ADAL" clId="{6E670754-AB6A-5789-AA0A-6F6FD9CE3EEA}" dt="2026-04-06T04:10:29.435" v="1" actId="20577"/>
      <pc:docMkLst>
        <pc:docMk/>
      </pc:docMkLst>
      <pc:sldChg chg="modSp">
        <pc:chgData name="Daniele Gammelli" userId="292b8a31-f1ba-4b4c-b196-a231dc095d13" providerId="ADAL" clId="{6E670754-AB6A-5789-AA0A-6F6FD9CE3EEA}" dt="2026-04-06T04:10:29.435" v="1" actId="20577"/>
        <pc:sldMkLst>
          <pc:docMk/>
          <pc:sldMk cId="2141153767" sldId="370"/>
        </pc:sldMkLst>
        <pc:spChg chg="mod">
          <ac:chgData name="Daniele Gammelli" userId="292b8a31-f1ba-4b4c-b196-a231dc095d13" providerId="ADAL" clId="{6E670754-AB6A-5789-AA0A-6F6FD9CE3EEA}" dt="2026-04-06T04:10:29.435" v="1" actId="20577"/>
          <ac:spMkLst>
            <pc:docMk/>
            <pc:sldMk cId="2141153767" sldId="370"/>
            <ac:spMk id="3" creationId="{8DACBF41-C212-174B-A3AF-AD9C11624B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6F028-2067-3740-AA48-A91E93570B1D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D7EC-928D-0645-AAE8-498D74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31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f(\x^{k+1})\</a:t>
            </a:r>
            <a:r>
              <a:rPr lang="en-US" dirty="0" err="1"/>
              <a:t>leq</a:t>
            </a:r>
            <a:r>
              <a:rPr lang="en-US" dirty="0"/>
              <a:t> f(\</a:t>
            </a:r>
            <a:r>
              <a:rPr lang="en-US" dirty="0" err="1"/>
              <a:t>x^k</a:t>
            </a:r>
            <a:r>
              <a:rPr lang="en-US" dirty="0"/>
              <a:t>), \</a:t>
            </a:r>
            <a:r>
              <a:rPr lang="en-US" dirty="0" err="1"/>
              <a:t>qquad</a:t>
            </a:r>
            <a:r>
              <a:rPr lang="en-US" dirty="0"/>
              <a:t> k=0, 1, \</a:t>
            </a:r>
            <a:r>
              <a:rPr lang="en-US" dirty="0" err="1"/>
              <a:t>ldots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10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\x_{\alpha} = \x - \alpha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f(\x),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\alpha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f(\x_{\alpha})\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f(\x)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f(\x)^{\prime} (\x_{\alpha}- \x)  = f(\x) - \alpha \|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f(\x)\|^2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3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\x_{\alpha} = \x + \alpha \,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\alpha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f(\x_{\alpha})\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f(\x)+\alpha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f(\x)^{\prime}\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73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\x^{k+1} = \x^{k}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k=0,1,\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)^{\prime}\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96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 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)&lt;f(\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k=0,1,\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6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\text{where }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\left(\nabla^2f(\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)\right)^{-1}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\nabla^2f(\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x^k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)&gt;0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80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f(\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\min_{\alpha\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0}\,  f(\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\alpha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dd^k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68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84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*}{3}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\min &amp;  &amp;\quad &amp; f(\x)\\ 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\text{subject to}&amp;  &amp; \quad &amp;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(\x) = 0,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ldots,m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14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f(\x^*) + \sum_{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=1}^m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(\x^*) = 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50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f(\x^*) + \sum_{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=1}^m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(\x^*) =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59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f(\x^*) + \sum_{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=1}^m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(\x^*) = 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47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V(\x^*) = \left\{\Delta \x \big \vert \nabla h_i(\x^*)^{\prime}\Delta \x = 0, \, \,i=1, \ldots, m \right\}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01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</a:t>
            </a:r>
            <a:r>
              <a:rPr lang="en-US" dirty="0" err="1"/>
              <a:t>nabla</a:t>
            </a:r>
            <a:r>
              <a:rPr lang="en-US" dirty="0"/>
              <a:t> f(\x^*) + \sum_{</a:t>
            </a:r>
            <a:r>
              <a:rPr lang="en-US" dirty="0" err="1"/>
              <a:t>i</a:t>
            </a:r>
            <a:r>
              <a:rPr lang="en-US" dirty="0"/>
              <a:t>=1}^m \</a:t>
            </a:r>
            <a:r>
              <a:rPr lang="en-US" dirty="0" err="1"/>
              <a:t>lambda_i</a:t>
            </a:r>
            <a:r>
              <a:rPr lang="en-US" dirty="0"/>
              <a:t> \</a:t>
            </a:r>
            <a:r>
              <a:rPr lang="en-US" dirty="0" err="1"/>
              <a:t>nabla</a:t>
            </a:r>
            <a:r>
              <a:rPr lang="en-US" dirty="0"/>
              <a:t> </a:t>
            </a:r>
            <a:r>
              <a:rPr lang="en-US" dirty="0" err="1"/>
              <a:t>h_i</a:t>
            </a:r>
            <a:r>
              <a:rPr lang="en-US" dirty="0"/>
              <a:t>(\x^*) =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76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" dirty="0"/>
              <a:t>L(\</a:t>
            </a:r>
            <a:r>
              <a:rPr lang="pt" dirty="0" err="1"/>
              <a:t>x</a:t>
            </a:r>
            <a:r>
              <a:rPr lang="pt" dirty="0"/>
              <a:t>, \lambda) = </a:t>
            </a:r>
            <a:r>
              <a:rPr lang="pt" dirty="0" err="1"/>
              <a:t>f</a:t>
            </a:r>
            <a:r>
              <a:rPr lang="pt" dirty="0"/>
              <a:t>(\</a:t>
            </a:r>
            <a:r>
              <a:rPr lang="pt" dirty="0" err="1"/>
              <a:t>x</a:t>
            </a:r>
            <a:r>
              <a:rPr lang="pt" dirty="0"/>
              <a:t>) + \sum_{</a:t>
            </a:r>
            <a:r>
              <a:rPr lang="pt" dirty="0" err="1"/>
              <a:t>i</a:t>
            </a:r>
            <a:r>
              <a:rPr lang="pt" dirty="0"/>
              <a:t>=1}^m \</a:t>
            </a:r>
            <a:r>
              <a:rPr lang="pt" dirty="0" err="1"/>
              <a:t>lambda_i</a:t>
            </a:r>
            <a:r>
              <a:rPr lang="pt" dirty="0"/>
              <a:t> </a:t>
            </a:r>
            <a:r>
              <a:rPr lang="pt" dirty="0" err="1"/>
              <a:t>h_i</a:t>
            </a:r>
            <a:r>
              <a:rPr lang="pt" dirty="0"/>
              <a:t>(\</a:t>
            </a:r>
            <a:r>
              <a:rPr lang="pt" dirty="0" err="1"/>
              <a:t>x</a:t>
            </a:r>
            <a:r>
              <a:rPr lang="pt" dirty="0"/>
              <a:t>)</a:t>
            </a:r>
          </a:p>
          <a:p>
            <a:endParaRPr lang="pt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\begin{equation*}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\begin{split}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_{\x}L(\x^*, \lambda^*) = 0\\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_{\lambda}L(\x^*, \lambda^*) = 0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\end{split}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\end{equation*}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18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*}{3}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\min &amp;  &amp;\quad &amp; f(\x)\\ 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\text{subject to}&amp;  &amp; \quad &amp;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(\x) = 0,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  &amp; \quad &amp;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j=1,\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*}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*}{3}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\min &amp;  &amp;\quad &amp; f(\x)\\ 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\text{subject to}&amp;  &amp; \quad &amp; \h(\x) = 0 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  &amp; \quad &amp; \g(\x)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*}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06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</a:t>
            </a:r>
            <a:r>
              <a:rPr lang="en-US" dirty="0" err="1"/>
              <a:t>nabla</a:t>
            </a:r>
            <a:r>
              <a:rPr lang="en-US" dirty="0"/>
              <a:t> f(\x^*) + \sum_{</a:t>
            </a:r>
            <a:r>
              <a:rPr lang="en-US" dirty="0" err="1"/>
              <a:t>i</a:t>
            </a:r>
            <a:r>
              <a:rPr lang="en-US" dirty="0"/>
              <a:t>=1}^n \</a:t>
            </a:r>
            <a:r>
              <a:rPr lang="en-US" dirty="0" err="1"/>
              <a:t>lambda_i</a:t>
            </a:r>
            <a:r>
              <a:rPr lang="en-US" dirty="0"/>
              <a:t>^* \</a:t>
            </a:r>
            <a:r>
              <a:rPr lang="en-US" dirty="0" err="1"/>
              <a:t>nabla</a:t>
            </a:r>
            <a:r>
              <a:rPr lang="en-US" dirty="0"/>
              <a:t> </a:t>
            </a:r>
            <a:r>
              <a:rPr lang="en-US" dirty="0" err="1"/>
              <a:t>h_i</a:t>
            </a:r>
            <a:r>
              <a:rPr lang="en-US" dirty="0"/>
              <a:t>(\x^*) + \sum_{j\in A(\x^*)} \</a:t>
            </a:r>
            <a:r>
              <a:rPr lang="en-US" dirty="0" err="1"/>
              <a:t>mu_j</a:t>
            </a:r>
            <a:r>
              <a:rPr lang="en-US" dirty="0"/>
              <a:t>^*\</a:t>
            </a:r>
            <a:r>
              <a:rPr lang="en-US" dirty="0" err="1"/>
              <a:t>nabla</a:t>
            </a:r>
            <a:r>
              <a:rPr lang="en-US" dirty="0"/>
              <a:t> </a:t>
            </a:r>
            <a:r>
              <a:rPr lang="en-US" dirty="0" err="1"/>
              <a:t>g_j</a:t>
            </a:r>
            <a:r>
              <a:rPr lang="en-US" dirty="0"/>
              <a:t>(\x^*) = 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 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f(\x^*) + \sum_{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=1}^n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(\x^*) + \sum_{j=1}^r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mu_j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(\x^*) = 0\\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mu_j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 = 0 \quad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A(\x^*)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\text{(indeed $\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mu_j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0 $)}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28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L(\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\lambda, \mu):=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+ \sum_{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=1}^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lambda_i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+ \sum_{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=1}^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mu_j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g_j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</a:p>
          <a:p>
            <a:endParaRPr lang="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\begin{equation*}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\begin{split}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_{\x}L(\x^*, \lambda^*, \mu^*)=0\\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mu_j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geq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 \quad j=1,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r\\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mu_j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^* = 0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A(\x^*)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\end{split}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\end{equation*}</a:t>
            </a:r>
            <a:endParaRPr lang="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7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*}{3}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\min &amp;  &amp;\quad &amp; f(\x)\\ 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\text{subject to}&amp;  &amp; \quad &amp;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(\x) = 0,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ldots,m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7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85231C86-9EFB-5144-B03B-BBD8D1A0FCAE}" type="datetime1">
              <a:rPr lang="en-US" smtClean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hr-HR"/>
              <a:t>AA 203 | Lecture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8AA1F273-EF2F-3941-BBF8-D365CB27DD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1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5FA01E9C-DCF5-9347-847D-229229AD1E07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42090"/>
            <a:ext cx="2743200" cy="365125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0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03135-6BF6-1D45-A4B3-F4BFF1D040D2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tanfordASL/AA203-Notes" TargetMode="External"/><Relationship Id="rId4" Type="http://schemas.openxmlformats.org/officeDocument/2006/relationships/image" Target="../media/image25.tif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27.tiff"/><Relationship Id="rId4" Type="http://schemas.openxmlformats.org/officeDocument/2006/relationships/image" Target="../media/image26.tif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tiff"/><Relationship Id="rId4" Type="http://schemas.openxmlformats.org/officeDocument/2006/relationships/image" Target="../media/image28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tiff"/><Relationship Id="rId4" Type="http://schemas.openxmlformats.org/officeDocument/2006/relationships/image" Target="../media/image32.tif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tiff"/><Relationship Id="rId4" Type="http://schemas.openxmlformats.org/officeDocument/2006/relationships/image" Target="../media/image35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AA203</a:t>
            </a:r>
            <a:br>
              <a:rPr lang="en-US" sz="4400" dirty="0"/>
            </a:br>
            <a:r>
              <a:rPr lang="en-US" sz="4400" dirty="0"/>
              <a:t>Optimal and Learning-based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Optimization theory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7942"/>
            <a:ext cx="12192000" cy="11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2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D71D-C99A-B244-91D5-B3B9053F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5815-FD6E-A44A-A6BA-731AF4949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Computational methods for unconstrained optimization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Optimization with equality constraints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Optimization with inequality constraints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3102E-8EC7-5045-92DD-B9F1621A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9B05A-3EA6-E045-B5A9-8432AD1539F7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DA6BD-2FB4-C947-BA3D-FAC2E476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50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D71D-C99A-B244-91D5-B3B9053F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5815-FD6E-A44A-A6BA-731AF4949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Computational methods for unconstrained optimization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Optimization with equality constraints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Optimization with inequality constraints</a:t>
            </a:r>
            <a:endParaRPr lang="en-US" dirty="0">
              <a:solidFill>
                <a:schemeClr val="bg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3102E-8EC7-5045-92DD-B9F1621A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75E3-35BA-D347-A202-EE4D8D1E0C91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DA6BD-2FB4-C947-BA3D-FAC2E476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57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1A1A-3A37-EE43-96EC-D514273C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Computational methods (unconstrained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9191B-E5EA-B140-9C2F-FF973C7D4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1646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Goal</a:t>
                </a:r>
                <a:r>
                  <a:rPr lang="en-US" dirty="0"/>
                  <a:t>: find “numerical recipes” to solve optimization problem</a:t>
                </a: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Key idea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iterative descent. We start at some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0" smtClean="0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x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(initial guess) and successively generate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x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>
                            <a:latin typeface="Source Sans Pro" panose="020B0503030403020204" pitchFamily="34" charset="0"/>
                            <a:ea typeface="Source Sans Pro" panose="020B0503030403020204" pitchFamily="34" charset="0"/>
                          </a:rPr>
                          <m:t>x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,…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decreased at each iteration, i.e.,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hope is to decrease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all the way to the minimum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9191B-E5EA-B140-9C2F-FF973C7D4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16465"/>
              </a:xfrm>
              <a:blipFill>
                <a:blip r:embed="rId3"/>
                <a:stretch>
                  <a:fillRect l="-1086" t="-2413" b="-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48F6E-4849-1446-B9F3-21BE6BF7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92C0-CB95-624A-8E80-531009381255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32FCF-9CE8-CF47-8A8D-1CA77598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E5582C-7B1F-7C4A-A5A4-F6505FAB4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4853553"/>
            <a:ext cx="5372100" cy="432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3EF585-7AB0-DD05-334F-BBFAD84E9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3284" y="2360567"/>
            <a:ext cx="1665432" cy="58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3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7A30B-B8CE-9B4A-A85F-CF8FCDB6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25285-F328-1040-B79A-1578E9A7F2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latin typeface="Source Sans Pro" panose="020B0503030403020204" pitchFamily="34" charset="0"/>
                        <a:ea typeface="Source Sans Pro" panose="020B0503030403020204" pitchFamily="34" charset="0"/>
                      </a:rPr>
                      <m:t>x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consider the half line of vectors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From first order Taylor expansion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small)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small enough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smaller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25285-F328-1040-B79A-1578E9A7F2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DB41C-9655-E744-8F9B-716D6AD6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195FA-B37D-574E-9B3A-E29DF30A8026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44C60-2567-6F4A-8A04-AB775D90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A5770D-7C70-0443-AF89-9FF6AAAF9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292" y="2701489"/>
            <a:ext cx="4429414" cy="345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98A97A-2ED3-C846-9631-AF12E8CB5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8114" y="4229412"/>
            <a:ext cx="7795769" cy="38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3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A3C7-4689-1E48-8F7E-2F62E5470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684F5-B490-A04A-A548-D7DD0613B1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Carrying this idea one step further, consider the half line of vectors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𝐝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(angle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&gt;90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By Taylor expansion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small enough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smaller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684F5-B490-A04A-A548-D7DD0613B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086" t="-2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433BD-7FC3-B744-879C-92AAD8E7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CF7F-2957-FE42-996C-F2362BD16EA6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5856E-8920-734E-8DC0-52957D12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B88CD1-12DD-9444-BAFE-475625C52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615" y="2493819"/>
            <a:ext cx="4486770" cy="367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3DC7CC-F5F4-7F4D-8984-F0F52E38B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215" y="4766446"/>
            <a:ext cx="4553569" cy="43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8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9BAE-BBB7-3C4B-A4AF-64054666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8F994-080E-4B4D-A8BD-0EAFB2E7FF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Broad and important class of algorithms: </a:t>
                </a:r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gradient methods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where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chosen so that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 the </a:t>
                </a:r>
                <a:r>
                  <a:rPr lang="en-US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stepsize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chosen to be positive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8F994-080E-4B4D-A8BD-0EAFB2E7FF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C5B9A-6FC6-5F40-9055-5778A00E9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6849-6CBC-7549-91D8-CA0AFE3EC778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714-9421-A641-A894-EB2B2380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D0EA5-5A9E-F046-A519-02AD006E4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118" y="2530357"/>
            <a:ext cx="5705764" cy="4104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0EB65C-DEDC-9F40-A353-BB8A26AE2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384" y="4148414"/>
            <a:ext cx="2277231" cy="41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1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BE88F-4A52-B141-80BC-E7D2DC7A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7612B-8967-9640-A62E-3A35C3A31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Most often the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stepsize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chosen so that</a:t>
            </a: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 method is called </a:t>
            </a:r>
            <a:r>
              <a:rPr lang="en-US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gradient descent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. “Tuning” parameters: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selecting the descent direction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selecting the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stepsize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1AA7D-7E2A-884B-BD72-4D7C0B84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82A4-9CFA-5349-B03E-B89B88D50CD6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07162-D701-9F4C-960F-2D8516D1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DF96AA-A790-6344-81E8-38047AC5E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516" y="2673939"/>
            <a:ext cx="6868968" cy="4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01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91AB-5AB4-B84D-A267-CBFE0A91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descent direction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0E712-9805-F445-82C9-FE63E14E9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791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General class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(Obviously,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Popular choices:</a:t>
                </a:r>
              </a:p>
              <a:p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Steepest descent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  <a:p>
                <a:endPara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Newton's method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                                            provided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0E712-9805-F445-82C9-FE63E14E9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7915"/>
                <a:ext cx="10515600" cy="4667250"/>
              </a:xfrm>
              <a:blipFill>
                <a:blip r:embed="rId3"/>
                <a:stretch>
                  <a:fillRect l="-1086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64DA9-5BC0-3845-889B-D2D51054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C38E-F704-9945-BA8E-D7051D24C6F5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89C94-72D0-1445-95AB-996E055AC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3D2B5-E6AF-8E44-9031-03F6DDACF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962" y="2315462"/>
            <a:ext cx="5978075" cy="4277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AED4FF-2B7F-7146-9B05-D5ADE2D06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042" y="4738247"/>
            <a:ext cx="1107458" cy="323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6D280D-6901-9445-9F2D-0C171A34C6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5436989"/>
            <a:ext cx="2910751" cy="519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84813E-E414-FD4C-A030-B2E3EB5F1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3414" y="5490891"/>
            <a:ext cx="1950304" cy="41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23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0F82-F569-6A45-95EE-D5D8E721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</a:t>
            </a:r>
            <a:r>
              <a:rPr lang="en-US" dirty="0" err="1"/>
              <a:t>stepsize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E0E73-5DAD-C84C-882D-E2B547664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Minimization rule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selected such that the cost function is minimized along the direction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, i.e.,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Constant </a:t>
                </a:r>
                <a:r>
                  <a:rPr lang="en-US" dirty="0" err="1">
                    <a:solidFill>
                      <a:srgbClr val="C00000"/>
                    </a:solidFill>
                  </a:rPr>
                  <a:t>stepsize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method might diverge</a:t>
                </a:r>
              </a:p>
              <a:p>
                <a:pPr lvl="1"/>
                <a:r>
                  <a:rPr lang="en-US" dirty="0"/>
                  <a:t>convergence rate could be very slow  </a:t>
                </a:r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Diminishing </a:t>
                </a:r>
                <a:r>
                  <a:rPr lang="en-US" dirty="0" err="1">
                    <a:solidFill>
                      <a:srgbClr val="C00000"/>
                    </a:solidFill>
                  </a:rPr>
                  <a:t>stepsize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it does not guarantee descent at each iteration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2E0E73-5DAD-C84C-882D-E2B547664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t="-2180" b="-10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100F2-35F8-4F4D-827A-6B6334B0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1543A-1260-F948-BFF4-A3854D4354E7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10CB3-4E57-5B43-B357-7FE61C6A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478DE3-5248-E744-B433-E7F0BC2DB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467" y="2867891"/>
            <a:ext cx="5321066" cy="61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3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0F722-5EAD-0647-987B-9D3B8508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Undiscussed in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785AE-147B-A44C-BD98-7F7D8B8BA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3980"/>
            <a:ext cx="59676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Mathematical analysis: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convergence (to stationary points)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termination criteria 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convergence rate</a:t>
            </a:r>
          </a:p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Derivative-free methods, e.g., 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coordinate descent</a:t>
            </a:r>
          </a:p>
          <a:p>
            <a:r>
              <a:rPr lang="en-US" dirty="0" err="1"/>
              <a:t>Nelder</a:t>
            </a:r>
            <a:r>
              <a:rPr lang="en-US" dirty="0"/>
              <a:t>-Mead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79C87-B9DB-4D42-9895-ECDA03FA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D085-A157-1C46-BD97-4CC0246D96AE}" type="datetime1">
              <a:rPr lang="en-US" smtClean="0"/>
              <a:t>4/5/26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86629B2-D986-4161-98C2-A57AFFDC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52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6B9F-3C2E-C845-81F5-C49FBD20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constrained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61FA9-8ACF-3049-96DD-5CAAF425C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constraint set usually specified in terms of equality and inequality constraints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sophisticated collection of optimality conditions, involving some auxiliary variables, called Lagrange multipliers</a:t>
            </a:r>
          </a:p>
          <a:p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Viewpoints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penalty viewpoint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we disregard the constraints and we add to the cost a high penalty for violating them </a:t>
            </a:r>
          </a:p>
          <a:p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feasibility direction viewpoint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it relies on the fact that at a local minimum there can be no cost improvement when traveling a small distance along a direction that leads to feasible points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FDD8D-E71F-2B4E-B3E1-7F2FEFF1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4C9635-91FD-0C45-A7D2-0D9E3C8C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4295-FC82-8648-ABC0-4ADE73D13CAD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5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D71D-C99A-B244-91D5-B3B9053F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5815-FD6E-A44A-A6BA-731AF4949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Computational methods for unconstrained optimization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Optimization with equality constraints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Optimization with inequality constraints</a:t>
            </a:r>
            <a:endParaRPr lang="en-US" dirty="0">
              <a:solidFill>
                <a:schemeClr val="bg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3102E-8EC7-5045-92DD-B9F1621A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B3ADA-D79D-4047-B9DB-A2DE7AFD3ABF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DA6BD-2FB4-C947-BA3D-FAC2E476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11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0A07-204D-BF4B-8EF0-4CA0112E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with equality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8D454-5AEE-104F-95A1-9EFF64E71A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851399"/>
                <a:ext cx="10515600" cy="13255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notation: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𝐡</m:t>
                    </m:r>
                    <m:r>
                      <a:rPr lang="en-US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≔(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…,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𝑚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8D454-5AEE-104F-95A1-9EFF64E71A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851399"/>
                <a:ext cx="10515600" cy="1325563"/>
              </a:xfrm>
              <a:blipFill>
                <a:blip r:embed="rId3"/>
                <a:stretch>
                  <a:fillRect l="-965" t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957C5-35B5-E841-BB58-3D7BE010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77B528-21EC-834B-9ED0-D31CB6F7E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53" y="2419350"/>
            <a:ext cx="6910493" cy="100965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3C1886B-A9CC-0349-8BB8-E1EB29BB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ED0B-9317-1D4D-8D46-959662E6F2DD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6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B506-2515-D344-A47B-83B7DC8A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 multipliers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B0053-948E-0C48-9F90-5114763E54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Basic Lagrange multiplier theorem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for a given local minimum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there exist scalars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called Lagrange multipliers such that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B0053-948E-0C48-9F90-5114763E5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050C-6371-9141-BF58-9221241CE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E78C66-F4EB-264D-B1CC-3F4EA2384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141" y="2947194"/>
            <a:ext cx="4775718" cy="1054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B7879D-10B7-0645-92FD-4C1D95A61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254" y="5265739"/>
            <a:ext cx="4285146" cy="10541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8CC7CA3-2127-2641-97C6-3B94A5E4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3DFE-D486-164C-9320-128F2F912A60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B506-2515-D344-A47B-83B7DC8A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 multipliers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7879D-10B7-0645-92FD-4C1D95A61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068" y="1599711"/>
            <a:ext cx="2793525" cy="687177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8CC7CA3-2127-2641-97C6-3B94A5E4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3CC6-3368-1C48-B3F0-10C0DC0A886A}" type="datetime1">
              <a:rPr lang="en-US" smtClean="0"/>
              <a:t>4/5/26</a:t>
            </a:fld>
            <a:endParaRPr lang="en-US"/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1192D945-1C9C-4870-982D-64FAAC080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773" y="3287415"/>
            <a:ext cx="2885847" cy="270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>
            <a:extLst>
              <a:ext uri="{FF2B5EF4-FFF2-40B4-BE49-F238E27FC236}">
                <a16:creationId xmlns:a16="http://schemas.microsoft.com/office/drawing/2014/main" id="{7FD8DBE3-34B6-46FA-BA7B-E73939537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033" y="3287415"/>
            <a:ext cx="2885846" cy="270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243FD6-2C76-6140-9E5B-2985487A2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628" y="2731835"/>
            <a:ext cx="2284136" cy="3185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336080-54BF-9B49-9E3F-F43DA87258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3922" y="2747373"/>
            <a:ext cx="1794678" cy="287459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F9E8029-DA94-4526-9CD1-CA53FA0E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537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B506-2515-D344-A47B-83B7DC8A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 multipliers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B0053-948E-0C48-9F90-5114763E54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Basic Lagrange multiplier theorem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for a given local minimum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there exist scalars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called Lagrange multipliers such that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B0053-948E-0C48-9F90-5114763E5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050C-6371-9141-BF58-9221241CE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E78C66-F4EB-264D-B1CC-3F4EA2384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141" y="2947194"/>
            <a:ext cx="4775718" cy="1054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B7879D-10B7-0645-92FD-4C1D95A61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254" y="5265739"/>
            <a:ext cx="4285146" cy="1054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475793-3FA8-424D-B86F-568EAD564598}"/>
                  </a:ext>
                </a:extLst>
              </p:cNvPr>
              <p:cNvSpPr txBox="1"/>
              <p:nvPr/>
            </p:nvSpPr>
            <p:spPr>
              <a:xfrm>
                <a:off x="8858250" y="5796619"/>
                <a:ext cx="31759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Solution: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= (-1, -1)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475793-3FA8-424D-B86F-568EAD564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0" y="5796619"/>
                <a:ext cx="3175934" cy="523220"/>
              </a:xfrm>
              <a:prstGeom prst="rect">
                <a:avLst/>
              </a:prstGeom>
              <a:blipFill>
                <a:blip r:embed="rId6"/>
                <a:stretch>
                  <a:fillRect l="-3984" t="-11905" r="-2789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8CC7CA3-2127-2641-97C6-3B94A5E4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05E9-B184-AF46-B11C-A77D9CB8FD5A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8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E6D8-0C40-1747-BDB0-DE2D270CC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 multipliers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B7FCB-584E-A34C-B413-3B58BA6A44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7994"/>
                <a:ext cx="10515600" cy="503237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2600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Interpretations</a:t>
                </a: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cost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belongs to the subspace spanned by the constraint gradients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 That is, the constrained solution will be at a point of tangency of the constrained cost curves and the constraint function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cost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orthogonal to the subspace of first order feasible variations</a:t>
                </a:r>
              </a:p>
              <a:p>
                <a:pPr marL="457200" lvl="1" indent="0">
                  <a:buNone/>
                </a:pPr>
                <a:endParaRPr 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457200" lvl="1" indent="0">
                  <a:buNone/>
                </a:pPr>
                <a:endParaRPr 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457200" lvl="1" indent="0">
                  <a:buNone/>
                </a:pPr>
                <a:endParaRPr 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457200" lvl="1" indent="0">
                  <a:buNone/>
                </a:pP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This is the subspace of variations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6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which the vector </a:t>
                </a:r>
                <a14:m>
                  <m:oMath xmlns:m="http://schemas.openxmlformats.org/officeDocument/2006/math">
                    <m:r>
                      <a:rPr lang="en-US" sz="26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6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satisfies the constraint </a:t>
                </a:r>
                <a14:m>
                  <m:oMath xmlns:m="http://schemas.openxmlformats.org/officeDocument/2006/math">
                    <m:r>
                      <a:rPr lang="en-US" sz="2600" b="1" i="0" smtClean="0">
                        <a:latin typeface="Cambria Math" panose="02040503050406030204" pitchFamily="18" charset="0"/>
                      </a:rPr>
                      <m:t>𝐡</m:t>
                    </m:r>
                    <m:d>
                      <m:dPr>
                        <m:ctrlPr>
                          <a:rPr lang="en-US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up to first order. Hence, at a local minimum, the first order cost variation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zero for all variations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6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6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 this subspace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B7FCB-584E-A34C-B413-3B58BA6A4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7994"/>
                <a:ext cx="10515600" cy="5032376"/>
              </a:xfrm>
              <a:blipFill>
                <a:blip r:embed="rId3"/>
                <a:stretch>
                  <a:fillRect l="-844" t="-1763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E45B1-5478-2D43-9B58-720D68BD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8A4B30-A150-9445-A896-752E0C20D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037" y="4144192"/>
            <a:ext cx="7019925" cy="451001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EF4DF4-4E62-0D43-A0EF-CB656159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2686F-EC65-AE4C-B490-4E24755F9D9A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3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08E7-D99D-4B4F-81E2-EA7440EE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ACBF41-C212-174B-A3AF-AD9C11624B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6053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Theorem: NOC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be a local minimum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subject to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𝐡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assume that the constraint gradients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),…,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linearly independent. Then there exists a </a:t>
                </a:r>
                <a:r>
                  <a:rPr lang="en-US" u="sng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unique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), called a Lagrange multiplier vector, such that 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ACBF41-C212-174B-A3AF-AD9C11624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605356"/>
              </a:xfrm>
              <a:blipFill>
                <a:blip r:embed="rId3"/>
                <a:stretch>
                  <a:fillRect l="-1086" t="-3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A14FC-33C4-F44D-A4E5-478D0CD5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AEE8E9-477D-1644-93BB-6DB52B03C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529" y="4235145"/>
            <a:ext cx="4342941" cy="9585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C5F7DD-B30D-5D40-BF87-AE2B915FD0E6}"/>
              </a:ext>
            </a:extLst>
          </p:cNvPr>
          <p:cNvSpPr/>
          <p:nvPr/>
        </p:nvSpPr>
        <p:spPr>
          <a:xfrm>
            <a:off x="838200" y="1754259"/>
            <a:ext cx="10515600" cy="367672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92FF913-FACA-2D4F-900F-88B9E41C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3656A-060B-3B4E-A9C6-A5D89B7858FA}" type="datetime1">
              <a:rPr lang="en-US" smtClean="0"/>
              <a:t>4/5/26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5D47A-E959-6A6B-FE1D-065996A4D731}"/>
              </a:ext>
            </a:extLst>
          </p:cNvPr>
          <p:cNvSpPr txBox="1"/>
          <p:nvPr/>
        </p:nvSpPr>
        <p:spPr>
          <a:xfrm>
            <a:off x="838200" y="5969655"/>
            <a:ext cx="8166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(2</a:t>
            </a:r>
            <a:r>
              <a:rPr lang="en-US" sz="2800" baseline="3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nd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order NOC and SOC are provided in 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hlinkClick r:id="rId5"/>
              </a:rPr>
              <a:t>AA203-Notes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501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A835-2722-A149-98C4-5DFF0E68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35818-3D79-2847-B132-C0FB1A3F4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975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feasible vector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linearly independent is called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regular</a:t>
                </a: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Proof relies on transforming the constrained problem into an unconstrained one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penalty approach: we disregard the constraints while adding to the cost a high penalty for violating them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extends to inequality constraints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elimination approach: we view the constraints as a system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equations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unknowns, and we express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of the variables in terms of the remaining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thereby reducing the problem to an unconstrained problem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There may not exist a Lagrange multiplier for a local minimum that is not regular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35818-3D79-2847-B132-C0FB1A3F4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9757"/>
              </a:xfrm>
              <a:blipFill>
                <a:blip r:embed="rId2"/>
                <a:stretch>
                  <a:fillRect l="-965" t="-3371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BC88-FE62-BF4B-920B-C95DA42F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24337-049B-FD4A-9799-91E89087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92C2-CC7D-7E4B-AE96-AE7A566AE49D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5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11BE-85D9-8B45-869F-F63A47C8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Lagrangian</a:t>
            </a:r>
            <a:r>
              <a:rPr lang="en-US" dirty="0"/>
              <a:t>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287B5D-2E90-6147-86C9-10F4D0A45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It is often convenient to write the necessary conditions in terms of the </a:t>
                </a:r>
                <a:r>
                  <a:rPr lang="en-US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Lagrangian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Then,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 local minimum which is regular, the NOC conditions are  compactly written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287B5D-2E90-6147-86C9-10F4D0A45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74DCF-10E2-9B4E-9256-82C35B20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1BBFD3-7FDB-BC4E-9DAB-C1305F9D6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0" y="2950307"/>
            <a:ext cx="4318000" cy="95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003C90-9325-0D44-858A-2AAA7F08C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388" y="5382226"/>
            <a:ext cx="2723224" cy="9573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294722-F326-0D4E-ADA3-C3D60AA70052}"/>
                  </a:ext>
                </a:extLst>
              </p:cNvPr>
              <p:cNvSpPr txBox="1"/>
              <p:nvPr/>
            </p:nvSpPr>
            <p:spPr>
              <a:xfrm>
                <a:off x="8089900" y="5508613"/>
                <a:ext cx="3784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System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equations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unknowns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294722-F326-0D4E-ADA3-C3D60AA7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900" y="5508613"/>
                <a:ext cx="3784600" cy="830997"/>
              </a:xfrm>
              <a:prstGeom prst="rect">
                <a:avLst/>
              </a:prstGeom>
              <a:blipFill>
                <a:blip r:embed="rId6"/>
                <a:stretch>
                  <a:fillRect l="-2341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C2DF7E-FFA8-0941-B1E5-554A4775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03EB-6E66-D742-B6F6-C6B88E550B3E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D71D-C99A-B244-91D5-B3B9053F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5815-FD6E-A44A-A6BA-731AF4949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Computational methods for unconstrained optimization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bg2">
                  <a:lumMod val="7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Optimization with equality constraints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Optimization with inequality constraints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3102E-8EC7-5045-92DD-B9F1621A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4ECA-B152-C34B-A3B4-E175B923F3D2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DA6BD-2FB4-C947-BA3D-FAC2E476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871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09C1-CDDD-4845-BBB9-583AD50C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with inequality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C62E1-1B04-9B4D-A63E-3C763B062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 compact form (ICP problem)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C62E1-1B04-9B4D-A63E-3C763B062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01FD4-36CB-1647-87E9-608342F6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E003BB-6F74-0946-8A2D-890536FBB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430" y="2055815"/>
            <a:ext cx="5341133" cy="1265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E0A0B4-C1A6-3048-AC8C-87BF88F8B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057" y="4972050"/>
            <a:ext cx="3051881" cy="133985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F476A72-8487-6E48-B044-A9CDDC3D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D7FF-4BA8-B843-9E4A-C36EA8099767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0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5094-2A62-EC4D-AFA6-59ECF78C6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FDB5D0-82BF-0B40-B01E-662077D6A0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any feasible point, the set of active inequality constraints is denoted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11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∉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then the constraint is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inactive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Key points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 local minimum of the ICP,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 also a local minimum for the identical ICP without the inactive constraints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at a local minimum, active inequality constraints can be treated to a large extent as equalities 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FDB5D0-82BF-0B40-B01E-662077D6A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65" t="-2725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CC6B8-C830-D548-97EE-379AD1F7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4C35F-B62B-B34B-8D54-E22A6ECF7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099" y="2452255"/>
            <a:ext cx="3769802" cy="404668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983309-8694-B044-8A0F-F9ADEA7B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62052-3457-0B49-B9CA-CD46D84FCB6B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3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AA15-3152-3A4C-B431-9FCD43D86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43A9B0-4EDD-EB48-AC59-0463623D5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Hence,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is a local minimum of ICP,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also a local minimum for the </a:t>
                </a:r>
                <a:r>
                  <a:rPr lang="en-US" dirty="0">
                    <a:solidFill>
                      <a:srgbClr val="C00000"/>
                    </a:solidFill>
                  </a:rPr>
                  <a:t>equality</a:t>
                </a:r>
                <a:r>
                  <a:rPr lang="en-US" dirty="0"/>
                  <a:t> constrained problem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43A9B0-4EDD-EB48-AC59-0463623D5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99AA8-2747-3D4F-96B1-B5C7EA8F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D996FA-65D7-DB40-87E2-3FDAE1819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430" y="3093603"/>
            <a:ext cx="5431139" cy="1325997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80F5B96-F6A6-E74D-9ED5-D44B5E8A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B567-D178-DA4B-A057-3DCA12BDE0A8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71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9BCF-B2B9-734E-A3D0-9463435B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E8EAB2-D4BC-E14D-9EAC-453D2CC508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Thus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regular, there exist Lagrange multipliers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such that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or equivalently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E8EAB2-D4BC-E14D-9EAC-453D2CC508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BD668-0B33-A94A-A934-B5DA2F65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C9D365-4FE5-364C-BA0F-3D0796184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799" y="2957521"/>
            <a:ext cx="6740402" cy="942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7BFF6C-D72C-C84F-B25A-164946914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799" y="4777757"/>
            <a:ext cx="6740401" cy="1562719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BA9C43F-1A0C-9D4F-B751-C99C4D67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0282-714B-6946-9BD8-EB9B3598FF3D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1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08E7-D99D-4B4F-81E2-EA7440EE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Karush</a:t>
            </a:r>
            <a:r>
              <a:rPr lang="en-US" dirty="0"/>
              <a:t>-Kuhn-Tucker NOC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ACBF41-C212-174B-A3AF-AD9C11624B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68459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Define the </a:t>
                </a:r>
                <a:r>
                  <a:rPr lang="en-US" sz="26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Lagrangian</a:t>
                </a: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function</a:t>
                </a:r>
              </a:p>
              <a:p>
                <a:pPr marL="0" indent="0">
                  <a:buNone/>
                </a:pPr>
                <a:endParaRPr lang="en-US" sz="2600" dirty="0">
                  <a:solidFill>
                    <a:srgbClr val="C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2600" dirty="0">
                  <a:solidFill>
                    <a:srgbClr val="C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Theorem: KKT NOC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600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be a local minimum for ICP where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𝑓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h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p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𝐶</m:t>
                        </m:r>
                      </m:e>
                      <m:sup>
                        <m:r>
                          <a:rPr lang="en-US" sz="260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600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is regular (equality + active inequality constraints gradients are linearly independent). Then, there exist </a:t>
                </a:r>
                <a:r>
                  <a:rPr lang="en-US" sz="2600" u="sng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unique</a:t>
                </a: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Lagrange multiplier vectors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(</m:t>
                    </m:r>
                    <m:sSubSup>
                      <m:sSub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Sup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𝜆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∗</m:t>
                        </m:r>
                      </m:sup>
                    </m:sSubSup>
                    <m:r>
                      <a:rPr lang="en-US" sz="2600" i="1" dirty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,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…, </m:t>
                    </m:r>
                    <m:sSubSup>
                      <m:sSub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Sup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𝜆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𝑚</m:t>
                        </m:r>
                      </m:sub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∗</m:t>
                        </m:r>
                      </m:sup>
                    </m:sSubSup>
                    <m:r>
                      <a:rPr lang="en-US" sz="26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 dirty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600" i="1" dirty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bSup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600" i="1" dirty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600" i="1" dirty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sz="2600" i="1" dirty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, …, </m:t>
                        </m:r>
                        <m:sSubSup>
                          <m:sSubSupPr>
                            <m:ctrlPr>
                              <a:rPr lang="en-US" sz="2600" i="1" dirty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sSubSup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US" sz="2600" i="1" dirty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sz="2600" b="0" i="1" dirty="0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 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such that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ACBF41-C212-174B-A3AF-AD9C11624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68459"/>
                <a:ext cx="10515600" cy="4667250"/>
              </a:xfrm>
              <a:blipFill>
                <a:blip r:embed="rId3"/>
                <a:stretch>
                  <a:fillRect l="-1086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A14FC-33C4-F44D-A4E5-478D0CD5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C5F7DD-B30D-5D40-BF87-AE2B915FD0E6}"/>
              </a:ext>
            </a:extLst>
          </p:cNvPr>
          <p:cNvSpPr/>
          <p:nvPr/>
        </p:nvSpPr>
        <p:spPr>
          <a:xfrm>
            <a:off x="838200" y="3144559"/>
            <a:ext cx="10515600" cy="349912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7C585E-37F5-C845-BD28-6E3D6CFF8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848" y="2124772"/>
            <a:ext cx="5934304" cy="869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B3BB31-73FF-254D-9656-127F74D5A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960" y="5191124"/>
            <a:ext cx="3078079" cy="1370012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3A30D-EEBF-644B-984F-A0C079D1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55EDD-AD83-5644-904C-5618626E1E14}" type="datetime1">
              <a:rPr lang="en-US" smtClean="0"/>
              <a:t>4/5/26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53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156B-9540-2F43-837E-094841484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C269C-64C3-BB45-A76D-7F05E215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C6839EC-2413-654A-9CB0-F9E100D3BD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929063"/>
                <a:ext cx="10515600" cy="24066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Solution: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(0,0)</m:t>
                    </m:r>
                  </m:oMath>
                </a14:m>
                <a:endParaRPr 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C6839EC-2413-654A-9CB0-F9E100D3BD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929063"/>
                <a:ext cx="10515600" cy="2406646"/>
              </a:xfrm>
              <a:blipFill>
                <a:blip r:embed="rId2"/>
                <a:stretch>
                  <a:fillRect l="-965" t="-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0D9FC-2E1F-2045-BE3B-57166053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DBCC-A848-334E-9461-BE3A7D70BC3D}" type="datetime1">
              <a:rPr lang="en-US" smtClean="0"/>
              <a:t>4/5/26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89E8FD-2630-FC46-83A6-2A7FFFC477EC}"/>
                  </a:ext>
                </a:extLst>
              </p:cNvPr>
              <p:cNvSpPr txBox="1"/>
              <p:nvPr/>
            </p:nvSpPr>
            <p:spPr>
              <a:xfrm>
                <a:off x="4114799" y="2222499"/>
                <a:ext cx="396240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2800" b="0" dirty="0"/>
              </a:p>
              <a:p>
                <a:r>
                  <a:rPr lang="en-US" sz="2800" dirty="0"/>
                  <a:t>   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89E8FD-2630-FC46-83A6-2A7FFFC47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9" y="2222499"/>
                <a:ext cx="3962401" cy="954107"/>
              </a:xfrm>
              <a:prstGeom prst="rect">
                <a:avLst/>
              </a:prstGeom>
              <a:blipFill>
                <a:blip r:embed="rId3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45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3005-2DDC-2A4C-82FA-ED3AFA20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AB5C3-ECD5-4D4E-987F-EEBA76766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4EB9-C208-4749-B319-F94610A42C12}" type="datetime1">
              <a:rPr lang="en-US" smtClean="0"/>
              <a:t>4/5/26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3C81A87-74A9-48C3-A2C9-AD5977E6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2</a:t>
            </a:r>
            <a:endParaRPr lang="en-US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05546E87-A778-445D-BD44-59B5E7D4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Calculus of variations</a:t>
            </a:r>
          </a:p>
          <a:p>
            <a:pPr marL="0" indent="0" algn="ctr">
              <a:buNone/>
            </a:pPr>
            <a:r>
              <a:rPr lang="en-US" dirty="0"/>
              <a:t>(infinite-dimensional optimization!)</a:t>
            </a:r>
          </a:p>
        </p:txBody>
      </p:sp>
    </p:spTree>
    <p:extLst>
      <p:ext uri="{BB962C8B-B14F-4D97-AF65-F5344CB8AC3E}">
        <p14:creationId xmlns:p14="http://schemas.microsoft.com/office/powerpoint/2010/main" val="2637145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FBB6EF975807449194B44213CB1385" ma:contentTypeVersion="5" ma:contentTypeDescription="Create a new document." ma:contentTypeScope="" ma:versionID="6297688411df770d7ba805098bf03ebd">
  <xsd:schema xmlns:xsd="http://www.w3.org/2001/XMLSchema" xmlns:xs="http://www.w3.org/2001/XMLSchema" xmlns:p="http://schemas.microsoft.com/office/2006/metadata/properties" xmlns:ns3="d1af692f-475c-46b5-a87d-a47813ac8995" xmlns:ns4="ec38afac-11fd-4f05-b2a5-9d8ac7fc116b" targetNamespace="http://schemas.microsoft.com/office/2006/metadata/properties" ma:root="true" ma:fieldsID="a8acf1f0a3134d6bce4e4716f1f754da" ns3:_="" ns4:_="">
    <xsd:import namespace="d1af692f-475c-46b5-a87d-a47813ac8995"/>
    <xsd:import namespace="ec38afac-11fd-4f05-b2a5-9d8ac7fc11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f692f-475c-46b5-a87d-a47813ac89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8afac-11fd-4f05-b2a5-9d8ac7fc116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CB83D5-2EE8-47D4-AFCF-D63C8BDC6812}">
  <ds:schemaRefs>
    <ds:schemaRef ds:uri="http://schemas.microsoft.com/office/2006/documentManagement/types"/>
    <ds:schemaRef ds:uri="d1af692f-475c-46b5-a87d-a47813ac8995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ec38afac-11fd-4f05-b2a5-9d8ac7fc116b"/>
  </ds:schemaRefs>
</ds:datastoreItem>
</file>

<file path=customXml/itemProps2.xml><?xml version="1.0" encoding="utf-8"?>
<ds:datastoreItem xmlns:ds="http://schemas.openxmlformats.org/officeDocument/2006/customXml" ds:itemID="{F2332D03-EC2A-4FE5-A5AD-095462B0EF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af692f-475c-46b5-a87d-a47813ac8995"/>
    <ds:schemaRef ds:uri="ec38afac-11fd-4f05-b2a5-9d8ac7fc11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539871-AE47-4AFD-9001-55C4038F95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15901</TotalTime>
  <Words>2389</Words>
  <Application>Microsoft Macintosh PowerPoint</Application>
  <PresentationFormat>Widescreen</PresentationFormat>
  <Paragraphs>330</Paragraphs>
  <Slides>29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Source Sans Pro</vt:lpstr>
      <vt:lpstr>Office Theme</vt:lpstr>
      <vt:lpstr>AA203 Optimal and Learning-based Control</vt:lpstr>
      <vt:lpstr>Outline</vt:lpstr>
      <vt:lpstr>Outline</vt:lpstr>
      <vt:lpstr>Computational methods (unconstrained case)</vt:lpstr>
      <vt:lpstr>Gradient methods</vt:lpstr>
      <vt:lpstr>Gradient methods</vt:lpstr>
      <vt:lpstr>Gradient methods</vt:lpstr>
      <vt:lpstr>Gradient descent</vt:lpstr>
      <vt:lpstr>Selecting the descent direction</vt:lpstr>
      <vt:lpstr>Selecting the stepsize</vt:lpstr>
      <vt:lpstr>Undiscussed in this class</vt:lpstr>
      <vt:lpstr>Next: constrained optimization</vt:lpstr>
      <vt:lpstr>Outline</vt:lpstr>
      <vt:lpstr>Optimization with equality constraints</vt:lpstr>
      <vt:lpstr>Lagrange multipliers</vt:lpstr>
      <vt:lpstr>Lagrange multipliers</vt:lpstr>
      <vt:lpstr>Lagrange multipliers</vt:lpstr>
      <vt:lpstr>Lagrange multipliers</vt:lpstr>
      <vt:lpstr>NOC</vt:lpstr>
      <vt:lpstr>Discussion</vt:lpstr>
      <vt:lpstr>The Lagrangian function</vt:lpstr>
      <vt:lpstr>Outline</vt:lpstr>
      <vt:lpstr>Optimization with inequality constraints</vt:lpstr>
      <vt:lpstr>Active constraints</vt:lpstr>
      <vt:lpstr>Active constraints</vt:lpstr>
      <vt:lpstr>Active constraints</vt:lpstr>
      <vt:lpstr>Karush-Kuhn-Tucker NOC</vt:lpstr>
      <vt:lpstr>Example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AA203 Optimal and Learning-based Control</dc:title>
  <dc:creator>Marco Pavone</dc:creator>
  <cp:lastModifiedBy>Daniele Gammelli</cp:lastModifiedBy>
  <cp:revision>245</cp:revision>
  <cp:lastPrinted>2019-01-07T20:05:58Z</cp:lastPrinted>
  <dcterms:created xsi:type="dcterms:W3CDTF">2017-01-06T12:29:52Z</dcterms:created>
  <dcterms:modified xsi:type="dcterms:W3CDTF">2026-04-06T04:10:39Z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0x0101001AFBB6EF975807449194B44213CB1385</vt:lpwstr>
  </property>
</Properties>
</file>