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565" r:id="rId6"/>
    <p:sldId id="566" r:id="rId7"/>
    <p:sldId id="543" r:id="rId8"/>
    <p:sldId id="544" r:id="rId9"/>
    <p:sldId id="545" r:id="rId10"/>
    <p:sldId id="546" r:id="rId11"/>
    <p:sldId id="548" r:id="rId12"/>
    <p:sldId id="549" r:id="rId13"/>
    <p:sldId id="551" r:id="rId14"/>
    <p:sldId id="552" r:id="rId15"/>
    <p:sldId id="553" r:id="rId16"/>
    <p:sldId id="554" r:id="rId17"/>
    <p:sldId id="573" r:id="rId18"/>
    <p:sldId id="556" r:id="rId19"/>
    <p:sldId id="557" r:id="rId20"/>
    <p:sldId id="574" r:id="rId21"/>
    <p:sldId id="558" r:id="rId22"/>
    <p:sldId id="559" r:id="rId23"/>
    <p:sldId id="560" r:id="rId24"/>
    <p:sldId id="561" r:id="rId25"/>
    <p:sldId id="562" r:id="rId26"/>
    <p:sldId id="563" r:id="rId27"/>
    <p:sldId id="39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565"/>
            <p14:sldId id="566"/>
            <p14:sldId id="543"/>
            <p14:sldId id="544"/>
            <p14:sldId id="545"/>
            <p14:sldId id="546"/>
            <p14:sldId id="548"/>
            <p14:sldId id="549"/>
            <p14:sldId id="551"/>
            <p14:sldId id="552"/>
            <p14:sldId id="553"/>
            <p14:sldId id="554"/>
            <p14:sldId id="573"/>
            <p14:sldId id="556"/>
            <p14:sldId id="557"/>
            <p14:sldId id="574"/>
            <p14:sldId id="558"/>
            <p14:sldId id="559"/>
            <p14:sldId id="560"/>
            <p14:sldId id="561"/>
            <p14:sldId id="562"/>
            <p14:sldId id="563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99EAE-5DE0-8943-B777-4E73869CFA02}" v="2" dt="2025-05-06T20:29:06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567"/>
    <p:restoredTop sz="87500"/>
  </p:normalViewPr>
  <p:slideViewPr>
    <p:cSldViewPr snapToGrid="0" snapToObjects="1">
      <p:cViewPr varScale="1">
        <p:scale>
          <a:sx n="109" d="100"/>
          <a:sy n="109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Lyapunov functions help prove </a:t>
            </a:r>
            <a:r>
              <a:rPr lang="en-US" b="1" dirty="0"/>
              <a:t>stability without solving the system explicitly</a:t>
            </a:r>
            <a:r>
              <a:rPr lang="en-US" dirty="0"/>
              <a:t>, especially for nonlinear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intuition</a:t>
            </a:r>
            <a:r>
              <a:rPr lang="en-US" dirty="0"/>
              <a:t> behind a </a:t>
            </a:r>
            <a:r>
              <a:rPr lang="en-US" b="1" dirty="0"/>
              <a:t>Lyapunov function</a:t>
            </a:r>
            <a:r>
              <a:rPr lang="en-US" dirty="0"/>
              <a:t> is that it acts like an </a:t>
            </a:r>
            <a:r>
              <a:rPr lang="en-US" b="1" dirty="0"/>
              <a:t>energy function</a:t>
            </a:r>
            <a:r>
              <a:rPr lang="en-US" dirty="0"/>
              <a:t> for a system, measuring how "far" the system is from equilibrium.</a:t>
            </a:r>
          </a:p>
          <a:p>
            <a:pPr>
              <a:buNone/>
            </a:pPr>
            <a:r>
              <a:rPr lang="en-US" dirty="0"/>
              <a:t>Imagine placing a ball at the bottom of a bowl.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bottom of the bowl</a:t>
            </a:r>
            <a:r>
              <a:rPr lang="en-US" dirty="0"/>
              <a:t> represents the </a:t>
            </a:r>
            <a:r>
              <a:rPr lang="en-US" b="1" dirty="0"/>
              <a:t>equilibrium point</a:t>
            </a:r>
            <a:r>
              <a:rPr lang="en-US" dirty="0"/>
              <a:t> (e.g., x=0x = 0x=0).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height of the ball in the bowl</a:t>
            </a:r>
            <a:r>
              <a:rPr lang="en-US" dirty="0"/>
              <a:t> represents the value of the </a:t>
            </a:r>
            <a:r>
              <a:rPr lang="en-US" b="1" dirty="0"/>
              <a:t>Lyapunov function</a:t>
            </a:r>
            <a:r>
              <a:rPr lang="en-US" dirty="0"/>
              <a:t> V(x)V(x)V(x).</a:t>
            </a:r>
          </a:p>
          <a:p>
            <a:pPr>
              <a:buNone/>
            </a:pPr>
            <a:r>
              <a:rPr lang="en-US" dirty="0"/>
              <a:t>As the ball rolls around, </a:t>
            </a:r>
            <a:r>
              <a:rPr lang="en-US" b="1" dirty="0"/>
              <a:t>energy is lost (e.g., due to friction)</a:t>
            </a:r>
            <a:r>
              <a:rPr lang="en-US" dirty="0"/>
              <a:t> and the ball moves toward the bottom.</a:t>
            </a:r>
          </a:p>
          <a:p>
            <a:r>
              <a:rPr lang="en-US" dirty="0"/>
              <a:t>If the height (i.e., V(x)) always decreases over time, the ball will eventually settle at the bottom.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25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condition is a standard </a:t>
                </a:r>
                <a:r>
                  <a:rPr lang="en-US" b="1" dirty="0"/>
                  <a:t>terminal decrease (Lyapunov-like) condition</a:t>
                </a:r>
                <a:r>
                  <a:rPr lang="en-US" dirty="0"/>
                  <a:t> in Model Predictive Control (MPC).</a:t>
                </a:r>
              </a:p>
              <a:p>
                <a:endParaRPr lang="en-US" dirty="0"/>
              </a:p>
              <a:p>
                <a:r>
                  <a:rPr lang="en-US" dirty="0"/>
                  <a:t>There exists a control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en-US" dirty="0"/>
                  <a:t>that keeps you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and makes the “energy”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𝑝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decrease by at least the stage cost.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This condition is a standard </a:t>
                </a:r>
                <a:r>
                  <a:rPr lang="en-US" b="1" dirty="0"/>
                  <a:t>terminal decrease (Lyapunov-like) condition</a:t>
                </a:r>
                <a:r>
                  <a:rPr lang="en-US" dirty="0"/>
                  <a:t> in Model Predictive Control (MPC).</a:t>
                </a:r>
              </a:p>
              <a:p>
                <a:endParaRPr lang="en-US" dirty="0"/>
              </a:p>
              <a:p>
                <a:r>
                  <a:rPr lang="en-US" dirty="0"/>
                  <a:t>There exists a control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en-US" dirty="0"/>
                  <a:t>that keeps you in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𝑋_𝑓</a:t>
                </a:r>
                <a:r>
                  <a:rPr lang="en-US" dirty="0"/>
                  <a:t>and makes the “energy”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(𝑥)</a:t>
                </a:r>
                <a:r>
                  <a:rPr lang="en-US" dirty="0"/>
                  <a:t>decrease by at least the stage cost.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68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X0 is closed and bounded as it is the preimage of X-f (closed and bounded)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2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eigenvalues of A lie </a:t>
            </a:r>
            <a:r>
              <a:rPr lang="en-US" b="1" dirty="0"/>
              <a:t>inside the unit circle</a:t>
            </a:r>
            <a:r>
              <a:rPr lang="en-US" dirty="0"/>
              <a:t>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 is </a:t>
            </a:r>
            <a:r>
              <a:rPr lang="en-US" b="1" dirty="0"/>
              <a:t>symmetric positive definite</a:t>
            </a:r>
            <a:r>
              <a:rPr lang="en-US" dirty="0"/>
              <a:t>,</a:t>
            </a:r>
          </a:p>
          <a:p>
            <a:r>
              <a:rPr lang="en-US" dirty="0"/>
              <a:t>✅ Then there exists a </a:t>
            </a:r>
            <a:r>
              <a:rPr lang="en-US" b="1" dirty="0"/>
              <a:t>unique</a:t>
            </a:r>
            <a:r>
              <a:rPr lang="en-US" dirty="0"/>
              <a:t> </a:t>
            </a:r>
            <a:r>
              <a:rPr lang="en-US" b="1" dirty="0"/>
              <a:t>symmetric positive definite</a:t>
            </a:r>
            <a:r>
              <a:rPr lang="en-US" dirty="0"/>
              <a:t> solution 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3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“If I ever reach the terminal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ar-AE" dirty="0"/>
                  <a:t>, </a:t>
                </a:r>
                <a:r>
                  <a:rPr lang="en-US" dirty="0"/>
                  <a:t>I must be able to stabilize the system from there onward.”</a:t>
                </a:r>
              </a:p>
              <a:p>
                <a:endParaRPr lang="en-US" dirty="0"/>
              </a:p>
              <a:p>
                <a:r>
                  <a:rPr lang="en-US" dirty="0"/>
                  <a:t>You carve out a region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where the optimal unconstrained controller (LQR) is also constraint-feasible, and then use its value function as a Lyapunov function to guarantee stability.</a:t>
                </a:r>
              </a:p>
              <a:p>
                <a:endParaRPr lang="en-US" dirty="0"/>
              </a:p>
              <a:p>
                <a:r>
                  <a:rPr lang="en-US" dirty="0"/>
                  <a:t>This is the set where:</a:t>
                </a:r>
              </a:p>
              <a:p>
                <a:r>
                  <a:rPr lang="en-US" dirty="0"/>
                  <a:t>“LQR is safe forever”</a:t>
                </a:r>
              </a:p>
              <a:p>
                <a:r>
                  <a:rPr lang="en-US" dirty="0"/>
                  <a:t>So it becomes a </a:t>
                </a:r>
                <a:r>
                  <a:rPr lang="en-US" b="1" dirty="0"/>
                  <a:t>terminal safe region</a:t>
                </a:r>
                <a:r>
                  <a:rPr lang="en-US" dirty="0"/>
                  <a:t> for MPC.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“If I ever reach the terminal set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𝑋_𝑓</a:t>
                </a:r>
                <a:r>
                  <a:rPr lang="ar-AE" dirty="0"/>
                  <a:t>, </a:t>
                </a:r>
                <a:r>
                  <a:rPr lang="en-US" dirty="0"/>
                  <a:t>I must be able to stabilize the system from there onward.”</a:t>
                </a:r>
              </a:p>
              <a:p>
                <a:endParaRPr lang="en-US" dirty="0"/>
              </a:p>
              <a:p>
                <a:r>
                  <a:rPr lang="en-US" dirty="0"/>
                  <a:t>You carve out a region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𝑋_𝑓</a:t>
                </a:r>
                <a:r>
                  <a:rPr lang="en-US" dirty="0"/>
                  <a:t>where the optimal unconstrained controller (LQR) is also constraint-feasible, and then use its value function as a Lyapunov function to guarantee stability.</a:t>
                </a:r>
              </a:p>
              <a:p>
                <a:endParaRPr lang="en-US" dirty="0"/>
              </a:p>
              <a:p>
                <a:r>
                  <a:rPr lang="en-US" dirty="0"/>
                  <a:t>This is the set where:</a:t>
                </a:r>
              </a:p>
              <a:p>
                <a:r>
                  <a:rPr lang="en-US" dirty="0"/>
                  <a:t>“LQR is safe forever”</a:t>
                </a:r>
              </a:p>
              <a:p>
                <a:r>
                  <a:rPr lang="en-US" dirty="0"/>
                  <a:t>So it becomes a </a:t>
                </a:r>
                <a:r>
                  <a:rPr lang="en-US" b="1" dirty="0"/>
                  <a:t>terminal safe region</a:t>
                </a:r>
                <a:r>
                  <a:rPr lang="en-US" dirty="0"/>
                  <a:t> for MPC.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37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Constriants</a:t>
            </a:r>
            <a:r>
              <a:rPr lang="en-US" dirty="0"/>
              <a:t> are </a:t>
            </a:r>
            <a:r>
              <a:rPr lang="en-US" sz="1800" dirty="0">
                <a:effectLst/>
                <a:latin typeface="CMR10"/>
              </a:rPr>
              <a:t>polyhedral region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>
                <a:effectLst/>
                <a:latin typeface="CMR10"/>
              </a:rPr>
              <a:t>continuous piecewise affine function on </a:t>
            </a:r>
            <a:r>
              <a:rPr lang="en-US" sz="1800" dirty="0" err="1">
                <a:effectLst/>
                <a:latin typeface="CMR10"/>
              </a:rPr>
              <a:t>polyhedra</a:t>
            </a:r>
            <a:r>
              <a:rPr lang="en-US" sz="1800" dirty="0">
                <a:effectLst/>
                <a:latin typeface="CMR10"/>
              </a:rPr>
              <a:t> of the state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56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C691-1343-5645-91EE-78347D72D507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95397CD1-1640-1446-91A6-EA02203D1E02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7CA8D-D068-AF42-B7B9-36ABCD69CFF0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ABA7B-772A-3F48-9507-1EF0BF80D483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4418B-0479-4241-9428-16D46A442CDB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73BF8-2D86-144C-AD79-0BFDB9303993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24717-97C7-9542-A6BD-B177D45A0403}" type="datetime1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73537-59C0-4748-A44E-4EA6D6237829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F90C0-7D51-9A4C-96A7-73147946E946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F125D-ED6E-1148-A4B8-B38876E74A6C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DD0A1-B18F-3943-A9D4-F08E3D8F77E5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E2D0D-D8B6-4342-946C-DE69D5D0DF43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www.mpt3.org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AA203</a:t>
            </a:r>
            <a:br>
              <a:rPr lang="en-US" sz="4800" dirty="0"/>
            </a:br>
            <a:r>
              <a:rPr lang="en-US" sz="4800" dirty="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Persistent feasibility of MPC (cont’d), stability of MPC, and explicit MPC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45F41-8626-064F-94B0-1AEE04E0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98C2609-1540-0147-8E8B-649B49C45690}"/>
              </a:ext>
            </a:extLst>
          </p:cNvPr>
          <p:cNvGrpSpPr/>
          <p:nvPr/>
        </p:nvGrpSpPr>
        <p:grpSpPr>
          <a:xfrm>
            <a:off x="266696" y="3646326"/>
            <a:ext cx="5829304" cy="2484161"/>
            <a:chOff x="266696" y="3646326"/>
            <a:chExt cx="5829304" cy="248416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1AA3BC0-5ECD-F345-AEDF-D0C05ADD9CC0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BE81113-DCCB-F44D-845F-96546B07D6B3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BCBD380-0C40-804E-9901-B96441D69B10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68" name="Elbow Connector 67">
              <a:extLst>
                <a:ext uri="{FF2B5EF4-FFF2-40B4-BE49-F238E27FC236}">
                  <a16:creationId xmlns:a16="http://schemas.microsoft.com/office/drawing/2014/main" id="{ADDB7393-6F63-9948-A491-88B3253943D8}"/>
                </a:ext>
              </a:extLst>
            </p:cNvPr>
            <p:cNvCxnSpPr>
              <a:cxnSpLocks/>
              <a:stCxn id="94" idx="2"/>
              <a:endCxn id="65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508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Elbow Connector 68">
              <a:extLst>
                <a:ext uri="{FF2B5EF4-FFF2-40B4-BE49-F238E27FC236}">
                  <a16:creationId xmlns:a16="http://schemas.microsoft.com/office/drawing/2014/main" id="{88996BD0-2026-4C4C-8C06-1828F219CC0A}"/>
                </a:ext>
              </a:extLst>
            </p:cNvPr>
            <p:cNvCxnSpPr>
              <a:cxnSpLocks/>
              <a:stCxn id="65" idx="2"/>
              <a:endCxn id="66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Elbow Connector 69">
              <a:extLst>
                <a:ext uri="{FF2B5EF4-FFF2-40B4-BE49-F238E27FC236}">
                  <a16:creationId xmlns:a16="http://schemas.microsoft.com/office/drawing/2014/main" id="{4EE5C414-2E07-A04C-93A6-6A2B40C6BA20}"/>
                </a:ext>
              </a:extLst>
            </p:cNvPr>
            <p:cNvCxnSpPr>
              <a:cxnSpLocks/>
              <a:stCxn id="65" idx="2"/>
              <a:endCxn id="67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427B323-DDA1-8D49-8637-545D22072589}"/>
              </a:ext>
            </a:extLst>
          </p:cNvPr>
          <p:cNvGrpSpPr/>
          <p:nvPr/>
        </p:nvGrpSpPr>
        <p:grpSpPr>
          <a:xfrm>
            <a:off x="6095999" y="3646326"/>
            <a:ext cx="5698672" cy="2484161"/>
            <a:chOff x="6095999" y="3646326"/>
            <a:chExt cx="5698672" cy="2484161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D3FB9579-245D-B044-B282-4FEF48105344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E7BDAE1-61D7-D845-9977-EF27F257F32F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885A579-D955-4943-8593-BCBAB45D7118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75" name="Elbow Connector 74">
              <a:extLst>
                <a:ext uri="{FF2B5EF4-FFF2-40B4-BE49-F238E27FC236}">
                  <a16:creationId xmlns:a16="http://schemas.microsoft.com/office/drawing/2014/main" id="{2C50BBA4-C691-E24D-A08C-D45E8E4DD96C}"/>
                </a:ext>
              </a:extLst>
            </p:cNvPr>
            <p:cNvCxnSpPr>
              <a:cxnSpLocks/>
              <a:stCxn id="94" idx="2"/>
              <a:endCxn id="72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Elbow Connector 75">
              <a:extLst>
                <a:ext uri="{FF2B5EF4-FFF2-40B4-BE49-F238E27FC236}">
                  <a16:creationId xmlns:a16="http://schemas.microsoft.com/office/drawing/2014/main" id="{424B7BAD-602E-7B43-B4AB-ED154AA22AA4}"/>
                </a:ext>
              </a:extLst>
            </p:cNvPr>
            <p:cNvCxnSpPr>
              <a:cxnSpLocks/>
              <a:stCxn id="72" idx="2"/>
              <a:endCxn id="74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Elbow Connector 76">
              <a:extLst>
                <a:ext uri="{FF2B5EF4-FFF2-40B4-BE49-F238E27FC236}">
                  <a16:creationId xmlns:a16="http://schemas.microsoft.com/office/drawing/2014/main" id="{9125B939-8321-5843-A6F8-1BE355B5F88B}"/>
                </a:ext>
              </a:extLst>
            </p:cNvPr>
            <p:cNvCxnSpPr>
              <a:cxnSpLocks/>
              <a:stCxn id="72" idx="2"/>
              <a:endCxn id="73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A9F261A-15A0-5347-B294-8F3578FAC65E}"/>
              </a:ext>
            </a:extLst>
          </p:cNvPr>
          <p:cNvGrpSpPr/>
          <p:nvPr/>
        </p:nvGrpSpPr>
        <p:grpSpPr>
          <a:xfrm>
            <a:off x="3116035" y="4133085"/>
            <a:ext cx="5725886" cy="506186"/>
            <a:chOff x="3116035" y="4133085"/>
            <a:chExt cx="5725886" cy="506186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C5D38B0E-8FAE-9843-8091-0F3D384AFCFD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E614D9A1-D23D-2946-9871-CACB468B52E4}"/>
                </a:ext>
              </a:extLst>
            </p:cNvPr>
            <p:cNvCxnSpPr>
              <a:cxnSpLocks/>
              <a:stCxn id="65" idx="3"/>
              <a:endCxn id="79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5080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6517C656-F1A6-CD4A-BE38-1B99B779B94C}"/>
                </a:ext>
              </a:extLst>
            </p:cNvPr>
            <p:cNvCxnSpPr>
              <a:cxnSpLocks/>
              <a:stCxn id="72" idx="1"/>
              <a:endCxn id="79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5080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51E86219-4314-7C40-8F12-B59B1785CF4C}"/>
              </a:ext>
            </a:extLst>
          </p:cNvPr>
          <p:cNvGrpSpPr/>
          <p:nvPr/>
        </p:nvGrpSpPr>
        <p:grpSpPr>
          <a:xfrm>
            <a:off x="6096000" y="1653372"/>
            <a:ext cx="2566301" cy="1325563"/>
            <a:chOff x="6096000" y="1653372"/>
            <a:chExt cx="2566301" cy="1325563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9100F7C-1E96-344F-A754-4C23919CBA7A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84" name="Elbow Connector 83">
              <a:extLst>
                <a:ext uri="{FF2B5EF4-FFF2-40B4-BE49-F238E27FC236}">
                  <a16:creationId xmlns:a16="http://schemas.microsoft.com/office/drawing/2014/main" id="{09E4D08F-3DB6-E942-B30C-59B3CAF984F8}"/>
                </a:ext>
              </a:extLst>
            </p:cNvPr>
            <p:cNvCxnSpPr>
              <a:cxnSpLocks/>
              <a:stCxn id="94" idx="0"/>
              <a:endCxn id="83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660BD8F0-E3AB-D840-9FBB-A9ABC29D4E58}"/>
              </a:ext>
            </a:extLst>
          </p:cNvPr>
          <p:cNvGrpSpPr/>
          <p:nvPr/>
        </p:nvGrpSpPr>
        <p:grpSpPr>
          <a:xfrm>
            <a:off x="8662301" y="1311739"/>
            <a:ext cx="2865114" cy="1264080"/>
            <a:chOff x="8215426" y="894093"/>
            <a:chExt cx="2865114" cy="1264080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0A52672-0FA8-0442-A8D9-A6B9A39C18C0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0CE1A04F-AFF1-844A-BD4E-F9328842057A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4DB8D06A-BC2C-DD4B-B477-6C43F5A061F5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91" name="Elbow Connector 90">
                  <a:extLst>
                    <a:ext uri="{FF2B5EF4-FFF2-40B4-BE49-F238E27FC236}">
                      <a16:creationId xmlns:a16="http://schemas.microsoft.com/office/drawing/2014/main" id="{2CF6AC16-606D-EA4D-9690-BB232F871CBC}"/>
                    </a:ext>
                  </a:extLst>
                </p:cNvPr>
                <p:cNvCxnSpPr>
                  <a:cxnSpLocks/>
                  <a:stCxn id="83" idx="3"/>
                  <a:endCxn id="90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190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BC2E08AF-5C06-F14F-8D02-D88F0EB44CFB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7" name="Elbow Connector 86">
              <a:extLst>
                <a:ext uri="{FF2B5EF4-FFF2-40B4-BE49-F238E27FC236}">
                  <a16:creationId xmlns:a16="http://schemas.microsoft.com/office/drawing/2014/main" id="{BDB6E091-166C-F145-8EB9-10AAC0E4A697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Rectangle 91">
            <a:extLst>
              <a:ext uri="{FF2B5EF4-FFF2-40B4-BE49-F238E27FC236}">
                <a16:creationId xmlns:a16="http://schemas.microsoft.com/office/drawing/2014/main" id="{1F71DE0D-EDE6-7D45-A706-E29B640A0D1B}"/>
              </a:ext>
            </a:extLst>
          </p:cNvPr>
          <p:cNvSpPr/>
          <p:nvPr/>
        </p:nvSpPr>
        <p:spPr>
          <a:xfrm>
            <a:off x="1944737" y="1651797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52317BB-F7F8-A54B-A9DD-8CF77880F192}"/>
              </a:ext>
            </a:extLst>
          </p:cNvPr>
          <p:cNvGrpSpPr/>
          <p:nvPr/>
        </p:nvGrpSpPr>
        <p:grpSpPr>
          <a:xfrm>
            <a:off x="586717" y="1904890"/>
            <a:ext cx="6415518" cy="1741436"/>
            <a:chOff x="586717" y="1904890"/>
            <a:chExt cx="6415518" cy="1741436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96AE5CA-6267-DF42-BA71-2CCF31CBCB04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</a:t>
              </a:r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control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AB8C3E7E-0D44-F040-B36D-33521708DCAF}"/>
                </a:ext>
              </a:extLst>
            </p:cNvPr>
            <p:cNvSpPr/>
            <p:nvPr/>
          </p:nvSpPr>
          <p:spPr>
            <a:xfrm>
              <a:off x="2924176" y="256058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86B9057-2674-854C-9290-64B8E2DF2FC6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97" name="Elbow Connector 96">
              <a:extLst>
                <a:ext uri="{FF2B5EF4-FFF2-40B4-BE49-F238E27FC236}">
                  <a16:creationId xmlns:a16="http://schemas.microsoft.com/office/drawing/2014/main" id="{C3082861-F331-514B-963A-193F6D311623}"/>
                </a:ext>
              </a:extLst>
            </p:cNvPr>
            <p:cNvCxnSpPr>
              <a:cxnSpLocks/>
              <a:stCxn id="92" idx="2"/>
              <a:endCxn id="96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Elbow Connector 97">
              <a:extLst>
                <a:ext uri="{FF2B5EF4-FFF2-40B4-BE49-F238E27FC236}">
                  <a16:creationId xmlns:a16="http://schemas.microsoft.com/office/drawing/2014/main" id="{C72EBF67-295F-AF46-8845-731406BE5AF6}"/>
                </a:ext>
              </a:extLst>
            </p:cNvPr>
            <p:cNvCxnSpPr>
              <a:cxnSpLocks/>
              <a:stCxn id="92" idx="2"/>
              <a:endCxn id="95" idx="0"/>
            </p:cNvCxnSpPr>
            <p:nvPr/>
          </p:nvCxnSpPr>
          <p:spPr>
            <a:xfrm rot="16200000" flipH="1">
              <a:off x="3139393" y="1869562"/>
              <a:ext cx="402598" cy="979439"/>
            </a:xfrm>
            <a:prstGeom prst="bentConnector3">
              <a:avLst>
                <a:gd name="adj1" fmla="val 51633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Elbow Connector 98">
              <a:extLst>
                <a:ext uri="{FF2B5EF4-FFF2-40B4-BE49-F238E27FC236}">
                  <a16:creationId xmlns:a16="http://schemas.microsoft.com/office/drawing/2014/main" id="{2FA5B1EE-E5BF-ED43-8B22-119B29683EF6}"/>
                </a:ext>
              </a:extLst>
            </p:cNvPr>
            <p:cNvCxnSpPr>
              <a:cxnSpLocks/>
              <a:stCxn id="92" idx="3"/>
              <a:endCxn id="94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0" name="Elbow Connector 60">
            <a:extLst>
              <a:ext uri="{FF2B5EF4-FFF2-40B4-BE49-F238E27FC236}">
                <a16:creationId xmlns:a16="http://schemas.microsoft.com/office/drawing/2014/main" id="{7B05FB05-F967-1A4C-A459-BD402ECDB1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77736" y="2064589"/>
            <a:ext cx="488684" cy="3652157"/>
          </a:xfrm>
          <a:prstGeom prst="bentConnector3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Elbow Connector 61">
            <a:extLst>
              <a:ext uri="{FF2B5EF4-FFF2-40B4-BE49-F238E27FC236}">
                <a16:creationId xmlns:a16="http://schemas.microsoft.com/office/drawing/2014/main" id="{6051289B-0C49-E743-9CC0-D7CD9A1D20B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31370" y="4557982"/>
            <a:ext cx="973852" cy="1140279"/>
          </a:xfrm>
          <a:prstGeom prst="bentConnector3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F52183F-248C-884D-B5C8-A7B8B1749194}"/>
              </a:ext>
            </a:extLst>
          </p:cNvPr>
          <p:cNvSpPr/>
          <p:nvPr/>
        </p:nvSpPr>
        <p:spPr>
          <a:xfrm>
            <a:off x="7562935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9FDEE88E-0B9E-9348-A096-05D8FE2CD24E}"/>
              </a:ext>
            </a:extLst>
          </p:cNvPr>
          <p:cNvSpPr/>
          <p:nvPr/>
        </p:nvSpPr>
        <p:spPr>
          <a:xfrm>
            <a:off x="8318044" y="6425579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iLQR</a:t>
            </a:r>
            <a:endParaRPr lang="en-US" sz="14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9B1E7D0-F566-434E-A3DF-5D18D1C2AF28}"/>
              </a:ext>
            </a:extLst>
          </p:cNvPr>
          <p:cNvSpPr/>
          <p:nvPr/>
        </p:nvSpPr>
        <p:spPr>
          <a:xfrm>
            <a:off x="9071249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DDP</a:t>
            </a: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8100CC6-E450-1A44-BF93-B7CF3EFD7614}"/>
              </a:ext>
            </a:extLst>
          </p:cNvPr>
          <p:cNvCxnSpPr>
            <a:cxnSpLocks/>
            <a:endCxn id="103" idx="0"/>
          </p:cNvCxnSpPr>
          <p:nvPr/>
        </p:nvCxnSpPr>
        <p:spPr>
          <a:xfrm>
            <a:off x="8662302" y="6130487"/>
            <a:ext cx="1904" cy="2950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8">
            <a:extLst>
              <a:ext uri="{FF2B5EF4-FFF2-40B4-BE49-F238E27FC236}">
                <a16:creationId xmlns:a16="http://schemas.microsoft.com/office/drawing/2014/main" id="{10E6CDB5-CEFA-8D49-A115-525AEEB2BB2F}"/>
              </a:ext>
            </a:extLst>
          </p:cNvPr>
          <p:cNvCxnSpPr>
            <a:cxnSpLocks/>
            <a:endCxn id="102" idx="0"/>
          </p:cNvCxnSpPr>
          <p:nvPr/>
        </p:nvCxnSpPr>
        <p:spPr>
          <a:xfrm rot="5400000">
            <a:off x="8138906" y="5900679"/>
            <a:ext cx="293588" cy="75320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Elbow Connector 11">
            <a:extLst>
              <a:ext uri="{FF2B5EF4-FFF2-40B4-BE49-F238E27FC236}">
                <a16:creationId xmlns:a16="http://schemas.microsoft.com/office/drawing/2014/main" id="{6CC0FEA8-7DD9-5A43-9384-24140A2BFED1}"/>
              </a:ext>
            </a:extLst>
          </p:cNvPr>
          <p:cNvCxnSpPr>
            <a:cxnSpLocks/>
            <a:endCxn id="104" idx="0"/>
          </p:cNvCxnSpPr>
          <p:nvPr/>
        </p:nvCxnSpPr>
        <p:spPr>
          <a:xfrm rot="16200000" flipH="1">
            <a:off x="8893062" y="5899726"/>
            <a:ext cx="293588" cy="755109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Slide Number Placeholder 15">
            <a:extLst>
              <a:ext uri="{FF2B5EF4-FFF2-40B4-BE49-F238E27FC236}">
                <a16:creationId xmlns:a16="http://schemas.microsoft.com/office/drawing/2014/main" id="{8CF264D2-4677-E644-9AAD-97933F5245AF}"/>
              </a:ext>
            </a:extLst>
          </p:cNvPr>
          <p:cNvSpPr txBox="1">
            <a:spLocks/>
          </p:cNvSpPr>
          <p:nvPr/>
        </p:nvSpPr>
        <p:spPr>
          <a:xfrm>
            <a:off x="8610600" y="6542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A1F273-EF2F-3941-BBF8-D365CB27DD6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1161173-F695-8E43-80BD-A8311C87ABD3}"/>
              </a:ext>
            </a:extLst>
          </p:cNvPr>
          <p:cNvSpPr/>
          <p:nvPr/>
        </p:nvSpPr>
        <p:spPr>
          <a:xfrm>
            <a:off x="10846758" y="6422839"/>
            <a:ext cx="1268727" cy="421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Reachability analysis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4A60946-8FBE-7E43-9F6D-4063BF649EE4}"/>
              </a:ext>
            </a:extLst>
          </p:cNvPr>
          <p:cNvSpPr/>
          <p:nvPr/>
        </p:nvSpPr>
        <p:spPr>
          <a:xfrm>
            <a:off x="9989790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cxnSp>
        <p:nvCxnSpPr>
          <p:cNvPr id="111" name="Elbow Connector 4">
            <a:extLst>
              <a:ext uri="{FF2B5EF4-FFF2-40B4-BE49-F238E27FC236}">
                <a16:creationId xmlns:a16="http://schemas.microsoft.com/office/drawing/2014/main" id="{89A57A4C-8829-AB4B-B348-065EA480F87F}"/>
              </a:ext>
            </a:extLst>
          </p:cNvPr>
          <p:cNvCxnSpPr>
            <a:cxnSpLocks/>
            <a:endCxn id="110" idx="0"/>
          </p:cNvCxnSpPr>
          <p:nvPr/>
        </p:nvCxnSpPr>
        <p:spPr>
          <a:xfrm rot="5400000">
            <a:off x="10460774" y="5996412"/>
            <a:ext cx="302841" cy="552484"/>
          </a:xfrm>
          <a:prstGeom prst="bentConnector3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7">
            <a:extLst>
              <a:ext uri="{FF2B5EF4-FFF2-40B4-BE49-F238E27FC236}">
                <a16:creationId xmlns:a16="http://schemas.microsoft.com/office/drawing/2014/main" id="{7F922B06-8F54-5D48-84DD-6CD0D650DF89}"/>
              </a:ext>
            </a:extLst>
          </p:cNvPr>
          <p:cNvCxnSpPr>
            <a:cxnSpLocks/>
            <a:endCxn id="109" idx="0"/>
          </p:cNvCxnSpPr>
          <p:nvPr/>
        </p:nvCxnSpPr>
        <p:spPr>
          <a:xfrm rot="16200000" flipH="1">
            <a:off x="11033977" y="5975693"/>
            <a:ext cx="301605" cy="592686"/>
          </a:xfrm>
          <a:prstGeom prst="bentConnector3">
            <a:avLst>
              <a:gd name="adj1" fmla="val 50000"/>
            </a:avLst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E7D5F-A7D4-A96E-E12B-213CCA7E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79774-6D1D-A14C-8BF1-4CFBCF0F1290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FA7533-F0E3-1EB3-2095-0E70C6755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FB2B2-3C4E-67D5-605F-A89916D4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3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3CD4-7129-5246-AE2C-5464DFFB8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predictive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D934-213B-9747-B17D-1A05FA70D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Persistent feasibility of MPC (cont'd)</a:t>
            </a:r>
          </a:p>
          <a:p>
            <a:r>
              <a:rPr lang="en-US" dirty="0"/>
              <a:t>Stability of MPC</a:t>
            </a:r>
          </a:p>
          <a:p>
            <a:r>
              <a:rPr lang="en-US" dirty="0"/>
              <a:t>Explicit MPC</a:t>
            </a:r>
          </a:p>
          <a:p>
            <a:endParaRPr lang="en-US" dirty="0"/>
          </a:p>
          <a:p>
            <a:r>
              <a:rPr lang="en-US" dirty="0"/>
              <a:t>Reading:</a:t>
            </a:r>
          </a:p>
          <a:p>
            <a:pPr lvl="1"/>
            <a:r>
              <a:rPr lang="en-US" dirty="0"/>
              <a:t>F. Borrelli, A. </a:t>
            </a:r>
            <a:r>
              <a:rPr lang="en-US" dirty="0" err="1"/>
              <a:t>Bemporad</a:t>
            </a:r>
            <a:r>
              <a:rPr lang="en-US" dirty="0"/>
              <a:t>, M. </a:t>
            </a:r>
            <a:r>
              <a:rPr lang="en-US" dirty="0" err="1"/>
              <a:t>Morari</a:t>
            </a:r>
            <a:r>
              <a:rPr lang="en-US" dirty="0"/>
              <a:t>. </a:t>
            </a:r>
            <a:r>
              <a:rPr lang="en-US" i="1" dirty="0"/>
              <a:t>Predictive Control for Linear and Hybrid Systems</a:t>
            </a:r>
            <a:r>
              <a:rPr lang="en-US" dirty="0"/>
              <a:t>, 2017.</a:t>
            </a:r>
          </a:p>
          <a:p>
            <a:pPr lvl="1"/>
            <a:r>
              <a:rPr lang="en-US" dirty="0"/>
              <a:t>J. B. Rawlings, D. Q. Mayne, M. M. Diehl. </a:t>
            </a:r>
            <a:r>
              <a:rPr lang="en-US" i="1" dirty="0"/>
              <a:t>Model Predictive Control: Theory, Computation, and Design</a:t>
            </a:r>
            <a:r>
              <a:rPr lang="en-US" dirty="0"/>
              <a:t>, 2017.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00C25B-23BE-9655-D50B-4B42D316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5D558-BCE2-FE4B-A02C-59246E0B1451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A64C21-8061-6746-009E-7784430E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F175C-BD93-4E7B-48E9-791B9AC8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01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753E-F89D-EB45-846E-11AC56192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feasibility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32213-B308-2543-A53A-2D8F446B53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Feasibility theorem: if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control invariant set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system: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 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then the MPC law is persistently feasible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32213-B308-2543-A53A-2D8F446B53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70E5C4-B2CB-5032-5ECD-FB761044E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5CC7-B497-4447-ADDC-2420A672AE9C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CE2A2A-9772-6F92-2ABF-331B91AD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FAA78-3804-D177-998D-FBAB74B5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55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406D-2306-754A-AA77-AFB71694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feasibility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6E35D-B1A3-6E45-917E-E714D396E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Proof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Define “truncated” feasibility set at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begChr m:val="{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such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that</m:t>
                      </m:r>
                      <m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where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 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Due to the terminal constraint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6E35D-B1A3-6E45-917E-E714D396E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C592A1-AB31-6B07-F954-E862BEA11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46DB-35CE-FF4E-8532-ADD5BD7BE375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51A725-28E4-7E58-DD1E-9829AC548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663FF-1CB2-B8AA-1394-93F518FF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41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A406D-2306-754A-AA77-AFB71694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Persistent feasibility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6E35D-B1A3-6E45-917E-E714D396EC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8756737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Proof</a:t>
                </a:r>
              </a:p>
              <a:p>
                <a:pPr marL="514350" indent="-514350">
                  <a:buFont typeface="+mj-lt"/>
                  <a:buAutoNum type="arabicPeriod" startAt="3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control invariant set, there exists 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such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𝐮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above is indeed the requirement to belong to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Thus,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have just proved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control invariant </a:t>
                </a:r>
              </a:p>
              <a:p>
                <a:pPr marL="514350" indent="-514350">
                  <a:buFont typeface="+mj-lt"/>
                  <a:buAutoNum type="arabicPeriod" startAt="4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Repeating this argument, one can recursively show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are control  invariant, and the persistent feasibility lemma then applies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C6E35D-B1A3-6E45-917E-E714D396EC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8756737" cy="4351338"/>
              </a:xfrm>
              <a:blipFill>
                <a:blip r:embed="rId2"/>
                <a:stretch>
                  <a:fillRect l="-1302" t="-2035" b="-3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272315-AB32-2298-EF54-B7D00B65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F892F-4419-2448-9755-F5C48004C1D3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2393C-98C0-D7F4-F938-7823BF8D3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6B9F1-E027-991D-2F27-01CBF114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8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1D407-E1D5-DF46-8843-0876CD253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aspects of persistent feasibility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C5208-0E32-D14B-985F-81A6036FA1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85715" cy="4351338"/>
              </a:xfrm>
            </p:spPr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terminal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introduced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artificially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the sole purpose of leading to a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sufficient condition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persistent feasibility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want it to be large so that it does not compromise closed-loop performance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Though it is simplest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this is generally undesirable 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We’ll discuss better choices later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ABC5208-0E32-D14B-985F-81A6036FA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85715" cy="4351338"/>
              </a:xfrm>
              <a:blipFill>
                <a:blip r:embed="rId2"/>
                <a:stretch>
                  <a:fillRect l="-931" t="-2035" r="-5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8B6B5-6BD9-4030-2D19-A6ECB5C9A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97BA-C6BB-FC41-AEFA-A779DD03C55A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BDDC37-E9F7-FDD8-747C-F38EC314E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3C912-CDF2-C6C8-6244-EE7CAA0C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5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D3A9-F45B-F14B-AB3E-24EFE8EBE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FC190-B23C-3140-BF0E-BCCF8DAB7B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Persistent feasibility does not guarantee that the closed-loop trajectories converge towards the desired equilibrium point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One of the most popular approaches to guarantee persistent feasibility and stability of the MPC law makes use of a control invariant terminal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feasibility, and of a terminal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stability 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prove stability, we leverage the tool of </a:t>
                </a:r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Lyapunov stability theory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FC190-B23C-3140-BF0E-BCCF8DAB7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3C9C31-946F-7AD0-03C3-2545AEFA7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8CF15-8EF5-CF46-AC14-B51CE7ABB06A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EE10E-324F-0B93-ECFB-CB70328C6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4867E-79B2-4893-05DB-D15C01CCF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3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39E26-10A2-5048-B1C9-D549678C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Lyapunov stability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3A218-0879-0940-B761-B8F7C0566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Lyapunov theorem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Consider the equilibrium point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the autonomous system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(with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a closed, bounded, positively invariant set containing the origin.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be a function, continuous at the origin, such that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∖{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∖{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Then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asymptotically stable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idea is to show that with appropriate choices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Lyapunov function for the closed-loop system 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C3A218-0879-0940-B761-B8F7C0566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221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3470F0-0B32-6466-B3E7-E8E5461FC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6D988-49AF-0545-89DF-BAD8C15AF9A1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2F33C5-683C-CA54-1990-A9301E857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508CBA-8A30-E144-77D8-9C3002DDA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100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6C2F-DDB7-6545-A8B2-7A89255CE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B87B4-CBF4-D74A-8938-5D105B2B68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MPC stability theorem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(for quadratic cost): Assume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A0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≻0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A1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Sets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contain the origin in their interior and are closed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A2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control invariant and bounded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A3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</m:d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≤0, ∀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Then, the origin of the closed-loop system is asymptotically stable with domain of attraction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4B87B4-CBF4-D74A-8938-5D105B2B68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870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13F78-CF1E-3CDD-6A7E-46F22B9F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351E-4FF4-4E4B-AB57-C79C69DBFF5B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1770E2-1CFF-BC84-2BC8-47890A36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ADCC4-F886-BBEA-545D-AFB530F8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73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89A5-BBBC-9B44-838C-73D1E6D1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6237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Proof: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Note that, by assumption A2, persistent feasibility is guaranteed for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want to show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Lyapunov function for the closed-loop system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cl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with respect to the equilibrium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cl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(the origin is indeed an equilibrium as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, 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𝑈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and the cost is positive for any non-zero control sequence)</a:t>
                </a:r>
                <a:endParaRPr lang="en-US" b="1" dirty="0">
                  <a:ea typeface="Source Sans Pro" panose="020B050303040302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Source Sans Pro" panose="020B0503030403020204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bounded and closed (follows from assumption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(value is nonnegative by construction, and 0 is achievable)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62373" cy="4351338"/>
              </a:xfrm>
              <a:blipFill>
                <a:blip r:embed="rId3"/>
                <a:stretch>
                  <a:fillRect l="-1167" t="-238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7F219-A0CB-5585-298C-67C52DFC6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E6F98-C619-604C-AD40-21CD8CAF9861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BA5D6E-5745-8509-EBA7-BF087EBEF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56C88-0947-BA54-47D9-1E5B3790B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8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89A5-BBBC-9B44-838C-73D1E6D1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</p:spPr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Proof: 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∖{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514350" indent="-514350">
                  <a:buFont typeface="+mj-lt"/>
                  <a:buAutoNum type="arabicPeriod" startAt="5"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Next we show the decay property. Since the setup is time-invariant, we can study the decay property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let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[0]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the optimal control sequence, and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the corresponding trajectory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After applying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one obtains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Consider the sequence of controls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the corresponding state trajectory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  <a:blipFill>
                <a:blip r:embed="rId2"/>
                <a:stretch>
                  <a:fillRect l="-1161" t="-2632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BF262F-F38C-31BB-EE77-4B370AE8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48A7C-801E-854B-B4F3-FA2702C29E2C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63AEB-7D8A-850A-9582-A5867BC8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421F3C-E090-CA06-1B29-65C2E23C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9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89A5-BBBC-9B44-838C-73D1E6D1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(by terminal constraint), and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control invariant,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With such a choice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acc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the 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feasible for the MPC optimization problem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this sequence is not necessarily optimal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A0E89-4525-BA0D-05A7-703E578A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5102-1C11-C94A-A3B4-FA6F4FA4BABA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9B0463-0664-1418-0B04-23E9D55C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330CCC-E420-1B77-26E7-E75263D0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46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89A5-BBBC-9B44-838C-73D1E6D1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(by terminal constraint), and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control invariant,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∃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such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that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acc>
                        <m:accPr>
                          <m:chr m:val="̅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With such a choice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acc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the 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feasible for the MPC optimization problem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this sequence is not necessarily optimal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𝐵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 algn="ctr">
                  <a:buNone/>
                </a:pPr>
                <a:r>
                  <a:rPr lang="en-US" b="0" dirty="0"/>
                  <a:t>	           +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(0)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e>
                    </m:d>
                  </m:oMath>
                </a14:m>
                <a:endParaRPr lang="en-US" b="0" dirty="0">
                  <a:latin typeface="Source Sans Pro" panose="020B0503030403020204" pitchFamily="34" charset="0"/>
                </a:endParaRPr>
              </a:p>
              <a:p>
                <a:pPr marL="457200" lvl="1" indent="0" algn="ctr">
                  <a:buNone/>
                </a:pPr>
                <a:endParaRPr lang="en-US" b="0" dirty="0">
                  <a:latin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0413" cy="4351338"/>
              </a:xfrm>
              <a:blipFill>
                <a:blip r:embed="rId2"/>
                <a:stretch>
                  <a:fillRect t="-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6BB49-1AD5-2442-F148-7D9947F6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53EDD-9195-044E-82C3-3E0E9FBFE63D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ED9F9-13A6-C0BD-1849-79DCF720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35716-9605-FCC2-DCB8-EF96AF8F8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41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89A5-BBBC-9B44-838C-73D1E6D1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stability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20413" cy="4667250"/>
              </a:xfrm>
            </p:spPr>
            <p:txBody>
              <a:bodyPr>
                <a:normAutofit/>
              </a:bodyPr>
              <a:lstStyle/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Equivalently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  <m:r>
                            <a:rPr 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acc>
                            <m:accPr>
                              <m:chr m:val="̅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𝐯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  <m:sup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sup>
                      </m:sSubSup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̅"/>
                          <m:ctrlPr>
                            <a:rPr lang="en-US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𝐯</m:t>
                          </m:r>
                        </m:e>
                      </m:acc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by assumption A3, we can select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</m:acc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such that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(0),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(0),</m:t>
                        </m:r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∖{0}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last step is to prove continuity; details are omitted and can be found in Borrelli,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Bemporad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Morari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2017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Note: A2 is used to guarantee persistent feasibility; this assumption can be replaced with an assumption on the horizon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AE8A0-BFF3-E340-8052-D40112D31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20413" cy="4667250"/>
              </a:xfrm>
              <a:blipFill>
                <a:blip r:embed="rId2"/>
                <a:stretch>
                  <a:fillRect l="-949" t="-1828" b="-2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66DFC1-84BB-77AB-5E6E-159F0CF7D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4C169-8926-6248-A136-3B01A72C7471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20926-675C-D984-41AC-ECDC5F71D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06DCA-5F62-6248-8D8B-B9AE4B1D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26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Case 1: assume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asymptotically stable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the maximally positive invariant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for system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 control invariant set for system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a feasible control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 for stability,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is feasible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thus assumption A3 becomes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</a:t>
                </a:r>
              </a:p>
              <a:p>
                <a:pPr marL="457200" lvl="1" indent="0">
                  <a:buNone/>
                </a:pP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which is true since, due to the fact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asymptotically stable,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≻0 |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05B785-765F-4A5C-B6CA-DE5607889DD7}"/>
              </a:ext>
            </a:extLst>
          </p:cNvPr>
          <p:cNvSpPr txBox="1"/>
          <p:nvPr/>
        </p:nvSpPr>
        <p:spPr>
          <a:xfrm>
            <a:off x="8470232" y="5274645"/>
            <a:ext cx="32148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(Lyapunov Equation)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B5EB040-D5BD-4809-A3E5-B10847FB13B3}"/>
              </a:ext>
            </a:extLst>
          </p:cNvPr>
          <p:cNvCxnSpPr/>
          <p:nvPr/>
        </p:nvCxnSpPr>
        <p:spPr>
          <a:xfrm flipH="1" flipV="1">
            <a:off x="4629752" y="5736310"/>
            <a:ext cx="240631" cy="4406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A7EF678-77E6-4169-A788-A19B5C34EA96}"/>
              </a:ext>
            </a:extLst>
          </p:cNvPr>
          <p:cNvSpPr txBox="1"/>
          <p:nvPr/>
        </p:nvSpPr>
        <p:spPr>
          <a:xfrm>
            <a:off x="4870383" y="604359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Cost-to-go/value function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46A699C-A536-587A-3434-929DC592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754BC-BE03-2B49-A30F-4A00AE0C40FC}" type="datetime1">
              <a:rPr lang="en-US" smtClean="0"/>
              <a:t>5/5/26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6AF7E05-32CA-8285-F75C-BF8E106D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E82FD66-F42A-6418-682A-D8C369A54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139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Case 2: general case (e.g.,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open-loop unstable)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the optimal gain for the infinite-horizon LQR controller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the maximal positive invariant set for system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e>
                    </m:d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en-US" b="0" dirty="0">
                    <a:latin typeface="Source Sans Pro" panose="020B0503030403020204" pitchFamily="34" charset="0"/>
                  </a:rPr>
                </a:br>
                <a:br>
                  <a:rPr lang="en-US" b="0" dirty="0">
                    <a:latin typeface="Source Sans Pro" panose="020B0503030403020204" pitchFamily="34" charset="0"/>
                  </a:rPr>
                </a:b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(with constraints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the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the discrete-time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Riccati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</a:t>
                </a:r>
                <a:r>
                  <a:rPr lang="en-US" dirty="0"/>
                  <a:t>, i.e., the value function via LQR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38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E240AE-9BB3-D47E-A9C3-066453AC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1C768-1593-A844-806B-8421BE4EBDEC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F4E0C-6507-1460-2ADD-A261DC511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3584C-6721-4D4E-2DED-D901EC18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77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How to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A24AEF-793F-1047-8442-A69263C96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12059"/>
              </a:xfrm>
            </p:spPr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Case 2: general case (e.g.,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open-loop unstable)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be the optimal gain for the infinite-horizon LQR controller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the maximal positive invariant set for system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</m:sSub>
                      </m:e>
                    </m:d>
                    <m:r>
                      <a:rPr lang="en-US" b="1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br>
                  <a:rPr lang="en-US" b="0" dirty="0">
                    <a:latin typeface="Source Sans Pro" panose="020B0503030403020204" pitchFamily="34" charset="0"/>
                  </a:rPr>
                </a:br>
                <a:br>
                  <a:rPr lang="en-US" b="0" dirty="0">
                    <a:latin typeface="Source Sans Pro" panose="020B0503030403020204" pitchFamily="34" charset="0"/>
                  </a:rPr>
                </a:b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(with constraints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)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the solution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to the discrete-time </a:t>
                </a:r>
                <a:r>
                  <a:rPr lang="en-US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Riccati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</a:t>
                </a:r>
                <a:r>
                  <a:rPr lang="en-US" dirty="0"/>
                  <a:t>, i.e., the value function via LQR</a:t>
                </a: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b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𝑃𝐵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Note: both cases as presented are just (suboptimal) choices!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1EF3D8-93C0-174A-85CC-F1A438EF5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12059"/>
              </a:xfrm>
              <a:blipFill>
                <a:blip r:embed="rId3"/>
                <a:stretch>
                  <a:fillRect l="-1043" t="-2109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C612AC-4112-6546-4E1D-4EF910838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234BA-4151-4A4C-9729-8B359F8379C6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2610E0-8094-8603-92B2-525CBB2F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E51A5-F632-797D-5D86-0F0EC483F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54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8BA26-9EAF-C541-94B7-9D5A9FA86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E20D8-610E-0C4D-9E6A-20CFA8E9C9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some cases, the MPC law can be </a:t>
                </a:r>
                <a:r>
                  <a:rPr lang="en-US" i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pre-computed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no need for online optimization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Important case: constrained LQR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3E20D8-610E-0C4D-9E6A-20CFA8E9C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94A8961-3A09-1C4B-9ED8-8E5212F0E3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036" y="3315144"/>
                <a:ext cx="10757452" cy="28639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, …,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594A8961-3A09-1C4B-9ED8-8E5212F0E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36" y="3315144"/>
                <a:ext cx="10757452" cy="2863920"/>
              </a:xfrm>
              <a:prstGeom prst="rect">
                <a:avLst/>
              </a:prstGeom>
              <a:blipFill>
                <a:blip r:embed="rId3"/>
                <a:stretch>
                  <a:fillRect t="-433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269E63-B226-BD43-8229-D32CDF15E6E1}"/>
                  </a:ext>
                </a:extLst>
              </p:cNvPr>
              <p:cNvSpPr txBox="1"/>
              <p:nvPr/>
            </p:nvSpPr>
            <p:spPr>
              <a:xfrm>
                <a:off x="4038600" y="4285439"/>
                <a:ext cx="8153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subject to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269E63-B226-BD43-8229-D32CDF15E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285439"/>
                <a:ext cx="8153400" cy="461665"/>
              </a:xfrm>
              <a:prstGeom prst="rect">
                <a:avLst/>
              </a:prstGeom>
              <a:blipFill>
                <a:blip r:embed="rId4"/>
                <a:stretch>
                  <a:fillRect l="-1089" t="-7895" b="-26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4A5CC4-81B1-6C44-A258-78F5A26ABD0D}"/>
                  </a:ext>
                </a:extLst>
              </p:cNvPr>
              <p:cNvSpPr txBox="1"/>
              <p:nvPr/>
            </p:nvSpPr>
            <p:spPr>
              <a:xfrm>
                <a:off x="5456582" y="4797991"/>
                <a:ext cx="6735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4A5CC4-81B1-6C44-A258-78F5A26AB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82" y="4797991"/>
                <a:ext cx="6735418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9A9AC8-86D5-3642-8DCC-2971BBDC4453}"/>
                  </a:ext>
                </a:extLst>
              </p:cNvPr>
              <p:cNvSpPr txBox="1"/>
              <p:nvPr/>
            </p:nvSpPr>
            <p:spPr>
              <a:xfrm>
                <a:off x="5456581" y="5310543"/>
                <a:ext cx="6523383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B9A9AC8-86D5-3642-8DCC-2971BBDC4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81" y="5310543"/>
                <a:ext cx="6523383" cy="494815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A39055-F1B3-EA47-BA11-869F5BF103AE}"/>
                  </a:ext>
                </a:extLst>
              </p:cNvPr>
              <p:cNvSpPr txBox="1"/>
              <p:nvPr/>
            </p:nvSpPr>
            <p:spPr>
              <a:xfrm>
                <a:off x="5456581" y="5790440"/>
                <a:ext cx="65233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5A39055-F1B3-EA47-BA11-869F5BF1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81" y="5790440"/>
                <a:ext cx="6523383" cy="461665"/>
              </a:xfrm>
              <a:prstGeom prst="rect">
                <a:avLst/>
              </a:prstGeom>
              <a:blipFill>
                <a:blip r:embed="rId7"/>
                <a:stretch>
                  <a:fillRect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A7BAF-31BD-A7AD-601D-9C311F2FC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5EEC3-4812-B84F-BDA6-EE53C4135C6F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79C7B3-13FD-6D7C-B3E7-653FB719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D32050-958D-D1FE-7F8B-F5385CBBD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3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BD15-6F45-F54B-9442-FC34583A8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MPC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DDBE0-256A-134F-827A-A2D1E9FF3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07046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solution to the constrained LQR problem is a control which is a continuous piecewise affine function on polyhedral partition of the state 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Source Sans Pro" panose="020B0503030403020204" pitchFamily="34" charset="0"/>
                      </a:rPr>
                      <m:t>𝑋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that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where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  if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Thus, online, one has to locate in which cell of the polyhedral partition the state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lies, and then one obtains the optimal control via a look-up table query</a:t>
                </a:r>
                <a:r>
                  <a:rPr lang="en-US" b="1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ADDBE0-256A-134F-827A-A2D1E9FF3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070466"/>
              </a:xfrm>
              <a:blipFill>
                <a:blip r:embed="rId3"/>
                <a:stretch>
                  <a:fillRect l="-1086" t="-45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1119968-54E6-FB41-B3DD-1430C2497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552" y="4256090"/>
            <a:ext cx="5943600" cy="2286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7FC714B-2F81-CC64-4FCD-6DBEAEE0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C8A44-0889-4C43-B9FC-0905E3B536CC}" type="datetime1">
              <a:rPr lang="en-US" smtClean="0"/>
              <a:t>5/5/26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E51FAB-1452-E2C7-3365-29637587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BD1EA83-0642-5432-D600-0FBF1B28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05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B50CF-E00D-EF47-B7DB-998A7E16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 and practical use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4CEEB-682B-B449-9E76-5DFD5A62F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706100" cy="471646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At present there is no other technique other than MPC to design controllers for general large linear multivariable systems with input and output constraints with a stability guarantee</a:t>
                </a: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Design approach (for squared 2-norm cost):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Choose horizon length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the control invariant target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Control invariant target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b="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should be as large as possible for performance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Choose the parameters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freely to affect the control performance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Adjust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as per the stability theorem </a:t>
                </a:r>
              </a:p>
              <a:p>
                <a:pPr lvl="1"/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Useful toolbox (MATLAB): </a:t>
                </a:r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  <a:hlinkClick r:id="rId2"/>
                  </a:rPr>
                  <a:t>https://www.mpt3.org/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In practice, sometimes choosing a good terminal cost </a:t>
                </a:r>
                <a:r>
                  <a:rPr lang="en-US" dirty="0"/>
                  <a:t>is enough (i.e., don’t need to enforce a terminal control invariant condition), though you may be sacrificing guarantees</a:t>
                </a:r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24CEEB-682B-B449-9E76-5DFD5A62F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706100" cy="4716465"/>
              </a:xfrm>
              <a:blipFill>
                <a:blip r:embed="rId3"/>
                <a:stretch>
                  <a:fillRect l="-1066" t="-2949" r="-711" b="-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F05DD4-77DA-4869-8FD7-FC1303C8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3362D6-7D9C-724F-8623-5E741116D1B7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12E7B-9026-7598-09FE-8444ABF03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537293-70F7-A875-9073-05152D16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693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32E3-FE55-6344-BD35-C79B1FE1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for reference 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EDC9-7067-5E4C-97A7-43AF07AD65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Usual cost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  does not work, as in steady state control does not need to be zero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- formulation: reason in terms of </a:t>
                </a:r>
                <a:r>
                  <a:rPr lang="en-US" i="1" dirty="0"/>
                  <a:t>control changes </a:t>
                </a:r>
              </a:p>
              <a:p>
                <a:pPr marL="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i="1" dirty="0"/>
              </a:p>
              <a:p>
                <a:pPr marL="0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EDC9-7067-5E4C-97A7-43AF07AD6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B9AEA-C51D-B17A-620E-3141AE03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F1C33-8767-574D-AB0C-AC5EA77C8016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AEF7F2-2147-3940-9A02-7E5F4EDDB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29589-F26E-A922-5AEE-DC3A86DD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51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732E3-FE55-6344-BD35-C79B1FE15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MPC for reference tracking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EDC9-7067-5E4C-97A7-43AF07AD65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MPC problem is readily modified to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sz="1100" dirty="0"/>
              </a:p>
              <a:p>
                <a:r>
                  <a:rPr lang="en-US" dirty="0"/>
                  <a:t>The control input is then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EDC9-7067-5E4C-97A7-43AF07AD65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844" t="-2725" b="-3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CDE1867-D017-E54B-944C-2CC1BA4DE0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2300708"/>
                <a:ext cx="10757452" cy="28639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,…,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>
                                              <a:latin typeface="Cambria Math" panose="02040503050406030204" pitchFamily="18" charset="0"/>
                                            </a:rPr>
                                            <m:t>𝐲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>
                                              <a:latin typeface="Cambria Math" panose="02040503050406030204" pitchFamily="18" charset="0"/>
                                            </a:rPr>
                                            <m:t>𝐫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 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1">
                                              <a:latin typeface="Cambria Math" panose="02040503050406030204" pitchFamily="18" charset="0"/>
                                            </a:rPr>
                                            <m:t>𝐮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CDE1867-D017-E54B-944C-2CC1BA4DE0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300708"/>
                <a:ext cx="10757452" cy="2863920"/>
              </a:xfrm>
              <a:prstGeom prst="rect">
                <a:avLst/>
              </a:prstGeom>
              <a:blipFill>
                <a:blip r:embed="rId3"/>
                <a:stretch>
                  <a:fillRect t="-47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96C849-028C-7048-AF4B-2EA08918A9C9}"/>
                  </a:ext>
                </a:extLst>
              </p:cNvPr>
              <p:cNvSpPr txBox="1"/>
              <p:nvPr/>
            </p:nvSpPr>
            <p:spPr>
              <a:xfrm>
                <a:off x="3681947" y="3157482"/>
                <a:ext cx="8153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subject to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 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196C849-028C-7048-AF4B-2EA08918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947" y="3157482"/>
                <a:ext cx="8153400" cy="461665"/>
              </a:xfrm>
              <a:prstGeom prst="rect">
                <a:avLst/>
              </a:prstGeom>
              <a:blipFill>
                <a:blip r:embed="rId4"/>
                <a:stretch>
                  <a:fillRect l="-1089" t="-1081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DC8D0C-73F2-D548-BAE9-9E282F2DB094}"/>
                  </a:ext>
                </a:extLst>
              </p:cNvPr>
              <p:cNvSpPr txBox="1"/>
              <p:nvPr/>
            </p:nvSpPr>
            <p:spPr>
              <a:xfrm>
                <a:off x="5152815" y="4058565"/>
                <a:ext cx="6735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7DC8D0C-73F2-D548-BAE9-9E282F2DB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815" y="4058565"/>
                <a:ext cx="6735418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0AC29A-A848-184C-A65D-B68A66AA6295}"/>
                  </a:ext>
                </a:extLst>
              </p:cNvPr>
              <p:cNvSpPr txBox="1"/>
              <p:nvPr/>
            </p:nvSpPr>
            <p:spPr>
              <a:xfrm>
                <a:off x="5144533" y="4514739"/>
                <a:ext cx="6523383" cy="49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70AC29A-A848-184C-A65D-B68A66AA6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533" y="4514739"/>
                <a:ext cx="6523383" cy="494815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12FF2E-3D3E-5E4E-9895-029472261A19}"/>
                  </a:ext>
                </a:extLst>
              </p:cNvPr>
              <p:cNvSpPr txBox="1"/>
              <p:nvPr/>
            </p:nvSpPr>
            <p:spPr>
              <a:xfrm>
                <a:off x="5221973" y="5475703"/>
                <a:ext cx="65233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−1)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B12FF2E-3D3E-5E4E-9895-029472261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973" y="5475703"/>
                <a:ext cx="6523383" cy="461665"/>
              </a:xfrm>
              <a:prstGeom prst="rect">
                <a:avLst/>
              </a:prstGeom>
              <a:blipFill>
                <a:blip r:embed="rId7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9E1B40-5AC6-C54D-BBF7-1AB14621E88F}"/>
                  </a:ext>
                </a:extLst>
              </p:cNvPr>
              <p:cNvSpPr txBox="1"/>
              <p:nvPr/>
            </p:nvSpPr>
            <p:spPr>
              <a:xfrm>
                <a:off x="5144533" y="3598890"/>
                <a:ext cx="6735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                   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9E1B40-5AC6-C54D-BBF7-1AB14621E8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533" y="3598890"/>
                <a:ext cx="6735418" cy="461665"/>
              </a:xfrm>
              <a:prstGeom prst="rect">
                <a:avLst/>
              </a:prstGeom>
              <a:blipFill>
                <a:blip r:embed="rId8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51193-A17A-354F-9A8B-9251828C5E36}"/>
                  </a:ext>
                </a:extLst>
              </p:cNvPr>
              <p:cNvSpPr txBox="1"/>
              <p:nvPr/>
            </p:nvSpPr>
            <p:spPr>
              <a:xfrm>
                <a:off x="5221974" y="4991248"/>
                <a:ext cx="65233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       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=0,…,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B51193-A17A-354F-9A8B-9251828C5E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974" y="4991248"/>
                <a:ext cx="6523383" cy="461665"/>
              </a:xfrm>
              <a:prstGeom prst="rect">
                <a:avLst/>
              </a:prstGeom>
              <a:blipFill>
                <a:blip r:embed="rId9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6E87BC1-56E4-93A5-35AC-0EA4D0F20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54BFC-DAAC-8B42-AEC4-206A58C527F9}" type="datetime1">
              <a:rPr lang="en-US" smtClean="0"/>
              <a:t>5/5/26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814B7B6-7B7E-9E87-C12E-54A1E6C2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A736E0B-3C81-36AE-2CC9-BD3E0D70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988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7C61-C673-FD43-936B-84F9006D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34AB-4990-1841-A099-C9C9563E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8961" y="2854709"/>
            <a:ext cx="4754078" cy="1832794"/>
          </a:xfrm>
        </p:spPr>
        <p:txBody>
          <a:bodyPr>
            <a:norm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Intro to learning</a:t>
            </a:r>
          </a:p>
          <a:p>
            <a:r>
              <a:rPr lang="en-US" dirty="0"/>
              <a:t>S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ys ID</a:t>
            </a:r>
          </a:p>
          <a:p>
            <a:r>
              <a:rPr lang="en-US" dirty="0"/>
              <a:t>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daptive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0328E-556F-58EC-474A-393302EA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1745F-580E-DA4F-9992-74D4F9E9129C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CC359-04C3-8BD0-233E-46010FA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12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22F1D-B60B-C30F-5B1B-1159FE69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2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BB6EF975807449194B44213CB1385" ma:contentTypeVersion="5" ma:contentTypeDescription="Create a new document." ma:contentTypeScope="" ma:versionID="6297688411df770d7ba805098bf03ebd">
  <xsd:schema xmlns:xsd="http://www.w3.org/2001/XMLSchema" xmlns:xs="http://www.w3.org/2001/XMLSchema" xmlns:p="http://schemas.microsoft.com/office/2006/metadata/properties" xmlns:ns3="d1af692f-475c-46b5-a87d-a47813ac8995" xmlns:ns4="ec38afac-11fd-4f05-b2a5-9d8ac7fc116b" targetNamespace="http://schemas.microsoft.com/office/2006/metadata/properties" ma:root="true" ma:fieldsID="a8acf1f0a3134d6bce4e4716f1f754da" ns3:_="" ns4:_="">
    <xsd:import namespace="d1af692f-475c-46b5-a87d-a47813ac8995"/>
    <xsd:import namespace="ec38afac-11fd-4f05-b2a5-9d8ac7fc1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f692f-475c-46b5-a87d-a47813ac8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afac-11fd-4f05-b2a5-9d8ac7fc1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AFF5A3-C4BC-4265-8729-DA8E69FA5B2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af692f-475c-46b5-a87d-a47813ac8995"/>
    <ds:schemaRef ds:uri="ec38afac-11fd-4f05-b2a5-9d8ac7fc11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562D76-7A15-45B5-A885-BDA6B89EFC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8AE869-6B4B-4B8A-A5D5-6420A2F75278}">
  <ds:schemaRefs>
    <ds:schemaRef ds:uri="http://schemas.microsoft.com/office/2006/documentManagement/types"/>
    <ds:schemaRef ds:uri="ec38afac-11fd-4f05-b2a5-9d8ac7fc116b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elements/1.1/"/>
    <ds:schemaRef ds:uri="d1af692f-475c-46b5-a87d-a47813ac8995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38793</TotalTime>
  <Words>2501</Words>
  <Application>Microsoft Macintosh PowerPoint</Application>
  <PresentationFormat>Widescreen</PresentationFormat>
  <Paragraphs>287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CMR10</vt:lpstr>
      <vt:lpstr>Source Sans Pro</vt:lpstr>
      <vt:lpstr>Office Theme</vt:lpstr>
      <vt:lpstr>AA203 Optimal and Learning-based Control</vt:lpstr>
      <vt:lpstr>Roadmap</vt:lpstr>
      <vt:lpstr>Model predictive control</vt:lpstr>
      <vt:lpstr>Persistent feasibility theorem</vt:lpstr>
      <vt:lpstr>Persistent feasibility theorem</vt:lpstr>
      <vt:lpstr>Persistent feasibility theorem</vt:lpstr>
      <vt:lpstr>Practical aspects of persistent feasibility</vt:lpstr>
      <vt:lpstr>Stability of MPC</vt:lpstr>
      <vt:lpstr>Lyapunov stability theory</vt:lpstr>
      <vt:lpstr>MPC stability theorem</vt:lpstr>
      <vt:lpstr>MPC stability theorem</vt:lpstr>
      <vt:lpstr>MPC stability theorem</vt:lpstr>
      <vt:lpstr>MPC stability theorem</vt:lpstr>
      <vt:lpstr>MPC stability theorem</vt:lpstr>
      <vt:lpstr>MPC stability theorem</vt:lpstr>
      <vt:lpstr>How to choose X_f and P?</vt:lpstr>
      <vt:lpstr>How to choose X_f and P?</vt:lpstr>
      <vt:lpstr>How to choose X_f and P?</vt:lpstr>
      <vt:lpstr>Explicit MPC</vt:lpstr>
      <vt:lpstr>Explicit MPC</vt:lpstr>
      <vt:lpstr>Tuning and practical use </vt:lpstr>
      <vt:lpstr>MPC for reference tracking</vt:lpstr>
      <vt:lpstr>MPC for reference tracking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Marco Pavone</cp:lastModifiedBy>
  <cp:revision>529</cp:revision>
  <cp:lastPrinted>2019-01-07T20:05:58Z</cp:lastPrinted>
  <dcterms:created xsi:type="dcterms:W3CDTF">2017-01-06T12:29:52Z</dcterms:created>
  <dcterms:modified xsi:type="dcterms:W3CDTF">2026-05-06T16:55:25Z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0x0101001AFBB6EF975807449194B44213CB1385</vt:lpwstr>
  </property>
</Properties>
</file>