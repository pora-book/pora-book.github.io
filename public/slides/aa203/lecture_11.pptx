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sldIdLst>
    <p:sldId id="256" r:id="rId5"/>
    <p:sldId id="548" r:id="rId6"/>
    <p:sldId id="549" r:id="rId7"/>
    <p:sldId id="550" r:id="rId8"/>
    <p:sldId id="523" r:id="rId9"/>
    <p:sldId id="524" r:id="rId10"/>
    <p:sldId id="525" r:id="rId11"/>
    <p:sldId id="526" r:id="rId12"/>
    <p:sldId id="551" r:id="rId13"/>
    <p:sldId id="527" r:id="rId14"/>
    <p:sldId id="528" r:id="rId15"/>
    <p:sldId id="529" r:id="rId16"/>
    <p:sldId id="530" r:id="rId17"/>
    <p:sldId id="531" r:id="rId18"/>
    <p:sldId id="532" r:id="rId19"/>
    <p:sldId id="533" r:id="rId20"/>
    <p:sldId id="534" r:id="rId21"/>
    <p:sldId id="535" r:id="rId22"/>
    <p:sldId id="536" r:id="rId23"/>
    <p:sldId id="537" r:id="rId24"/>
    <p:sldId id="538" r:id="rId25"/>
    <p:sldId id="539" r:id="rId26"/>
    <p:sldId id="540" r:id="rId27"/>
    <p:sldId id="541" r:id="rId28"/>
    <p:sldId id="542" r:id="rId29"/>
    <p:sldId id="39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548"/>
            <p14:sldId id="549"/>
            <p14:sldId id="550"/>
            <p14:sldId id="523"/>
            <p14:sldId id="524"/>
            <p14:sldId id="525"/>
            <p14:sldId id="526"/>
            <p14:sldId id="551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  <p14:sldId id="540"/>
            <p14:sldId id="541"/>
            <p14:sldId id="542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883C66-D37B-4423-AD2F-29CB2587B92B}" v="230" dt="2022-05-11T07:30:50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/>
    <p:restoredTop sz="82083" autoAdjust="0"/>
  </p:normalViewPr>
  <p:slideViewPr>
    <p:cSldViewPr snapToGrid="0" snapToObjects="1">
      <p:cViewPr varScale="1">
        <p:scale>
          <a:sx n="102" d="100"/>
          <a:sy n="102" d="100"/>
        </p:scale>
        <p:origin x="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ard Fu Schmerling" userId="c8b75dde-c097-4599-bb13-81e931e3f9a3" providerId="ADAL" clId="{AC883C66-D37B-4423-AD2F-29CB2587B92B}"/>
    <pc:docChg chg="undo custSel addSld delSld modSld sldOrd modSection">
      <pc:chgData name="Edward Fu Schmerling" userId="c8b75dde-c097-4599-bb13-81e931e3f9a3" providerId="ADAL" clId="{AC883C66-D37B-4423-AD2F-29CB2587B92B}" dt="2022-05-11T07:30:42.070" v="413" actId="255"/>
      <pc:docMkLst>
        <pc:docMk/>
      </pc:docMkLst>
      <pc:sldChg chg="modSp mod">
        <pc:chgData name="Edward Fu Schmerling" userId="c8b75dde-c097-4599-bb13-81e931e3f9a3" providerId="ADAL" clId="{AC883C66-D37B-4423-AD2F-29CB2587B92B}" dt="2022-05-09T05:37:19.342" v="163" actId="1076"/>
        <pc:sldMkLst>
          <pc:docMk/>
          <pc:sldMk cId="3651528683" sldId="399"/>
        </pc:sldMkLst>
        <pc:spChg chg="mod">
          <ac:chgData name="Edward Fu Schmerling" userId="c8b75dde-c097-4599-bb13-81e931e3f9a3" providerId="ADAL" clId="{AC883C66-D37B-4423-AD2F-29CB2587B92B}" dt="2022-05-09T05:37:19.342" v="163" actId="1076"/>
          <ac:spMkLst>
            <pc:docMk/>
            <pc:sldMk cId="3651528683" sldId="399"/>
            <ac:spMk id="3" creationId="{041834AB-4990-1841-A099-C9C9563E417D}"/>
          </ac:spMkLst>
        </pc:spChg>
      </pc:sldChg>
      <pc:sldChg chg="modAnim">
        <pc:chgData name="Edward Fu Schmerling" userId="c8b75dde-c097-4599-bb13-81e931e3f9a3" providerId="ADAL" clId="{AC883C66-D37B-4423-AD2F-29CB2587B92B}" dt="2022-05-09T04:21:13.695" v="19"/>
        <pc:sldMkLst>
          <pc:docMk/>
          <pc:sldMk cId="1305302879" sldId="523"/>
        </pc:sldMkLst>
      </pc:sldChg>
      <pc:sldChg chg="modSp mod">
        <pc:chgData name="Edward Fu Schmerling" userId="c8b75dde-c097-4599-bb13-81e931e3f9a3" providerId="ADAL" clId="{AC883C66-D37B-4423-AD2F-29CB2587B92B}" dt="2022-05-09T04:25:37.767" v="24" actId="20577"/>
        <pc:sldMkLst>
          <pc:docMk/>
          <pc:sldMk cId="257311969" sldId="525"/>
        </pc:sldMkLst>
        <pc:spChg chg="mod">
          <ac:chgData name="Edward Fu Schmerling" userId="c8b75dde-c097-4599-bb13-81e931e3f9a3" providerId="ADAL" clId="{AC883C66-D37B-4423-AD2F-29CB2587B92B}" dt="2022-05-09T04:25:37.767" v="24" actId="20577"/>
          <ac:spMkLst>
            <pc:docMk/>
            <pc:sldMk cId="257311969" sldId="525"/>
            <ac:spMk id="3" creationId="{0035C820-8224-1545-9D71-04DFFB6377A9}"/>
          </ac:spMkLst>
        </pc:spChg>
      </pc:sldChg>
      <pc:sldChg chg="modSp">
        <pc:chgData name="Edward Fu Schmerling" userId="c8b75dde-c097-4599-bb13-81e931e3f9a3" providerId="ADAL" clId="{AC883C66-D37B-4423-AD2F-29CB2587B92B}" dt="2022-05-09T04:55:54.998" v="86" actId="20577"/>
        <pc:sldMkLst>
          <pc:docMk/>
          <pc:sldMk cId="1223094151" sldId="531"/>
        </pc:sldMkLst>
        <pc:spChg chg="mod">
          <ac:chgData name="Edward Fu Schmerling" userId="c8b75dde-c097-4599-bb13-81e931e3f9a3" providerId="ADAL" clId="{AC883C66-D37B-4423-AD2F-29CB2587B92B}" dt="2022-05-09T04:55:54.998" v="86" actId="20577"/>
          <ac:spMkLst>
            <pc:docMk/>
            <pc:sldMk cId="1223094151" sldId="531"/>
            <ac:spMk id="3" creationId="{1AFF7F1A-8133-1C47-97FD-A6C5DF125B29}"/>
          </ac:spMkLst>
        </pc:spChg>
      </pc:sldChg>
      <pc:sldChg chg="modSp mod">
        <pc:chgData name="Edward Fu Schmerling" userId="c8b75dde-c097-4599-bb13-81e931e3f9a3" providerId="ADAL" clId="{AC883C66-D37B-4423-AD2F-29CB2587B92B}" dt="2022-05-11T07:26:03.802" v="254" actId="27636"/>
        <pc:sldMkLst>
          <pc:docMk/>
          <pc:sldMk cId="455590951" sldId="537"/>
        </pc:sldMkLst>
        <pc:spChg chg="mod">
          <ac:chgData name="Edward Fu Schmerling" userId="c8b75dde-c097-4599-bb13-81e931e3f9a3" providerId="ADAL" clId="{AC883C66-D37B-4423-AD2F-29CB2587B92B}" dt="2022-05-11T07:26:03.802" v="254" actId="27636"/>
          <ac:spMkLst>
            <pc:docMk/>
            <pc:sldMk cId="455590951" sldId="537"/>
            <ac:spMk id="3" creationId="{ACB573D9-E010-824A-A24B-BF01E93F3BFA}"/>
          </ac:spMkLst>
        </pc:spChg>
      </pc:sldChg>
      <pc:sldChg chg="modSp mod">
        <pc:chgData name="Edward Fu Schmerling" userId="c8b75dde-c097-4599-bb13-81e931e3f9a3" providerId="ADAL" clId="{AC883C66-D37B-4423-AD2F-29CB2587B92B}" dt="2022-05-11T07:30:42.070" v="413" actId="255"/>
        <pc:sldMkLst>
          <pc:docMk/>
          <pc:sldMk cId="2831023873" sldId="538"/>
        </pc:sldMkLst>
        <pc:spChg chg="mod">
          <ac:chgData name="Edward Fu Schmerling" userId="c8b75dde-c097-4599-bb13-81e931e3f9a3" providerId="ADAL" clId="{AC883C66-D37B-4423-AD2F-29CB2587B92B}" dt="2022-05-11T07:30:42.070" v="413" actId="255"/>
          <ac:spMkLst>
            <pc:docMk/>
            <pc:sldMk cId="2831023873" sldId="538"/>
            <ac:spMk id="3" creationId="{30A2B76E-2751-AF44-9A06-46160FE4ECD7}"/>
          </ac:spMkLst>
        </pc:spChg>
      </pc:sldChg>
      <pc:sldChg chg="modSp mod">
        <pc:chgData name="Edward Fu Schmerling" userId="c8b75dde-c097-4599-bb13-81e931e3f9a3" providerId="ADAL" clId="{AC883C66-D37B-4423-AD2F-29CB2587B92B}" dt="2022-05-09T05:36:45.396" v="110" actId="14100"/>
        <pc:sldMkLst>
          <pc:docMk/>
          <pc:sldMk cId="2127953754" sldId="546"/>
        </pc:sldMkLst>
        <pc:spChg chg="mod">
          <ac:chgData name="Edward Fu Schmerling" userId="c8b75dde-c097-4599-bb13-81e931e3f9a3" providerId="ADAL" clId="{AC883C66-D37B-4423-AD2F-29CB2587B92B}" dt="2022-05-09T05:36:45.396" v="110" actId="14100"/>
          <ac:spMkLst>
            <pc:docMk/>
            <pc:sldMk cId="2127953754" sldId="546"/>
            <ac:spMk id="3" creationId="{1ABC5208-0E32-D14B-985F-81A6036FA146}"/>
          </ac:spMkLst>
        </pc:spChg>
      </pc:sldChg>
      <pc:sldChg chg="modSp mod">
        <pc:chgData name="Edward Fu Schmerling" userId="c8b75dde-c097-4599-bb13-81e931e3f9a3" providerId="ADAL" clId="{AC883C66-D37B-4423-AD2F-29CB2587B92B}" dt="2022-05-09T04:19:50.766" v="14" actId="20577"/>
        <pc:sldMkLst>
          <pc:docMk/>
          <pc:sldMk cId="3822192160" sldId="549"/>
        </pc:sldMkLst>
        <pc:spChg chg="mod">
          <ac:chgData name="Edward Fu Schmerling" userId="c8b75dde-c097-4599-bb13-81e931e3f9a3" providerId="ADAL" clId="{AC883C66-D37B-4423-AD2F-29CB2587B92B}" dt="2022-05-09T04:19:50.766" v="14" actId="20577"/>
          <ac:spMkLst>
            <pc:docMk/>
            <pc:sldMk cId="3822192160" sldId="549"/>
            <ac:spMk id="3" creationId="{DBE9D934-213B-9747-B17D-1A05FA70D288}"/>
          </ac:spMkLst>
        </pc:spChg>
      </pc:sldChg>
      <pc:sldChg chg="delSp add mod ord delAnim">
        <pc:chgData name="Edward Fu Schmerling" userId="c8b75dde-c097-4599-bb13-81e931e3f9a3" providerId="ADAL" clId="{AC883C66-D37B-4423-AD2F-29CB2587B92B}" dt="2022-05-09T04:21:07.031" v="18"/>
        <pc:sldMkLst>
          <pc:docMk/>
          <pc:sldMk cId="537112962" sldId="550"/>
        </pc:sldMkLst>
        <pc:grpChg chg="del">
          <ac:chgData name="Edward Fu Schmerling" userId="c8b75dde-c097-4599-bb13-81e931e3f9a3" providerId="ADAL" clId="{AC883C66-D37B-4423-AD2F-29CB2587B92B}" dt="2022-05-09T04:21:02.282" v="16" actId="478"/>
          <ac:grpSpMkLst>
            <pc:docMk/>
            <pc:sldMk cId="537112962" sldId="550"/>
            <ac:grpSpMk id="8" creationId="{ED761CDC-11FE-A540-B11F-E4E6D369E816}"/>
          </ac:grpSpMkLst>
        </pc:grpChg>
      </pc:sldChg>
      <pc:sldChg chg="add del">
        <pc:chgData name="Edward Fu Schmerling" userId="c8b75dde-c097-4599-bb13-81e931e3f9a3" providerId="ADAL" clId="{AC883C66-D37B-4423-AD2F-29CB2587B92B}" dt="2022-05-09T04:29:10.205" v="26"/>
        <pc:sldMkLst>
          <pc:docMk/>
          <pc:sldMk cId="905022008" sldId="551"/>
        </pc:sldMkLst>
      </pc:sldChg>
      <pc:sldChg chg="addSp modSp add mod">
        <pc:chgData name="Edward Fu Schmerling" userId="c8b75dde-c097-4599-bb13-81e931e3f9a3" providerId="ADAL" clId="{AC883C66-D37B-4423-AD2F-29CB2587B92B}" dt="2022-05-09T04:30:22.258" v="71" actId="14100"/>
        <pc:sldMkLst>
          <pc:docMk/>
          <pc:sldMk cId="2635338328" sldId="551"/>
        </pc:sldMkLst>
        <pc:spChg chg="add mod">
          <ac:chgData name="Edward Fu Schmerling" userId="c8b75dde-c097-4599-bb13-81e931e3f9a3" providerId="ADAL" clId="{AC883C66-D37B-4423-AD2F-29CB2587B92B}" dt="2022-05-09T04:29:35.844" v="35" actId="1582"/>
          <ac:spMkLst>
            <pc:docMk/>
            <pc:sldMk cId="2635338328" sldId="551"/>
            <ac:spMk id="11" creationId="{86304092-6EED-4E90-B1CA-D905F61134AA}"/>
          </ac:spMkLst>
        </pc:spChg>
        <pc:spChg chg="add mod">
          <ac:chgData name="Edward Fu Schmerling" userId="c8b75dde-c097-4599-bb13-81e931e3f9a3" providerId="ADAL" clId="{AC883C66-D37B-4423-AD2F-29CB2587B92B}" dt="2022-05-09T04:29:41.802" v="38" actId="14100"/>
          <ac:spMkLst>
            <pc:docMk/>
            <pc:sldMk cId="2635338328" sldId="551"/>
            <ac:spMk id="12" creationId="{B290592A-0625-4D49-A6F6-9375865459A4}"/>
          </ac:spMkLst>
        </pc:spChg>
        <pc:spChg chg="add mod">
          <ac:chgData name="Edward Fu Schmerling" userId="c8b75dde-c097-4599-bb13-81e931e3f9a3" providerId="ADAL" clId="{AC883C66-D37B-4423-AD2F-29CB2587B92B}" dt="2022-05-09T04:30:22.258" v="71" actId="14100"/>
          <ac:spMkLst>
            <pc:docMk/>
            <pc:sldMk cId="2635338328" sldId="551"/>
            <ac:spMk id="13" creationId="{CE7A15D4-CB75-4402-9A49-81CA256B9AC3}"/>
          </ac:spMkLst>
        </pc:spChg>
      </pc:sldChg>
      <pc:sldChg chg="modSp add del">
        <pc:chgData name="Edward Fu Schmerling" userId="c8b75dde-c097-4599-bb13-81e931e3f9a3" providerId="ADAL" clId="{AC883C66-D37B-4423-AD2F-29CB2587B92B}" dt="2022-05-09T04:57:48.789" v="103" actId="47"/>
        <pc:sldMkLst>
          <pc:docMk/>
          <pc:sldMk cId="3150164228" sldId="552"/>
        </pc:sldMkLst>
        <pc:spChg chg="mod">
          <ac:chgData name="Edward Fu Schmerling" userId="c8b75dde-c097-4599-bb13-81e931e3f9a3" providerId="ADAL" clId="{AC883C66-D37B-4423-AD2F-29CB2587B92B}" dt="2022-05-09T04:57:33.719" v="102" actId="20577"/>
          <ac:spMkLst>
            <pc:docMk/>
            <pc:sldMk cId="3150164228" sldId="552"/>
            <ac:spMk id="7" creationId="{517A27D2-3657-394C-A2D3-D02A4011D26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infinite horizon “sub- optimal” controller can be designed by repeatedly solving finite time optimal control problems in a receding horizon fashion as described next.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each sampling time, starting at the current state, an open-loop optimal control problem is solved over a finite horizon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computed optimal manipulated input signal is applied to the process only during the following sampling interval [t, t + 1].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the next time step t + 1 a new optimal control problem based on new measurements of the state is solved over a shifted horizon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838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infinite horizon “sub- optimal” controller can be designed by repeatedly solving finite time optimal con-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problems in a receding horizon fashion as described next.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each sampling time, starting at the current state, an open-loop optimal control problem is solved over a finite horizon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computed optimal manipulated input signal is applied to the process only during the following sampling interval [t, t + 1]. 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the next time step t + 1 a new optimal control problem based on new measurements of the state is solved over a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shifted horizon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822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A set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ar-AE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ℝ</m:t>
                        </m:r>
                      </m:e>
                      <m:sup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defined by finitely many linear inequalities: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lang="en-US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∈</m:t>
                          </m:r>
                          <m:sSup>
                            <m:sSup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sup>
                          </m:sSup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:</m:t>
                          </m:r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𝐴𝑥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≤</m:t>
                          </m:r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%%%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b="1" dirty="0"/>
                  <a:t>polyhedron</a:t>
                </a:r>
                <a:r>
                  <a:rPr lang="en-US" dirty="0"/>
                  <a:t> (plural: </a:t>
                </a:r>
                <a:r>
                  <a:rPr lang="en-US" b="1" dirty="0" err="1"/>
                  <a:t>polyhedra</a:t>
                </a:r>
                <a:r>
                  <a:rPr lang="en-US" dirty="0"/>
                  <a:t>) is a three-dimensional geometric solid made up of a finite number of flat polygonal faces.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b="1" dirty="0"/>
                  <a:t>polytope</a:t>
                </a:r>
                <a:r>
                  <a:rPr lang="en-US" dirty="0"/>
                  <a:t> is a geometric object in any number of dimensions defined by flat “faces” of appropriate dimension:</a:t>
                </a:r>
              </a:p>
              <a:p>
                <a:endParaRPr lang="en-US" dirty="0"/>
              </a:p>
              <a:p>
                <a:r>
                  <a:rPr lang="en-US" dirty="0"/>
                  <a:t>A convex polytope is also the </a:t>
                </a:r>
                <a:r>
                  <a:rPr lang="en-US" b="1" dirty="0"/>
                  <a:t>intersection of finitely many linear inequalities</a:t>
                </a:r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r>
                  <a:rPr lang="en-US" dirty="0"/>
                  <a:t>the set of all </a:t>
                </a:r>
                <a:r>
                  <a:rPr lang="en-US" i="1" dirty="0"/>
                  <a:t>admissible states and inputs</a:t>
                </a:r>
                <a:r>
                  <a:rPr lang="en-US" dirty="0"/>
                  <a:t> is described by </a:t>
                </a:r>
                <a:r>
                  <a:rPr lang="en-US" b="1" dirty="0"/>
                  <a:t>linear inequalities</a:t>
                </a:r>
                <a:r>
                  <a:rPr lang="en-US" dirty="0"/>
                  <a:t>, i.e., it is a </a:t>
                </a:r>
                <a:r>
                  <a:rPr lang="en-US" b="1" dirty="0"/>
                  <a:t>convex polyhedral set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A set in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ℝ^𝑛</a:t>
                </a:r>
                <a:r>
                  <a:rPr lang="en-US" dirty="0"/>
                  <a:t>defined by finitely many linear inequalities:</a:t>
                </a:r>
              </a:p>
              <a:p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𝑃=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{𝑥∈ℝ^𝑛:𝐴𝑥≤𝑏}</a:t>
                </a:r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%%%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b="1" dirty="0"/>
                  <a:t>polyhedron</a:t>
                </a:r>
                <a:r>
                  <a:rPr lang="en-US" dirty="0"/>
                  <a:t> (plural: </a:t>
                </a:r>
                <a:r>
                  <a:rPr lang="en-US" b="1" dirty="0" err="1"/>
                  <a:t>polyhedra</a:t>
                </a:r>
                <a:r>
                  <a:rPr lang="en-US" dirty="0"/>
                  <a:t>) is a three-dimensional geometric solid made up of a finite number of flat polygonal faces.</a:t>
                </a:r>
              </a:p>
              <a:p>
                <a:endParaRPr lang="en-US" dirty="0"/>
              </a:p>
              <a:p>
                <a:r>
                  <a:rPr lang="en-US" dirty="0"/>
                  <a:t>A </a:t>
                </a:r>
                <a:r>
                  <a:rPr lang="en-US" b="1" dirty="0"/>
                  <a:t>polytope</a:t>
                </a:r>
                <a:r>
                  <a:rPr lang="en-US" dirty="0"/>
                  <a:t> is a geometric object in any number of dimensions defined by flat “faces” of appropriate dimension:</a:t>
                </a:r>
              </a:p>
              <a:p>
                <a:endParaRPr lang="en-US" dirty="0"/>
              </a:p>
              <a:p>
                <a:r>
                  <a:rPr lang="en-US" dirty="0"/>
                  <a:t>A convex polytope is also the </a:t>
                </a:r>
                <a:r>
                  <a:rPr lang="en-US" b="1" dirty="0"/>
                  <a:t>intersection of finitely many linear inequalities</a:t>
                </a:r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r>
                  <a:rPr lang="en-US" dirty="0"/>
                  <a:t>the set of all </a:t>
                </a:r>
                <a:r>
                  <a:rPr lang="en-US" i="1" dirty="0"/>
                  <a:t>admissible states and inputs</a:t>
                </a:r>
                <a:r>
                  <a:rPr lang="en-US" dirty="0"/>
                  <a:t> is described by </a:t>
                </a:r>
                <a:r>
                  <a:rPr lang="en-US" b="1" dirty="0"/>
                  <a:t>linear inequalities</a:t>
                </a:r>
                <a:r>
                  <a:rPr lang="en-US" dirty="0"/>
                  <a:t>, i.e., it is a </a:t>
                </a:r>
                <a:r>
                  <a:rPr lang="en-US" b="1" dirty="0"/>
                  <a:t>convex polyhedral set</a:t>
                </a:r>
                <a:r>
                  <a:rPr lang="en-US" dirty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46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a vector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ℝ</m:t>
                        </m:r>
                      </m:e>
                      <m:sup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20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∥</m:t>
                      </m:r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∥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sup>
                        <m:e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∣</m:t>
                          </m:r>
                        </m:e>
                      </m:nary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∣</m:t>
                      </m:r>
                    </m:oMath>
                  </m:oMathPara>
                </a14:m>
                <a:endParaRPr lang="ar-AE" dirty="0"/>
              </a:p>
              <a:p>
                <a:endParaRPr lang="en-US" dirty="0"/>
              </a:p>
              <a:p>
                <a:r>
                  <a:rPr lang="en-US" dirty="0"/>
                  <a:t>For a vector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𝑥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sSup>
                      <m:sSup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ℝ</m:t>
                        </m:r>
                      </m:e>
                      <m:sup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120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∥</m:t>
                      </m:r>
                      <m:r>
                        <a:rPr lang="ar-AE" sz="12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∥</m:t>
                          </m:r>
                        </m:e>
                        <m:sub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∞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limLow>
                        <m:limLow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lang="ar-AE" sz="120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=1,…,</m:t>
                          </m:r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lim>
                      </m:limLow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∣</m:t>
                      </m:r>
                      <m:sSub>
                        <m:sSubPr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lang="ar-AE" sz="120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∣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For a vector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𝑥∈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ℝ^𝑛</a:t>
                </a:r>
                <a:r>
                  <a:rPr lang="ar-AE" dirty="0"/>
                  <a:t>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∥𝑥∥_1=∑128_(𝑖=1)^𝑛▒∣ 𝑥_𝑖∣</a:t>
                </a:r>
                <a:endParaRPr lang="ar-AE" dirty="0"/>
              </a:p>
              <a:p>
                <a:endParaRPr lang="en-US" dirty="0"/>
              </a:p>
              <a:p>
                <a:r>
                  <a:rPr lang="en-US" dirty="0"/>
                  <a:t>For a vector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𝑥∈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ℝ^𝑛</a:t>
                </a:r>
                <a:r>
                  <a:rPr lang="ar-AE" dirty="0"/>
                  <a:t>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∥𝑥∥_∞=(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max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⁡ )┬(𝑖=1,…,𝑛)∣𝑥_𝑖∣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ar-AE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3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8B00E-4663-0846-A915-0BA92983703F}" type="datetime1">
              <a:rPr lang="en-US" smtClean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268C1BDC-2F37-D34E-83BD-9834421E339C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37463-0958-6948-B062-80DD962DDD89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C00E9-74D4-0748-9518-B67C9BFCB031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420F8-C188-7343-8A63-4724A893274A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02A1E-F8A9-4241-B9E6-69CE16FF0049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CBCC-E13B-6040-87FF-78CC297F1595}" type="datetime1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A6EF64-B4ED-134E-9132-8D9E7630E3FA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2E05-8903-2742-B4BF-BE46B226D655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63B5C-D9E0-C140-91C8-AD07FEAEF33B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AB7315-4668-9F42-B6B5-477C7FEECFF8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51C21-B91D-8E4E-99B9-AF9387D7EB09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11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mpt3.org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dirty="0"/>
              <a:t>AA203</a:t>
            </a:r>
            <a:br>
              <a:rPr lang="en-US" sz="4800" dirty="0"/>
            </a:br>
            <a:r>
              <a:rPr lang="en-US" sz="4800" dirty="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 to MPC, persistent feasibility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45F41-8626-064F-94B0-1AEE04E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7E457E8-C9F2-DF47-AEC7-C758C0FF78A6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9A48425-F89F-FA4C-B15E-219F751A293B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AFDE727-9C8B-5F41-8EC2-6426E8E49892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A51E46F-4A1C-9C49-A251-3CB283A6E884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68" name="Elbow Connector 67">
              <a:extLst>
                <a:ext uri="{FF2B5EF4-FFF2-40B4-BE49-F238E27FC236}">
                  <a16:creationId xmlns:a16="http://schemas.microsoft.com/office/drawing/2014/main" id="{E57A4ACE-C3A9-F84C-A156-B19C2E4260DF}"/>
                </a:ext>
              </a:extLst>
            </p:cNvPr>
            <p:cNvCxnSpPr>
              <a:cxnSpLocks/>
              <a:stCxn id="94" idx="2"/>
              <a:endCxn id="65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508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Elbow Connector 68">
              <a:extLst>
                <a:ext uri="{FF2B5EF4-FFF2-40B4-BE49-F238E27FC236}">
                  <a16:creationId xmlns:a16="http://schemas.microsoft.com/office/drawing/2014/main" id="{95479A18-6FFC-4040-ABDA-6D94E5B56D6C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56B57AF1-C68D-114F-8AF6-51128EDA69CF}"/>
                </a:ext>
              </a:extLst>
            </p:cNvPr>
            <p:cNvCxnSpPr>
              <a:cxnSpLocks/>
              <a:stCxn id="65" idx="2"/>
              <a:endCxn id="67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4E1C5F3-7BFC-AD49-9DC4-E73AC4E90532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AC841EA-3815-6D43-9EAC-CB0094525E1F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B2F009E-19C0-0146-993D-D424A7AF223C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2D47E393-E9E9-AA41-9187-7C25A58D92DA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510680F2-0A44-9447-87B6-116B737F5BF2}"/>
                </a:ext>
              </a:extLst>
            </p:cNvPr>
            <p:cNvCxnSpPr>
              <a:cxnSpLocks/>
              <a:stCxn id="94" idx="2"/>
              <a:endCxn id="72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D7109037-C49E-0647-B2C8-61C34CBB7E17}"/>
                </a:ext>
              </a:extLst>
            </p:cNvPr>
            <p:cNvCxnSpPr>
              <a:cxnSpLocks/>
              <a:stCxn id="72" idx="2"/>
              <a:endCxn id="74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>
              <a:extLst>
                <a:ext uri="{FF2B5EF4-FFF2-40B4-BE49-F238E27FC236}">
                  <a16:creationId xmlns:a16="http://schemas.microsoft.com/office/drawing/2014/main" id="{72BDF1AE-08A3-3B47-998A-17DD0A80BAFA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FE01052-1207-9C4B-A6D6-6AE06D740364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1F0AA08-761F-F54C-8C49-0D4C6E3D7BA3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80" name="Elbow Connector 79">
              <a:extLst>
                <a:ext uri="{FF2B5EF4-FFF2-40B4-BE49-F238E27FC236}">
                  <a16:creationId xmlns:a16="http://schemas.microsoft.com/office/drawing/2014/main" id="{6D0BC12A-CED3-2B4D-BC52-6C053963ED7B}"/>
                </a:ext>
              </a:extLst>
            </p:cNvPr>
            <p:cNvCxnSpPr>
              <a:cxnSpLocks/>
              <a:stCxn id="65" idx="3"/>
              <a:endCxn id="79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5080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C64E309C-A9C4-F44E-B325-5275858D23E6}"/>
                </a:ext>
              </a:extLst>
            </p:cNvPr>
            <p:cNvCxnSpPr>
              <a:cxnSpLocks/>
              <a:stCxn id="72" idx="1"/>
              <a:endCxn id="79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5080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FEC71F9-B45D-994A-AB8F-C63E17BAA612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94B88FD-02D2-0045-8631-ECE6E4A07D75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56ADDAB9-73ED-BA4C-9424-5619AFA4BEF0}"/>
                </a:ext>
              </a:extLst>
            </p:cNvPr>
            <p:cNvCxnSpPr>
              <a:cxnSpLocks/>
              <a:stCxn id="94" idx="0"/>
              <a:endCxn id="83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9305ADE-331B-D74F-A98D-127580BE5117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7E340C9A-583E-F843-83DB-EC7818DFE3F3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50012FE2-97A6-D848-868D-3058AABB1A8D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52E0A341-B266-294B-A325-B9D4CD68B603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91" name="Elbow Connector 90">
                  <a:extLst>
                    <a:ext uri="{FF2B5EF4-FFF2-40B4-BE49-F238E27FC236}">
                      <a16:creationId xmlns:a16="http://schemas.microsoft.com/office/drawing/2014/main" id="{F195D7D4-ECA1-7D40-A0BC-01BCA1CF1F99}"/>
                    </a:ext>
                  </a:extLst>
                </p:cNvPr>
                <p:cNvCxnSpPr>
                  <a:cxnSpLocks/>
                  <a:stCxn id="83" idx="3"/>
                  <a:endCxn id="90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90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71CDAB5-E6DC-D243-A4F4-EDF1AEFC1C4A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6C99069E-6DDB-C043-AE2F-EFFF65C40600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FFAF07EC-F6DE-EE4D-9BF6-F3C8097076E4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1F06A1F-5149-1941-88B6-E35F17E3B7BE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7079BDA1-8AF2-0549-9DC5-79462AA0F90E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726791FB-9EFA-5145-A876-2366C0477C05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B50326D-6DF7-794D-812D-CC22D2D1C41F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21BE5D3-3085-FC49-B859-9C3518AB5829}"/>
                </a:ext>
              </a:extLst>
            </p:cNvPr>
            <p:cNvCxnSpPr>
              <a:cxnSpLocks/>
              <a:stCxn id="92" idx="2"/>
              <a:endCxn id="96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lbow Connector 97">
              <a:extLst>
                <a:ext uri="{FF2B5EF4-FFF2-40B4-BE49-F238E27FC236}">
                  <a16:creationId xmlns:a16="http://schemas.microsoft.com/office/drawing/2014/main" id="{BC1FAC6E-0783-634A-872B-5C66EA3EC94B}"/>
                </a:ext>
              </a:extLst>
            </p:cNvPr>
            <p:cNvCxnSpPr>
              <a:cxnSpLocks/>
              <a:stCxn id="92" idx="2"/>
              <a:endCxn id="95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Elbow Connector 98">
              <a:extLst>
                <a:ext uri="{FF2B5EF4-FFF2-40B4-BE49-F238E27FC236}">
                  <a16:creationId xmlns:a16="http://schemas.microsoft.com/office/drawing/2014/main" id="{0B52B6FD-DB2F-014B-A923-374E73DAA3A6}"/>
                </a:ext>
              </a:extLst>
            </p:cNvPr>
            <p:cNvCxnSpPr>
              <a:cxnSpLocks/>
              <a:stCxn id="92" idx="3"/>
              <a:endCxn id="94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0" name="Elbow Connector 60">
            <a:extLst>
              <a:ext uri="{FF2B5EF4-FFF2-40B4-BE49-F238E27FC236}">
                <a16:creationId xmlns:a16="http://schemas.microsoft.com/office/drawing/2014/main" id="{03447151-F926-C845-8E51-4A22983669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61">
            <a:extLst>
              <a:ext uri="{FF2B5EF4-FFF2-40B4-BE49-F238E27FC236}">
                <a16:creationId xmlns:a16="http://schemas.microsoft.com/office/drawing/2014/main" id="{BCDBB095-D234-3746-A8F9-9C1ADD5EE23F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890ACD7-D1CF-ED44-9419-01B37C195881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CAADCB0-4FC9-4A4A-A54F-230B898D2569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A5A8E54-03AD-284C-BB6F-85E790543347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1585B9F-B238-C949-B687-2BCC7B3727A6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8">
            <a:extLst>
              <a:ext uri="{FF2B5EF4-FFF2-40B4-BE49-F238E27FC236}">
                <a16:creationId xmlns:a16="http://schemas.microsoft.com/office/drawing/2014/main" id="{83CBA46A-88C6-2D47-A755-C99C409ED1DA}"/>
              </a:ext>
            </a:extLst>
          </p:cNvPr>
          <p:cNvCxnSpPr>
            <a:cxnSpLocks/>
            <a:endCxn id="102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1">
            <a:extLst>
              <a:ext uri="{FF2B5EF4-FFF2-40B4-BE49-F238E27FC236}">
                <a16:creationId xmlns:a16="http://schemas.microsoft.com/office/drawing/2014/main" id="{1E8B4604-6B00-484A-BFF4-F0A17BC6D761}"/>
              </a:ext>
            </a:extLst>
          </p:cNvPr>
          <p:cNvCxnSpPr>
            <a:cxnSpLocks/>
            <a:endCxn id="10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lide Number Placeholder 15">
            <a:extLst>
              <a:ext uri="{FF2B5EF4-FFF2-40B4-BE49-F238E27FC236}">
                <a16:creationId xmlns:a16="http://schemas.microsoft.com/office/drawing/2014/main" id="{8E737E1E-2798-0E4D-BA0A-C5B842C27646}"/>
              </a:ext>
            </a:extLst>
          </p:cNvPr>
          <p:cNvSpPr txBox="1">
            <a:spLocks/>
          </p:cNvSpPr>
          <p:nvPr/>
        </p:nvSpPr>
        <p:spPr>
          <a:xfrm>
            <a:off x="8610600" y="65420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A1F273-EF2F-3941-BBF8-D365CB27DD6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D675CAF-EF0F-134D-9089-C81167619451}"/>
              </a:ext>
            </a:extLst>
          </p:cNvPr>
          <p:cNvSpPr/>
          <p:nvPr/>
        </p:nvSpPr>
        <p:spPr>
          <a:xfrm>
            <a:off x="10846758" y="6422839"/>
            <a:ext cx="1268727" cy="421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Reachability analysis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57853FF-AF99-A647-B7FC-8973C3917837}"/>
              </a:ext>
            </a:extLst>
          </p:cNvPr>
          <p:cNvSpPr/>
          <p:nvPr/>
        </p:nvSpPr>
        <p:spPr>
          <a:xfrm>
            <a:off x="9989790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cxnSp>
        <p:nvCxnSpPr>
          <p:cNvPr id="111" name="Elbow Connector 4">
            <a:extLst>
              <a:ext uri="{FF2B5EF4-FFF2-40B4-BE49-F238E27FC236}">
                <a16:creationId xmlns:a16="http://schemas.microsoft.com/office/drawing/2014/main" id="{13C6A1BE-3F72-F249-9EB1-8D41EE8C84BB}"/>
              </a:ext>
            </a:extLst>
          </p:cNvPr>
          <p:cNvCxnSpPr>
            <a:cxnSpLocks/>
            <a:endCxn id="110" idx="0"/>
          </p:cNvCxnSpPr>
          <p:nvPr/>
        </p:nvCxnSpPr>
        <p:spPr>
          <a:xfrm rot="5400000">
            <a:off x="10460774" y="5996412"/>
            <a:ext cx="302841" cy="552484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7">
            <a:extLst>
              <a:ext uri="{FF2B5EF4-FFF2-40B4-BE49-F238E27FC236}">
                <a16:creationId xmlns:a16="http://schemas.microsoft.com/office/drawing/2014/main" id="{39198585-48AD-D84F-B7C8-406C01B2C25E}"/>
              </a:ext>
            </a:extLst>
          </p:cNvPr>
          <p:cNvCxnSpPr>
            <a:cxnSpLocks/>
            <a:endCxn id="109" idx="0"/>
          </p:cNvCxnSpPr>
          <p:nvPr/>
        </p:nvCxnSpPr>
        <p:spPr>
          <a:xfrm rot="16200000" flipH="1">
            <a:off x="11033977" y="5975693"/>
            <a:ext cx="301605" cy="592686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BD219-F1F9-2A26-9C64-2DDF09097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1310BA-10FB-C24C-B315-34201EB90DE0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35EAD9-5A78-5BA5-8854-27C29627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6AA42-B842-834D-1C2D-CBCFF0F7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C3CD4-7129-5246-AE2C-5464DFFB8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predictive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9D934-213B-9747-B17D-1A05FA70D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/>
          <a:lstStyle/>
          <a:p>
            <a:r>
              <a:rPr lang="en-US" dirty="0"/>
              <a:t>Introduction: basic setting and key ideas</a:t>
            </a:r>
          </a:p>
          <a:p>
            <a:r>
              <a:rPr lang="en-US" dirty="0"/>
              <a:t>Persistent feasibility of MPC</a:t>
            </a:r>
          </a:p>
          <a:p>
            <a:endParaRPr lang="en-US" dirty="0"/>
          </a:p>
          <a:p>
            <a:r>
              <a:rPr lang="en-US" dirty="0"/>
              <a:t>Further reading:</a:t>
            </a:r>
          </a:p>
          <a:p>
            <a:pPr lvl="1"/>
            <a:r>
              <a:rPr lang="en-US" dirty="0"/>
              <a:t>F. Borrelli, A. </a:t>
            </a:r>
            <a:r>
              <a:rPr lang="en-US" dirty="0" err="1"/>
              <a:t>Bemporad</a:t>
            </a:r>
            <a:r>
              <a:rPr lang="en-US" dirty="0"/>
              <a:t>, M. </a:t>
            </a:r>
            <a:r>
              <a:rPr lang="en-US" dirty="0" err="1"/>
              <a:t>Morari</a:t>
            </a:r>
            <a:r>
              <a:rPr lang="en-US" dirty="0"/>
              <a:t>. </a:t>
            </a:r>
            <a:r>
              <a:rPr lang="en-US" i="1" dirty="0"/>
              <a:t>Predictive Control for Linear and Hybrid Systems</a:t>
            </a:r>
            <a:r>
              <a:rPr lang="en-US" dirty="0"/>
              <a:t>, 2017.</a:t>
            </a:r>
          </a:p>
          <a:p>
            <a:pPr lvl="1"/>
            <a:r>
              <a:rPr lang="en-US" dirty="0"/>
              <a:t>J. B. Rawlings, D. Q. Mayne, M. M. Diehl. </a:t>
            </a:r>
            <a:r>
              <a:rPr lang="en-US" i="1" dirty="0"/>
              <a:t>Model Predictive Control: Theory, Computation, and Design</a:t>
            </a:r>
            <a:r>
              <a:rPr lang="en-US" dirty="0"/>
              <a:t>, 2017.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766A7D-7B10-296E-2FB4-9C02EF8A4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32CAD-6E84-944C-9858-0F89F6649A68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3E777F-2699-6A45-DF1C-73164ED86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B7A86-AA19-BEC4-172C-32F6D9CA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92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835427C-A20F-7D4F-AFED-88240341F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730" y="2785923"/>
            <a:ext cx="9079992" cy="3938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85B4DE-5D72-6945-93DA-1D02CA075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predictive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8F31C-45B7-1749-9B10-5FEE586FD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322"/>
            <a:ext cx="10515600" cy="4351338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Model predictive control (or, more broadly, receding horizon control) entails solving finite-time optimal control problems in a receding horizon fashion 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FD3183-9CF4-AA5B-80CE-0F6F05739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26096-9360-5E4F-88CD-60904F2010DA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3BC5CF-406B-52C3-6F1B-129F032FF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25A59-3ED1-D25A-05E3-86D3031D9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12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835427C-A20F-7D4F-AFED-88240341F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730" y="2785923"/>
            <a:ext cx="9079992" cy="39387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85B4DE-5D72-6945-93DA-1D02CA075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predictive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8F31C-45B7-1749-9B10-5FEE586FD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4322"/>
            <a:ext cx="10515600" cy="4351338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Model predictive control (or, more broadly, receding horizon control) entails solving finite-time optimal control problems in a receding horizon fashion 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D761CDC-11FE-A540-B11F-E4E6D369E816}"/>
              </a:ext>
            </a:extLst>
          </p:cNvPr>
          <p:cNvGrpSpPr/>
          <p:nvPr/>
        </p:nvGrpSpPr>
        <p:grpSpPr>
          <a:xfrm>
            <a:off x="1406983" y="3156279"/>
            <a:ext cx="9077739" cy="3568373"/>
            <a:chOff x="1406983" y="3156279"/>
            <a:chExt cx="9077739" cy="356837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4667EE8-3040-1C4F-AF46-BDD3CE476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06983" y="3156279"/>
              <a:ext cx="9077739" cy="3568373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57A6967-8DC6-3C40-8F06-0B4556E687A6}"/>
                </a:ext>
              </a:extLst>
            </p:cNvPr>
            <p:cNvSpPr/>
            <p:nvPr/>
          </p:nvSpPr>
          <p:spPr>
            <a:xfrm>
              <a:off x="4608576" y="5181600"/>
              <a:ext cx="573024" cy="3779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623F85C-8893-064B-EB26-EAAA07372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5152F-DF2F-A446-9543-0911EC3070B8}" type="datetime1">
              <a:rPr lang="en-US" smtClean="0"/>
              <a:t>5/4/26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4B6F2A9-D789-BB1B-31AA-15F7914B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C4E744-8775-C880-77FB-FAB6061A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302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CD49F-681E-9348-893E-D94EAE3A8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predictive control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459378-E52E-B440-A2A1-3C856B8B80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Key steps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At each sampling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solve an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open-loop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optimal control problem over a finite horizon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Apply optimal input signal during the following sampling interval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At the next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solve new optimal control problem based on new measurements of the state over a shifted horizon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459378-E52E-B440-A2A1-3C856B8B80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6295EB-B068-773E-07BB-1F70EE10D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151B4-FD1E-6243-BC38-4646C75FB074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D926C1-49DA-8309-14F3-17EBCF49C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1051A-D084-5164-A917-1882710D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595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B5D72-77FC-714C-B78A-5AD8AE384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5C820-8224-1545-9D71-04DFFB6377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Consider the problem of regulating to the origin the discrete-time linear time-invariant system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  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subject to the constraints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≥0 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where the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</a:t>
                </a:r>
                <a:r>
                  <a:rPr lang="en-US" i="1" dirty="0" err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polyhedra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5C820-8224-1545-9D71-04DFFB6377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EBBB84-EA9B-B22C-ECE5-A4876DD69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80B3A-B558-074F-9575-472BD89D2C64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E906E8-A838-01FF-AF3C-C6EBDCD13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BCF9C-9CAF-50DB-1E93-E2FDF825E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1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2501-A181-9849-A622-DBF13E3D3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F417C7-8DF1-284A-84C8-0AFD898DC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757452" cy="4351338"/>
              </a:xfrm>
            </p:spPr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that a full measurement of the state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available at the current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finite-time optimal control problem solved at each stage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…,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−1|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F417C7-8DF1-284A-84C8-0AFD898DC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757452" cy="4351338"/>
              </a:xfrm>
              <a:blipFill>
                <a:blip r:embed="rId2"/>
                <a:stretch>
                  <a:fillRect l="-943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8A5A51-74D5-EF44-B4CE-51FF141DF200}"/>
                  </a:ext>
                </a:extLst>
              </p:cNvPr>
              <p:cNvSpPr txBox="1"/>
              <p:nvPr/>
            </p:nvSpPr>
            <p:spPr>
              <a:xfrm>
                <a:off x="4038600" y="4412974"/>
                <a:ext cx="8153400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subject to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8A5A51-74D5-EF44-B4CE-51FF141D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4412974"/>
                <a:ext cx="8153400" cy="494815"/>
              </a:xfrm>
              <a:prstGeom prst="rect">
                <a:avLst/>
              </a:prstGeom>
              <a:blipFill>
                <a:blip r:embed="rId3"/>
                <a:stretch>
                  <a:fillRect l="-1089" t="-7500" b="-2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3B25E3-C608-1142-9C93-3C1D7DB14D17}"/>
                  </a:ext>
                </a:extLst>
              </p:cNvPr>
              <p:cNvSpPr txBox="1"/>
              <p:nvPr/>
            </p:nvSpPr>
            <p:spPr>
              <a:xfrm>
                <a:off x="5456582" y="4925526"/>
                <a:ext cx="6735418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  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   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3B25E3-C608-1142-9C93-3C1D7DB1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2" y="4925526"/>
                <a:ext cx="6735418" cy="494815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BD14AC-DDBE-5F49-8F99-183A9F9AA534}"/>
                  </a:ext>
                </a:extLst>
              </p:cNvPr>
              <p:cNvSpPr txBox="1"/>
              <p:nvPr/>
            </p:nvSpPr>
            <p:spPr>
              <a:xfrm>
                <a:off x="5456581" y="5438078"/>
                <a:ext cx="6523383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BD14AC-DDBE-5F49-8F99-183A9F9AA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5438078"/>
                <a:ext cx="6523383" cy="494815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BE2B7F-C132-994D-AD81-818E51FE9728}"/>
                  </a:ext>
                </a:extLst>
              </p:cNvPr>
              <p:cNvSpPr txBox="1"/>
              <p:nvPr/>
            </p:nvSpPr>
            <p:spPr>
              <a:xfrm>
                <a:off x="5456581" y="5917975"/>
                <a:ext cx="6523383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BE2B7F-C132-994D-AD81-818E51FE9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5917975"/>
                <a:ext cx="6523383" cy="494815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49651E7-940B-22B5-47EA-C4BBD960C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E1E8D-28BC-E44F-8036-8E7116BA4255}" type="datetime1">
              <a:rPr lang="en-US" smtClean="0"/>
              <a:t>5/4/26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FC27B087-8E00-E38C-8994-E6A1EC166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60E1F-328E-286D-437D-6881277AE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021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2501-A181-9849-A622-DBF13E3D3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F417C7-8DF1-284A-84C8-0AFD898DC1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757452" cy="4351338"/>
              </a:xfrm>
            </p:spPr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that a full measurement of the state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available at the current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finite-time optimal control problem solved at each stage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…,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−1|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F417C7-8DF1-284A-84C8-0AFD898DC1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757452" cy="4351338"/>
              </a:xfrm>
              <a:blipFill>
                <a:blip r:embed="rId2"/>
                <a:stretch>
                  <a:fillRect l="-943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8A5A51-74D5-EF44-B4CE-51FF141DF200}"/>
                  </a:ext>
                </a:extLst>
              </p:cNvPr>
              <p:cNvSpPr txBox="1"/>
              <p:nvPr/>
            </p:nvSpPr>
            <p:spPr>
              <a:xfrm>
                <a:off x="4038600" y="4412974"/>
                <a:ext cx="8153400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subject to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8A5A51-74D5-EF44-B4CE-51FF141D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4412974"/>
                <a:ext cx="8153400" cy="494815"/>
              </a:xfrm>
              <a:prstGeom prst="rect">
                <a:avLst/>
              </a:prstGeom>
              <a:blipFill>
                <a:blip r:embed="rId3"/>
                <a:stretch>
                  <a:fillRect l="-1089" t="-7500" b="-2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3B25E3-C608-1142-9C93-3C1D7DB14D17}"/>
                  </a:ext>
                </a:extLst>
              </p:cNvPr>
              <p:cNvSpPr txBox="1"/>
              <p:nvPr/>
            </p:nvSpPr>
            <p:spPr>
              <a:xfrm>
                <a:off x="5456582" y="4925526"/>
                <a:ext cx="6735418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  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   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D3B25E3-C608-1142-9C93-3C1D7DB1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2" y="4925526"/>
                <a:ext cx="6735418" cy="494815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BD14AC-DDBE-5F49-8F99-183A9F9AA534}"/>
                  </a:ext>
                </a:extLst>
              </p:cNvPr>
              <p:cNvSpPr txBox="1"/>
              <p:nvPr/>
            </p:nvSpPr>
            <p:spPr>
              <a:xfrm>
                <a:off x="5456581" y="5438078"/>
                <a:ext cx="6523383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BD14AC-DDBE-5F49-8F99-183A9F9AA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5438078"/>
                <a:ext cx="6523383" cy="494815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BE2B7F-C132-994D-AD81-818E51FE9728}"/>
                  </a:ext>
                </a:extLst>
              </p:cNvPr>
              <p:cNvSpPr txBox="1"/>
              <p:nvPr/>
            </p:nvSpPr>
            <p:spPr>
              <a:xfrm>
                <a:off x="5456581" y="5917975"/>
                <a:ext cx="6523383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BE2B7F-C132-994D-AD81-818E51FE9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5917975"/>
                <a:ext cx="6523383" cy="494815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86304092-6EED-4E90-B1CA-D905F61134AA}"/>
              </a:ext>
            </a:extLst>
          </p:cNvPr>
          <p:cNvSpPr/>
          <p:nvPr/>
        </p:nvSpPr>
        <p:spPr>
          <a:xfrm>
            <a:off x="5606143" y="3391714"/>
            <a:ext cx="1284515" cy="5040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0592A-0625-4D49-A6F6-9375865459A4}"/>
              </a:ext>
            </a:extLst>
          </p:cNvPr>
          <p:cNvSpPr/>
          <p:nvPr/>
        </p:nvSpPr>
        <p:spPr>
          <a:xfrm>
            <a:off x="5606143" y="5438078"/>
            <a:ext cx="1502228" cy="5040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7A15D4-CB75-4402-9A49-81CA256B9AC3}"/>
              </a:ext>
            </a:extLst>
          </p:cNvPr>
          <p:cNvSpPr txBox="1"/>
          <p:nvPr/>
        </p:nvSpPr>
        <p:spPr>
          <a:xfrm>
            <a:off x="8153399" y="5844598"/>
            <a:ext cx="3690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Key MPC design choices!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C8376756-E3B9-239E-09A4-8EBCA365C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75D9C-13D3-1C4D-BEA3-AC917AE1A73C}" type="datetime1">
              <a:rPr lang="en-US" smtClean="0"/>
              <a:t>5/4/26</a:t>
            </a:fld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2935B8C-92D7-A38B-5D4E-1E6B0DBD6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E09FB-3B30-530C-9F37-9CD9F59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338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09F4-B7EA-1142-A332-48C745361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A1E8DD-51BF-E540-846A-1708EAF88F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Notation: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state vector at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predicted at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(via the system’s dynamics)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input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at time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computed at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A1E8DD-51BF-E540-846A-1708EAF88F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9E007F-7C35-D172-1E5F-8BCC51961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FD7A4-B8F2-5C47-8ED4-E9F65C3395A0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EFB2BB-90D1-058C-718B-22C7C50BD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CB843-8261-2F8C-E32C-5FCBC0DA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948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09F4-B7EA-1142-A332-48C745361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A1E8DD-51BF-E540-846A-1708EAF88F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535418"/>
              </a:xfrm>
            </p:spPr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…, 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the optimal solution,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optimization problem is then repeated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based on the new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Define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 the closed-loop system evolves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𝐟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cl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Central question: characterize the behavior of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closed-loop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system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A1E8DD-51BF-E540-846A-1708EAF88F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535418"/>
              </a:xfrm>
              <a:blipFill>
                <a:blip r:embed="rId2"/>
                <a:stretch>
                  <a:fillRect l="-965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1C4CD5-20D6-DE20-EC0A-C959BC709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018A4-8B3E-2C4A-9CDD-1807CBE6D7EA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56ADFA-1C11-7B28-3A60-15DA85E4C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21B89-1F6B-EBC0-AFBF-957E1FF2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4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7B9E2-7529-4946-8E3B-D8F0B524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Simplifying the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5E5609-6DEE-E84A-AC28-95644E0D0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65909"/>
                <a:ext cx="10515600" cy="4826966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Note that the setup is time-invariant, hence, to simplify the notation, we can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the finite-time optimal control problem, namely 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Denote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, …,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5E5609-6DEE-E84A-AC28-95644E0D0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65909"/>
                <a:ext cx="10515600" cy="4826966"/>
              </a:xfrm>
              <a:blipFill>
                <a:blip r:embed="rId2"/>
                <a:stretch>
                  <a:fillRect l="-844" t="-1837" b="-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7A56989-33D9-4A4C-8255-A6A7E10D55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036" y="2515032"/>
                <a:ext cx="10757452" cy="28639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, …,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smtClean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47A56989-33D9-4A4C-8255-A6A7E10D5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36" y="2515032"/>
                <a:ext cx="10757452" cy="2863920"/>
              </a:xfrm>
              <a:prstGeom prst="rect">
                <a:avLst/>
              </a:prstGeom>
              <a:blipFill>
                <a:blip r:embed="rId3"/>
                <a:stretch>
                  <a:fillRect t="-427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CE6250-F1B4-D14E-AB7A-8B885C5093F2}"/>
                  </a:ext>
                </a:extLst>
              </p:cNvPr>
              <p:cNvSpPr txBox="1"/>
              <p:nvPr/>
            </p:nvSpPr>
            <p:spPr>
              <a:xfrm>
                <a:off x="4038600" y="3485327"/>
                <a:ext cx="8153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subject to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CE6250-F1B4-D14E-AB7A-8B885C509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3485327"/>
                <a:ext cx="8153400" cy="461665"/>
              </a:xfrm>
              <a:prstGeom prst="rect">
                <a:avLst/>
              </a:prstGeom>
              <a:blipFill>
                <a:blip r:embed="rId4"/>
                <a:stretch>
                  <a:fillRect l="-1089"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3FDEBEB-5343-7C4D-BEF8-34FECEDAD71C}"/>
                  </a:ext>
                </a:extLst>
              </p:cNvPr>
              <p:cNvSpPr txBox="1"/>
              <p:nvPr/>
            </p:nvSpPr>
            <p:spPr>
              <a:xfrm>
                <a:off x="5456582" y="3997879"/>
                <a:ext cx="67354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      </m:t>
                        </m:r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3FDEBEB-5343-7C4D-BEF8-34FECEDAD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2" y="3997879"/>
                <a:ext cx="6735418" cy="461665"/>
              </a:xfrm>
              <a:prstGeom prst="rect">
                <a:avLst/>
              </a:prstGeom>
              <a:blipFill>
                <a:blip r:embed="rId5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F87E3-5461-2543-B5B1-3763B63CFD74}"/>
                  </a:ext>
                </a:extLst>
              </p:cNvPr>
              <p:cNvSpPr txBox="1"/>
              <p:nvPr/>
            </p:nvSpPr>
            <p:spPr>
              <a:xfrm>
                <a:off x="5456581" y="4510431"/>
                <a:ext cx="6523383" cy="4948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1F87E3-5461-2543-B5B1-3763B63CF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4510431"/>
                <a:ext cx="6523383" cy="494815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27D047-7FAB-AF44-9807-D841E6E69A08}"/>
                  </a:ext>
                </a:extLst>
              </p:cNvPr>
              <p:cNvSpPr txBox="1"/>
              <p:nvPr/>
            </p:nvSpPr>
            <p:spPr>
              <a:xfrm>
                <a:off x="5456581" y="4990328"/>
                <a:ext cx="65233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27D047-7FAB-AF44-9807-D841E6E69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581" y="4990328"/>
                <a:ext cx="6523383" cy="461665"/>
              </a:xfrm>
              <a:prstGeom prst="rect">
                <a:avLst/>
              </a:prstGeom>
              <a:blipFill>
                <a:blip r:embed="rId7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E708C41F-2CF8-0B6B-0B28-2426B1574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0959A-DA80-244C-A29E-8D6E33E27CC1}" type="datetime1">
              <a:rPr lang="en-US" smtClean="0"/>
              <a:t>5/4/26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BC3D3AB-A789-A312-37B5-FC2AB77B1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9AE5A-6C5E-0B2C-47B2-08F3F7239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700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17D25-CF2F-BE4B-86A4-D24521D5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Simplifying the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40E98B-3A6D-6D41-9399-6A0C50D7A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With new notation,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1"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the closed-loop system becomes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𝐟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cl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40E98B-3A6D-6D41-9399-6A0C50D7A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4D8A6-8F87-8EF9-B226-AE3116216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43EB7-A0B9-B648-BC9D-3B48298B27EC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B3D6DA-E696-52F1-BC99-43F019F45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BBE85-A28C-4BB8-1DEA-C752EB8B9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4581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4F0E3-CBFA-4948-BBF3-878E9433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cost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FF7F1A-8133-1C47-97FD-A6C5DF125B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2-norm: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+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b="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1-norm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-norm: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full column ranks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FF7F1A-8133-1C47-97FD-A6C5DF125B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7392DE-231D-2EA9-A35D-BBF8CF84E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E4D3F-6577-1A42-A023-9365E18C6592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1F2C3B-C251-38C1-1163-7B01A1CAA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7AC40-B2A2-9DB3-8F95-203F38BCF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094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98E94-C993-804E-9677-A967559E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model predictive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18F67-6DC3-9641-850D-9257935EB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350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repeat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17A27D2-3657-394C-A2D3-D02A4011D2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23121" y="2454067"/>
                <a:ext cx="10230679" cy="31383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measure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state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at time instant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obtain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by solving finite-time optimal control problem</a:t>
                </a:r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‘problem infeasible’ </a:t>
                </a: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stop</a:t>
                </a:r>
              </a:p>
              <a:p>
                <a:pPr marL="0" indent="0">
                  <a:buNone/>
                </a:pP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apply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first element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the system</a:t>
                </a:r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wait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the new sampling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+ 1 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Font typeface="Arial"/>
                  <a:buNone/>
                </a:pPr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Font typeface="Arial"/>
                  <a:buNone/>
                </a:pPr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17A27D2-3657-394C-A2D3-D02A4011D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121" y="2454067"/>
                <a:ext cx="10230679" cy="3138350"/>
              </a:xfrm>
              <a:prstGeom prst="rect">
                <a:avLst/>
              </a:prstGeom>
              <a:blipFill>
                <a:blip r:embed="rId2"/>
                <a:stretch>
                  <a:fillRect l="-1115" t="-2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299D881-90D1-C338-1274-53D1AE52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40BDD-F9E2-654A-8895-A24D774047C2}" type="datetime1">
              <a:rPr lang="en-US" smtClean="0"/>
              <a:t>5/4/26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8CAA439-EEB3-67A9-0A55-985EB84F7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71989-C49E-B01E-826A-813AA9C6E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96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A0904-6E18-1749-8129-B599EBFF6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implementation issues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8D9271-A146-EB43-87EE-01CD94114E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controller may lead us into a situation where after a few steps the finite-time optimal control problem is infeasible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persistent feasibility issue 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Even if the feasibility problem does not occur, the generated control inputs may not lead to trajectories that converge to the origin (i.e., closed-loop system is unstable)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stability issue 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Key question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how do we guarantee that such a “short- sighted” strategy leads to effective long-term behavior?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8D9271-A146-EB43-87EE-01CD94114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4094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5D5DF6-F378-1F03-DA70-ACF9CC0A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FB11B-AC04-A945-8470-348790B69F4D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F0A643-7162-44C0-6E65-9E052F32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EB4CC-FC34-C891-9624-AC93A5968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583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542A9-B800-FE41-BDE2-B6D0C5714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approaches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09FED0-0559-3540-9F7A-F02115E16A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Analyze closed-loop behavior directly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generally very difficult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Derive conditions on terminal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terminal constraint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so that persistent feasibility and closed-loop stability are guaranteed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09FED0-0559-3540-9F7A-F02115E16A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7" t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B71A34-FEE2-5FB4-BE0A-B0C1B8406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40663-89C3-C543-ACFF-D941DD5FAB1C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7DF018-71F1-B74C-B054-58A3AD66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22290-1C92-6ED4-43F4-68E62BB8D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420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CF7D-5737-AF4D-ACCF-BF8342A63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Addressing persistent feasibility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5D4C7-B533-9A42-B1CB-938B0396B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Goal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design MPC controller so that feasibility for all future times is guaranteed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Approach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leverage tools from 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invariant set theory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D90E9E-ED96-4452-0DD1-40963E16C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E448-DD1F-0547-AFA3-49DC9D41F581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9B26A6-E122-3207-0AFA-26F2DA11F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6C134-BF8B-C8C6-DB59-7BBC48171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14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BC36-3882-A049-988A-13E12788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of feasible initial states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55F2A-5651-9D45-80C2-C841FFD9C4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134600" cy="4351338"/>
              </a:xfrm>
            </p:spPr>
            <p:txBody>
              <a:bodyPr/>
              <a:lstStyle/>
              <a:p>
                <a:r>
                  <a:rPr lang="en-US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Set of feasible initial states </a:t>
                </a:r>
              </a:p>
              <a:p>
                <a:pPr marL="0" indent="0">
                  <a:buNone/>
                </a:pPr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such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that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=0,…,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−1, 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=0,…,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−1}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dirty="0"/>
                  <a:t>A control input can be found only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55F2A-5651-9D45-80C2-C841FFD9C4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134600" cy="4351338"/>
              </a:xfrm>
              <a:blipFill>
                <a:blip r:embed="rId2"/>
                <a:stretch>
                  <a:fillRect l="-1001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1D73C3-DC61-335F-B138-3923139D2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E26DF-4012-514C-B68A-D5E8021A6914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CDFA3C-9CCF-C220-D9C5-DFD2E6521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9EB40-557B-4F20-E814-1C840D56A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AD614-6FAC-BD4C-9D5E-05FAB9F82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Controllable sets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573D9-E010-824A-A24B-BF01E93F3B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0897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the autonomous system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constraints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one-step controllable set to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defined as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≔{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the system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en-US" b="0" i="0" smtClean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with</m:t>
                    </m:r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constraints</m:t>
                    </m:r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the one-step controllable set to 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defined as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Pre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≔{</m:t>
                      </m:r>
                      <m:r>
                        <a:rPr lang="en-US" b="1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:∃</m:t>
                      </m:r>
                      <m:r>
                        <a:rPr lang="en-US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such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that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B573D9-E010-824A-A24B-BF01E93F3B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08970" cy="4351338"/>
              </a:xfrm>
              <a:blipFill>
                <a:blip r:embed="rId2"/>
                <a:stretch>
                  <a:fillRect l="-101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8C72A9-970F-3A01-7671-3645B884E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45483-37C8-B443-A225-50262C31A035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B8489D-14CB-E542-8F5E-6150F5B70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6CBC9-A031-35FF-3F61-54E1A632D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590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3D6B5-075C-F54F-82F7-2AF19B557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invariant sets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A2B76E-2751-AF44-9A06-46160FE4EC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66723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said to be a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invariant set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the system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en-US" sz="2400" b="0" i="0" smtClean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with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constraints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⇒∃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such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that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for all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said to be the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maximal control invariant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set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the system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en-US" sz="240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with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constraints</m:t>
                    </m:r>
                    <m:r>
                      <m:rPr>
                        <m:nor/>
                      </m:rPr>
                      <a:rPr lang="en-US" sz="24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4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it is control invariant and contains all control invariant sets contained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400" dirty="0">
                  <a:latin typeface="Source Sans Pro" panose="020B0503030403020204" pitchFamily="34" charset="0"/>
                </a:endParaRPr>
              </a:p>
              <a:p>
                <a:endParaRPr lang="en-US" sz="12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autonomous systems: a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said to be a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positive invariant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set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the system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24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1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; the </a:t>
                </a:r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maximal positive invariant set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contains all other positive invariant sets.</a:t>
                </a:r>
              </a:p>
              <a:p>
                <a:endParaRPr lang="en-US" sz="12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These sets can be computed by using the MPT toolbox </a:t>
                </a:r>
                <a:r>
                  <a:rPr lang="en-US" sz="2400" dirty="0">
                    <a:latin typeface="Source Sans Pro" panose="020B0503030403020204" pitchFamily="34" charset="0"/>
                    <a:ea typeface="Source Sans Pro" panose="020B0503030403020204" pitchFamily="34" charset="0"/>
                    <a:hlinkClick r:id="rId2"/>
                  </a:rPr>
                  <a:t>https://www.mpt3.org/</a:t>
                </a:r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A2B76E-2751-AF44-9A06-46160FE4E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66723"/>
              </a:xfrm>
              <a:blipFill>
                <a:blip r:embed="rId3"/>
                <a:stretch>
                  <a:fillRect l="-812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485D82-498F-56AE-FBAE-69EC44FAC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7CF11-0A66-AC4A-8BF4-18BC1CC9E6C0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54C3B7-EEDC-E491-C289-E374E1525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96835-6E51-0748-2BC8-FEF84DFB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238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4169F-7CAB-7C45-820D-BD9374CB7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feasibility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F4DA5-B693-AF47-9BE7-31505C1C2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Define “truncated” feasibility set: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such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that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=1,…,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−1, </m:t>
                      </m:r>
                    </m:oMath>
                  </m:oMathPara>
                </a14:m>
                <a:endParaRPr lang="en-US" sz="24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=1,…,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−1} </m:t>
                      </m:r>
                    </m:oMath>
                  </m:oMathPara>
                </a14:m>
                <a:endParaRPr lang="en-US" sz="2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Feasibility lemma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if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invariant set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system: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≥0 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then the MPC law is persistently feasible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F4DA5-B693-AF47-9BE7-31505C1C2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1E3E54-026A-757B-E1A0-B65684AA1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9C873-7E79-2240-8AD8-C0B3EBC26316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685DCA-66ED-3553-7566-3D7567487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DF6A5-63C1-0F30-955E-66BF1D03C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5747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940E-0B61-114B-A1FD-1965DBF69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feasibility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7E61DD-0ED6-5D43-8038-63E42F942F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Proof: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Pre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:∃</m:t>
                    </m:r>
                    <m:r>
                      <a:rPr lang="en-US" b="1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such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that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𝐮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is control invariant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∃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such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that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Pre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One can write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such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that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Pre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7E61DD-0ED6-5D43-8038-63E42F942F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F0C34D-0AC9-D8AA-BA11-6955BB058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7E0EF-F64E-F244-92E8-A6B45C811AE5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43CE39-E071-1357-94C9-64C1B9E16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A4C31-B9E0-EB50-36C0-2C1A4D34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804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940E-0B61-114B-A1FD-1965DBF69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feasibility lemma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7E61DD-0ED6-5D43-8038-63E42F942F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Proof:</a:t>
                </a:r>
              </a:p>
              <a:p>
                <a:pPr marL="514350" indent="-514350">
                  <a:buFont typeface="+mj-lt"/>
                  <a:buAutoNum type="arabicPeriod" startAt="6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Pick some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Let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the solution to the finite-time optimization problem,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the first control. Let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514350" indent="-514350">
                  <a:buFont typeface="+mj-lt"/>
                  <a:buAutoNum type="arabicPeriod" startAt="7"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clearly feasible, one has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one has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hence the next optimization problem is feasible!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7E61DD-0ED6-5D43-8038-63E42F942F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8AD14D-E176-6196-3F90-D8D8116E8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CA7D-81B2-A343-A4E1-D84B85389156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2F6EBD-2667-2FA1-8E65-E9231722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57190-A36A-B848-2D50-D45C0C702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5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ADFF1-5461-B94D-B219-56B3DDE85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significance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FB12D-802B-0042-8132-0569E94E0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we can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If we choose the terminal set to be control invariant, then MPC will be persistently feasible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independent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of chosen control objectives and parameters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Designer can choose the parameters to affect performance (e.g., stability)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How to extend this result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?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FB12D-802B-0042-8132-0569E94E0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3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5BC663-3E3D-9D0D-43FE-B237F2664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C5B3-68E5-1640-AEE1-FB97EBC9466F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15B0B-BD62-4187-A556-499DC55BD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BD63B-7245-AB69-4161-E7291A2A0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06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34AB-4990-1841-A099-C9C9563E4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485" y="2583769"/>
            <a:ext cx="6186715" cy="1690461"/>
          </a:xfrm>
        </p:spPr>
        <p:txBody>
          <a:bodyPr>
            <a:norm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Persistent feasibility of MPC (cont'd)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Stability of MPC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ABE09-8690-2F13-995D-0FE60807D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B6AF8-0196-2949-9516-CA604195C328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8A9E0-66D1-8195-C1DE-E1772E133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11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1C171-EC07-AF8F-288E-E80DDF5FF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C5DE3B-7C18-419B-966A-2505F93AAC3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af692f-475c-46b5-a87d-a47813ac8995"/>
    <ds:schemaRef ds:uri="ec38afac-11fd-4f05-b2a5-9d8ac7fc11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A6F8A00-E1AD-4265-B062-9B9D9A2E6762}">
  <ds:schemaRefs>
    <ds:schemaRef ds:uri="http://purl.org/dc/terms/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ec38afac-11fd-4f05-b2a5-9d8ac7fc116b"/>
    <ds:schemaRef ds:uri="d1af692f-475c-46b5-a87d-a47813ac8995"/>
  </ds:schemaRefs>
</ds:datastoreItem>
</file>

<file path=customXml/itemProps3.xml><?xml version="1.0" encoding="utf-8"?>
<ds:datastoreItem xmlns:ds="http://schemas.openxmlformats.org/officeDocument/2006/customXml" ds:itemID="{DE5CB6F7-7F01-468A-89A7-0A9153641A0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32059</TotalTime>
  <Words>2142</Words>
  <Application>Microsoft Macintosh PowerPoint</Application>
  <PresentationFormat>Widescreen</PresentationFormat>
  <Paragraphs>289</Paragraphs>
  <Slides>26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Source Sans Pro</vt:lpstr>
      <vt:lpstr>Office Theme</vt:lpstr>
      <vt:lpstr>AA203 Optimal and Learning-based Control</vt:lpstr>
      <vt:lpstr>Roadmap</vt:lpstr>
      <vt:lpstr>Model predictive control</vt:lpstr>
      <vt:lpstr>Model predictive control </vt:lpstr>
      <vt:lpstr>Model predictive control </vt:lpstr>
      <vt:lpstr>Model predictive control </vt:lpstr>
      <vt:lpstr>Basic formulation</vt:lpstr>
      <vt:lpstr>Basic formulation</vt:lpstr>
      <vt:lpstr>Basic formulation</vt:lpstr>
      <vt:lpstr>Basic formulation</vt:lpstr>
      <vt:lpstr>Basic formulation</vt:lpstr>
      <vt:lpstr>Simplifying the notation</vt:lpstr>
      <vt:lpstr>Simplifying the notation</vt:lpstr>
      <vt:lpstr>Typical cost functions</vt:lpstr>
      <vt:lpstr>Online model predictive control </vt:lpstr>
      <vt:lpstr>Main implementation issues</vt:lpstr>
      <vt:lpstr>Analysis approaches</vt:lpstr>
      <vt:lpstr>Addressing persistent feasibility</vt:lpstr>
      <vt:lpstr>Set of feasible initial states </vt:lpstr>
      <vt:lpstr>Controllable sets</vt:lpstr>
      <vt:lpstr>Control invariant sets</vt:lpstr>
      <vt:lpstr>Persistent feasibility lemma</vt:lpstr>
      <vt:lpstr>Persistent feasibility lemma</vt:lpstr>
      <vt:lpstr>Persistent feasibility lemma</vt:lpstr>
      <vt:lpstr>Practical significance 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482</cp:revision>
  <cp:lastPrinted>2019-01-07T20:05:58Z</cp:lastPrinted>
  <dcterms:created xsi:type="dcterms:W3CDTF">2017-01-06T12:29:52Z</dcterms:created>
  <dcterms:modified xsi:type="dcterms:W3CDTF">2026-05-04T19:15:45Z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