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1"/>
  </p:notesMasterIdLst>
  <p:handoutMasterIdLst>
    <p:handoutMasterId r:id="rId42"/>
  </p:handoutMasterIdLst>
  <p:sldIdLst>
    <p:sldId id="256" r:id="rId2"/>
    <p:sldId id="374" r:id="rId3"/>
    <p:sldId id="1576" r:id="rId4"/>
    <p:sldId id="287" r:id="rId5"/>
    <p:sldId id="288" r:id="rId6"/>
    <p:sldId id="323" r:id="rId7"/>
    <p:sldId id="290" r:id="rId8"/>
    <p:sldId id="291" r:id="rId9"/>
    <p:sldId id="292" r:id="rId10"/>
    <p:sldId id="293" r:id="rId11"/>
    <p:sldId id="328" r:id="rId12"/>
    <p:sldId id="294" r:id="rId13"/>
    <p:sldId id="298" r:id="rId14"/>
    <p:sldId id="303" r:id="rId15"/>
    <p:sldId id="304" r:id="rId16"/>
    <p:sldId id="305" r:id="rId17"/>
    <p:sldId id="309" r:id="rId18"/>
    <p:sldId id="310" r:id="rId19"/>
    <p:sldId id="317" r:id="rId20"/>
    <p:sldId id="327" r:id="rId21"/>
    <p:sldId id="343" r:id="rId22"/>
    <p:sldId id="344" r:id="rId23"/>
    <p:sldId id="1585" r:id="rId24"/>
    <p:sldId id="1584" r:id="rId25"/>
    <p:sldId id="1583" r:id="rId26"/>
    <p:sldId id="1582" r:id="rId27"/>
    <p:sldId id="1581" r:id="rId28"/>
    <p:sldId id="1580" r:id="rId29"/>
    <p:sldId id="1579" r:id="rId30"/>
    <p:sldId id="1578" r:id="rId31"/>
    <p:sldId id="1577" r:id="rId32"/>
    <p:sldId id="345" r:id="rId33"/>
    <p:sldId id="346" r:id="rId34"/>
    <p:sldId id="347" r:id="rId35"/>
    <p:sldId id="348" r:id="rId36"/>
    <p:sldId id="349" r:id="rId37"/>
    <p:sldId id="337" r:id="rId38"/>
    <p:sldId id="338" r:id="rId39"/>
    <p:sldId id="285"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CC25E8B-7885-9143-B6A6-C663038D90BB}">
          <p14:sldIdLst>
            <p14:sldId id="256"/>
          </p14:sldIdLst>
        </p14:section>
        <p14:section name="Robotic sensors" id="{81FCB000-9268-D045-B1C6-B17AFA93DE93}">
          <p14:sldIdLst>
            <p14:sldId id="374"/>
            <p14:sldId id="1576"/>
            <p14:sldId id="287"/>
            <p14:sldId id="288"/>
            <p14:sldId id="323"/>
            <p14:sldId id="290"/>
            <p14:sldId id="291"/>
            <p14:sldId id="292"/>
            <p14:sldId id="293"/>
            <p14:sldId id="328"/>
            <p14:sldId id="294"/>
            <p14:sldId id="298"/>
            <p14:sldId id="303"/>
            <p14:sldId id="304"/>
            <p14:sldId id="305"/>
            <p14:sldId id="309"/>
            <p14:sldId id="310"/>
            <p14:sldId id="317"/>
            <p14:sldId id="327"/>
            <p14:sldId id="343"/>
            <p14:sldId id="344"/>
            <p14:sldId id="1585"/>
            <p14:sldId id="1584"/>
            <p14:sldId id="1583"/>
            <p14:sldId id="1582"/>
            <p14:sldId id="1581"/>
            <p14:sldId id="1580"/>
            <p14:sldId id="1579"/>
            <p14:sldId id="1578"/>
            <p14:sldId id="1577"/>
            <p14:sldId id="345"/>
            <p14:sldId id="346"/>
            <p14:sldId id="347"/>
            <p14:sldId id="348"/>
            <p14:sldId id="349"/>
            <p14:sldId id="337"/>
            <p14:sldId id="338"/>
            <p14:sldId id="2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E71E14-A227-8B49-8CFF-F136D65AEF36}" v="3" dt="2025-10-20T18:15:28.2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18"/>
    <p:restoredTop sz="75657"/>
  </p:normalViewPr>
  <p:slideViewPr>
    <p:cSldViewPr snapToGrid="0">
      <p:cViewPr varScale="1">
        <p:scale>
          <a:sx n="93" d="100"/>
          <a:sy n="93" d="100"/>
        </p:scale>
        <p:origin x="1448" y="20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79D5DC2-F1A5-41F1-A15E-B10DE46416F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85DF80-D7F8-6E20-48AC-F85FC595ECF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3B2625-5720-4B44-A41C-EE4338DDB3B7}" type="datetimeFigureOut">
              <a:rPr lang="en-US" smtClean="0"/>
              <a:t>12/20/2025</a:t>
            </a:fld>
            <a:endParaRPr lang="en-US"/>
          </a:p>
        </p:txBody>
      </p:sp>
      <p:sp>
        <p:nvSpPr>
          <p:cNvPr id="4" name="Footer Placeholder 3">
            <a:extLst>
              <a:ext uri="{FF2B5EF4-FFF2-40B4-BE49-F238E27FC236}">
                <a16:creationId xmlns:a16="http://schemas.microsoft.com/office/drawing/2014/main" id="{0E366432-18AF-5046-4784-C18EC626C0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06485B5-22CE-660E-CA07-FCDE87CAC72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118148-5FBC-C841-87D7-4821729C2F9F}" type="slidenum">
              <a:rPr lang="en-US" smtClean="0"/>
              <a:t>‹#›</a:t>
            </a:fld>
            <a:endParaRPr lang="en-US"/>
          </a:p>
        </p:txBody>
      </p:sp>
    </p:spTree>
    <p:extLst>
      <p:ext uri="{BB962C8B-B14F-4D97-AF65-F5344CB8AC3E}">
        <p14:creationId xmlns:p14="http://schemas.microsoft.com/office/powerpoint/2010/main" val="1028128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D6F028-2067-3740-AA48-A91E93570B1D}" type="datetimeFigureOut">
              <a:rPr lang="en-US" smtClean="0"/>
              <a:t>12/20/2025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B2D7EC-928D-0645-AAE8-498D7443D60E}" type="slidenum">
              <a:rPr lang="en-US" smtClean="0"/>
              <a:t>‹#›</a:t>
            </a:fld>
            <a:endParaRPr lang="en-US"/>
          </a:p>
        </p:txBody>
      </p:sp>
    </p:spTree>
    <p:extLst>
      <p:ext uri="{BB962C8B-B14F-4D97-AF65-F5344CB8AC3E}">
        <p14:creationId xmlns:p14="http://schemas.microsoft.com/office/powerpoint/2010/main" val="329372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Visual_perception" TargetMode="External"/><Relationship Id="rId2" Type="http://schemas.openxmlformats.org/officeDocument/2006/relationships/slide" Target="../slides/slide8.xml"/><Relationship Id="rId1" Type="http://schemas.openxmlformats.org/officeDocument/2006/relationships/notesMaster" Target="../notesMasters/notesMaster1.xml"/><Relationship Id="rId4" Type="http://schemas.openxmlformats.org/officeDocument/2006/relationships/hyperlink" Target="https://en.wikipedia.org/wiki/Auditory_perception"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a:t>
            </a:fld>
            <a:endParaRPr lang="en-US"/>
          </a:p>
        </p:txBody>
      </p:sp>
    </p:spTree>
    <p:extLst>
      <p:ext uri="{BB962C8B-B14F-4D97-AF65-F5344CB8AC3E}">
        <p14:creationId xmlns:p14="http://schemas.microsoft.com/office/powerpoint/2010/main" val="17061316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 name="Google Shape;39;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 name="Google Shape;40;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extLst>
      <p:ext uri="{BB962C8B-B14F-4D97-AF65-F5344CB8AC3E}">
        <p14:creationId xmlns:p14="http://schemas.microsoft.com/office/powerpoint/2010/main" val="30240270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4</a:t>
            </a:fld>
            <a:endParaRPr lang="en-US"/>
          </a:p>
        </p:txBody>
      </p:sp>
    </p:spTree>
    <p:extLst>
      <p:ext uri="{BB962C8B-B14F-4D97-AF65-F5344CB8AC3E}">
        <p14:creationId xmlns:p14="http://schemas.microsoft.com/office/powerpoint/2010/main" val="19672098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5</a:t>
            </a:fld>
            <a:endParaRPr lang="en-US"/>
          </a:p>
        </p:txBody>
      </p:sp>
    </p:spTree>
    <p:extLst>
      <p:ext uri="{BB962C8B-B14F-4D97-AF65-F5344CB8AC3E}">
        <p14:creationId xmlns:p14="http://schemas.microsoft.com/office/powerpoint/2010/main" val="20489459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6</a:t>
            </a:fld>
            <a:endParaRPr lang="en-US"/>
          </a:p>
        </p:txBody>
      </p:sp>
    </p:spTree>
    <p:extLst>
      <p:ext uri="{BB962C8B-B14F-4D97-AF65-F5344CB8AC3E}">
        <p14:creationId xmlns:p14="http://schemas.microsoft.com/office/powerpoint/2010/main" val="4258962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7</a:t>
            </a:fld>
            <a:endParaRPr lang="en-US"/>
          </a:p>
        </p:txBody>
      </p:sp>
    </p:spTree>
    <p:extLst>
      <p:ext uri="{BB962C8B-B14F-4D97-AF65-F5344CB8AC3E}">
        <p14:creationId xmlns:p14="http://schemas.microsoft.com/office/powerpoint/2010/main" val="14636253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The human senses of </a:t>
            </a:r>
            <a:r>
              <a:rPr lang="en-US" sz="1200" b="0" i="0" u="none" strike="noStrike" kern="1200">
                <a:solidFill>
                  <a:schemeClr val="tx1"/>
                </a:solidFill>
                <a:effectLst/>
                <a:latin typeface="+mn-lt"/>
                <a:ea typeface="+mn-ea"/>
                <a:cs typeface="+mn-cs"/>
                <a:hlinkClick r:id="rId3" tooltip="Visual perception"/>
              </a:rPr>
              <a:t>sight</a:t>
            </a:r>
            <a:r>
              <a:rPr lang="en-US" sz="1200" b="0" i="0" kern="1200">
                <a:solidFill>
                  <a:schemeClr val="tx1"/>
                </a:solidFill>
                <a:effectLst/>
                <a:latin typeface="+mn-lt"/>
                <a:ea typeface="+mn-ea"/>
                <a:cs typeface="+mn-cs"/>
              </a:rPr>
              <a:t> and </a:t>
            </a:r>
            <a:r>
              <a:rPr lang="en-US" sz="1200" b="0" i="0" u="none" strike="noStrike" kern="1200">
                <a:solidFill>
                  <a:schemeClr val="tx1"/>
                </a:solidFill>
                <a:effectLst/>
                <a:latin typeface="+mn-lt"/>
                <a:ea typeface="+mn-ea"/>
                <a:cs typeface="+mn-cs"/>
                <a:hlinkClick r:id="rId4" tooltip="Auditory perception"/>
              </a:rPr>
              <a:t>hearing</a:t>
            </a:r>
            <a:r>
              <a:rPr lang="en-US" sz="1200" b="0" i="0" kern="1200">
                <a:solidFill>
                  <a:schemeClr val="tx1"/>
                </a:solidFill>
                <a:effectLst/>
                <a:latin typeface="+mn-lt"/>
                <a:ea typeface="+mn-ea"/>
                <a:cs typeface="+mn-cs"/>
              </a:rPr>
              <a:t> have a very high dynamic range. </a:t>
            </a:r>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8</a:t>
            </a:fld>
            <a:endParaRPr lang="en-US"/>
          </a:p>
        </p:txBody>
      </p:sp>
    </p:spTree>
    <p:extLst>
      <p:ext uri="{BB962C8B-B14F-4D97-AF65-F5344CB8AC3E}">
        <p14:creationId xmlns:p14="http://schemas.microsoft.com/office/powerpoint/2010/main" val="1134986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Previous sensor characteristics can be reasonably measured in a laboratory environment with confident extrapolation to performance in real-world deployment.</a:t>
            </a:r>
          </a:p>
          <a:p>
            <a:pPr marL="171450" indent="-171450">
              <a:buFont typeface="Arial" charset="0"/>
              <a:buChar char="•"/>
            </a:pPr>
            <a:r>
              <a:rPr lang="en-US"/>
              <a:t>However, a number of important measures cannot be reliably acquired without deep understanding of the complex interaction between all environmental characteristics and the sensors in question</a:t>
            </a:r>
          </a:p>
          <a:p>
            <a:endParaRPr lang="en-US"/>
          </a:p>
          <a:p>
            <a:r>
              <a:rPr lang="en-US"/>
              <a:t>Sensitivity of </a:t>
            </a:r>
            <a:r>
              <a:rPr lang="en-US" err="1"/>
              <a:t>exteroceptive</a:t>
            </a:r>
            <a:r>
              <a:rPr lang="en-US"/>
              <a:t> sensors is often confounded by coupling</a:t>
            </a:r>
            <a:r>
              <a:rPr lang="en-US" baseline="0"/>
              <a:t> with the environment</a:t>
            </a:r>
          </a:p>
          <a:p>
            <a:endParaRPr lang="en-US" baseline="0"/>
          </a:p>
          <a:p>
            <a:r>
              <a:rPr lang="en-US" baseline="0"/>
              <a:t>Cross-sensitivity: flux gat compass can be sensitive to ferrous </a:t>
            </a:r>
            <a:r>
              <a:rPr lang="en-US" baseline="0" err="1"/>
              <a:t>buildign</a:t>
            </a:r>
            <a:r>
              <a:rPr lang="en-US" baseline="0"/>
              <a:t> materials</a:t>
            </a:r>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9</a:t>
            </a:fld>
            <a:endParaRPr lang="en-US"/>
          </a:p>
        </p:txBody>
      </p:sp>
    </p:spTree>
    <p:extLst>
      <p:ext uri="{BB962C8B-B14F-4D97-AF65-F5344CB8AC3E}">
        <p14:creationId xmlns:p14="http://schemas.microsoft.com/office/powerpoint/2010/main" val="206077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10</a:t>
            </a:fld>
            <a:endParaRPr lang="en-US"/>
          </a:p>
        </p:txBody>
      </p:sp>
    </p:spTree>
    <p:extLst>
      <p:ext uri="{BB962C8B-B14F-4D97-AF65-F5344CB8AC3E}">
        <p14:creationId xmlns:p14="http://schemas.microsoft.com/office/powerpoint/2010/main" val="14098894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28650" marR="0" lvl="1"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Encoder: an electro-mechanical device that converts motion into a sequence of digital pulses, which can be converted to relative or absolute position measurements;</a:t>
            </a:r>
          </a:p>
          <a:p>
            <a:pPr marL="628650" marR="0" lvl="1"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Heading sensors: Used to determine robot’s orientation </a:t>
            </a:r>
            <a:r>
              <a:rPr lang="en-US" baseline="0" dirty="0"/>
              <a:t> </a:t>
            </a:r>
            <a:r>
              <a:rPr lang="en-US" dirty="0"/>
              <a:t>Can be proprioceptive (gyroscope, inclinometer) or exteroceptive (compass)</a:t>
            </a:r>
            <a:r>
              <a:rPr lang="en-US" baseline="0" dirty="0"/>
              <a:t> </a:t>
            </a:r>
            <a:r>
              <a:rPr lang="en-US" dirty="0"/>
              <a:t>Fusing measurements with velocity information, one can obtain a position estimate (via integration) -&gt; </a:t>
            </a:r>
            <a:r>
              <a:rPr lang="en-US" i="1" dirty="0"/>
              <a:t>dead reckoning</a:t>
            </a:r>
          </a:p>
          <a:p>
            <a:pPr marL="1085850" marR="0" lvl="2"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Compass: Shows direction relative to the geographic cardinal directions</a:t>
            </a:r>
          </a:p>
          <a:p>
            <a:pPr marL="1085850" marR="0" lvl="2"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Gyroscope: heading sensor that preserves its orientation in relation to a fixed reference frame</a:t>
            </a:r>
            <a:r>
              <a:rPr lang="en-US" baseline="0" dirty="0"/>
              <a:t> </a:t>
            </a:r>
            <a:r>
              <a:rPr lang="en-US" dirty="0"/>
              <a:t>Provides an absolute measure for the heading of a robot</a:t>
            </a:r>
            <a:r>
              <a:rPr lang="en-US" baseline="0" dirty="0"/>
              <a:t> </a:t>
            </a:r>
            <a:r>
              <a:rPr lang="en-US" dirty="0"/>
              <a:t>Two main types:</a:t>
            </a:r>
            <a:r>
              <a:rPr lang="en-US" baseline="0" dirty="0"/>
              <a:t> </a:t>
            </a:r>
            <a:r>
              <a:rPr lang="en-US" dirty="0"/>
              <a:t>Mechanical gyroscopes(Angular momentum associated with a spinning wheel keeps the axis of rotation inertially stable</a:t>
            </a:r>
            <a:r>
              <a:rPr lang="en-US" baseline="0" dirty="0"/>
              <a:t> </a:t>
            </a:r>
            <a:r>
              <a:rPr lang="en-US" dirty="0"/>
              <a:t>Optical gyroscopes Modern examples: GPS, motion capture systems</a:t>
            </a:r>
          </a:p>
          <a:p>
            <a:pPr marL="1085850" marR="0" lvl="2"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628650" marR="0" lvl="1"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Accelerometer: Definition: device that measures all external forces acting upon it</a:t>
            </a:r>
            <a:r>
              <a:rPr lang="en-US" baseline="0" dirty="0"/>
              <a:t> </a:t>
            </a:r>
            <a:r>
              <a:rPr lang="en-US" dirty="0"/>
              <a:t>Mechanical accelerometer: essentially, a spring-mass-damper system</a:t>
            </a:r>
            <a:r>
              <a:rPr lang="en-US" baseline="0" dirty="0"/>
              <a:t> </a:t>
            </a:r>
            <a:r>
              <a:rPr lang="en-US" dirty="0"/>
              <a:t>Modern accelerometers use MEMS (cantilevered beam + proof mass); deflection measured via </a:t>
            </a:r>
            <a:r>
              <a:rPr lang="en-US" i="1" dirty="0"/>
              <a:t>capacitive</a:t>
            </a:r>
            <a:r>
              <a:rPr lang="en-US" dirty="0"/>
              <a:t> or </a:t>
            </a:r>
            <a:r>
              <a:rPr lang="en-US" i="1" dirty="0"/>
              <a:t>piezoelectric</a:t>
            </a:r>
            <a:r>
              <a:rPr lang="en-US" dirty="0"/>
              <a:t> effects </a:t>
            </a:r>
          </a:p>
          <a:p>
            <a:pPr marL="628650" lvl="1" indent="-171450">
              <a:buFont typeface="Arial" charset="0"/>
              <a:buChar char="•"/>
            </a:pPr>
            <a:r>
              <a:rPr lang="en-US" dirty="0"/>
              <a:t>IMU: Definition: device that uses gyroscopes and accelerometers to estimate the relative position, orientation, velocity, and acceleration of a moving vehicle with respect to an inertial frame </a:t>
            </a:r>
            <a:r>
              <a:rPr lang="en-US" baseline="0" dirty="0"/>
              <a:t> </a:t>
            </a:r>
            <a:r>
              <a:rPr lang="en-US" i="1" dirty="0"/>
              <a:t>Drift</a:t>
            </a:r>
            <a:r>
              <a:rPr lang="en-US" dirty="0"/>
              <a:t> is a fundamental problem: to cancel drift, periodic references to external measurements are required  </a:t>
            </a:r>
          </a:p>
          <a:p>
            <a:pPr lvl="1"/>
            <a:r>
              <a:rPr lang="en-US" dirty="0"/>
              <a:t>Beacons: Definition: signaling devices with precisely known positions</a:t>
            </a:r>
          </a:p>
          <a:p>
            <a:r>
              <a:rPr lang="en-US" dirty="0"/>
              <a:t>Early examples: stars, lighthouses</a:t>
            </a:r>
          </a:p>
          <a:p>
            <a:r>
              <a:rPr lang="en-US" dirty="0"/>
              <a:t>GPS:</a:t>
            </a:r>
            <a:r>
              <a:rPr lang="en-US" baseline="0" dirty="0"/>
              <a:t> </a:t>
            </a:r>
            <a:r>
              <a:rPr lang="en-US" dirty="0"/>
              <a:t>31 operational satellites, orbiting at 20,200 km, with the property that at least six satellites are always within line of sight from almost everywhere on the Earth's surface</a:t>
            </a:r>
          </a:p>
          <a:p>
            <a:r>
              <a:rPr lang="en-US" dirty="0"/>
              <a:t>Accuracy: ~15 meters</a:t>
            </a:r>
          </a:p>
          <a:p>
            <a:r>
              <a:rPr lang="en-US" dirty="0"/>
              <a:t>Active ranging Provide direct measurements of distance to objects in vicinity</a:t>
            </a:r>
          </a:p>
          <a:p>
            <a:r>
              <a:rPr lang="en-US" dirty="0"/>
              <a:t>Main types:</a:t>
            </a:r>
          </a:p>
          <a:p>
            <a:pPr marL="971550" lvl="1" indent="-514350">
              <a:buFont typeface="+mj-lt"/>
              <a:buAutoNum type="arabicPeriod"/>
            </a:pPr>
            <a:r>
              <a:rPr lang="en-US" dirty="0"/>
              <a:t>Time-of-flight active ranging sensors (e.g., ultrasonic, laser rangefinder, and time-of-flight camera)</a:t>
            </a:r>
          </a:p>
          <a:p>
            <a:pPr marL="971550" lvl="1" indent="-514350">
              <a:buFont typeface="+mj-lt"/>
              <a:buAutoNum type="arabicPeriod"/>
            </a:pPr>
            <a:r>
              <a:rPr lang="en-US" dirty="0"/>
              <a:t>Geometric active ranging sensors (optical triangulation and structured light sensor)</a:t>
            </a:r>
          </a:p>
          <a:p>
            <a:r>
              <a:rPr lang="en-US" dirty="0"/>
              <a:t>Key elements for both localization and environment reconstruction</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a:t>Time of flight </a:t>
            </a:r>
            <a:r>
              <a:rPr lang="en-US" dirty="0" err="1"/>
              <a:t>raning</a:t>
            </a:r>
            <a:r>
              <a:rPr lang="en-US" dirty="0"/>
              <a:t>:</a:t>
            </a:r>
            <a:r>
              <a:rPr lang="en-US" baseline="0" dirty="0"/>
              <a:t> </a:t>
            </a:r>
            <a:r>
              <a:rPr lang="en-US" dirty="0">
                <a:solidFill>
                  <a:srgbClr val="C00000"/>
                </a:solidFill>
              </a:rPr>
              <a:t>Fundamental principle</a:t>
            </a:r>
            <a:r>
              <a:rPr lang="en-US" dirty="0"/>
              <a:t>: time-of-flight ranging makes use of the propagation of the speed of sound or of an electromagnetic wave</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a:t>Geometric: </a:t>
            </a:r>
            <a:r>
              <a:rPr lang="en-US" dirty="0">
                <a:solidFill>
                  <a:srgbClr val="C00000"/>
                </a:solidFill>
              </a:rPr>
              <a:t>Fundamental principle</a:t>
            </a:r>
            <a:r>
              <a:rPr lang="en-US" dirty="0"/>
              <a:t>: use geometric properties in the measurements to establish distance readings</a:t>
            </a:r>
          </a:p>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Examples:</a:t>
            </a:r>
          </a:p>
          <a:p>
            <a:pPr lvl="1"/>
            <a:r>
              <a:rPr lang="en-US" dirty="0"/>
              <a:t>Optical triangulation (1D sensor)</a:t>
            </a:r>
          </a:p>
          <a:p>
            <a:pPr lvl="1"/>
            <a:r>
              <a:rPr lang="en-US" dirty="0"/>
              <a:t>Structured light (2D and 3D sensor)</a:t>
            </a:r>
          </a:p>
          <a:p>
            <a:endParaRPr lang="en-US" dirty="0"/>
          </a:p>
          <a:p>
            <a:endParaRPr lang="en-US" dirty="0"/>
          </a:p>
          <a:p>
            <a:pPr marL="171450" indent="-171450">
              <a:buFont typeface="Arial" charset="0"/>
              <a:buChar char="•"/>
            </a:pPr>
            <a:endParaRPr lang="en-US" dirty="0"/>
          </a:p>
          <a:p>
            <a:pPr marL="628650" marR="0" lvl="1"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i="1" dirty="0"/>
          </a:p>
          <a:p>
            <a:pPr marL="457200" marR="0" lvl="1" indent="0" algn="l" defTabSz="914400" rtl="0" eaLnBrk="1" fontAlgn="auto" latinLnBrk="0" hangingPunct="1">
              <a:lnSpc>
                <a:spcPct val="100000"/>
              </a:lnSpc>
              <a:spcBef>
                <a:spcPts val="0"/>
              </a:spcBef>
              <a:spcAft>
                <a:spcPts val="0"/>
              </a:spcAft>
              <a:buClrTx/>
              <a:buSzTx/>
              <a:buFontTx/>
              <a:buNone/>
              <a:tabLst/>
              <a:defRPr/>
            </a:pP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11</a:t>
            </a:fld>
            <a:endParaRPr lang="en-US"/>
          </a:p>
        </p:txBody>
      </p:sp>
    </p:spTree>
    <p:extLst>
      <p:ext uri="{BB962C8B-B14F-4D97-AF65-F5344CB8AC3E}">
        <p14:creationId xmlns:p14="http://schemas.microsoft.com/office/powerpoint/2010/main" val="13851155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Encoder: an electro-mechanical device that converts motion into a sequence of digital pulses, which can be converted to relative or absolute position measurements;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proprioceptive sensor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a:t>(2) </a:t>
            </a:r>
            <a:r>
              <a:rPr lang="en-US"/>
              <a:t>can be used for robot localization</a:t>
            </a:r>
            <a:r>
              <a:rPr lang="en-US" baseline="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a:t>(3) </a:t>
            </a:r>
            <a:r>
              <a:rPr lang="en-US"/>
              <a:t>typically optical (use a light shining onto a photodiode through slits in a metal or glass disc)</a:t>
            </a:r>
          </a:p>
          <a:p>
            <a:endParaRPr lang="en-US"/>
          </a:p>
          <a:p>
            <a:endParaRPr lang="en-US"/>
          </a:p>
          <a:p>
            <a:r>
              <a:rPr lang="en-US"/>
              <a:t>https://</a:t>
            </a:r>
            <a:r>
              <a:rPr lang="en-US" err="1"/>
              <a:t>www.pololu.com</a:t>
            </a:r>
            <a:r>
              <a:rPr lang="en-US"/>
              <a:t>/product/1217</a:t>
            </a:r>
          </a:p>
        </p:txBody>
      </p:sp>
      <p:sp>
        <p:nvSpPr>
          <p:cNvPr id="4" name="Slide Number Placeholder 3"/>
          <p:cNvSpPr>
            <a:spLocks noGrp="1"/>
          </p:cNvSpPr>
          <p:nvPr>
            <p:ph type="sldNum" sz="quarter" idx="10"/>
          </p:nvPr>
        </p:nvSpPr>
        <p:spPr/>
        <p:txBody>
          <a:bodyPr/>
          <a:lstStyle/>
          <a:p>
            <a:fld id="{63B2D7EC-928D-0645-AAE8-498D7443D60E}" type="slidenum">
              <a:rPr lang="en-US" smtClean="0"/>
              <a:t>12</a:t>
            </a:fld>
            <a:endParaRPr lang="en-US"/>
          </a:p>
        </p:txBody>
      </p:sp>
    </p:spTree>
    <p:extLst>
      <p:ext uri="{BB962C8B-B14F-4D97-AF65-F5344CB8AC3E}">
        <p14:creationId xmlns:p14="http://schemas.microsoft.com/office/powerpoint/2010/main" val="5225254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Heading sensors: Used to determine robot’s orientation </a:t>
            </a:r>
            <a:r>
              <a:rPr lang="en-US" baseline="0" dirty="0"/>
              <a:t> </a:t>
            </a:r>
            <a:r>
              <a:rPr lang="en-US" dirty="0"/>
              <a:t>Can be proprioceptive (gyroscope, inclinometer) or exteroceptive (compass)</a:t>
            </a:r>
            <a:r>
              <a:rPr lang="en-US" baseline="0" dirty="0"/>
              <a:t> </a:t>
            </a:r>
            <a:r>
              <a:rPr lang="en-US" dirty="0"/>
              <a:t>Fusing measurements with velocity information, one can obtain a position estimate (via integration) -&gt; </a:t>
            </a:r>
            <a:r>
              <a:rPr lang="en-US" i="1" dirty="0"/>
              <a:t>dead reckoning</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solidFill>
                <a:srgbClr val="C00000"/>
              </a:solidFill>
            </a:endParaRP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solidFill>
                  <a:srgbClr val="C00000"/>
                </a:solidFill>
              </a:rPr>
              <a:t>Fundamental principle</a:t>
            </a:r>
            <a:r>
              <a:rPr lang="en-US" dirty="0"/>
              <a:t>: Angular momentum associated with a spinning wheel keeps the axis of rotation inertially stable</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By arranging the spinning wheel in a gimbal system, no torque can be transmitted from the outer pivot to the wheel axis -&gt; spinning axis is thus space-stable</a:t>
            </a:r>
          </a:p>
          <a:p>
            <a:pPr marL="171450" indent="-171450">
              <a:buFont typeface="Arial" charset="0"/>
              <a:buChar char="•"/>
            </a:pPr>
            <a:r>
              <a:rPr lang="en-US" dirty="0"/>
              <a:t>Challenge: friction in the bearings introduces small errors over time</a:t>
            </a:r>
          </a:p>
          <a:p>
            <a:pPr marL="171450" indent="-171450">
              <a:buFont typeface="Arial" charset="0"/>
              <a:buChar char="•"/>
            </a:pPr>
            <a:r>
              <a:rPr lang="en-US" dirty="0"/>
              <a:t>A high quality mechanical gyroscope can cost up to $100,000 and has an angular drift of about 0.1 degrees in 6 hours.</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13</a:t>
            </a:fld>
            <a:endParaRPr lang="en-US"/>
          </a:p>
        </p:txBody>
      </p:sp>
    </p:spTree>
    <p:extLst>
      <p:ext uri="{BB962C8B-B14F-4D97-AF65-F5344CB8AC3E}">
        <p14:creationId xmlns:p14="http://schemas.microsoft.com/office/powerpoint/2010/main" val="148319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sz="1200" kern="1200">
                <a:solidFill>
                  <a:schemeClr val="tx1"/>
                </a:solidFill>
                <a:effectLst/>
                <a:latin typeface="+mn-lt"/>
                <a:ea typeface="+mn-ea"/>
                <a:cs typeface="+mn-cs"/>
              </a:rPr>
              <a:t>Modern accelerometers use Micro Electro-</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Mechanical Systems (MEMS) consisting of</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a spring-like structure with a proof mass.</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Damping results from the residual gas sealed in the device.</a:t>
            </a:r>
          </a:p>
          <a:p>
            <a:pPr marL="171450" indent="-171450">
              <a:buFont typeface="Arial" charset="0"/>
              <a:buChar char="•"/>
            </a:pPr>
            <a:r>
              <a:rPr lang="en-US" sz="1200" kern="1200">
                <a:solidFill>
                  <a:schemeClr val="tx1"/>
                </a:solidFill>
                <a:effectLst/>
                <a:latin typeface="+mn-lt"/>
                <a:ea typeface="+mn-ea"/>
                <a:cs typeface="+mn-cs"/>
              </a:rPr>
              <a:t> The deflection of the proof mass from its neutral position is measured using the capacitive effect,</a:t>
            </a:r>
          </a:p>
          <a:p>
            <a:endParaRPr lang="en-US" sz="1200" kern="1200">
              <a:solidFill>
                <a:schemeClr val="tx1"/>
              </a:solidFill>
              <a:effectLst/>
              <a:latin typeface="+mn-lt"/>
              <a:ea typeface="+mn-ea"/>
              <a:cs typeface="+mn-cs"/>
            </a:endParaRPr>
          </a:p>
          <a:p>
            <a:pPr marL="171450" indent="-171450">
              <a:buFont typeface="Arial" charset="0"/>
              <a:buChar char="•"/>
            </a:pPr>
            <a:r>
              <a:rPr lang="en-US" sz="1200" kern="1200">
                <a:solidFill>
                  <a:schemeClr val="tx1"/>
                </a:solidFill>
                <a:effectLst/>
                <a:latin typeface="+mn-lt"/>
                <a:ea typeface="+mn-ea"/>
                <a:cs typeface="+mn-cs"/>
              </a:rPr>
              <a:t>In capacitive accelerometers the</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capacitance between a fixed structure and</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the proof mass is measured</a:t>
            </a:r>
          </a:p>
          <a:p>
            <a:endParaRPr lang="en-US" sz="1200" kern="1200">
              <a:solidFill>
                <a:schemeClr val="tx1"/>
              </a:solidFill>
              <a:effectLst/>
              <a:latin typeface="+mn-lt"/>
              <a:ea typeface="+mn-ea"/>
              <a:cs typeface="+mn-cs"/>
            </a:endParaRPr>
          </a:p>
          <a:p>
            <a:pPr marL="171450" indent="-171450">
              <a:buFont typeface="Arial" charset="0"/>
              <a:buChar char="•"/>
            </a:pPr>
            <a:r>
              <a:rPr lang="en-US" sz="1200" kern="1200">
                <a:solidFill>
                  <a:schemeClr val="tx1"/>
                </a:solidFill>
                <a:effectLst/>
                <a:latin typeface="+mn-lt"/>
                <a:ea typeface="+mn-ea"/>
                <a:cs typeface="+mn-cs"/>
              </a:rPr>
              <a:t>Piezoelectric: voltage is generated when a mechanical stress is applied</a:t>
            </a:r>
          </a:p>
          <a:p>
            <a:endParaRPr lang="en-US" sz="1200" kern="1200">
              <a:solidFill>
                <a:schemeClr val="tx1"/>
              </a:solidFill>
              <a:effectLst/>
              <a:latin typeface="+mn-lt"/>
              <a:ea typeface="+mn-ea"/>
              <a:cs typeface="+mn-cs"/>
            </a:endParaRPr>
          </a:p>
          <a:p>
            <a:endParaRPr lang="en-US"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Piezoelectric accelerometers are based on</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the property exhibited by certain crystals to</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generate a voltage when a mechanical</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stress is applied to them</a:t>
            </a:r>
          </a:p>
          <a:p>
            <a:endParaRPr lang="en-US" sz="120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14</a:t>
            </a:fld>
            <a:endParaRPr lang="en-US"/>
          </a:p>
        </p:txBody>
      </p:sp>
    </p:spTree>
    <p:extLst>
      <p:ext uri="{BB962C8B-B14F-4D97-AF65-F5344CB8AC3E}">
        <p14:creationId xmlns:p14="http://schemas.microsoft.com/office/powerpoint/2010/main" val="4674387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a:solidFill>
                  <a:schemeClr val="tx1"/>
                </a:solidFill>
                <a:effectLst/>
                <a:latin typeface="+mn-lt"/>
                <a:ea typeface="+mn-ea"/>
                <a:cs typeface="+mn-cs"/>
              </a:rPr>
              <a:t> Position can be determined by knowing the position of the beacon.</a:t>
            </a:r>
            <a:endParaRPr lang="en-US"/>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Challenges: limited use in indoor environments due to cost for environmental modification</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a:solidFill>
                  <a:schemeClr val="tx1"/>
                </a:solidFill>
                <a:effectLst/>
                <a:latin typeface="+mn-lt"/>
                <a:ea typeface="+mn-ea"/>
                <a:cs typeface="+mn-cs"/>
              </a:rPr>
              <a:t>GPS:</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31 operational satellites, orbiting at 20,200 km, with the property</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that at least six satellites are always within line of sight from almost</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everywhere on the Earth's surface</a:t>
            </a:r>
          </a:p>
          <a:p>
            <a:r>
              <a:rPr lang="en-US" sz="1200" kern="1200">
                <a:solidFill>
                  <a:schemeClr val="tx1"/>
                </a:solidFill>
                <a:effectLst/>
                <a:latin typeface="+mn-lt"/>
                <a:ea typeface="+mn-ea"/>
                <a:cs typeface="+mn-cs"/>
              </a:rPr>
              <a:t>• Accuracy: ~15 meters</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a:p>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16</a:t>
            </a:fld>
            <a:endParaRPr lang="en-US"/>
          </a:p>
        </p:txBody>
      </p:sp>
    </p:spTree>
    <p:extLst>
      <p:ext uri="{BB962C8B-B14F-4D97-AF65-F5344CB8AC3E}">
        <p14:creationId xmlns:p14="http://schemas.microsoft.com/office/powerpoint/2010/main" val="16020859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Time-of-flight ranging makes use of the propagation speed of sound or an electromagnetic wave. </a:t>
            </a:r>
          </a:p>
          <a:p>
            <a:pPr marL="171450" indent="-171450">
              <a:buFont typeface="Arial" charset="0"/>
              <a:buChar char="•"/>
            </a:pPr>
            <a:endParaRPr lang="en-US"/>
          </a:p>
          <a:p>
            <a:pPr marL="171450" marR="0" lvl="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Geometric approach: use geometric properties in the measurements to establish distance readings</a:t>
            </a:r>
          </a:p>
          <a:p>
            <a:pPr marL="171450" indent="-171450">
              <a:buFont typeface="Arial" charset="0"/>
              <a:buChar char="•"/>
            </a:pPr>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17</a:t>
            </a:fld>
            <a:endParaRPr lang="en-US"/>
          </a:p>
        </p:txBody>
      </p:sp>
    </p:spTree>
    <p:extLst>
      <p:ext uri="{BB962C8B-B14F-4D97-AF65-F5344CB8AC3E}">
        <p14:creationId xmlns:p14="http://schemas.microsoft.com/office/powerpoint/2010/main" val="13672541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a:t>This type of sensor consists of a transmitter that illuminates a target with a collimated beam (e.g., laser), and a receiver capable of detecting the component of light, which is essentially coaxial with the transmitted beam. </a:t>
            </a:r>
          </a:p>
          <a:p>
            <a:pPr marL="171450" indent="-171450">
              <a:buFont typeface="Arial" charset="0"/>
              <a:buChar char="•"/>
            </a:pPr>
            <a:r>
              <a:rPr lang="en-US" dirty="0"/>
              <a:t>Often referred to as optical radar or lidar (light detection and ranging), these devices produce a range estimate based on the time needed for the light to reach the target and return. </a:t>
            </a:r>
          </a:p>
          <a:p>
            <a:pPr marL="171450" indent="-171450">
              <a:buFont typeface="Arial" charset="0"/>
              <a:buChar char="•"/>
            </a:pPr>
            <a:r>
              <a:rPr lang="en-US" dirty="0"/>
              <a:t>A mechanical mechanism with a mirror sweeps the light beam to cover the required scene in a plane or even in three dimensions, using a rotating, nodding mirror.</a:t>
            </a:r>
            <a:endParaRPr lang="en-US" sz="1200" kern="1200" dirty="0">
              <a:solidFill>
                <a:schemeClr val="tx1"/>
              </a:solidFill>
              <a:effectLst/>
              <a:latin typeface="+mn-lt"/>
              <a:ea typeface="+mn-ea"/>
              <a:cs typeface="+mn-cs"/>
            </a:endParaRPr>
          </a:p>
          <a:p>
            <a:pPr marL="171450" indent="-171450">
              <a:buFont typeface="Arial" charset="0"/>
              <a:buChar char="•"/>
            </a:pPr>
            <a:r>
              <a:rPr lang="en-US" sz="1200" kern="1200" dirty="0">
                <a:solidFill>
                  <a:schemeClr val="tx1"/>
                </a:solidFill>
                <a:effectLst/>
                <a:latin typeface="+mn-lt"/>
                <a:ea typeface="+mn-ea"/>
                <a:cs typeface="+mn-cs"/>
              </a:rPr>
              <a:t>The quality of time of flight range sensors mainly depends on:</a:t>
            </a:r>
          </a:p>
          <a:p>
            <a:r>
              <a:rPr lang="en-US" sz="1200" kern="1200" dirty="0">
                <a:solidFill>
                  <a:schemeClr val="tx1"/>
                </a:solidFill>
                <a:effectLst/>
                <a:latin typeface="+mn-lt"/>
                <a:ea typeface="+mn-ea"/>
                <a:cs typeface="+mn-cs"/>
              </a:rPr>
              <a:t> Inaccuracies in the time of fight measurement (laser range sensors)</a:t>
            </a:r>
          </a:p>
          <a:p>
            <a:r>
              <a:rPr lang="en-US" sz="1200" kern="1200" dirty="0">
                <a:solidFill>
                  <a:schemeClr val="tx1"/>
                </a:solidFill>
                <a:effectLst/>
                <a:latin typeface="+mn-lt"/>
                <a:ea typeface="+mn-ea"/>
                <a:cs typeface="+mn-cs"/>
              </a:rPr>
              <a:t> Opening angle of transmitted beam (especially ultrasonic range sensors)</a:t>
            </a:r>
          </a:p>
          <a:p>
            <a:r>
              <a:rPr lang="en-US" sz="1200" kern="1200" dirty="0">
                <a:solidFill>
                  <a:schemeClr val="tx1"/>
                </a:solidFill>
                <a:effectLst/>
                <a:latin typeface="+mn-lt"/>
                <a:ea typeface="+mn-ea"/>
                <a:cs typeface="+mn-cs"/>
              </a:rPr>
              <a:t> Interaction with the target (surface, specular reflections)</a:t>
            </a:r>
          </a:p>
          <a:p>
            <a:r>
              <a:rPr lang="en-US" sz="1200" kern="1200" dirty="0">
                <a:solidFill>
                  <a:schemeClr val="tx1"/>
                </a:solidFill>
                <a:effectLst/>
                <a:latin typeface="+mn-lt"/>
                <a:ea typeface="+mn-ea"/>
                <a:cs typeface="+mn-cs"/>
              </a:rPr>
              <a:t> Variation of propagation speed (sound)</a:t>
            </a:r>
          </a:p>
          <a:p>
            <a:r>
              <a:rPr lang="en-US" sz="1200" kern="1200" dirty="0">
                <a:solidFill>
                  <a:schemeClr val="tx1"/>
                </a:solidFill>
                <a:effectLst/>
                <a:latin typeface="+mn-lt"/>
                <a:ea typeface="+mn-ea"/>
                <a:cs typeface="+mn-cs"/>
              </a:rPr>
              <a:t> Speed of mobile robot and target (if not at stand still)</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18</a:t>
            </a:fld>
            <a:endParaRPr lang="en-US"/>
          </a:p>
        </p:txBody>
      </p:sp>
    </p:spTree>
    <p:extLst>
      <p:ext uri="{BB962C8B-B14F-4D97-AF65-F5344CB8AC3E}">
        <p14:creationId xmlns:p14="http://schemas.microsoft.com/office/powerpoint/2010/main" val="1649740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triangulation is the process of determining the location of a point by forming triangles to it from known points.</a:t>
            </a:r>
          </a:p>
          <a:p>
            <a:endParaRPr lang="en-US"/>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Structured light: Emitter projects a known patter (</a:t>
            </a:r>
            <a:r>
              <a:rPr lang="en-US" i="1"/>
              <a:t>structured light</a:t>
            </a:r>
            <a:r>
              <a:rPr lang="en-US"/>
              <a:t>), whose reflection is captured by  a camera </a:t>
            </a:r>
          </a:p>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19</a:t>
            </a:fld>
            <a:endParaRPr lang="en-US"/>
          </a:p>
        </p:txBody>
      </p:sp>
    </p:spTree>
    <p:extLst>
      <p:ext uri="{BB962C8B-B14F-4D97-AF65-F5344CB8AC3E}">
        <p14:creationId xmlns:p14="http://schemas.microsoft.com/office/powerpoint/2010/main" val="9018751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 camera: </a:t>
            </a:r>
            <a:r>
              <a:rPr lang="en-US" sz="1200" b="0" i="0" kern="1200">
                <a:solidFill>
                  <a:schemeClr val="tx1"/>
                </a:solidFill>
                <a:effectLst/>
                <a:latin typeface="+mn-lt"/>
                <a:ea typeface="+mn-ea"/>
                <a:cs typeface="+mn-cs"/>
              </a:rPr>
              <a:t>per-pixel intensity change</a:t>
            </a:r>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20</a:t>
            </a:fld>
            <a:endParaRPr lang="en-US"/>
          </a:p>
        </p:txBody>
      </p:sp>
    </p:spTree>
    <p:extLst>
      <p:ext uri="{BB962C8B-B14F-4D97-AF65-F5344CB8AC3E}">
        <p14:creationId xmlns:p14="http://schemas.microsoft.com/office/powerpoint/2010/main" val="3290466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t>
            </a:r>
          </a:p>
        </p:txBody>
      </p:sp>
      <p:sp>
        <p:nvSpPr>
          <p:cNvPr id="4" name="Slide Number Placeholder 3"/>
          <p:cNvSpPr>
            <a:spLocks noGrp="1"/>
          </p:cNvSpPr>
          <p:nvPr>
            <p:ph type="sldNum" sz="quarter" idx="10"/>
          </p:nvPr>
        </p:nvSpPr>
        <p:spPr/>
        <p:txBody>
          <a:bodyPr/>
          <a:lstStyle/>
          <a:p>
            <a:fld id="{63B2D7EC-928D-0645-AAE8-498D7443D60E}" type="slidenum">
              <a:rPr lang="en-US" smtClean="0"/>
              <a:t>21</a:t>
            </a:fld>
            <a:endParaRPr lang="en-US"/>
          </a:p>
        </p:txBody>
      </p:sp>
    </p:spTree>
    <p:extLst>
      <p:ext uri="{BB962C8B-B14F-4D97-AF65-F5344CB8AC3E}">
        <p14:creationId xmlns:p14="http://schemas.microsoft.com/office/powerpoint/2010/main" val="15164059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computer vision pipeline involves going from a real-world scene to a digital image – a camera processes the world and turns it into an array of pixel values</a:t>
            </a:r>
          </a:p>
          <a:p>
            <a:r>
              <a:rPr lang="en-US"/>
              <a:t>And then this digital image is processed to get a more interesting high-level output</a:t>
            </a:r>
          </a:p>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23</a:t>
            </a:fld>
            <a:endParaRPr lang="en-US"/>
          </a:p>
        </p:txBody>
      </p:sp>
    </p:spTree>
    <p:extLst>
      <p:ext uri="{BB962C8B-B14F-4D97-AF65-F5344CB8AC3E}">
        <p14:creationId xmlns:p14="http://schemas.microsoft.com/office/powerpoint/2010/main" val="40586155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Information extraction involves going from the digital image, which is an array of pixel values, to some intermediate representation</a:t>
            </a:r>
          </a:p>
          <a:p>
            <a:r>
              <a:rPr lang="en-US"/>
              <a:t>For example, features such as edges, corners, etc., or 3D structure</a:t>
            </a:r>
          </a:p>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24</a:t>
            </a:fld>
            <a:endParaRPr lang="en-US"/>
          </a:p>
        </p:txBody>
      </p:sp>
    </p:spTree>
    <p:extLst>
      <p:ext uri="{BB962C8B-B14F-4D97-AF65-F5344CB8AC3E}">
        <p14:creationId xmlns:p14="http://schemas.microsoft.com/office/powerpoint/2010/main" val="28839721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Interpretation involves going from this scene representation to some high-level relevant information</a:t>
            </a:r>
          </a:p>
          <a:p>
            <a:r>
              <a:rPr lang="en-US"/>
              <a:t>For example, this is done in object detection, object tracking, image registration, and image segmentation</a:t>
            </a:r>
          </a:p>
        </p:txBody>
      </p:sp>
      <p:sp>
        <p:nvSpPr>
          <p:cNvPr id="4" name="Slide Number Placeholder 3"/>
          <p:cNvSpPr>
            <a:spLocks noGrp="1"/>
          </p:cNvSpPr>
          <p:nvPr>
            <p:ph type="sldNum" sz="quarter" idx="5"/>
          </p:nvPr>
        </p:nvSpPr>
        <p:spPr/>
        <p:txBody>
          <a:bodyPr/>
          <a:lstStyle/>
          <a:p>
            <a:fld id="{63B2D7EC-928D-0645-AAE8-498D7443D60E}" type="slidenum">
              <a:rPr lang="en-US" smtClean="0"/>
              <a:t>25</a:t>
            </a:fld>
            <a:endParaRPr lang="en-US"/>
          </a:p>
        </p:txBody>
      </p:sp>
    </p:spTree>
    <p:extLst>
      <p:ext uri="{BB962C8B-B14F-4D97-AF65-F5344CB8AC3E}">
        <p14:creationId xmlns:p14="http://schemas.microsoft.com/office/powerpoint/2010/main" val="831324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goal of object detection is to detect instances of semantic objects of a certain class</a:t>
            </a:r>
          </a:p>
          <a:p>
            <a:r>
              <a:rPr lang="en-US"/>
              <a:t>- Usually we draw a bounding box around the object, as shown in the picture </a:t>
            </a:r>
          </a:p>
          <a:p>
            <a:endParaRPr lang="en-US"/>
          </a:p>
          <a:p>
            <a:r>
              <a:rPr lang="en-US"/>
              <a:t>- There are some traditional approaches for doing object detection, e.g. SIFT and HOG</a:t>
            </a:r>
          </a:p>
          <a:p>
            <a:r>
              <a:rPr lang="en-US"/>
              <a:t>- SIFT </a:t>
            </a:r>
            <a:r>
              <a:rPr lang="en-US" b="0" i="0">
                <a:solidFill>
                  <a:srgbClr val="202122"/>
                </a:solidFill>
                <a:effectLst/>
                <a:latin typeface="Arial" panose="020B0604020202020204" pitchFamily="34" charset="0"/>
              </a:rPr>
              <a:t>uses </a:t>
            </a:r>
            <a:r>
              <a:rPr lang="en-US" b="0" i="0" err="1">
                <a:solidFill>
                  <a:srgbClr val="202122"/>
                </a:solidFill>
                <a:effectLst/>
                <a:latin typeface="Arial" panose="020B0604020202020204" pitchFamily="34" charset="0"/>
              </a:rPr>
              <a:t>keypoints</a:t>
            </a:r>
            <a:r>
              <a:rPr lang="en-US" b="0" i="0">
                <a:solidFill>
                  <a:srgbClr val="202122"/>
                </a:solidFill>
                <a:effectLst/>
                <a:latin typeface="Arial" panose="020B0604020202020204" pitchFamily="34" charset="0"/>
              </a:rPr>
              <a:t> of an object extracted from a set of reference images. These </a:t>
            </a:r>
            <a:r>
              <a:rPr lang="en-US" b="0" i="0" err="1">
                <a:solidFill>
                  <a:srgbClr val="202122"/>
                </a:solidFill>
                <a:effectLst/>
                <a:latin typeface="Arial" panose="020B0604020202020204" pitchFamily="34" charset="0"/>
              </a:rPr>
              <a:t>keypoints</a:t>
            </a:r>
            <a:r>
              <a:rPr lang="en-US" b="0" i="0">
                <a:solidFill>
                  <a:srgbClr val="202122"/>
                </a:solidFill>
                <a:effectLst/>
                <a:latin typeface="Arial" panose="020B0604020202020204" pitchFamily="34" charset="0"/>
              </a:rPr>
              <a:t> are used to identify the object in a scene</a:t>
            </a:r>
          </a:p>
          <a:p>
            <a:r>
              <a:rPr lang="en-US" b="0" i="0">
                <a:solidFill>
                  <a:srgbClr val="202122"/>
                </a:solidFill>
                <a:effectLst/>
                <a:latin typeface="Arial" panose="020B0604020202020204" pitchFamily="34" charset="0"/>
              </a:rPr>
              <a:t>- HOG looks at occurrences of gradient orientation in localized portions of an image. The idea is that the local object appearance and shape within an image can be described by the distribution of intensity gradients or edge directions. </a:t>
            </a:r>
          </a:p>
          <a:p>
            <a:endParaRPr lang="en-US"/>
          </a:p>
          <a:p>
            <a:r>
              <a:rPr lang="en-US"/>
              <a:t>- There are also many learning-based methods.</a:t>
            </a:r>
          </a:p>
          <a:p>
            <a:r>
              <a:rPr lang="en-US"/>
              <a:t>- Some use a region proposal</a:t>
            </a:r>
          </a:p>
          <a:p>
            <a:r>
              <a:rPr lang="en-US"/>
              <a:t>	- Region proposal: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 Find “blobby” image regions that are likely to contain objects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 Relatively fast to run; e.g. Selective Search gives 1000 region proposals in a few seconds on CPU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Others don’t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 YOLO: </a:t>
            </a:r>
            <a:r>
              <a:rPr lang="en-US" b="0" i="0">
                <a:solidFill>
                  <a:srgbClr val="374151"/>
                </a:solidFill>
                <a:effectLst/>
                <a:latin typeface="Söhne"/>
              </a:rPr>
              <a:t>divides an image into a grid, processes it with a CNN to predict class probabilities and bounding box coordinates for multiple objects in each grid cell, and then uses non-maximum suppression to obtain the final object detections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a:solidFill>
                  <a:srgbClr val="374151"/>
                </a:solidFill>
                <a:effectLst/>
                <a:latin typeface="Söhne"/>
              </a:rPr>
              <a:t>	- SSD: combines multi-scale feature maps from a CNN with anchor boxes of various aspect ratios and sizes to simultaneously predict class probabilities and bounding box offsets for object detection</a:t>
            </a:r>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26</a:t>
            </a:fld>
            <a:endParaRPr lang="en-US"/>
          </a:p>
        </p:txBody>
      </p:sp>
    </p:spTree>
    <p:extLst>
      <p:ext uri="{BB962C8B-B14F-4D97-AF65-F5344CB8AC3E}">
        <p14:creationId xmlns:p14="http://schemas.microsoft.com/office/powerpoint/2010/main" val="7206670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 The goal of object tracking is to follow and locate a specific object across a sequence of images or video frames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Possible desirable properties: robustness, real-time processing, multi-object tracking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 Traditional approaches: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 Mean-shift tracking: </a:t>
            </a:r>
            <a:r>
              <a:rPr lang="en-US" b="0" i="0">
                <a:solidFill>
                  <a:srgbClr val="374151"/>
                </a:solidFill>
                <a:effectLst/>
                <a:latin typeface="Söhne"/>
              </a:rPr>
              <a:t>creates a color or feature histogram model of the target object in the first frame and then iteratively shifting a search window toward regions of higher similarity in subsequent frames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a:solidFill>
                  <a:srgbClr val="374151"/>
                </a:solidFill>
                <a:effectLst/>
                <a:latin typeface="Söhne"/>
              </a:rPr>
              <a:t>	- Kalman filters: uses an initial state estimate and iteratively predicts the object's future state based on a motion model, then updates the estimate with incoming sensor measurements to provide a refined estimate of the object's position and velocity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a:solidFill>
                  <a:srgbClr val="374151"/>
                </a:solidFill>
                <a:effectLst/>
                <a:latin typeface="Söhne"/>
              </a:rPr>
              <a:t>- Learning-based methods</a:t>
            </a:r>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27</a:t>
            </a:fld>
            <a:endParaRPr lang="en-US"/>
          </a:p>
        </p:txBody>
      </p:sp>
    </p:spTree>
    <p:extLst>
      <p:ext uri="{BB962C8B-B14F-4D97-AF65-F5344CB8AC3E}">
        <p14:creationId xmlns:p14="http://schemas.microsoft.com/office/powerpoint/2010/main" val="35359114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goal of image registration is to align different sets of data</a:t>
            </a:r>
          </a:p>
          <a:p>
            <a:r>
              <a:rPr lang="en-US"/>
              <a:t>- E.g. data from multiple photographs, or from different sensors</a:t>
            </a:r>
          </a:p>
          <a:p>
            <a:endParaRPr lang="en-US"/>
          </a:p>
          <a:p>
            <a:r>
              <a:rPr lang="en-US"/>
              <a:t>- Methods: </a:t>
            </a:r>
          </a:p>
          <a:p>
            <a:r>
              <a:rPr lang="en-US"/>
              <a:t>	- Intensity-based: </a:t>
            </a:r>
            <a:r>
              <a:rPr lang="en-US" b="0" i="0">
                <a:solidFill>
                  <a:srgbClr val="202122"/>
                </a:solidFill>
                <a:effectLst/>
                <a:latin typeface="Arial" panose="020B0604020202020204" pitchFamily="34" charset="0"/>
              </a:rPr>
              <a:t>Compare intensity patterns in images via correlation metrics</a:t>
            </a:r>
            <a:r>
              <a:rPr lang="en-US"/>
              <a:t> </a:t>
            </a:r>
          </a:p>
          <a:p>
            <a:r>
              <a:rPr lang="en-US"/>
              <a:t>	- Feature-based: Find correspondence between image features (e.g. points, lines, etc.)</a:t>
            </a:r>
          </a:p>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28</a:t>
            </a:fld>
            <a:endParaRPr lang="en-US"/>
          </a:p>
        </p:txBody>
      </p:sp>
    </p:spTree>
    <p:extLst>
      <p:ext uri="{BB962C8B-B14F-4D97-AF65-F5344CB8AC3E}">
        <p14:creationId xmlns:p14="http://schemas.microsoft.com/office/powerpoint/2010/main" val="6010321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goal of image segmentation is to label each pixel with some category label</a:t>
            </a:r>
          </a:p>
          <a:p>
            <a:r>
              <a:rPr lang="en-US"/>
              <a:t>- There are two types: </a:t>
            </a:r>
          </a:p>
          <a:p>
            <a:r>
              <a:rPr lang="en-US"/>
              <a:t>	- Semantic segmentation, where different instances with the same label are not distinguished</a:t>
            </a:r>
          </a:p>
          <a:p>
            <a:r>
              <a:rPr lang="en-US"/>
              <a:t>	- Instance segmentation, where individual objects in each category are distinguished </a:t>
            </a:r>
          </a:p>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29</a:t>
            </a:fld>
            <a:endParaRPr lang="en-US"/>
          </a:p>
        </p:txBody>
      </p:sp>
    </p:spTree>
    <p:extLst>
      <p:ext uri="{BB962C8B-B14F-4D97-AF65-F5344CB8AC3E}">
        <p14:creationId xmlns:p14="http://schemas.microsoft.com/office/powerpoint/2010/main" val="37576151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Information extraction and interpretation can also be done with LIDAR data</a:t>
            </a:r>
          </a:p>
          <a:p>
            <a:r>
              <a:rPr lang="en-US"/>
              <a:t>- For example, here is a 3D point cloud. </a:t>
            </a:r>
          </a:p>
          <a:p>
            <a:r>
              <a:rPr lang="en-US"/>
              <a:t>- We can extract features, for instance finding critical points or making an occupancy grid map. </a:t>
            </a:r>
          </a:p>
          <a:p>
            <a:r>
              <a:rPr lang="en-US"/>
              <a:t>- And we can do tasks like semantic segmentation or object detection in 3D as well</a:t>
            </a:r>
          </a:p>
        </p:txBody>
      </p:sp>
      <p:sp>
        <p:nvSpPr>
          <p:cNvPr id="4" name="Slide Number Placeholder 3"/>
          <p:cNvSpPr>
            <a:spLocks noGrp="1"/>
          </p:cNvSpPr>
          <p:nvPr>
            <p:ph type="sldNum" sz="quarter" idx="5"/>
          </p:nvPr>
        </p:nvSpPr>
        <p:spPr/>
        <p:txBody>
          <a:bodyPr/>
          <a:lstStyle/>
          <a:p>
            <a:fld id="{63B2D7EC-928D-0645-AAE8-498D7443D60E}" type="slidenum">
              <a:rPr lang="en-US" smtClean="0"/>
              <a:t>30</a:t>
            </a:fld>
            <a:endParaRPr lang="en-US"/>
          </a:p>
        </p:txBody>
      </p:sp>
    </p:spTree>
    <p:extLst>
      <p:ext uri="{BB962C8B-B14F-4D97-AF65-F5344CB8AC3E}">
        <p14:creationId xmlns:p14="http://schemas.microsoft.com/office/powerpoint/2010/main" val="37495579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That was an overview of </a:t>
            </a:r>
            <a:r>
              <a:rPr lang="en-US">
                <a:effectLst/>
                <a:latin typeface="Helvetica" pitchFamily="2" charset="0"/>
              </a:rPr>
              <a:t>going from a time series of arrays of pixels to more interesting high-level vision output – we’ll go into more details in later lectures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effectLst/>
              <a:latin typeface="Helvetica"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effectLst/>
                <a:latin typeface="Helvetica" pitchFamily="2" charset="0"/>
              </a:rPr>
              <a:t>Now, we’ll discuss how a camera processes the world and turns it into an array of pixel values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effectLst/>
              <a:latin typeface="Helvetica"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effectLst/>
              <a:latin typeface="Helvetica" pitchFamily="2" charset="0"/>
            </a:endParaRPr>
          </a:p>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31</a:t>
            </a:fld>
            <a:endParaRPr lang="en-US"/>
          </a:p>
        </p:txBody>
      </p:sp>
    </p:spTree>
    <p:extLst>
      <p:ext uri="{BB962C8B-B14F-4D97-AF65-F5344CB8AC3E}">
        <p14:creationId xmlns:p14="http://schemas.microsoft.com/office/powerpoint/2010/main" val="34555666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Consider a tree; light is reflected by the object and scattered in all directions</a:t>
            </a:r>
          </a:p>
          <a:p>
            <a:pPr marL="171450" indent="-171450">
              <a:buFont typeface="Arial" charset="0"/>
              <a:buChar char="•"/>
            </a:pPr>
            <a:r>
              <a:rPr lang="en-US"/>
              <a:t>To capture the image of the</a:t>
            </a:r>
            <a:r>
              <a:rPr lang="en-US" baseline="0"/>
              <a:t> tree, assume we place a photoreceptive surface (</a:t>
            </a:r>
            <a:r>
              <a:rPr lang="en-US"/>
              <a:t>that is, a material that is sensitive to light and can be used to record the light that impresses the film/sensor)</a:t>
            </a:r>
            <a:r>
              <a:rPr lang="en-US" baseline="0"/>
              <a:t> in front of the tree</a:t>
            </a:r>
            <a:endParaRPr lang="en-US"/>
          </a:p>
          <a:p>
            <a:pPr marL="171450" indent="-171450">
              <a:buFont typeface="Arial" charset="0"/>
              <a:buChar char="•"/>
            </a:pPr>
            <a:r>
              <a:rPr lang="en-US"/>
              <a:t>Without a barrier in place, every point on the surface will be influenced by light rays emitted from every point on the 3D object.</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The end result would be an extremely blurred image</a:t>
            </a:r>
          </a:p>
          <a:p>
            <a:pPr marL="171450" indent="-171450">
              <a:buFont typeface="Arial" charset="0"/>
              <a:buChar char="•"/>
            </a:pPr>
            <a:endParaRPr lang="en-US"/>
          </a:p>
          <a:p>
            <a:pPr marL="171450" indent="-171450">
              <a:buFont typeface="Arial" charset="0"/>
              <a:buChar char="•"/>
            </a:pPr>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32</a:t>
            </a:fld>
            <a:endParaRPr lang="en-US"/>
          </a:p>
        </p:txBody>
      </p:sp>
    </p:spTree>
    <p:extLst>
      <p:ext uri="{BB962C8B-B14F-4D97-AF65-F5344CB8AC3E}">
        <p14:creationId xmlns:p14="http://schemas.microsoft.com/office/powerpoint/2010/main" val="34391700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To address this problem, let’s place a barrier with a small aperture between the 3D object and a photographic film or sensor</a:t>
            </a:r>
          </a:p>
          <a:p>
            <a:pPr marL="171450" indent="-171450">
              <a:buFont typeface="Arial" charset="0"/>
              <a:buChar char="•"/>
            </a:pPr>
            <a:r>
              <a:rPr lang="en-US"/>
              <a:t>Again, each point on the 3D object emits multiple rays of light outwards; different points and related rays of light are shown in different colors. </a:t>
            </a:r>
          </a:p>
          <a:p>
            <a:pPr marL="171450" indent="-171450">
              <a:buFont typeface="Arial" charset="0"/>
              <a:buChar char="•"/>
            </a:pPr>
            <a:r>
              <a:rPr lang="en-US"/>
              <a:t>However, now only a few of these rays of light passes through the aperture and hit the film.</a:t>
            </a:r>
          </a:p>
          <a:p>
            <a:pPr marL="171450" indent="-171450">
              <a:buFont typeface="Arial" charset="0"/>
              <a:buChar char="•"/>
            </a:pPr>
            <a:r>
              <a:rPr lang="en-US"/>
              <a:t> So an approximate 1-to-1 mapping can be established between the 3D object and the film </a:t>
            </a:r>
          </a:p>
          <a:p>
            <a:pPr marL="171450" indent="-171450">
              <a:buFont typeface="Arial" charset="0"/>
              <a:buChar char="•"/>
            </a:pPr>
            <a:r>
              <a:rPr lang="en-US"/>
              <a:t>The result is that the film gets exposed by an “image” of the 3D object </a:t>
            </a:r>
          </a:p>
        </p:txBody>
      </p:sp>
      <p:sp>
        <p:nvSpPr>
          <p:cNvPr id="4" name="Slide Number Placeholder 3"/>
          <p:cNvSpPr>
            <a:spLocks noGrp="1"/>
          </p:cNvSpPr>
          <p:nvPr>
            <p:ph type="sldNum" sz="quarter" idx="10"/>
          </p:nvPr>
        </p:nvSpPr>
        <p:spPr/>
        <p:txBody>
          <a:bodyPr/>
          <a:lstStyle/>
          <a:p>
            <a:fld id="{63B2D7EC-928D-0645-AAE8-498D7443D60E}" type="slidenum">
              <a:rPr lang="en-US" smtClean="0"/>
              <a:t>33</a:t>
            </a:fld>
            <a:endParaRPr lang="en-US"/>
          </a:p>
        </p:txBody>
      </p:sp>
    </p:spTree>
    <p:extLst>
      <p:ext uri="{BB962C8B-B14F-4D97-AF65-F5344CB8AC3E}">
        <p14:creationId xmlns:p14="http://schemas.microsoft.com/office/powerpoint/2010/main" val="35413555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The concept of pinhole camera was first formalized by Leonardo da Vinci in 1502. He called it “Camera </a:t>
            </a:r>
            <a:r>
              <a:rPr lang="en-US" err="1"/>
              <a:t>Obscura</a:t>
            </a:r>
            <a:r>
              <a:rPr lang="en-US"/>
              <a:t>”. </a:t>
            </a:r>
          </a:p>
          <a:p>
            <a:pPr marL="171450" indent="-171450">
              <a:buFont typeface="Arial" charset="0"/>
              <a:buChar char="•"/>
            </a:pPr>
            <a:r>
              <a:rPr lang="en-US" sz="1200" kern="1200">
                <a:solidFill>
                  <a:schemeClr val="tx1"/>
                </a:solidFill>
                <a:effectLst/>
                <a:latin typeface="+mn-lt"/>
                <a:ea typeface="+mn-ea"/>
                <a:cs typeface="+mn-cs"/>
              </a:rPr>
              <a:t>Pinholes were replaced by more and more sophisticated</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lenses as early as 1550</a:t>
            </a:r>
          </a:p>
          <a:p>
            <a:pPr marL="171450" indent="-171450">
              <a:buFont typeface="Arial" charset="0"/>
              <a:buChar char="•"/>
            </a:pPr>
            <a:r>
              <a:rPr lang="en-US" sz="1200" b="0" i="0" kern="1200">
                <a:solidFill>
                  <a:schemeClr val="tx1"/>
                </a:solidFill>
                <a:effectLst/>
                <a:latin typeface="+mn-lt"/>
                <a:ea typeface="+mn-ea"/>
                <a:cs typeface="+mn-cs"/>
              </a:rPr>
              <a:t>The term "camera obscura" also refers to constructions or devices that make use of the principle within a box, tent or room.</a:t>
            </a:r>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34</a:t>
            </a:fld>
            <a:endParaRPr lang="en-US"/>
          </a:p>
        </p:txBody>
      </p:sp>
    </p:spTree>
    <p:extLst>
      <p:ext uri="{BB962C8B-B14F-4D97-AF65-F5344CB8AC3E}">
        <p14:creationId xmlns:p14="http://schemas.microsoft.com/office/powerpoint/2010/main" val="29216576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Let us consider a more formal</a:t>
            </a:r>
            <a:r>
              <a:rPr lang="en-US" baseline="0"/>
              <a:t> definition of the pinhole camera </a:t>
            </a:r>
            <a:endParaRPr lang="en-US"/>
          </a:p>
          <a:p>
            <a:pPr marL="171450" indent="-171450">
              <a:buFont typeface="Arial" charset="0"/>
              <a:buChar char="•"/>
            </a:pPr>
            <a:r>
              <a:rPr lang="en-US"/>
              <a:t>The film (now on the left of the object) is commonly called image or retinal plane. </a:t>
            </a:r>
          </a:p>
          <a:p>
            <a:pPr marL="171450" indent="-171450">
              <a:buFont typeface="Arial" charset="0"/>
              <a:buChar char="•"/>
            </a:pPr>
            <a:r>
              <a:rPr lang="en-US"/>
              <a:t>The aperture is called pinhole O or center of the camera. </a:t>
            </a:r>
          </a:p>
          <a:p>
            <a:pPr marL="171450" indent="-171450">
              <a:buFont typeface="Arial" charset="0"/>
              <a:buChar char="•"/>
            </a:pPr>
            <a:r>
              <a:rPr lang="en-US"/>
              <a:t>The distance between the image plane and the</a:t>
            </a:r>
            <a:r>
              <a:rPr lang="en-US" baseline="0"/>
              <a:t> pinhole</a:t>
            </a:r>
            <a:r>
              <a:rPr lang="en-US"/>
              <a:t> is the focal length f.</a:t>
            </a:r>
          </a:p>
          <a:p>
            <a:pPr marL="171450" marR="0" lvl="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Perspective projection creates inverted images</a:t>
            </a:r>
          </a:p>
          <a:p>
            <a:pPr marL="171450" indent="-171450">
              <a:buFont typeface="Arial" charset="0"/>
              <a:buChar char="•"/>
            </a:pPr>
            <a:r>
              <a:rPr lang="en-US"/>
              <a:t>Often, the image plane is placed between O and the 3D object at a distance f from O. In this case it is called virtual image or virtual retinal plane.</a:t>
            </a:r>
          </a:p>
          <a:p>
            <a:pPr marL="171450" indent="-171450">
              <a:buFont typeface="Arial" charset="0"/>
              <a:buChar char="•"/>
            </a:pPr>
            <a:r>
              <a:rPr lang="en-US" sz="1200" kern="1200">
                <a:solidFill>
                  <a:schemeClr val="tx1"/>
                </a:solidFill>
                <a:effectLst/>
                <a:latin typeface="+mn-lt"/>
                <a:ea typeface="+mn-ea"/>
                <a:cs typeface="+mn-cs"/>
              </a:rPr>
              <a:t>This virtual image is not inverted but is</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otherwise strictly equivalent to the actual one.</a:t>
            </a:r>
          </a:p>
        </p:txBody>
      </p:sp>
      <p:sp>
        <p:nvSpPr>
          <p:cNvPr id="4" name="Slide Number Placeholder 3"/>
          <p:cNvSpPr>
            <a:spLocks noGrp="1"/>
          </p:cNvSpPr>
          <p:nvPr>
            <p:ph type="sldNum" sz="quarter" idx="10"/>
          </p:nvPr>
        </p:nvSpPr>
        <p:spPr/>
        <p:txBody>
          <a:bodyPr/>
          <a:lstStyle/>
          <a:p>
            <a:fld id="{63B2D7EC-928D-0645-AAE8-498D7443D60E}" type="slidenum">
              <a:rPr lang="en-US" smtClean="0"/>
              <a:t>35</a:t>
            </a:fld>
            <a:endParaRPr lang="en-US"/>
          </a:p>
        </p:txBody>
      </p:sp>
    </p:spTree>
    <p:extLst>
      <p:ext uri="{BB962C8B-B14F-4D97-AF65-F5344CB8AC3E}">
        <p14:creationId xmlns:p14="http://schemas.microsoft.com/office/powerpoint/2010/main" val="21821799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Let us consider in more detail the </a:t>
            </a:r>
            <a:r>
              <a:rPr lang="en-US" err="1"/>
              <a:t>goemetry</a:t>
            </a:r>
            <a:r>
              <a:rPr lang="en-US"/>
              <a:t> of</a:t>
            </a:r>
            <a:r>
              <a:rPr lang="en-US" baseline="0"/>
              <a:t> a pinhole camera</a:t>
            </a:r>
            <a:endParaRPr lang="en-US"/>
          </a:p>
          <a:p>
            <a:pPr marL="171450" indent="-171450">
              <a:buFont typeface="Arial" charset="0"/>
              <a:buChar char="•"/>
            </a:pPr>
            <a:r>
              <a:rPr lang="en-US"/>
              <a:t>Let P be a point on the 3D object; P= [X Y Z]. </a:t>
            </a:r>
          </a:p>
          <a:p>
            <a:pPr marL="171450" indent="-171450">
              <a:buFont typeface="Arial" charset="0"/>
              <a:buChar char="•"/>
            </a:pPr>
            <a:r>
              <a:rPr lang="en-US"/>
              <a:t>P is mapped (projected) into a point</a:t>
            </a:r>
            <a:r>
              <a:rPr lang="en-US" baseline="0"/>
              <a:t> p </a:t>
            </a:r>
            <a:r>
              <a:rPr lang="en-US"/>
              <a:t>= [x y z]</a:t>
            </a:r>
            <a:r>
              <a:rPr lang="en-US" baseline="0"/>
              <a:t> </a:t>
            </a:r>
            <a:r>
              <a:rPr lang="en-US"/>
              <a:t>in the image plane following the pinhole mapping through the aperture O.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The projection of O into the image plane gives c, referred to as</a:t>
            </a:r>
            <a:r>
              <a:rPr lang="en-US" baseline="0"/>
              <a:t> the image center (or principal point) and often used as the origin of the</a:t>
            </a:r>
            <a:r>
              <a:rPr lang="en-US" sz="1200" kern="1200">
                <a:solidFill>
                  <a:schemeClr val="tx1"/>
                </a:solidFill>
                <a:effectLst/>
                <a:latin typeface="+mn-lt"/>
                <a:ea typeface="+mn-ea"/>
                <a:cs typeface="+mn-cs"/>
              </a:rPr>
              <a:t> image plane coordinate frame</a:t>
            </a:r>
            <a:r>
              <a:rPr lang="en-US"/>
              <a:t>. </a:t>
            </a:r>
          </a:p>
          <a:p>
            <a:pPr marL="171450" indent="-171450">
              <a:buFont typeface="Arial" charset="0"/>
              <a:buChar char="•"/>
            </a:pPr>
            <a:r>
              <a:rPr lang="en-US"/>
              <a:t>Here a coordinate system [</a:t>
            </a:r>
            <a:r>
              <a:rPr lang="en-US" err="1"/>
              <a:t>i,j,k</a:t>
            </a:r>
            <a:r>
              <a:rPr lang="en-US"/>
              <a:t>] is centered at O such that the axis k is perpendicular to the image plane and points toward it. This is the camera reference system.</a:t>
            </a:r>
          </a:p>
          <a:p>
            <a:pPr marL="171450" indent="-171450">
              <a:buFont typeface="Arial" charset="0"/>
              <a:buChar char="•"/>
            </a:pPr>
            <a:r>
              <a:rPr lang="en-US"/>
              <a:t>The line defined by c and O is called the optical axis of the camera system.</a:t>
            </a:r>
          </a:p>
          <a:p>
            <a:pPr marL="171450" indent="-171450">
              <a:buFont typeface="Arial" charset="0"/>
              <a:buChar char="•"/>
            </a:pPr>
            <a:r>
              <a:rPr lang="en-US"/>
              <a:t>The relationship between P and </a:t>
            </a:r>
            <a:r>
              <a:rPr lang="en-US" baseline="0"/>
              <a:t>p</a:t>
            </a:r>
            <a:r>
              <a:rPr lang="en-US"/>
              <a:t> is shown  is derived by using basic geometry </a:t>
            </a:r>
          </a:p>
          <a:p>
            <a:pPr marL="171450" indent="-171450">
              <a:buFont typeface="Arial" charset="0"/>
              <a:buChar char="•"/>
            </a:pPr>
            <a:endParaRPr lang="en-US" sz="1200" kern="1200">
              <a:solidFill>
                <a:schemeClr val="tx1"/>
              </a:solidFill>
              <a:effectLst/>
              <a:latin typeface="+mn-lt"/>
              <a:ea typeface="+mn-ea"/>
              <a:cs typeface="+mn-cs"/>
            </a:endParaRPr>
          </a:p>
          <a:p>
            <a:pPr marL="171450" indent="-171450">
              <a:buFont typeface="Arial" charset="0"/>
              <a:buChar char="•"/>
            </a:pPr>
            <a:endParaRPr lang="is-IS" sz="1200" kern="1200">
              <a:solidFill>
                <a:schemeClr val="tx1"/>
              </a:solidFill>
              <a:effectLst/>
              <a:latin typeface="+mn-lt"/>
              <a:ea typeface="+mn-ea"/>
              <a:cs typeface="+mn-cs"/>
            </a:endParaRPr>
          </a:p>
          <a:p>
            <a:r>
              <a:rPr lang="is-IS" sz="1200" kern="1200">
                <a:solidFill>
                  <a:schemeClr val="tx1"/>
                </a:solidFill>
                <a:effectLst/>
                <a:latin typeface="+mn-lt"/>
                <a:ea typeface="+mn-ea"/>
                <a:cs typeface="+mn-cs"/>
              </a:rPr>
              <a:t>\begin{cases}</a:t>
            </a:r>
          </a:p>
          <a:p>
            <a:r>
              <a:rPr lang="is-IS" sz="1200" kern="1200">
                <a:solidFill>
                  <a:schemeClr val="tx1"/>
                </a:solidFill>
                <a:effectLst/>
                <a:latin typeface="+mn-lt"/>
                <a:ea typeface="+mn-ea"/>
                <a:cs typeface="+mn-cs"/>
              </a:rPr>
              <a:t>               x = \lambda \, X\\</a:t>
            </a:r>
          </a:p>
          <a:p>
            <a:r>
              <a:rPr lang="is-IS" sz="1200" kern="1200">
                <a:solidFill>
                  <a:schemeClr val="tx1"/>
                </a:solidFill>
                <a:effectLst/>
                <a:latin typeface="+mn-lt"/>
                <a:ea typeface="+mn-ea"/>
                <a:cs typeface="+mn-cs"/>
              </a:rPr>
              <a:t>               y = \lambda \, Y\\</a:t>
            </a:r>
          </a:p>
          <a:p>
            <a:r>
              <a:rPr lang="is-IS" sz="1200" kern="1200">
                <a:solidFill>
                  <a:schemeClr val="tx1"/>
                </a:solidFill>
                <a:effectLst/>
                <a:latin typeface="+mn-lt"/>
                <a:ea typeface="+mn-ea"/>
                <a:cs typeface="+mn-cs"/>
              </a:rPr>
              <a:t>               z = \lambda \, Z</a:t>
            </a:r>
          </a:p>
          <a:p>
            <a:r>
              <a:rPr lang="is-IS" sz="1200" kern="1200">
                <a:solidFill>
                  <a:schemeClr val="tx1"/>
                </a:solidFill>
                <a:effectLst/>
                <a:latin typeface="+mn-lt"/>
                <a:ea typeface="+mn-ea"/>
                <a:cs typeface="+mn-cs"/>
              </a:rPr>
              <a:t>            \end{cases}</a:t>
            </a:r>
          </a:p>
          <a:p>
            <a:r>
              <a:rPr lang="is-IS" sz="1200" kern="1200">
                <a:solidFill>
                  <a:schemeClr val="tx1"/>
                </a:solidFill>
                <a:effectLst/>
                <a:latin typeface="+mn-lt"/>
                <a:ea typeface="+mn-ea"/>
                <a:cs typeface="+mn-cs"/>
              </a:rPr>
              <a:t> \Leftrightarrow \lambda = \frac{x}{X}=\frac{y}{Y}=\frac{z}{Z} \qquad \Rightarrow \qquad </a:t>
            </a:r>
          </a:p>
          <a:p>
            <a:r>
              <a:rPr lang="is-IS" sz="1200" kern="1200">
                <a:solidFill>
                  <a:schemeClr val="tx1"/>
                </a:solidFill>
                <a:effectLst/>
                <a:latin typeface="+mn-lt"/>
                <a:ea typeface="+mn-ea"/>
                <a:cs typeface="+mn-cs"/>
              </a:rPr>
              <a:t>{\color{red}\begin{cases}</a:t>
            </a:r>
          </a:p>
          <a:p>
            <a:r>
              <a:rPr lang="is-IS" sz="1200" kern="1200">
                <a:solidFill>
                  <a:schemeClr val="tx1"/>
                </a:solidFill>
                <a:effectLst/>
                <a:latin typeface="+mn-lt"/>
                <a:ea typeface="+mn-ea"/>
                <a:cs typeface="+mn-cs"/>
              </a:rPr>
              <a:t>               x = f \frac{X}{Z}\\</a:t>
            </a:r>
          </a:p>
          <a:p>
            <a:r>
              <a:rPr lang="is-IS" sz="1200" kern="1200">
                <a:solidFill>
                  <a:schemeClr val="tx1"/>
                </a:solidFill>
                <a:effectLst/>
                <a:latin typeface="+mn-lt"/>
                <a:ea typeface="+mn-ea"/>
                <a:cs typeface="+mn-cs"/>
              </a:rPr>
              <a:t>               y = f \frac{Y}{Z}\\</a:t>
            </a:r>
          </a:p>
          <a:p>
            <a:r>
              <a:rPr lang="is-IS" sz="1200" kern="1200">
                <a:solidFill>
                  <a:schemeClr val="tx1"/>
                </a:solidFill>
                <a:effectLst/>
                <a:latin typeface="+mn-lt"/>
                <a:ea typeface="+mn-ea"/>
                <a:cs typeface="+mn-cs"/>
              </a:rPr>
              <a:t>            \end{cases}}</a:t>
            </a:r>
          </a:p>
        </p:txBody>
      </p:sp>
      <p:sp>
        <p:nvSpPr>
          <p:cNvPr id="4" name="Slide Number Placeholder 3"/>
          <p:cNvSpPr>
            <a:spLocks noGrp="1"/>
          </p:cNvSpPr>
          <p:nvPr>
            <p:ph type="sldNum" sz="quarter" idx="10"/>
          </p:nvPr>
        </p:nvSpPr>
        <p:spPr/>
        <p:txBody>
          <a:bodyPr/>
          <a:lstStyle/>
          <a:p>
            <a:fld id="{63B2D7EC-928D-0645-AAE8-498D7443D60E}" type="slidenum">
              <a:rPr lang="en-US" smtClean="0"/>
              <a:t>36</a:t>
            </a:fld>
            <a:endParaRPr lang="en-US"/>
          </a:p>
        </p:txBody>
      </p:sp>
    </p:spTree>
    <p:extLst>
      <p:ext uri="{BB962C8B-B14F-4D97-AF65-F5344CB8AC3E}">
        <p14:creationId xmlns:p14="http://schemas.microsoft.com/office/powerpoint/2010/main" val="19587883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sz="1200" kern="1200">
                <a:solidFill>
                  <a:schemeClr val="tx1"/>
                </a:solidFill>
                <a:effectLst/>
                <a:latin typeface="+mn-lt"/>
                <a:ea typeface="+mn-ea"/>
                <a:cs typeface="+mn-cs"/>
              </a:rPr>
              <a:t>In reality, the pinhole will have a finite (albeit small) size, and each point in the</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image plane will collect light from a cone of rays subtending a finite solid angle, so</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this idealized and extremely simple model of the imaging geometry will not strictly</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apply.</a:t>
            </a:r>
          </a:p>
          <a:p>
            <a:pPr marL="171450" indent="-171450">
              <a:buFont typeface="Arial" charset="0"/>
              <a:buChar char="•"/>
            </a:pPr>
            <a:r>
              <a:rPr lang="en-US"/>
              <a:t>The size of the aperture plays a critical role!</a:t>
            </a:r>
          </a:p>
          <a:p>
            <a:pPr marL="171450" indent="-171450">
              <a:buFont typeface="Arial" charset="0"/>
              <a:buChar char="•"/>
            </a:pPr>
            <a:r>
              <a:rPr lang="en-US"/>
              <a:t>The larger is the size of the aperture, the greater is the number of rays of lights that pass through the aperture. Thus, each point on the film may corresponds to multiple points on the object; As a result, the image of the object becomes blurred. </a:t>
            </a:r>
          </a:p>
          <a:p>
            <a:pPr marL="171450" indent="-171450">
              <a:buFont typeface="Arial" charset="0"/>
              <a:buChar char="•"/>
            </a:pPr>
            <a:r>
              <a:rPr lang="en-US"/>
              <a:t>On the other hand, the smaller is the size of the aperture, the fewer are the rays of lights that pass through the aperture, which results into having a crispier but darker image of the object.</a:t>
            </a:r>
          </a:p>
          <a:p>
            <a:pPr marL="171450" indent="-171450">
              <a:buFont typeface="Arial" charset="0"/>
              <a:buChar char="•"/>
            </a:pPr>
            <a:r>
              <a:rPr lang="en-US"/>
              <a:t>The figure illustrates this trade off</a:t>
            </a:r>
          </a:p>
          <a:p>
            <a:pPr marL="171450" indent="-171450">
              <a:buFont typeface="Arial" charset="0"/>
              <a:buChar char="•"/>
            </a:pPr>
            <a:r>
              <a:rPr lang="en-US"/>
              <a:t>Is there a way to overcome this problem? Yes, by adding lenses to replace the aperture!</a:t>
            </a:r>
          </a:p>
        </p:txBody>
      </p:sp>
      <p:sp>
        <p:nvSpPr>
          <p:cNvPr id="4" name="Slide Number Placeholder 3"/>
          <p:cNvSpPr>
            <a:spLocks noGrp="1"/>
          </p:cNvSpPr>
          <p:nvPr>
            <p:ph type="sldNum" sz="quarter" idx="10"/>
          </p:nvPr>
        </p:nvSpPr>
        <p:spPr/>
        <p:txBody>
          <a:bodyPr/>
          <a:lstStyle/>
          <a:p>
            <a:fld id="{63B2D7EC-928D-0645-AAE8-498D7443D60E}" type="slidenum">
              <a:rPr lang="en-US" smtClean="0"/>
              <a:t>37</a:t>
            </a:fld>
            <a:endParaRPr lang="en-US"/>
          </a:p>
        </p:txBody>
      </p:sp>
    </p:spTree>
    <p:extLst>
      <p:ext uri="{BB962C8B-B14F-4D97-AF65-F5344CB8AC3E}">
        <p14:creationId xmlns:p14="http://schemas.microsoft.com/office/powerpoint/2010/main" val="19917617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Lens: an optical element that focuses light by means of refraction</a:t>
            </a:r>
          </a:p>
          <a:p>
            <a:pPr marL="171450" indent="-171450">
              <a:buFont typeface="Arial" charset="0"/>
              <a:buChar char="•"/>
            </a:pPr>
            <a:r>
              <a:rPr lang="en-US"/>
              <a:t>If a lens is properly placed and has proper size, it satisfies the following property: all rays of light that are emitted by a point P are refracted by the lens such that they converge to a single point P’ in the image plane. </a:t>
            </a:r>
          </a:p>
          <a:p>
            <a:pPr marL="171450" indent="-171450">
              <a:buFont typeface="Arial" charset="0"/>
              <a:buChar char="•"/>
            </a:pPr>
            <a:r>
              <a:rPr lang="en-US"/>
              <a:t>This is true for all the points on the object that are equidistant from the image plane. This no longer true for points that are closer or further to the image plane than P is (e.g. the green point in the figure). The corresponding projection into the image is now blurred or out of focus.</a:t>
            </a:r>
          </a:p>
        </p:txBody>
      </p:sp>
      <p:sp>
        <p:nvSpPr>
          <p:cNvPr id="4" name="Slide Number Placeholder 3"/>
          <p:cNvSpPr>
            <a:spLocks noGrp="1"/>
          </p:cNvSpPr>
          <p:nvPr>
            <p:ph type="sldNum" sz="quarter" idx="10"/>
          </p:nvPr>
        </p:nvSpPr>
        <p:spPr/>
        <p:txBody>
          <a:bodyPr/>
          <a:lstStyle/>
          <a:p>
            <a:fld id="{63B2D7EC-928D-0645-AAE8-498D7443D60E}" type="slidenum">
              <a:rPr lang="en-US" smtClean="0"/>
              <a:t>38</a:t>
            </a:fld>
            <a:endParaRPr lang="en-US"/>
          </a:p>
        </p:txBody>
      </p:sp>
    </p:spTree>
    <p:extLst>
      <p:ext uri="{BB962C8B-B14F-4D97-AF65-F5344CB8AC3E}">
        <p14:creationId xmlns:p14="http://schemas.microsoft.com/office/powerpoint/2010/main" val="654042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66E6B37-82F1-664C-8645-00DBA5903C13}"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9013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542090"/>
            <a:ext cx="2743200" cy="365125"/>
          </a:xfrm>
        </p:spPr>
        <p:txBody>
          <a:bodyPr/>
          <a:lstStyle/>
          <a:p>
            <a:fld id="{AA4F7A11-4FCF-2D4C-8CB3-EC7B75615900}" type="datetime1">
              <a:rPr lang="en-US" smtClean="0"/>
              <a:t>12/20/2025</a:t>
            </a:fld>
            <a:endParaRPr lang="en-US"/>
          </a:p>
        </p:txBody>
      </p:sp>
      <p:sp>
        <p:nvSpPr>
          <p:cNvPr id="5" name="Footer Placeholder 4"/>
          <p:cNvSpPr>
            <a:spLocks noGrp="1"/>
          </p:cNvSpPr>
          <p:nvPr>
            <p:ph type="ftr" sz="quarter" idx="11"/>
          </p:nvPr>
        </p:nvSpPr>
        <p:spPr>
          <a:xfrm>
            <a:off x="4038600" y="6542090"/>
            <a:ext cx="4114800" cy="365125"/>
          </a:xfrm>
        </p:spPr>
        <p:txBody>
          <a:bodyPr/>
          <a:lstStyle/>
          <a:p>
            <a:r>
              <a:rPr lang="hr-HR"/>
              <a:t>AA174A | Lecture 9</a:t>
            </a:r>
            <a:endParaRPr lang="en-US"/>
          </a:p>
        </p:txBody>
      </p:sp>
      <p:sp>
        <p:nvSpPr>
          <p:cNvPr id="6" name="Slide Number Placeholder 5"/>
          <p:cNvSpPr>
            <a:spLocks noGrp="1"/>
          </p:cNvSpPr>
          <p:nvPr>
            <p:ph type="sldNum" sz="quarter" idx="12"/>
          </p:nvPr>
        </p:nvSpPr>
        <p:spPr>
          <a:xfrm>
            <a:off x="8610600" y="6542090"/>
            <a:ext cx="2743200" cy="365125"/>
          </a:xfrm>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598045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CBC114D-60A6-694F-8C27-136107358509}" type="datetime1">
              <a:rPr lang="en-US" smtClean="0"/>
              <a:t>12/20/2025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r-HR"/>
              <a:t>AA174A | Lecture 9</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A1F273-EF2F-3941-BBF8-D365CB27DD6A}" type="slidenum">
              <a:rPr lang="en-US" smtClean="0"/>
              <a:t>‹#›</a:t>
            </a:fld>
            <a:endParaRPr lang="en-US"/>
          </a:p>
        </p:txBody>
      </p:sp>
    </p:spTree>
    <p:extLst>
      <p:ext uri="{BB962C8B-B14F-4D97-AF65-F5344CB8AC3E}">
        <p14:creationId xmlns:p14="http://schemas.microsoft.com/office/powerpoint/2010/main" val="1371964118"/>
      </p:ext>
    </p:ext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8.tiff"/><Relationship Id="rId3" Type="http://schemas.openxmlformats.org/officeDocument/2006/relationships/image" Target="../media/image3.emf"/><Relationship Id="rId7" Type="http://schemas.openxmlformats.org/officeDocument/2006/relationships/image" Target="../media/image7.tif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tiff"/><Relationship Id="rId5" Type="http://schemas.openxmlformats.org/officeDocument/2006/relationships/image" Target="../media/image5.tiff"/><Relationship Id="rId4" Type="http://schemas.openxmlformats.org/officeDocument/2006/relationships/image" Target="../media/image4.tiff"/></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2.tiff"/></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7.tiff"/><Relationship Id="rId5" Type="http://schemas.openxmlformats.org/officeDocument/2006/relationships/image" Target="../media/image16.tiff"/><Relationship Id="rId4" Type="http://schemas.openxmlformats.org/officeDocument/2006/relationships/image" Target="../media/image15.tiff"/></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tiff"/></Relationships>
</file>

<file path=ppt/slides/_rels/slide18.xml.rels><?xml version="1.0" encoding="UTF-8" standalone="yes"?>
<Relationships xmlns="http://schemas.openxmlformats.org/package/2006/relationships"><Relationship Id="rId3" Type="http://schemas.openxmlformats.org/officeDocument/2006/relationships/image" Target="../media/image23.tif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2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2.jpe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2.jpeg"/><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32.jpe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www.mathworks.com/discovery/image-registration.html"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40.png"/><Relationship Id="rId7" Type="http://schemas.openxmlformats.org/officeDocument/2006/relationships/hyperlink" Target="https://octomap.github.io/"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tanford.edu/~rqi/pointnet/" TargetMode="External"/><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4.png"/></Relationships>
</file>

<file path=ppt/slides/_rels/slide31.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32.jpe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7.tif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54.tiff"/><Relationship Id="rId3" Type="http://schemas.openxmlformats.org/officeDocument/2006/relationships/image" Target="../media/image49.png"/><Relationship Id="rId7" Type="http://schemas.openxmlformats.org/officeDocument/2006/relationships/image" Target="../media/image53.tiff"/><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52.tiff"/><Relationship Id="rId5" Type="http://schemas.openxmlformats.org/officeDocument/2006/relationships/image" Target="../media/image51.tiff"/><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59.tiff"/><Relationship Id="rId5" Type="http://schemas.openxmlformats.org/officeDocument/2006/relationships/image" Target="../media/image58.tiff"/><Relationship Id="rId4" Type="http://schemas.openxmlformats.org/officeDocument/2006/relationships/image" Target="../media/image57.png"/></Relationships>
</file>

<file path=ppt/slides/_rels/slide39.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400">
                <a:latin typeface="Calibri Light" panose="020F0302020204030204" pitchFamily="34" charset="0"/>
                <a:cs typeface="Calibri Light" panose="020F0302020204030204" pitchFamily="34" charset="0"/>
              </a:rPr>
              <a:t>Principles of Robot Autonomy I</a:t>
            </a:r>
            <a:endParaRPr lang="en-US" sz="5400"/>
          </a:p>
        </p:txBody>
      </p:sp>
      <p:sp>
        <p:nvSpPr>
          <p:cNvPr id="3" name="Subtitle 2"/>
          <p:cNvSpPr>
            <a:spLocks noGrp="1"/>
          </p:cNvSpPr>
          <p:nvPr>
            <p:ph type="subTitle" idx="1"/>
          </p:nvPr>
        </p:nvSpPr>
        <p:spPr/>
        <p:txBody>
          <a:bodyPr/>
          <a:lstStyle/>
          <a:p>
            <a:r>
              <a:rPr lang="en-US"/>
              <a:t>Robotic sensors and introduction to computer vision</a:t>
            </a:r>
          </a:p>
        </p:txBody>
      </p:sp>
      <p:pic>
        <p:nvPicPr>
          <p:cNvPr id="4" name="Picture 3"/>
          <p:cNvPicPr>
            <a:picLocks noChangeAspect="1"/>
          </p:cNvPicPr>
          <p:nvPr/>
        </p:nvPicPr>
        <p:blipFill>
          <a:blip r:embed="rId3"/>
          <a:stretch>
            <a:fillRect/>
          </a:stretch>
        </p:blipFill>
        <p:spPr>
          <a:xfrm>
            <a:off x="0" y="5687942"/>
            <a:ext cx="12192000" cy="1170058"/>
          </a:xfrm>
          <a:prstGeom prst="rect">
            <a:avLst/>
          </a:prstGeom>
        </p:spPr>
      </p:pic>
    </p:spTree>
    <p:extLst>
      <p:ext uri="{BB962C8B-B14F-4D97-AF65-F5344CB8AC3E}">
        <p14:creationId xmlns:p14="http://schemas.microsoft.com/office/powerpoint/2010/main" val="1672827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290B0-EB37-BE5C-04E7-4EA8696DA5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C9C11F-9CF3-5417-5DC4-4E4B8E153C8A}"/>
              </a:ext>
            </a:extLst>
          </p:cNvPr>
          <p:cNvSpPr>
            <a:spLocks noGrp="1"/>
          </p:cNvSpPr>
          <p:nvPr>
            <p:ph type="title"/>
          </p:nvPr>
        </p:nvSpPr>
        <p:spPr/>
        <p:txBody>
          <a:bodyPr/>
          <a:lstStyle/>
          <a:p>
            <a:r>
              <a:rPr lang="en-US">
                <a:ea typeface="Calibri Light"/>
                <a:cs typeface="Calibri Light"/>
              </a:rPr>
              <a:t>Attendance Form</a:t>
            </a:r>
            <a:endParaRPr lang="en-US"/>
          </a:p>
        </p:txBody>
      </p:sp>
      <p:pic>
        <p:nvPicPr>
          <p:cNvPr id="7" name="Content Placeholder 6" descr="A qr code with black squares&#10;&#10;AI-generated content may be incorrect.">
            <a:extLst>
              <a:ext uri="{FF2B5EF4-FFF2-40B4-BE49-F238E27FC236}">
                <a16:creationId xmlns:a16="http://schemas.microsoft.com/office/drawing/2014/main" id="{6FC79A78-5555-5B36-D187-31F9DBD9AC04}"/>
              </a:ext>
            </a:extLst>
          </p:cNvPr>
          <p:cNvPicPr>
            <a:picLocks noGrp="1" noChangeAspect="1"/>
          </p:cNvPicPr>
          <p:nvPr>
            <p:ph idx="1"/>
          </p:nvPr>
        </p:nvPicPr>
        <p:blipFill>
          <a:blip r:embed="rId2"/>
          <a:stretch>
            <a:fillRect/>
          </a:stretch>
        </p:blipFill>
        <p:spPr>
          <a:xfrm>
            <a:off x="4038600" y="1943894"/>
            <a:ext cx="4114800" cy="4114800"/>
          </a:xfrm>
          <a:prstGeom prst="rect">
            <a:avLst/>
          </a:prstGeom>
        </p:spPr>
      </p:pic>
      <p:sp>
        <p:nvSpPr>
          <p:cNvPr id="4" name="Date Placeholder 3">
            <a:extLst>
              <a:ext uri="{FF2B5EF4-FFF2-40B4-BE49-F238E27FC236}">
                <a16:creationId xmlns:a16="http://schemas.microsoft.com/office/drawing/2014/main" id="{25403DC6-C8A8-2ACD-BAD1-55817AEB56A5}"/>
              </a:ext>
            </a:extLst>
          </p:cNvPr>
          <p:cNvSpPr>
            <a:spLocks noGrp="1"/>
          </p:cNvSpPr>
          <p:nvPr>
            <p:ph type="dt" sz="half" idx="10"/>
          </p:nvPr>
        </p:nvSpPr>
        <p:spPr/>
        <p:txBody>
          <a:bodyPr/>
          <a:lstStyle/>
          <a:p>
            <a:fld id="{48F29884-311F-F04F-9A2B-B4DD59FDDA44}" type="datetime1">
              <a:rPr lang="en-US" smtClean="0"/>
              <a:t>12/20/2025</a:t>
            </a:fld>
            <a:endParaRPr lang="en-US"/>
          </a:p>
        </p:txBody>
      </p:sp>
      <p:sp>
        <p:nvSpPr>
          <p:cNvPr id="5" name="Footer Placeholder 4">
            <a:extLst>
              <a:ext uri="{FF2B5EF4-FFF2-40B4-BE49-F238E27FC236}">
                <a16:creationId xmlns:a16="http://schemas.microsoft.com/office/drawing/2014/main" id="{05195E3F-D2F3-70F1-92FC-D72CF33D9AF4}"/>
              </a:ext>
            </a:extLst>
          </p:cNvPr>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3374591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
        <p:cNvGrpSpPr/>
        <p:nvPr/>
      </p:nvGrpSpPr>
      <p:grpSpPr>
        <a:xfrm>
          <a:off x="0" y="0"/>
          <a:ext cx="0" cy="0"/>
          <a:chOff x="0" y="0"/>
          <a:chExt cx="0" cy="0"/>
        </a:xfrm>
      </p:grpSpPr>
      <p:sp>
        <p:nvSpPr>
          <p:cNvPr id="42" name="Google Shape;42;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4400"/>
              <a:buFont typeface="Calibri"/>
              <a:buNone/>
            </a:pPr>
            <a:r>
              <a:rPr lang="en-US"/>
              <a:t>Agenda</a:t>
            </a:r>
            <a:endParaRPr/>
          </a:p>
        </p:txBody>
      </p:sp>
      <p:sp>
        <p:nvSpPr>
          <p:cNvPr id="43" name="Google Shape;43;p5"/>
          <p:cNvSpPr txBox="1">
            <a:spLocks noGrp="1"/>
          </p:cNvSpPr>
          <p:nvPr>
            <p:ph type="dt" idx="10"/>
          </p:nvPr>
        </p:nvSpPr>
        <p:spPr>
          <a:xfrm>
            <a:off x="838200" y="6542090"/>
            <a:ext cx="27432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133AEA66-A0EB-8A4A-A91F-7B1453549737}" type="datetime1">
              <a:rPr lang="en-US" smtClean="0"/>
              <a:t>12/20/2025</a:t>
            </a:fld>
            <a:endParaRPr/>
          </a:p>
        </p:txBody>
      </p:sp>
      <p:sp>
        <p:nvSpPr>
          <p:cNvPr id="44" name="Google Shape;44;p5"/>
          <p:cNvSpPr txBox="1">
            <a:spLocks noGrp="1"/>
          </p:cNvSpPr>
          <p:nvPr>
            <p:ph type="ftr" idx="11"/>
          </p:nvPr>
        </p:nvSpPr>
        <p:spPr>
          <a:xfrm>
            <a:off x="4038600" y="654209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AA174A | Lecture 9</a:t>
            </a:r>
            <a:endParaRPr/>
          </a:p>
        </p:txBody>
      </p:sp>
      <p:sp>
        <p:nvSpPr>
          <p:cNvPr id="46" name="Google Shape;46;p5"/>
          <p:cNvSpPr txBox="1">
            <a:spLocks noGrp="1"/>
          </p:cNvSpPr>
          <p:nvPr>
            <p:ph type="body" idx="1"/>
          </p:nvPr>
        </p:nvSpPr>
        <p:spPr>
          <a:xfrm>
            <a:off x="838200" y="1690688"/>
            <a:ext cx="10829081" cy="3876735"/>
          </a:xfrm>
          <a:prstGeom prst="rect">
            <a:avLst/>
          </a:prstGeom>
          <a:noFill/>
          <a:ln>
            <a:noFill/>
          </a:ln>
        </p:spPr>
        <p:txBody>
          <a:bodyPr spcFirstLastPara="1" wrap="square" lIns="91425" tIns="45700" rIns="91425" bIns="45700" anchor="t" anchorCtr="0">
            <a:noAutofit/>
          </a:bodyPr>
          <a:lstStyle/>
          <a:p>
            <a:pPr indent="-457200">
              <a:spcBef>
                <a:spcPts val="0"/>
              </a:spcBef>
              <a:buSzPts val="2800"/>
            </a:pPr>
            <a:r>
              <a:rPr lang="en-US" dirty="0">
                <a:latin typeface="Source Sans Pro" panose="020B0503030403020204" pitchFamily="34" charset="0"/>
                <a:ea typeface="Source Sans Pro" panose="020B0503030403020204" pitchFamily="34" charset="0"/>
              </a:rPr>
              <a:t>Agenda</a:t>
            </a:r>
            <a:endParaRPr dirty="0">
              <a:latin typeface="Source Sans Pro" panose="020B0503030403020204" pitchFamily="34" charset="0"/>
              <a:ea typeface="Source Sans Pro" panose="020B0503030403020204" pitchFamily="34" charset="0"/>
            </a:endParaRPr>
          </a:p>
          <a:p>
            <a:pPr lvl="1">
              <a:buClr>
                <a:schemeClr val="dk1"/>
              </a:buClr>
              <a:buSzPts val="2400"/>
            </a:pPr>
            <a:r>
              <a:rPr lang="en-US" dirty="0">
                <a:latin typeface="Source Sans Pro" panose="020B0503030403020204" pitchFamily="34" charset="0"/>
                <a:ea typeface="Source Sans Pro" panose="020B0503030403020204" pitchFamily="34" charset="0"/>
              </a:rPr>
              <a:t>Overview of key </a:t>
            </a:r>
            <a:r>
              <a:rPr lang="en-US" dirty="0"/>
              <a:t>performance characteristics for robotic sensors</a:t>
            </a:r>
          </a:p>
          <a:p>
            <a:pPr lvl="1">
              <a:buClr>
                <a:schemeClr val="dk1"/>
              </a:buClr>
              <a:buSzPts val="2400"/>
            </a:pPr>
            <a:r>
              <a:rPr lang="en-US" dirty="0"/>
              <a:t>Overview of main sensors for robot autonomy, e.g. proprioceptive / exteroceptive, passive / active </a:t>
            </a:r>
          </a:p>
          <a:p>
            <a:pPr lvl="1">
              <a:buClr>
                <a:schemeClr val="dk1"/>
              </a:buClr>
              <a:buSzPts val="2400"/>
            </a:pPr>
            <a:r>
              <a:rPr lang="en-US" dirty="0"/>
              <a:t>Intro to computer vision </a:t>
            </a:r>
            <a:endParaRPr lang="en-US" dirty="0">
              <a:latin typeface="Source Sans Pro" panose="020B0503030403020204" pitchFamily="34" charset="0"/>
              <a:ea typeface="Source Sans Pro" panose="020B0503030403020204" pitchFamily="34" charset="0"/>
            </a:endParaRPr>
          </a:p>
          <a:p>
            <a:pPr marL="685800" lvl="1" indent="-228600" algn="l" rtl="0">
              <a:lnSpc>
                <a:spcPct val="90000"/>
              </a:lnSpc>
              <a:spcBef>
                <a:spcPts val="500"/>
              </a:spcBef>
              <a:spcAft>
                <a:spcPts val="0"/>
              </a:spcAft>
              <a:buClr>
                <a:schemeClr val="dk1"/>
              </a:buClr>
              <a:buSzPts val="2400"/>
              <a:buChar char="•"/>
            </a:pPr>
            <a:endParaRPr dirty="0">
              <a:latin typeface="Source Sans Pro" panose="020B0503030403020204" pitchFamily="34" charset="0"/>
              <a:ea typeface="Source Sans Pro" panose="020B0503030403020204" pitchFamily="34" charset="0"/>
            </a:endParaRPr>
          </a:p>
          <a:p>
            <a:pPr indent="-457200">
              <a:buSzPts val="2800"/>
            </a:pPr>
            <a:r>
              <a:rPr lang="en-US" dirty="0">
                <a:latin typeface="Source Sans Pro" panose="020B0503030403020204" pitchFamily="34" charset="0"/>
                <a:ea typeface="Source Sans Pro" panose="020B0503030403020204" pitchFamily="34" charset="0"/>
              </a:rPr>
              <a:t>Readings:</a:t>
            </a:r>
            <a:endParaRPr lang="en-US" sz="2400" dirty="0">
              <a:latin typeface="Source Sans Pro" panose="020B0503030403020204" pitchFamily="34" charset="0"/>
              <a:ea typeface="Source Sans Pro" panose="020B0503030403020204" pitchFamily="34" charset="0"/>
            </a:endParaRPr>
          </a:p>
          <a:p>
            <a:pPr lvl="1"/>
            <a:r>
              <a:rPr lang="en-US"/>
              <a:t>Chapter 6, </a:t>
            </a:r>
            <a:r>
              <a:rPr lang="en-US" dirty="0"/>
              <a:t>sections 6.1 – 6.4 in D. </a:t>
            </a:r>
            <a:r>
              <a:rPr lang="en-US" dirty="0" err="1"/>
              <a:t>Gammelli</a:t>
            </a:r>
            <a:r>
              <a:rPr lang="en-US" dirty="0"/>
              <a:t>, J. Lorenzetti, K. Luo, G. </a:t>
            </a:r>
            <a:r>
              <a:rPr lang="en-US" dirty="0" err="1"/>
              <a:t>Zardini</a:t>
            </a:r>
            <a:r>
              <a:rPr lang="en-US" dirty="0"/>
              <a:t>, M. Pavone. </a:t>
            </a:r>
            <a:r>
              <a:rPr lang="en-US" i="1" dirty="0"/>
              <a:t>Principles of Robot Autonomy</a:t>
            </a:r>
            <a:r>
              <a:rPr lang="en-US" dirty="0"/>
              <a:t>. 2026.</a:t>
            </a:r>
          </a:p>
        </p:txBody>
      </p:sp>
    </p:spTree>
    <p:extLst>
      <p:ext uri="{BB962C8B-B14F-4D97-AF65-F5344CB8AC3E}">
        <p14:creationId xmlns:p14="http://schemas.microsoft.com/office/powerpoint/2010/main" val="40598484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a:t>Sensors for mobile robots</a:t>
            </a:r>
          </a:p>
        </p:txBody>
      </p:sp>
      <p:sp>
        <p:nvSpPr>
          <p:cNvPr id="4" name="Date Placeholder 3"/>
          <p:cNvSpPr>
            <a:spLocks noGrp="1"/>
          </p:cNvSpPr>
          <p:nvPr>
            <p:ph type="dt" sz="half" idx="10"/>
          </p:nvPr>
        </p:nvSpPr>
        <p:spPr>
          <a:xfrm>
            <a:off x="838200" y="6542090"/>
            <a:ext cx="2743200" cy="365125"/>
          </a:xfrm>
        </p:spPr>
        <p:txBody>
          <a:bodyPr/>
          <a:lstStyle/>
          <a:p>
            <a:fld id="{D3135FED-B44F-C749-9762-D79B5FD47FBA}" type="datetime1">
              <a:rPr lang="en-US" smtClean="0"/>
              <a:t>12/20/2025</a:t>
            </a:fld>
            <a:endParaRPr lang="en-US"/>
          </a:p>
        </p:txBody>
      </p:sp>
      <p:sp>
        <p:nvSpPr>
          <p:cNvPr id="5" name="Footer Placeholder 4"/>
          <p:cNvSpPr>
            <a:spLocks noGrp="1"/>
          </p:cNvSpPr>
          <p:nvPr>
            <p:ph type="ftr" sz="quarter" idx="11"/>
          </p:nvPr>
        </p:nvSpPr>
        <p:spPr>
          <a:xfrm>
            <a:off x="4038600" y="6542090"/>
            <a:ext cx="4114800" cy="365125"/>
          </a:xfrm>
        </p:spPr>
        <p:txBody>
          <a:bodyPr/>
          <a:lstStyle/>
          <a:p>
            <a:r>
              <a:rPr lang="hr-HR"/>
              <a:t>AA174A | Lecture 9</a:t>
            </a:r>
            <a:endParaRPr lang="en-US"/>
          </a:p>
        </p:txBody>
      </p:sp>
      <p:pic>
        <p:nvPicPr>
          <p:cNvPr id="7" name="Picture 6"/>
          <p:cNvPicPr>
            <a:picLocks noChangeAspect="1"/>
          </p:cNvPicPr>
          <p:nvPr/>
        </p:nvPicPr>
        <p:blipFill>
          <a:blip r:embed="rId3"/>
          <a:stretch>
            <a:fillRect/>
          </a:stretch>
        </p:blipFill>
        <p:spPr>
          <a:xfrm>
            <a:off x="1354639" y="1485900"/>
            <a:ext cx="9482721" cy="4736257"/>
          </a:xfrm>
          <a:prstGeom prst="rect">
            <a:avLst/>
          </a:prstGeom>
        </p:spPr>
      </p:pic>
      <p:sp>
        <p:nvSpPr>
          <p:cNvPr id="8" name="Rectangle 7"/>
          <p:cNvSpPr/>
          <p:nvPr/>
        </p:nvSpPr>
        <p:spPr>
          <a:xfrm>
            <a:off x="2897945" y="4487594"/>
            <a:ext cx="1477107" cy="703384"/>
          </a:xfrm>
          <a:prstGeom prst="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p:cNvCxnSpPr/>
          <p:nvPr/>
        </p:nvCxnSpPr>
        <p:spPr>
          <a:xfrm flipH="1" flipV="1">
            <a:off x="2058058" y="4698214"/>
            <a:ext cx="839887" cy="397"/>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Picture 16"/>
          <p:cNvPicPr>
            <a:picLocks noChangeAspect="1"/>
          </p:cNvPicPr>
          <p:nvPr/>
        </p:nvPicPr>
        <p:blipFill>
          <a:blip r:embed="rId4"/>
          <a:stretch>
            <a:fillRect/>
          </a:stretch>
        </p:blipFill>
        <p:spPr>
          <a:xfrm>
            <a:off x="186958" y="3648198"/>
            <a:ext cx="936382" cy="936382"/>
          </a:xfrm>
          <a:prstGeom prst="rect">
            <a:avLst/>
          </a:prstGeom>
        </p:spPr>
      </p:pic>
      <p:pic>
        <p:nvPicPr>
          <p:cNvPr id="18" name="Picture 17"/>
          <p:cNvPicPr>
            <a:picLocks noChangeAspect="1"/>
          </p:cNvPicPr>
          <p:nvPr/>
        </p:nvPicPr>
        <p:blipFill>
          <a:blip r:embed="rId5"/>
          <a:stretch>
            <a:fillRect/>
          </a:stretch>
        </p:blipFill>
        <p:spPr>
          <a:xfrm>
            <a:off x="1252025" y="5335708"/>
            <a:ext cx="1612067" cy="534593"/>
          </a:xfrm>
          <a:prstGeom prst="rect">
            <a:avLst/>
          </a:prstGeom>
        </p:spPr>
      </p:pic>
      <p:pic>
        <p:nvPicPr>
          <p:cNvPr id="19" name="Picture 18"/>
          <p:cNvPicPr>
            <a:picLocks noChangeAspect="1"/>
          </p:cNvPicPr>
          <p:nvPr/>
        </p:nvPicPr>
        <p:blipFill>
          <a:blip r:embed="rId6"/>
          <a:stretch>
            <a:fillRect/>
          </a:stretch>
        </p:blipFill>
        <p:spPr>
          <a:xfrm>
            <a:off x="874261" y="4333418"/>
            <a:ext cx="1146283" cy="821863"/>
          </a:xfrm>
          <a:prstGeom prst="rect">
            <a:avLst/>
          </a:prstGeom>
        </p:spPr>
      </p:pic>
      <p:pic>
        <p:nvPicPr>
          <p:cNvPr id="20" name="Picture 19"/>
          <p:cNvPicPr>
            <a:picLocks noChangeAspect="1"/>
          </p:cNvPicPr>
          <p:nvPr/>
        </p:nvPicPr>
        <p:blipFill>
          <a:blip r:embed="rId7"/>
          <a:stretch>
            <a:fillRect/>
          </a:stretch>
        </p:blipFill>
        <p:spPr>
          <a:xfrm>
            <a:off x="0" y="5050070"/>
            <a:ext cx="1254589" cy="1254589"/>
          </a:xfrm>
          <a:prstGeom prst="rect">
            <a:avLst/>
          </a:prstGeom>
        </p:spPr>
      </p:pic>
      <p:pic>
        <p:nvPicPr>
          <p:cNvPr id="13" name="Picture 12"/>
          <p:cNvPicPr>
            <a:picLocks noChangeAspect="1"/>
          </p:cNvPicPr>
          <p:nvPr/>
        </p:nvPicPr>
        <p:blipFill>
          <a:blip r:embed="rId8"/>
          <a:stretch>
            <a:fillRect/>
          </a:stretch>
        </p:blipFill>
        <p:spPr>
          <a:xfrm>
            <a:off x="1564826" y="5900562"/>
            <a:ext cx="2016574" cy="837184"/>
          </a:xfrm>
          <a:prstGeom prst="rect">
            <a:avLst/>
          </a:prstGeom>
        </p:spPr>
      </p:pic>
    </p:spTree>
    <p:extLst>
      <p:ext uri="{BB962C8B-B14F-4D97-AF65-F5344CB8AC3E}">
        <p14:creationId xmlns:p14="http://schemas.microsoft.com/office/powerpoint/2010/main" val="1199101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0764007-09A9-6D44-9638-67DF4250F1D4}"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1026" name="Picture 2" descr="Thumbnail">
            <a:extLst>
              <a:ext uri="{FF2B5EF4-FFF2-40B4-BE49-F238E27FC236}">
                <a16:creationId xmlns:a16="http://schemas.microsoft.com/office/drawing/2014/main" id="{7669B32A-45ED-A348-8267-2225AADE59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838200" y="214999"/>
            <a:ext cx="10515600" cy="1325563"/>
          </a:xfrm>
        </p:spPr>
        <p:txBody>
          <a:bodyPr/>
          <a:lstStyle/>
          <a:p>
            <a:r>
              <a:rPr lang="en-US">
                <a:solidFill>
                  <a:schemeClr val="bg1"/>
                </a:solidFill>
              </a:rPr>
              <a:t>Example: self-driving cars</a:t>
            </a:r>
          </a:p>
        </p:txBody>
      </p:sp>
    </p:spTree>
    <p:extLst>
      <p:ext uri="{BB962C8B-B14F-4D97-AF65-F5344CB8AC3E}">
        <p14:creationId xmlns:p14="http://schemas.microsoft.com/office/powerpoint/2010/main" val="1021181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2369E7DC-5FBE-7847-B302-B45E901C24FA}"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waymo_perception" descr="waymo_perception">
            <a:hlinkClick r:id="" action="ppaction://media"/>
            <a:extLst>
              <a:ext uri="{FF2B5EF4-FFF2-40B4-BE49-F238E27FC236}">
                <a16:creationId xmlns:a16="http://schemas.microsoft.com/office/drawing/2014/main" id="{620D8321-F771-D642-9F60-91B51BEB8FE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09600" y="0"/>
            <a:ext cx="10972800" cy="6858000"/>
          </a:xfrm>
          <a:prstGeom prst="rect">
            <a:avLst/>
          </a:prstGeom>
        </p:spPr>
      </p:pic>
      <p:sp>
        <p:nvSpPr>
          <p:cNvPr id="11" name="Rectangle 10">
            <a:extLst>
              <a:ext uri="{FF2B5EF4-FFF2-40B4-BE49-F238E27FC236}">
                <a16:creationId xmlns:a16="http://schemas.microsoft.com/office/drawing/2014/main" id="{7BD4A1E9-D3BA-C443-8B2E-0C2839614C96}"/>
              </a:ext>
            </a:extLst>
          </p:cNvPr>
          <p:cNvSpPr/>
          <p:nvPr/>
        </p:nvSpPr>
        <p:spPr>
          <a:xfrm>
            <a:off x="0" y="0"/>
            <a:ext cx="12192000" cy="10688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9771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77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Classification of sensors</a:t>
            </a:r>
          </a:p>
        </p:txBody>
      </p:sp>
      <p:sp>
        <p:nvSpPr>
          <p:cNvPr id="3" name="Content Placeholder 2"/>
          <p:cNvSpPr>
            <a:spLocks noGrp="1"/>
          </p:cNvSpPr>
          <p:nvPr>
            <p:ph idx="1"/>
          </p:nvPr>
        </p:nvSpPr>
        <p:spPr>
          <a:xfrm>
            <a:off x="838200" y="1825625"/>
            <a:ext cx="10622280" cy="4716465"/>
          </a:xfrm>
        </p:spPr>
        <p:txBody>
          <a:bodyPr>
            <a:normAutofit lnSpcReduction="10000"/>
          </a:bodyPr>
          <a:lstStyle/>
          <a:p>
            <a:r>
              <a:rPr lang="en-US">
                <a:solidFill>
                  <a:srgbClr val="C00000"/>
                </a:solidFill>
              </a:rPr>
              <a:t>Proprioceptive</a:t>
            </a:r>
            <a:r>
              <a:rPr lang="en-US"/>
              <a:t>: measure values internal to the robot</a:t>
            </a:r>
          </a:p>
          <a:p>
            <a:pPr lvl="1"/>
            <a:r>
              <a:rPr lang="en-US"/>
              <a:t>E.g.: motor speed, robot arm joint angles, and battery voltage</a:t>
            </a:r>
          </a:p>
          <a:p>
            <a:r>
              <a:rPr lang="en-US">
                <a:solidFill>
                  <a:srgbClr val="C00000"/>
                </a:solidFill>
              </a:rPr>
              <a:t>Exteroceptive</a:t>
            </a:r>
            <a:r>
              <a:rPr lang="en-US"/>
              <a:t>: acquire information from the robot’s environment</a:t>
            </a:r>
          </a:p>
          <a:p>
            <a:pPr lvl="1"/>
            <a:r>
              <a:rPr lang="en-US"/>
              <a:t>E.g.: distance measurements and light intensity  </a:t>
            </a:r>
          </a:p>
          <a:p>
            <a:pPr lvl="1"/>
            <a:endParaRPr lang="en-US"/>
          </a:p>
          <a:p>
            <a:r>
              <a:rPr lang="en-US">
                <a:solidFill>
                  <a:srgbClr val="C00000"/>
                </a:solidFill>
              </a:rPr>
              <a:t>Passive</a:t>
            </a:r>
            <a:r>
              <a:rPr lang="en-US"/>
              <a:t>: measure ambient environmental energy entering the sensor</a:t>
            </a:r>
          </a:p>
          <a:p>
            <a:pPr lvl="1"/>
            <a:r>
              <a:rPr lang="en-US"/>
              <a:t>Challenge: performance heavily depends on the environment</a:t>
            </a:r>
          </a:p>
          <a:p>
            <a:pPr lvl="1"/>
            <a:r>
              <a:rPr lang="en-US"/>
              <a:t>E.g.: temperature probes and cameras</a:t>
            </a:r>
          </a:p>
          <a:p>
            <a:r>
              <a:rPr lang="en-US">
                <a:solidFill>
                  <a:srgbClr val="C00000"/>
                </a:solidFill>
              </a:rPr>
              <a:t>Active</a:t>
            </a:r>
            <a:r>
              <a:rPr lang="en-US"/>
              <a:t>: emit energy into the environment and measure the reaction</a:t>
            </a:r>
          </a:p>
          <a:p>
            <a:pPr lvl="1"/>
            <a:r>
              <a:rPr lang="en-US"/>
              <a:t>Challenge: might affect the environment</a:t>
            </a:r>
          </a:p>
          <a:p>
            <a:pPr lvl="1"/>
            <a:r>
              <a:rPr lang="en-US"/>
              <a:t>E.g.: ultrasonic sensors and laser rangefinders</a:t>
            </a:r>
          </a:p>
        </p:txBody>
      </p:sp>
      <p:sp>
        <p:nvSpPr>
          <p:cNvPr id="4" name="Date Placeholder 3"/>
          <p:cNvSpPr>
            <a:spLocks noGrp="1"/>
          </p:cNvSpPr>
          <p:nvPr>
            <p:ph type="dt" sz="half" idx="10"/>
          </p:nvPr>
        </p:nvSpPr>
        <p:spPr/>
        <p:txBody>
          <a:bodyPr/>
          <a:lstStyle/>
          <a:p>
            <a:fld id="{C183730A-A5C6-BD43-BF81-306486052D8A}"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10129854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Sensor performance: design specs</a:t>
            </a:r>
          </a:p>
        </p:txBody>
      </p:sp>
      <p:sp>
        <p:nvSpPr>
          <p:cNvPr id="3" name="Content Placeholder 2"/>
          <p:cNvSpPr>
            <a:spLocks noGrp="1"/>
          </p:cNvSpPr>
          <p:nvPr>
            <p:ph idx="1"/>
          </p:nvPr>
        </p:nvSpPr>
        <p:spPr>
          <a:xfrm>
            <a:off x="838200" y="1825624"/>
            <a:ext cx="10515600" cy="5032375"/>
          </a:xfrm>
        </p:spPr>
        <p:txBody>
          <a:bodyPr>
            <a:normAutofit/>
          </a:bodyPr>
          <a:lstStyle/>
          <a:p>
            <a:r>
              <a:rPr lang="en-US">
                <a:solidFill>
                  <a:srgbClr val="C00000"/>
                </a:solidFill>
              </a:rPr>
              <a:t>Dynamic range</a:t>
            </a:r>
            <a:r>
              <a:rPr lang="en-US"/>
              <a:t>: ratio between the maximum and minimum input values (for normal sensor operation)</a:t>
            </a:r>
          </a:p>
          <a:p>
            <a:endParaRPr lang="en-US" sz="1000"/>
          </a:p>
          <a:p>
            <a:r>
              <a:rPr lang="en-US">
                <a:solidFill>
                  <a:srgbClr val="C00000"/>
                </a:solidFill>
              </a:rPr>
              <a:t>Resolution</a:t>
            </a:r>
            <a:r>
              <a:rPr lang="en-US"/>
              <a:t>: minimum difference between two values that can be detected by a sensor</a:t>
            </a:r>
          </a:p>
          <a:p>
            <a:endParaRPr lang="en-US" sz="1000"/>
          </a:p>
          <a:p>
            <a:r>
              <a:rPr lang="en-US">
                <a:solidFill>
                  <a:srgbClr val="C00000"/>
                </a:solidFill>
              </a:rPr>
              <a:t>Linearity</a:t>
            </a:r>
            <a:r>
              <a:rPr lang="en-US"/>
              <a:t>: whether or not the sensor’s output response depends linearly on the input </a:t>
            </a:r>
          </a:p>
          <a:p>
            <a:endParaRPr lang="en-US" sz="1000"/>
          </a:p>
          <a:p>
            <a:r>
              <a:rPr lang="en-US">
                <a:solidFill>
                  <a:srgbClr val="C00000"/>
                </a:solidFill>
              </a:rPr>
              <a:t>Bandwidth or frequency</a:t>
            </a:r>
            <a:r>
              <a:rPr lang="en-US"/>
              <a:t>: speed at which a sensor provides readings (in Hertz) </a:t>
            </a:r>
          </a:p>
        </p:txBody>
      </p:sp>
      <p:sp>
        <p:nvSpPr>
          <p:cNvPr id="4" name="Date Placeholder 3"/>
          <p:cNvSpPr>
            <a:spLocks noGrp="1"/>
          </p:cNvSpPr>
          <p:nvPr>
            <p:ph type="dt" sz="half" idx="10"/>
          </p:nvPr>
        </p:nvSpPr>
        <p:spPr/>
        <p:txBody>
          <a:bodyPr/>
          <a:lstStyle/>
          <a:p>
            <a:fld id="{A2E82A19-28B1-9646-9891-6F4F674BD7B1}"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1863040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Sensor performance: in situ specs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46091"/>
                <a:ext cx="10515600" cy="5377034"/>
              </a:xfrm>
            </p:spPr>
            <p:txBody>
              <a:bodyPr>
                <a:normAutofit/>
              </a:bodyPr>
              <a:lstStyle/>
              <a:p>
                <a:r>
                  <a:rPr lang="en-US">
                    <a:solidFill>
                      <a:srgbClr val="C00000"/>
                    </a:solidFill>
                  </a:rPr>
                  <a:t>Sensitivity</a:t>
                </a:r>
                <a:r>
                  <a:rPr lang="en-US"/>
                  <a:t>: ratio of output change to input change</a:t>
                </a:r>
              </a:p>
              <a:p>
                <a:endParaRPr lang="en-US" sz="1000"/>
              </a:p>
              <a:p>
                <a:r>
                  <a:rPr lang="en-US">
                    <a:solidFill>
                      <a:srgbClr val="C00000"/>
                    </a:solidFill>
                  </a:rPr>
                  <a:t>Cross-sensitivity</a:t>
                </a:r>
                <a:r>
                  <a:rPr lang="en-US"/>
                  <a:t>: sensitivity to quantities that are unrelated to the target quantity</a:t>
                </a:r>
              </a:p>
              <a:p>
                <a:endParaRPr lang="en-US" sz="1000"/>
              </a:p>
              <a:p>
                <a:r>
                  <a:rPr lang="en-US">
                    <a:solidFill>
                      <a:srgbClr val="C00000"/>
                    </a:solidFill>
                  </a:rPr>
                  <a:t>Error</a:t>
                </a:r>
                <a:r>
                  <a:rPr lang="en-US"/>
                  <a:t>: difference between the sensor output </a:t>
                </a:r>
                <a:r>
                  <a:rPr lang="en-US" i="1"/>
                  <a:t>m </a:t>
                </a:r>
                <a:r>
                  <a:rPr lang="en-US"/>
                  <a:t>and the true value </a:t>
                </a:r>
                <a:r>
                  <a:rPr lang="en-US" i="1"/>
                  <a:t>v</a:t>
                </a:r>
              </a:p>
              <a:p>
                <a:pPr marL="0" indent="0" algn="ctr">
                  <a:buNone/>
                </a:pPr>
                <a14:m>
                  <m:oMathPara xmlns:m="http://schemas.openxmlformats.org/officeDocument/2006/math">
                    <m:oMathParaPr>
                      <m:jc m:val="centerGroup"/>
                    </m:oMathParaPr>
                    <m:oMath xmlns:m="http://schemas.openxmlformats.org/officeDocument/2006/math">
                      <m:r>
                        <m:rPr>
                          <m:sty m:val="p"/>
                        </m:rPr>
                        <a:rPr lang="en-US" i="1">
                          <a:latin typeface="Cambria Math" charset="0"/>
                        </a:rPr>
                        <m:t>e</m:t>
                      </m:r>
                      <m:r>
                        <m:rPr>
                          <m:nor/>
                        </m:rPr>
                        <a:rPr lang="en-US" b="0" i="0" smtClean="0">
                          <a:latin typeface="Cambria Math" charset="0"/>
                        </a:rPr>
                        <m:t>rror</m:t>
                      </m:r>
                      <m:r>
                        <a:rPr lang="en-US" b="0" i="1" smtClean="0">
                          <a:latin typeface="Cambria Math" charset="0"/>
                        </a:rPr>
                        <m:t>≔</m:t>
                      </m:r>
                      <m:r>
                        <a:rPr lang="en-US" b="0" i="1" smtClean="0">
                          <a:latin typeface="Cambria Math" charset="0"/>
                        </a:rPr>
                        <m:t>𝑚</m:t>
                      </m:r>
                      <m:r>
                        <a:rPr lang="en-US" b="0" i="1" smtClean="0">
                          <a:latin typeface="Cambria Math" charset="0"/>
                        </a:rPr>
                        <m:t>−</m:t>
                      </m:r>
                      <m:r>
                        <a:rPr lang="en-US" b="0" i="1" smtClean="0">
                          <a:latin typeface="Cambria Math" charset="0"/>
                        </a:rPr>
                        <m:t>𝑣</m:t>
                      </m:r>
                    </m:oMath>
                  </m:oMathPara>
                </a14:m>
                <a:endParaRPr lang="en-US" i="1"/>
              </a:p>
              <a:p>
                <a:pPr marL="0" indent="0" algn="ctr">
                  <a:buNone/>
                </a:pPr>
                <a:endParaRPr lang="en-US" sz="1100" i="1"/>
              </a:p>
              <a:p>
                <a:r>
                  <a:rPr lang="en-US">
                    <a:solidFill>
                      <a:srgbClr val="C00000"/>
                    </a:solidFill>
                  </a:rPr>
                  <a:t>Accuracy</a:t>
                </a:r>
                <a:r>
                  <a:rPr lang="en-US"/>
                  <a:t>: degree of conformity between the sensor’s measurement and the true value</a:t>
                </a:r>
              </a:p>
              <a:p>
                <a:pPr marL="0" indent="0" algn="ctr">
                  <a:buNone/>
                </a:pPr>
                <a14:m>
                  <m:oMathPara xmlns:m="http://schemas.openxmlformats.org/officeDocument/2006/math">
                    <m:oMathParaPr>
                      <m:jc m:val="centerGroup"/>
                    </m:oMathParaPr>
                    <m:oMath xmlns:m="http://schemas.openxmlformats.org/officeDocument/2006/math">
                      <m:r>
                        <m:rPr>
                          <m:nor/>
                        </m:rPr>
                        <a:rPr lang="en-US">
                          <a:latin typeface="Cambria Math" charset="0"/>
                        </a:rPr>
                        <m:t>a</m:t>
                      </m:r>
                      <m:r>
                        <m:rPr>
                          <m:nor/>
                        </m:rPr>
                        <a:rPr lang="en-US" b="0" i="0" smtClean="0">
                          <a:latin typeface="Cambria Math" charset="0"/>
                        </a:rPr>
                        <m:t>ccuracy</m:t>
                      </m:r>
                      <m:r>
                        <a:rPr lang="en-US" i="1">
                          <a:latin typeface="Cambria Math" charset="0"/>
                        </a:rPr>
                        <m:t>≔</m:t>
                      </m:r>
                      <m:r>
                        <a:rPr lang="en-US" b="0" i="1" smtClean="0">
                          <a:latin typeface="Cambria Math" charset="0"/>
                        </a:rPr>
                        <m:t>1</m:t>
                      </m:r>
                      <m:r>
                        <a:rPr lang="en-US" i="1">
                          <a:latin typeface="Cambria Math" charset="0"/>
                        </a:rPr>
                        <m:t>−</m:t>
                      </m:r>
                      <m:r>
                        <m:rPr>
                          <m:nor/>
                        </m:rPr>
                        <a:rPr lang="en-US" b="0" i="0" smtClean="0">
                          <a:latin typeface="Cambria Math" charset="0"/>
                        </a:rPr>
                        <m:t>|</m:t>
                      </m:r>
                      <m:r>
                        <m:rPr>
                          <m:nor/>
                        </m:rPr>
                        <a:rPr lang="en-US" b="0" i="0" smtClean="0">
                          <a:latin typeface="Cambria Math" charset="0"/>
                        </a:rPr>
                        <m:t>error</m:t>
                      </m:r>
                      <m:r>
                        <a:rPr lang="en-US" b="0" i="1" smtClean="0">
                          <a:latin typeface="Cambria Math" charset="0"/>
                        </a:rPr>
                        <m:t>|/</m:t>
                      </m:r>
                      <m:r>
                        <a:rPr lang="en-US" b="0" i="1" smtClean="0">
                          <a:latin typeface="Cambria Math" charset="0"/>
                        </a:rPr>
                        <m:t>𝑣</m:t>
                      </m:r>
                    </m:oMath>
                  </m:oMathPara>
                </a14:m>
                <a:endParaRPr lang="en-US" i="1"/>
              </a:p>
              <a:p>
                <a:pPr marL="0" indent="0" algn="ctr">
                  <a:buNone/>
                </a:pPr>
                <a:endParaRPr lang="en-US" sz="1000"/>
              </a:p>
              <a:p>
                <a:r>
                  <a:rPr lang="en-US">
                    <a:solidFill>
                      <a:srgbClr val="C00000"/>
                    </a:solidFill>
                  </a:rPr>
                  <a:t>Precision</a:t>
                </a:r>
                <a:r>
                  <a:rPr lang="en-US"/>
                  <a:t>: reproducibility of the sensor results</a:t>
                </a:r>
              </a:p>
              <a:p>
                <a:endParaRPr lang="en-US"/>
              </a:p>
              <a:p>
                <a:endParaRPr lang="en-US"/>
              </a:p>
              <a:p>
                <a:endParaRPr lang="en-US"/>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46091"/>
                <a:ext cx="10515600" cy="5377034"/>
              </a:xfrm>
              <a:blipFill>
                <a:blip r:embed="rId3"/>
                <a:stretch>
                  <a:fillRect l="-1043" t="-1927" b="-566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392E54B1-A04E-1D4D-B27F-932BE2633714}"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290467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Sensor errors</a:t>
            </a:r>
          </a:p>
        </p:txBody>
      </p:sp>
      <p:sp>
        <p:nvSpPr>
          <p:cNvPr id="3" name="Content Placeholder 2"/>
          <p:cNvSpPr>
            <a:spLocks noGrp="1"/>
          </p:cNvSpPr>
          <p:nvPr>
            <p:ph idx="1"/>
          </p:nvPr>
        </p:nvSpPr>
        <p:spPr>
          <a:xfrm>
            <a:off x="838200" y="1825624"/>
            <a:ext cx="10515600" cy="4926867"/>
          </a:xfrm>
        </p:spPr>
        <p:txBody>
          <a:bodyPr/>
          <a:lstStyle/>
          <a:p>
            <a:r>
              <a:rPr lang="en-US">
                <a:solidFill>
                  <a:srgbClr val="C00000"/>
                </a:solidFill>
              </a:rPr>
              <a:t>Systematic errors</a:t>
            </a:r>
            <a:r>
              <a:rPr lang="en-US"/>
              <a:t>: caused by factors that can in theory be modeled; they are deterministic</a:t>
            </a:r>
          </a:p>
          <a:p>
            <a:pPr lvl="1"/>
            <a:r>
              <a:rPr lang="en-US"/>
              <a:t>E.g.: calibration errors</a:t>
            </a:r>
          </a:p>
          <a:p>
            <a:endParaRPr lang="en-US" sz="1000">
              <a:solidFill>
                <a:srgbClr val="C00000"/>
              </a:solidFill>
            </a:endParaRPr>
          </a:p>
          <a:p>
            <a:r>
              <a:rPr lang="en-US">
                <a:solidFill>
                  <a:srgbClr val="C00000"/>
                </a:solidFill>
              </a:rPr>
              <a:t>Random errors</a:t>
            </a:r>
            <a:r>
              <a:rPr lang="en-US"/>
              <a:t>: cannot be predicted with sophisticated models; they are stochastic</a:t>
            </a:r>
          </a:p>
          <a:p>
            <a:pPr lvl="1"/>
            <a:r>
              <a:rPr lang="en-US"/>
              <a:t>E.g.: spurious range-finding errors</a:t>
            </a:r>
          </a:p>
          <a:p>
            <a:pPr lvl="1"/>
            <a:endParaRPr lang="en-US" sz="1000"/>
          </a:p>
          <a:p>
            <a:r>
              <a:rPr lang="en-US">
                <a:solidFill>
                  <a:srgbClr val="C00000"/>
                </a:solidFill>
              </a:rPr>
              <a:t>Error analysis</a:t>
            </a:r>
            <a:r>
              <a:rPr lang="en-US"/>
              <a:t>: performed via a probabilistic analysis</a:t>
            </a:r>
          </a:p>
          <a:p>
            <a:pPr lvl="1"/>
            <a:r>
              <a:rPr lang="en-US"/>
              <a:t>Common assumption: symmetric, unimodal (and often Gaussian) distributions; convenient, but often a coarse simplification  </a:t>
            </a:r>
          </a:p>
          <a:p>
            <a:pPr lvl="1"/>
            <a:r>
              <a:rPr lang="en-US"/>
              <a:t>Error propagation characterized by the </a:t>
            </a:r>
            <a:r>
              <a:rPr lang="en-US" i="1"/>
              <a:t>error propagation law</a:t>
            </a:r>
            <a:endParaRPr lang="en-US"/>
          </a:p>
          <a:p>
            <a:endParaRPr lang="en-US"/>
          </a:p>
        </p:txBody>
      </p:sp>
      <p:sp>
        <p:nvSpPr>
          <p:cNvPr id="4" name="Date Placeholder 3"/>
          <p:cNvSpPr>
            <a:spLocks noGrp="1"/>
          </p:cNvSpPr>
          <p:nvPr>
            <p:ph type="dt" sz="half" idx="10"/>
          </p:nvPr>
        </p:nvSpPr>
        <p:spPr/>
        <p:txBody>
          <a:bodyPr/>
          <a:lstStyle/>
          <a:p>
            <a:fld id="{AB082DD0-2C7F-CA44-87F0-26304D8383CD}"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21099616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An ecosystem of sensors</a:t>
            </a:r>
          </a:p>
        </p:txBody>
      </p:sp>
      <p:sp>
        <p:nvSpPr>
          <p:cNvPr id="4" name="Date Placeholder 3"/>
          <p:cNvSpPr>
            <a:spLocks noGrp="1"/>
          </p:cNvSpPr>
          <p:nvPr>
            <p:ph type="dt" sz="half" idx="10"/>
          </p:nvPr>
        </p:nvSpPr>
        <p:spPr/>
        <p:txBody>
          <a:bodyPr/>
          <a:lstStyle/>
          <a:p>
            <a:fld id="{D0E2761F-0AA0-414F-A635-B9987BA1535B}"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
        <p:nvSpPr>
          <p:cNvPr id="15" name="Content Placeholder 2"/>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atin typeface="Source Sans Pro" panose="020B0503030403020204" pitchFamily="34" charset="0"/>
                <a:ea typeface="Source Sans Pro" panose="020B0503030403020204" pitchFamily="34" charset="0"/>
              </a:rPr>
              <a:t>Encoders</a:t>
            </a:r>
          </a:p>
          <a:p>
            <a:r>
              <a:rPr lang="en-US">
                <a:latin typeface="Source Sans Pro" panose="020B0503030403020204" pitchFamily="34" charset="0"/>
                <a:ea typeface="Source Sans Pro" panose="020B0503030403020204" pitchFamily="34" charset="0"/>
              </a:rPr>
              <a:t>Heading sensors</a:t>
            </a:r>
          </a:p>
          <a:p>
            <a:r>
              <a:rPr lang="en-US">
                <a:latin typeface="Source Sans Pro" panose="020B0503030403020204" pitchFamily="34" charset="0"/>
                <a:ea typeface="Source Sans Pro" panose="020B0503030403020204" pitchFamily="34" charset="0"/>
              </a:rPr>
              <a:t>Accelerometers and IMU</a:t>
            </a:r>
          </a:p>
          <a:p>
            <a:r>
              <a:rPr lang="en-US">
                <a:latin typeface="Source Sans Pro" panose="020B0503030403020204" pitchFamily="34" charset="0"/>
                <a:ea typeface="Source Sans Pro" panose="020B0503030403020204" pitchFamily="34" charset="0"/>
              </a:rPr>
              <a:t>Beacons</a:t>
            </a:r>
          </a:p>
          <a:p>
            <a:r>
              <a:rPr lang="en-US">
                <a:latin typeface="Source Sans Pro" panose="020B0503030403020204" pitchFamily="34" charset="0"/>
                <a:ea typeface="Source Sans Pro" panose="020B0503030403020204" pitchFamily="34" charset="0"/>
              </a:rPr>
              <a:t>Active ranging</a:t>
            </a:r>
          </a:p>
          <a:p>
            <a:r>
              <a:rPr lang="en-US">
                <a:solidFill>
                  <a:srgbClr val="C00000"/>
                </a:solidFill>
                <a:latin typeface="Source Sans Pro" panose="020B0503030403020204" pitchFamily="34" charset="0"/>
                <a:ea typeface="Source Sans Pro" panose="020B0503030403020204" pitchFamily="34" charset="0"/>
              </a:rPr>
              <a:t>Cameras </a:t>
            </a:r>
          </a:p>
        </p:txBody>
      </p:sp>
    </p:spTree>
    <p:extLst>
      <p:ext uri="{BB962C8B-B14F-4D97-AF65-F5344CB8AC3E}">
        <p14:creationId xmlns:p14="http://schemas.microsoft.com/office/powerpoint/2010/main" val="1468323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Encoders</a:t>
            </a:r>
          </a:p>
        </p:txBody>
      </p:sp>
      <p:sp>
        <p:nvSpPr>
          <p:cNvPr id="3" name="Content Placeholder 2"/>
          <p:cNvSpPr>
            <a:spLocks noGrp="1"/>
          </p:cNvSpPr>
          <p:nvPr>
            <p:ph idx="1"/>
          </p:nvPr>
        </p:nvSpPr>
        <p:spPr>
          <a:xfrm>
            <a:off x="847091" y="1558937"/>
            <a:ext cx="7306309" cy="2523551"/>
          </a:xfrm>
        </p:spPr>
        <p:txBody>
          <a:bodyPr>
            <a:normAutofit/>
          </a:bodyPr>
          <a:lstStyle/>
          <a:p>
            <a:r>
              <a:rPr lang="en-US">
                <a:solidFill>
                  <a:srgbClr val="C00000"/>
                </a:solidFill>
              </a:rPr>
              <a:t>Encoder</a:t>
            </a:r>
            <a:r>
              <a:rPr lang="en-US"/>
              <a:t>: an electro-mechanical device that converts motion into a sequence of digital pulses, which can be converted to </a:t>
            </a:r>
            <a:r>
              <a:rPr lang="en-US">
                <a:solidFill>
                  <a:srgbClr val="C00000"/>
                </a:solidFill>
              </a:rPr>
              <a:t>relative</a:t>
            </a:r>
            <a:r>
              <a:rPr lang="en-US"/>
              <a:t> or </a:t>
            </a:r>
            <a:r>
              <a:rPr lang="en-US">
                <a:solidFill>
                  <a:srgbClr val="C00000"/>
                </a:solidFill>
              </a:rPr>
              <a:t>absolute</a:t>
            </a:r>
            <a:r>
              <a:rPr lang="en-US"/>
              <a:t> position measurements</a:t>
            </a:r>
          </a:p>
          <a:p>
            <a:pPr lvl="1"/>
            <a:r>
              <a:rPr lang="en-US"/>
              <a:t>proprioceptive sensor</a:t>
            </a:r>
          </a:p>
          <a:p>
            <a:pPr lvl="1"/>
            <a:r>
              <a:rPr lang="en-US"/>
              <a:t>can be used for robot localization</a:t>
            </a:r>
          </a:p>
        </p:txBody>
      </p:sp>
      <p:sp>
        <p:nvSpPr>
          <p:cNvPr id="4" name="Date Placeholder 3"/>
          <p:cNvSpPr>
            <a:spLocks noGrp="1"/>
          </p:cNvSpPr>
          <p:nvPr>
            <p:ph type="dt" sz="half" idx="10"/>
          </p:nvPr>
        </p:nvSpPr>
        <p:spPr/>
        <p:txBody>
          <a:bodyPr/>
          <a:lstStyle/>
          <a:p>
            <a:fld id="{475AABD9-A661-3E4D-AA36-DC6174903347}"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grpSp>
        <p:nvGrpSpPr>
          <p:cNvPr id="10" name="Group 9"/>
          <p:cNvGrpSpPr/>
          <p:nvPr/>
        </p:nvGrpSpPr>
        <p:grpSpPr>
          <a:xfrm>
            <a:off x="8359875" y="1272705"/>
            <a:ext cx="3875689" cy="2572476"/>
            <a:chOff x="838200" y="4001294"/>
            <a:chExt cx="4823388" cy="2862775"/>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4001294"/>
              <a:ext cx="3070000" cy="2862775"/>
            </a:xfrm>
            <a:prstGeom prst="rect">
              <a:avLst/>
            </a:prstGeom>
          </p:spPr>
        </p:pic>
        <p:sp>
          <p:nvSpPr>
            <p:cNvPr id="8" name="TextBox 7"/>
            <p:cNvSpPr txBox="1"/>
            <p:nvPr/>
          </p:nvSpPr>
          <p:spPr>
            <a:xfrm>
              <a:off x="3581398" y="4431323"/>
              <a:ext cx="2080190" cy="719268"/>
            </a:xfrm>
            <a:prstGeom prst="rect">
              <a:avLst/>
            </a:prstGeom>
            <a:noFill/>
          </p:spPr>
          <p:txBody>
            <a:bodyPr wrap="square" rtlCol="0">
              <a:spAutoFit/>
            </a:bodyPr>
            <a:lstStyle/>
            <a:p>
              <a:r>
                <a:rPr lang="en-US"/>
                <a:t>Wheel encoder</a:t>
              </a:r>
            </a:p>
            <a:p>
              <a:r>
                <a:rPr lang="en-US"/>
                <a:t>Credit: </a:t>
              </a:r>
              <a:r>
                <a:rPr lang="en-US" err="1"/>
                <a:t>Pololu</a:t>
              </a:r>
              <a:endParaRPr lang="en-US"/>
            </a:p>
          </p:txBody>
        </p:sp>
      </p:grpSp>
      <p:sp>
        <p:nvSpPr>
          <p:cNvPr id="11" name="Content Placeholder 2"/>
          <p:cNvSpPr txBox="1">
            <a:spLocks/>
          </p:cNvSpPr>
          <p:nvPr/>
        </p:nvSpPr>
        <p:spPr>
          <a:xfrm>
            <a:off x="838200" y="4616803"/>
            <a:ext cx="7315200" cy="13825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solidFill>
                  <a:srgbClr val="C00000"/>
                </a:solidFill>
              </a:rPr>
              <a:t>Fundamental principle of optical encoders</a:t>
            </a:r>
            <a:r>
              <a:rPr lang="en-US"/>
              <a:t>: use a light shining onto a photodiode through slits in a metal or glass disc</a:t>
            </a:r>
          </a:p>
        </p:txBody>
      </p:sp>
      <p:pic>
        <p:nvPicPr>
          <p:cNvPr id="12" name="Picture 11"/>
          <p:cNvPicPr>
            <a:picLocks noChangeAspect="1"/>
          </p:cNvPicPr>
          <p:nvPr/>
        </p:nvPicPr>
        <p:blipFill>
          <a:blip r:embed="rId4"/>
          <a:stretch>
            <a:fillRect/>
          </a:stretch>
        </p:blipFill>
        <p:spPr>
          <a:xfrm>
            <a:off x="8634152" y="4208202"/>
            <a:ext cx="3109045" cy="2331784"/>
          </a:xfrm>
          <a:prstGeom prst="rect">
            <a:avLst/>
          </a:prstGeom>
        </p:spPr>
      </p:pic>
      <p:sp>
        <p:nvSpPr>
          <p:cNvPr id="13" name="TextBox 12"/>
          <p:cNvSpPr txBox="1"/>
          <p:nvPr/>
        </p:nvSpPr>
        <p:spPr>
          <a:xfrm>
            <a:off x="8542798" y="6537881"/>
            <a:ext cx="2532185" cy="369332"/>
          </a:xfrm>
          <a:prstGeom prst="rect">
            <a:avLst/>
          </a:prstGeom>
          <a:noFill/>
        </p:spPr>
        <p:txBody>
          <a:bodyPr wrap="square" rtlCol="0">
            <a:spAutoFit/>
          </a:bodyPr>
          <a:lstStyle/>
          <a:p>
            <a:r>
              <a:rPr lang="en-US"/>
              <a:t>Credit: Honest Sensor</a:t>
            </a:r>
          </a:p>
        </p:txBody>
      </p:sp>
    </p:spTree>
    <p:extLst>
      <p:ext uri="{BB962C8B-B14F-4D97-AF65-F5344CB8AC3E}">
        <p14:creationId xmlns:p14="http://schemas.microsoft.com/office/powerpoint/2010/main" val="15256092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Heading sensors</a:t>
            </a:r>
          </a:p>
        </p:txBody>
      </p:sp>
      <p:sp>
        <p:nvSpPr>
          <p:cNvPr id="3" name="Content Placeholder 2"/>
          <p:cNvSpPr>
            <a:spLocks noGrp="1"/>
          </p:cNvSpPr>
          <p:nvPr>
            <p:ph idx="1"/>
          </p:nvPr>
        </p:nvSpPr>
        <p:spPr>
          <a:xfrm>
            <a:off x="838200" y="1592792"/>
            <a:ext cx="10515600" cy="2725448"/>
          </a:xfrm>
        </p:spPr>
        <p:txBody>
          <a:bodyPr>
            <a:normAutofit lnSpcReduction="10000"/>
          </a:bodyPr>
          <a:lstStyle/>
          <a:p>
            <a:r>
              <a:rPr lang="en-US"/>
              <a:t>Used to determine robot’s orientation, it can be:</a:t>
            </a:r>
          </a:p>
          <a:p>
            <a:pPr marL="971550" lvl="1" indent="-514350">
              <a:buFont typeface="+mj-lt"/>
              <a:buAutoNum type="arabicPeriod"/>
            </a:pPr>
            <a:r>
              <a:rPr lang="en-US"/>
              <a:t>Proprioceptive, e.g.,  </a:t>
            </a:r>
            <a:r>
              <a:rPr lang="en-US">
                <a:solidFill>
                  <a:srgbClr val="C00000"/>
                </a:solidFill>
              </a:rPr>
              <a:t>gyroscope</a:t>
            </a:r>
            <a:r>
              <a:rPr lang="en-US"/>
              <a:t> (heading sensor that preserves its orientation in relation to a fixed reference frame) </a:t>
            </a:r>
          </a:p>
          <a:p>
            <a:pPr marL="971550" lvl="1" indent="-514350">
              <a:buFont typeface="+mj-lt"/>
              <a:buAutoNum type="arabicPeriod"/>
            </a:pPr>
            <a:r>
              <a:rPr lang="en-US" err="1"/>
              <a:t>Exteroceptive</a:t>
            </a:r>
            <a:r>
              <a:rPr lang="en-US"/>
              <a:t>, e.g.,  </a:t>
            </a:r>
            <a:r>
              <a:rPr lang="en-US">
                <a:solidFill>
                  <a:srgbClr val="C00000"/>
                </a:solidFill>
              </a:rPr>
              <a:t>compass</a:t>
            </a:r>
            <a:r>
              <a:rPr lang="en-US"/>
              <a:t> (shows direction relative to the geographic cardinal directions)</a:t>
            </a:r>
          </a:p>
          <a:p>
            <a:r>
              <a:rPr lang="en-US"/>
              <a:t>Fusing measurements with velocity information, one can obtain a position estimate (via integration) -&gt; </a:t>
            </a:r>
            <a:r>
              <a:rPr lang="en-US" i="1"/>
              <a:t>dead reckoning</a:t>
            </a:r>
          </a:p>
        </p:txBody>
      </p:sp>
      <p:sp>
        <p:nvSpPr>
          <p:cNvPr id="4" name="Date Placeholder 3"/>
          <p:cNvSpPr>
            <a:spLocks noGrp="1"/>
          </p:cNvSpPr>
          <p:nvPr>
            <p:ph type="dt" sz="half" idx="10"/>
          </p:nvPr>
        </p:nvSpPr>
        <p:spPr/>
        <p:txBody>
          <a:bodyPr/>
          <a:lstStyle/>
          <a:p>
            <a:fld id="{C9CC4A8A-1E6B-564C-B4FA-FF31106EE783}"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
        <p:nvSpPr>
          <p:cNvPr id="8" name="Content Placeholder 2"/>
          <p:cNvSpPr txBox="1">
            <a:spLocks/>
          </p:cNvSpPr>
          <p:nvPr/>
        </p:nvSpPr>
        <p:spPr>
          <a:xfrm>
            <a:off x="840208" y="4749510"/>
            <a:ext cx="6902696" cy="154805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solidFill>
                  <a:srgbClr val="C00000"/>
                </a:solidFill>
                <a:latin typeface="Source Sans Pro" panose="020B0503030403020204" pitchFamily="34" charset="0"/>
                <a:ea typeface="Source Sans Pro" panose="020B0503030403020204" pitchFamily="34" charset="0"/>
              </a:rPr>
              <a:t>Fundamental principle of mechanical gyroscopes</a:t>
            </a:r>
            <a:r>
              <a:rPr lang="en-US">
                <a:latin typeface="Source Sans Pro" panose="020B0503030403020204" pitchFamily="34" charset="0"/>
                <a:ea typeface="Source Sans Pro" panose="020B0503030403020204" pitchFamily="34" charset="0"/>
              </a:rPr>
              <a:t>: angular momentum associated with spinning wheel keeps the axis of rotation inertially stable</a:t>
            </a:r>
          </a:p>
        </p:txBody>
      </p:sp>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91499" y="4220343"/>
            <a:ext cx="3581400" cy="2352329"/>
          </a:xfrm>
          <a:prstGeom prst="rect">
            <a:avLst/>
          </a:prstGeom>
        </p:spPr>
      </p:pic>
      <p:sp>
        <p:nvSpPr>
          <p:cNvPr id="10" name="TextBox 9"/>
          <p:cNvSpPr txBox="1"/>
          <p:nvPr/>
        </p:nvSpPr>
        <p:spPr>
          <a:xfrm>
            <a:off x="8191499" y="6533705"/>
            <a:ext cx="2532185" cy="369332"/>
          </a:xfrm>
          <a:prstGeom prst="rect">
            <a:avLst/>
          </a:prstGeom>
          <a:noFill/>
        </p:spPr>
        <p:txBody>
          <a:bodyPr wrap="square" rtlCol="0">
            <a:spAutoFit/>
          </a:bodyPr>
          <a:lstStyle/>
          <a:p>
            <a:r>
              <a:rPr lang="en-US"/>
              <a:t>Credit: SNS</a:t>
            </a:r>
          </a:p>
        </p:txBody>
      </p:sp>
    </p:spTree>
    <p:extLst>
      <p:ext uri="{BB962C8B-B14F-4D97-AF65-F5344CB8AC3E}">
        <p14:creationId xmlns:p14="http://schemas.microsoft.com/office/powerpoint/2010/main" val="20330987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Accelerometer and IMU</a:t>
            </a:r>
          </a:p>
        </p:txBody>
      </p:sp>
      <p:sp>
        <p:nvSpPr>
          <p:cNvPr id="3" name="Content Placeholder 2"/>
          <p:cNvSpPr>
            <a:spLocks noGrp="1"/>
          </p:cNvSpPr>
          <p:nvPr>
            <p:ph idx="1"/>
          </p:nvPr>
        </p:nvSpPr>
        <p:spPr>
          <a:xfrm>
            <a:off x="838199" y="1530203"/>
            <a:ext cx="10857271" cy="4351338"/>
          </a:xfrm>
        </p:spPr>
        <p:txBody>
          <a:bodyPr/>
          <a:lstStyle/>
          <a:p>
            <a:r>
              <a:rPr lang="en-US">
                <a:solidFill>
                  <a:srgbClr val="C00000"/>
                </a:solidFill>
              </a:rPr>
              <a:t>Accelerometer</a:t>
            </a:r>
            <a:r>
              <a:rPr lang="en-US"/>
              <a:t>: device that measures all external forces acting upon it</a:t>
            </a:r>
          </a:p>
          <a:p>
            <a:r>
              <a:rPr lang="en-US"/>
              <a:t>Mechanical accelerometer: essentially, a spring-mass-damper system</a:t>
            </a:r>
          </a:p>
        </p:txBody>
      </p:sp>
      <p:sp>
        <p:nvSpPr>
          <p:cNvPr id="4" name="Date Placeholder 3"/>
          <p:cNvSpPr>
            <a:spLocks noGrp="1"/>
          </p:cNvSpPr>
          <p:nvPr>
            <p:ph type="dt" sz="half" idx="10"/>
          </p:nvPr>
        </p:nvSpPr>
        <p:spPr/>
        <p:txBody>
          <a:bodyPr/>
          <a:lstStyle/>
          <a:p>
            <a:fld id="{86A5AB30-438E-DF45-A14F-034C872BAB65}"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3"/>
          <a:stretch>
            <a:fillRect/>
          </a:stretch>
        </p:blipFill>
        <p:spPr>
          <a:xfrm>
            <a:off x="9213166" y="3087690"/>
            <a:ext cx="1981200" cy="3454400"/>
          </a:xfrm>
          <a:prstGeom prst="rect">
            <a:avLst/>
          </a:prstGeom>
        </p:spPr>
      </p:pic>
      <p:pic>
        <p:nvPicPr>
          <p:cNvPr id="8" name="Picture 7"/>
          <p:cNvPicPr>
            <a:picLocks noChangeAspect="1"/>
          </p:cNvPicPr>
          <p:nvPr/>
        </p:nvPicPr>
        <p:blipFill>
          <a:blip r:embed="rId4"/>
          <a:stretch>
            <a:fillRect/>
          </a:stretch>
        </p:blipFill>
        <p:spPr>
          <a:xfrm>
            <a:off x="10006916" y="4918417"/>
            <a:ext cx="393700" cy="215900"/>
          </a:xfrm>
          <a:prstGeom prst="rect">
            <a:avLst/>
          </a:prstGeom>
        </p:spPr>
      </p:pic>
      <p:pic>
        <p:nvPicPr>
          <p:cNvPr id="9" name="Picture 8"/>
          <p:cNvPicPr>
            <a:picLocks noChangeAspect="1"/>
          </p:cNvPicPr>
          <p:nvPr/>
        </p:nvPicPr>
        <p:blipFill>
          <a:blip r:embed="rId5"/>
          <a:stretch>
            <a:fillRect/>
          </a:stretch>
        </p:blipFill>
        <p:spPr>
          <a:xfrm>
            <a:off x="2386085" y="2728855"/>
            <a:ext cx="4198131" cy="400883"/>
          </a:xfrm>
          <a:prstGeom prst="rect">
            <a:avLst/>
          </a:prstGeom>
        </p:spPr>
      </p:pic>
      <p:sp>
        <p:nvSpPr>
          <p:cNvPr id="11" name="Content Placeholder 2"/>
          <p:cNvSpPr txBox="1">
            <a:spLocks/>
          </p:cNvSpPr>
          <p:nvPr/>
        </p:nvSpPr>
        <p:spPr>
          <a:xfrm>
            <a:off x="838199" y="3281311"/>
            <a:ext cx="7581217" cy="32981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None/>
            </a:pPr>
            <a:r>
              <a:rPr lang="en-US">
                <a:latin typeface="Source Sans Pro" panose="020B0503030403020204" pitchFamily="34" charset="0"/>
                <a:ea typeface="Source Sans Pro" panose="020B0503030403020204" pitchFamily="34" charset="0"/>
              </a:rPr>
              <a:t>with </a:t>
            </a:r>
            <a:r>
              <a:rPr lang="en-US" i="1">
                <a:latin typeface="Source Sans Pro" panose="020B0503030403020204" pitchFamily="34" charset="0"/>
                <a:ea typeface="Source Sans Pro" panose="020B0503030403020204" pitchFamily="34" charset="0"/>
              </a:rPr>
              <a:t>m </a:t>
            </a:r>
            <a:r>
              <a:rPr lang="en-US">
                <a:latin typeface="Source Sans Pro" panose="020B0503030403020204" pitchFamily="34" charset="0"/>
                <a:ea typeface="Source Sans Pro" panose="020B0503030403020204" pitchFamily="34" charset="0"/>
              </a:rPr>
              <a:t>mass of proof mass, </a:t>
            </a:r>
            <a:r>
              <a:rPr lang="en-US" i="1">
                <a:latin typeface="Source Sans Pro" panose="020B0503030403020204" pitchFamily="34" charset="0"/>
                <a:ea typeface="Source Sans Pro" panose="020B0503030403020204" pitchFamily="34" charset="0"/>
              </a:rPr>
              <a:t>c </a:t>
            </a:r>
            <a:r>
              <a:rPr lang="en-US">
                <a:latin typeface="Source Sans Pro" panose="020B0503030403020204" pitchFamily="34" charset="0"/>
                <a:ea typeface="Source Sans Pro" panose="020B0503030403020204" pitchFamily="34" charset="0"/>
              </a:rPr>
              <a:t>damping coefficient</a:t>
            </a:r>
            <a:r>
              <a:rPr lang="en-US" i="1">
                <a:latin typeface="Source Sans Pro" panose="020B0503030403020204" pitchFamily="34" charset="0"/>
                <a:ea typeface="Source Sans Pro" panose="020B0503030403020204" pitchFamily="34" charset="0"/>
              </a:rPr>
              <a:t>, k </a:t>
            </a:r>
            <a:r>
              <a:rPr lang="en-US">
                <a:latin typeface="Source Sans Pro" panose="020B0503030403020204" pitchFamily="34" charset="0"/>
                <a:ea typeface="Source Sans Pro" panose="020B0503030403020204" pitchFamily="34" charset="0"/>
              </a:rPr>
              <a:t>spring constant; in steady state</a:t>
            </a:r>
          </a:p>
          <a:p>
            <a:endParaRPr lang="en-US">
              <a:latin typeface="Source Sans Pro" panose="020B0503030403020204" pitchFamily="34" charset="0"/>
              <a:ea typeface="Source Sans Pro" panose="020B0503030403020204" pitchFamily="34" charset="0"/>
            </a:endParaRPr>
          </a:p>
          <a:p>
            <a:endParaRPr lang="en-US">
              <a:latin typeface="Source Sans Pro" panose="020B0503030403020204" pitchFamily="34" charset="0"/>
              <a:ea typeface="Source Sans Pro" panose="020B0503030403020204" pitchFamily="34" charset="0"/>
            </a:endParaRPr>
          </a:p>
          <a:p>
            <a:r>
              <a:rPr lang="en-US">
                <a:latin typeface="Source Sans Pro" panose="020B0503030403020204" pitchFamily="34" charset="0"/>
                <a:ea typeface="Source Sans Pro" panose="020B0503030403020204" pitchFamily="34" charset="0"/>
              </a:rPr>
              <a:t>Modern accelerometers use MEMS (cantilevered beam + proof mass); deflection measured via </a:t>
            </a:r>
            <a:r>
              <a:rPr lang="en-US" i="1">
                <a:latin typeface="Source Sans Pro" panose="020B0503030403020204" pitchFamily="34" charset="0"/>
                <a:ea typeface="Source Sans Pro" panose="020B0503030403020204" pitchFamily="34" charset="0"/>
              </a:rPr>
              <a:t>capacitive</a:t>
            </a:r>
            <a:r>
              <a:rPr lang="en-US">
                <a:latin typeface="Source Sans Pro" panose="020B0503030403020204" pitchFamily="34" charset="0"/>
                <a:ea typeface="Source Sans Pro" panose="020B0503030403020204" pitchFamily="34" charset="0"/>
              </a:rPr>
              <a:t> or </a:t>
            </a:r>
            <a:r>
              <a:rPr lang="en-US" i="1">
                <a:latin typeface="Source Sans Pro" panose="020B0503030403020204" pitchFamily="34" charset="0"/>
                <a:ea typeface="Source Sans Pro" panose="020B0503030403020204" pitchFamily="34" charset="0"/>
              </a:rPr>
              <a:t>piezoelectric</a:t>
            </a:r>
            <a:r>
              <a:rPr lang="en-US">
                <a:latin typeface="Source Sans Pro" panose="020B0503030403020204" pitchFamily="34" charset="0"/>
                <a:ea typeface="Source Sans Pro" panose="020B0503030403020204" pitchFamily="34" charset="0"/>
              </a:rPr>
              <a:t> effects </a:t>
            </a:r>
          </a:p>
        </p:txBody>
      </p:sp>
      <p:pic>
        <p:nvPicPr>
          <p:cNvPr id="12" name="Picture 11"/>
          <p:cNvPicPr>
            <a:picLocks noChangeAspect="1"/>
          </p:cNvPicPr>
          <p:nvPr/>
        </p:nvPicPr>
        <p:blipFill>
          <a:blip r:embed="rId6"/>
          <a:stretch>
            <a:fillRect/>
          </a:stretch>
        </p:blipFill>
        <p:spPr>
          <a:xfrm>
            <a:off x="3503367" y="4249168"/>
            <a:ext cx="1963565" cy="725455"/>
          </a:xfrm>
          <a:prstGeom prst="rect">
            <a:avLst/>
          </a:prstGeom>
        </p:spPr>
      </p:pic>
    </p:spTree>
    <p:extLst>
      <p:ext uri="{BB962C8B-B14F-4D97-AF65-F5344CB8AC3E}">
        <p14:creationId xmlns:p14="http://schemas.microsoft.com/office/powerpoint/2010/main" val="395205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6350" y="3576421"/>
            <a:ext cx="9639300" cy="3162300"/>
          </a:xfrm>
          <a:prstGeom prst="rect">
            <a:avLst/>
          </a:prstGeom>
        </p:spPr>
      </p:pic>
      <p:sp>
        <p:nvSpPr>
          <p:cNvPr id="8" name="TextBox 7"/>
          <p:cNvSpPr txBox="1"/>
          <p:nvPr/>
        </p:nvSpPr>
        <p:spPr>
          <a:xfrm>
            <a:off x="1276350" y="6035835"/>
            <a:ext cx="2532185" cy="369332"/>
          </a:xfrm>
          <a:prstGeom prst="rect">
            <a:avLst/>
          </a:prstGeom>
          <a:noFill/>
        </p:spPr>
        <p:txBody>
          <a:bodyPr wrap="square" rtlCol="0">
            <a:spAutoFit/>
          </a:bodyPr>
          <a:lstStyle/>
          <a:p>
            <a:r>
              <a:rPr lang="en-US"/>
              <a:t>Credit: SNS</a:t>
            </a:r>
          </a:p>
        </p:txBody>
      </p:sp>
      <p:sp>
        <p:nvSpPr>
          <p:cNvPr id="2" name="Title 1"/>
          <p:cNvSpPr>
            <a:spLocks noGrp="1"/>
          </p:cNvSpPr>
          <p:nvPr>
            <p:ph type="title"/>
          </p:nvPr>
        </p:nvSpPr>
        <p:spPr/>
        <p:txBody>
          <a:bodyPr/>
          <a:lstStyle/>
          <a:p>
            <a:r>
              <a:rPr lang="en-US"/>
              <a:t>Inertial Measurement Unit (IMU)</a:t>
            </a:r>
          </a:p>
        </p:txBody>
      </p:sp>
      <p:sp>
        <p:nvSpPr>
          <p:cNvPr id="3" name="Content Placeholder 2"/>
          <p:cNvSpPr>
            <a:spLocks noGrp="1"/>
          </p:cNvSpPr>
          <p:nvPr>
            <p:ph idx="1"/>
          </p:nvPr>
        </p:nvSpPr>
        <p:spPr>
          <a:xfrm>
            <a:off x="838200" y="1406898"/>
            <a:ext cx="10515600" cy="4351338"/>
          </a:xfrm>
        </p:spPr>
        <p:txBody>
          <a:bodyPr/>
          <a:lstStyle/>
          <a:p>
            <a:r>
              <a:rPr lang="en-US">
                <a:solidFill>
                  <a:srgbClr val="C00000"/>
                </a:solidFill>
              </a:rPr>
              <a:t>Definition</a:t>
            </a:r>
            <a:r>
              <a:rPr lang="en-US"/>
              <a:t>: device that uses gyroscopes and accelerometers to estimate the relative position, orientation, velocity, and acceleration of a moving vehicle with respect to an inertial frame </a:t>
            </a:r>
          </a:p>
          <a:p>
            <a:r>
              <a:rPr lang="en-US" i="1"/>
              <a:t>Drift</a:t>
            </a:r>
            <a:r>
              <a:rPr lang="en-US"/>
              <a:t> is a fundamental problem: to cancel drift, periodic references to external measurements are required  </a:t>
            </a:r>
          </a:p>
        </p:txBody>
      </p:sp>
      <p:sp>
        <p:nvSpPr>
          <p:cNvPr id="4" name="Date Placeholder 3"/>
          <p:cNvSpPr>
            <a:spLocks noGrp="1"/>
          </p:cNvSpPr>
          <p:nvPr>
            <p:ph type="dt" sz="half" idx="10"/>
          </p:nvPr>
        </p:nvSpPr>
        <p:spPr/>
        <p:txBody>
          <a:bodyPr/>
          <a:lstStyle/>
          <a:p>
            <a:fld id="{A9677B6F-3A23-BF4C-A569-D04B452F7E09}"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14632880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Beacons</a:t>
            </a:r>
          </a:p>
        </p:txBody>
      </p:sp>
      <p:sp>
        <p:nvSpPr>
          <p:cNvPr id="3" name="Content Placeholder 2"/>
          <p:cNvSpPr>
            <a:spLocks noGrp="1"/>
          </p:cNvSpPr>
          <p:nvPr>
            <p:ph idx="1"/>
          </p:nvPr>
        </p:nvSpPr>
        <p:spPr>
          <a:xfrm>
            <a:off x="884668" y="2082346"/>
            <a:ext cx="4998396" cy="4068086"/>
          </a:xfrm>
        </p:spPr>
        <p:txBody>
          <a:bodyPr>
            <a:normAutofit/>
          </a:bodyPr>
          <a:lstStyle/>
          <a:p>
            <a:r>
              <a:rPr lang="en-US">
                <a:solidFill>
                  <a:srgbClr val="C00000"/>
                </a:solidFill>
              </a:rPr>
              <a:t>Definition</a:t>
            </a:r>
            <a:r>
              <a:rPr lang="en-US"/>
              <a:t>: signaling devices with precisely known positions</a:t>
            </a:r>
          </a:p>
          <a:p>
            <a:r>
              <a:rPr lang="en-US"/>
              <a:t>Early examples: stars, lighthouses</a:t>
            </a:r>
          </a:p>
          <a:p>
            <a:r>
              <a:rPr lang="en-US"/>
              <a:t>Modern examples: GPS, motion capture systems</a:t>
            </a:r>
          </a:p>
          <a:p>
            <a:endParaRPr lang="en-US"/>
          </a:p>
        </p:txBody>
      </p:sp>
      <p:sp>
        <p:nvSpPr>
          <p:cNvPr id="4" name="Date Placeholder 3"/>
          <p:cNvSpPr>
            <a:spLocks noGrp="1"/>
          </p:cNvSpPr>
          <p:nvPr>
            <p:ph type="dt" sz="half" idx="10"/>
          </p:nvPr>
        </p:nvSpPr>
        <p:spPr/>
        <p:txBody>
          <a:bodyPr/>
          <a:lstStyle/>
          <a:p>
            <a:fld id="{6EB53805-0476-7144-AB4A-BC8F57CED25B}"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3"/>
          <a:stretch>
            <a:fillRect/>
          </a:stretch>
        </p:blipFill>
        <p:spPr>
          <a:xfrm>
            <a:off x="6433200" y="2082346"/>
            <a:ext cx="5288759" cy="3525839"/>
          </a:xfrm>
          <a:prstGeom prst="rect">
            <a:avLst/>
          </a:prstGeom>
        </p:spPr>
      </p:pic>
      <p:sp>
        <p:nvSpPr>
          <p:cNvPr id="9" name="Content Placeholder 2"/>
          <p:cNvSpPr txBox="1">
            <a:spLocks/>
          </p:cNvSpPr>
          <p:nvPr/>
        </p:nvSpPr>
        <p:spPr>
          <a:xfrm>
            <a:off x="609600" y="3426515"/>
            <a:ext cx="5548532" cy="32981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None/>
            </a:pPr>
            <a:endParaRPr lang="en-US"/>
          </a:p>
        </p:txBody>
      </p:sp>
    </p:spTree>
    <p:extLst>
      <p:ext uri="{BB962C8B-B14F-4D97-AF65-F5344CB8AC3E}">
        <p14:creationId xmlns:p14="http://schemas.microsoft.com/office/powerpoint/2010/main" val="9422059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Active ranging</a:t>
            </a:r>
          </a:p>
        </p:txBody>
      </p:sp>
      <p:sp>
        <p:nvSpPr>
          <p:cNvPr id="3" name="Content Placeholder 2"/>
          <p:cNvSpPr>
            <a:spLocks noGrp="1"/>
          </p:cNvSpPr>
          <p:nvPr>
            <p:ph idx="1"/>
          </p:nvPr>
        </p:nvSpPr>
        <p:spPr>
          <a:xfrm>
            <a:off x="838200" y="1671233"/>
            <a:ext cx="10515600" cy="4716465"/>
          </a:xfrm>
        </p:spPr>
        <p:txBody>
          <a:bodyPr>
            <a:normAutofit fontScale="92500"/>
          </a:bodyPr>
          <a:lstStyle/>
          <a:p>
            <a:r>
              <a:rPr lang="en-US"/>
              <a:t>Provide direct measurements of distance to objects in vicinity</a:t>
            </a:r>
          </a:p>
          <a:p>
            <a:r>
              <a:rPr lang="en-US"/>
              <a:t>Key elements for both localization and environment reconstruction</a:t>
            </a:r>
          </a:p>
          <a:p>
            <a:r>
              <a:rPr lang="en-US"/>
              <a:t>Main types:</a:t>
            </a:r>
          </a:p>
          <a:p>
            <a:pPr marL="971550" lvl="1" indent="-514350">
              <a:buFont typeface="+mj-lt"/>
              <a:buAutoNum type="arabicPeriod"/>
            </a:pPr>
            <a:r>
              <a:rPr lang="en-US"/>
              <a:t>Time-of-flight active ranging sensors (e.g., ultrasonic and laser rangefinder)</a:t>
            </a:r>
          </a:p>
          <a:p>
            <a:pPr marL="971550" lvl="1" indent="-514350">
              <a:buFont typeface="+mj-lt"/>
              <a:buAutoNum type="arabicPeriod"/>
            </a:pPr>
            <a:endParaRPr lang="en-US"/>
          </a:p>
          <a:p>
            <a:pPr marL="971550" lvl="1" indent="-514350">
              <a:buFont typeface="+mj-lt"/>
              <a:buAutoNum type="arabicPeriod"/>
            </a:pPr>
            <a:endParaRPr lang="en-US"/>
          </a:p>
          <a:p>
            <a:pPr marL="971550" lvl="1" indent="-514350">
              <a:buFont typeface="+mj-lt"/>
              <a:buAutoNum type="arabicPeriod"/>
            </a:pPr>
            <a:endParaRPr lang="en-US"/>
          </a:p>
          <a:p>
            <a:pPr marL="971550" lvl="1" indent="-514350">
              <a:buFont typeface="+mj-lt"/>
              <a:buAutoNum type="arabicPeriod"/>
            </a:pPr>
            <a:endParaRPr lang="en-US"/>
          </a:p>
          <a:p>
            <a:pPr marL="971550" lvl="1" indent="-514350">
              <a:buFont typeface="+mj-lt"/>
              <a:buAutoNum type="arabicPeriod"/>
            </a:pPr>
            <a:endParaRPr lang="en-US"/>
          </a:p>
          <a:p>
            <a:pPr marL="971550" lvl="1" indent="-514350">
              <a:buFont typeface="+mj-lt"/>
              <a:buAutoNum type="arabicPeriod"/>
            </a:pPr>
            <a:endParaRPr lang="en-US"/>
          </a:p>
          <a:p>
            <a:pPr marL="971550" lvl="1" indent="-514350">
              <a:buFont typeface="+mj-lt"/>
              <a:buAutoNum type="arabicPeriod"/>
            </a:pPr>
            <a:r>
              <a:rPr lang="en-US"/>
              <a:t>Geometric active ranging sensors (optical triangulation and structured light)</a:t>
            </a:r>
          </a:p>
          <a:p>
            <a:pPr marL="971550" lvl="1" indent="-514350">
              <a:buFont typeface="+mj-lt"/>
              <a:buAutoNum type="arabicPeriod"/>
            </a:pPr>
            <a:endParaRPr lang="en-US"/>
          </a:p>
          <a:p>
            <a:pPr marL="971550" lvl="1" indent="-514350">
              <a:buFont typeface="+mj-lt"/>
              <a:buAutoNum type="arabicPeriod"/>
            </a:pPr>
            <a:endParaRPr lang="en-US"/>
          </a:p>
        </p:txBody>
      </p:sp>
      <p:sp>
        <p:nvSpPr>
          <p:cNvPr id="4" name="Date Placeholder 3"/>
          <p:cNvSpPr>
            <a:spLocks noGrp="1"/>
          </p:cNvSpPr>
          <p:nvPr>
            <p:ph type="dt" sz="half" idx="10"/>
          </p:nvPr>
        </p:nvSpPr>
        <p:spPr/>
        <p:txBody>
          <a:bodyPr/>
          <a:lstStyle/>
          <a:p>
            <a:fld id="{DA0CCCC9-AC26-7B4C-B560-7C66F54E0E19}"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5551" y="4147734"/>
            <a:ext cx="1914198" cy="1249546"/>
          </a:xfrm>
          <a:prstGeom prst="rect">
            <a:avLst/>
          </a:prstGeom>
        </p:spPr>
      </p:pic>
      <p:sp>
        <p:nvSpPr>
          <p:cNvPr id="8" name="TextBox 7"/>
          <p:cNvSpPr txBox="1"/>
          <p:nvPr/>
        </p:nvSpPr>
        <p:spPr>
          <a:xfrm>
            <a:off x="3819749" y="4147734"/>
            <a:ext cx="1361647" cy="707886"/>
          </a:xfrm>
          <a:prstGeom prst="rect">
            <a:avLst/>
          </a:prstGeom>
          <a:noFill/>
        </p:spPr>
        <p:txBody>
          <a:bodyPr wrap="square" rtlCol="0">
            <a:spAutoFit/>
          </a:bodyPr>
          <a:lstStyle/>
          <a:p>
            <a:r>
              <a:rPr lang="en-US" sz="1000"/>
              <a:t>Credit: https://</a:t>
            </a:r>
            <a:r>
              <a:rPr lang="en-US" sz="1000" err="1"/>
              <a:t>electrosome.com</a:t>
            </a:r>
            <a:r>
              <a:rPr lang="en-US" sz="1000"/>
              <a:t>/hc-sr04-ultrasonic-sensor-pic/</a:t>
            </a:r>
          </a:p>
        </p:txBody>
      </p:sp>
      <p:pic>
        <p:nvPicPr>
          <p:cNvPr id="9" name="Picture 8"/>
          <p:cNvPicPr>
            <a:picLocks noChangeAspect="1"/>
          </p:cNvPicPr>
          <p:nvPr/>
        </p:nvPicPr>
        <p:blipFill>
          <a:blip r:embed="rId4"/>
          <a:stretch>
            <a:fillRect/>
          </a:stretch>
        </p:blipFill>
        <p:spPr>
          <a:xfrm>
            <a:off x="5944241" y="4147734"/>
            <a:ext cx="1304712" cy="1299616"/>
          </a:xfrm>
          <a:prstGeom prst="rect">
            <a:avLst/>
          </a:prstGeom>
        </p:spPr>
      </p:pic>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25790" y="4197804"/>
            <a:ext cx="1742395" cy="1249546"/>
          </a:xfrm>
          <a:prstGeom prst="rect">
            <a:avLst/>
          </a:prstGeom>
        </p:spPr>
      </p:pic>
    </p:spTree>
    <p:extLst>
      <p:ext uri="{BB962C8B-B14F-4D97-AF65-F5344CB8AC3E}">
        <p14:creationId xmlns:p14="http://schemas.microsoft.com/office/powerpoint/2010/main" val="2037687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Time-of-flight active ranging</a:t>
            </a:r>
          </a:p>
        </p:txBody>
      </p:sp>
      <p:sp>
        <p:nvSpPr>
          <p:cNvPr id="3" name="Content Placeholder 2"/>
          <p:cNvSpPr>
            <a:spLocks noGrp="1"/>
          </p:cNvSpPr>
          <p:nvPr>
            <p:ph idx="1"/>
          </p:nvPr>
        </p:nvSpPr>
        <p:spPr>
          <a:xfrm>
            <a:off x="838200" y="1516135"/>
            <a:ext cx="10515600" cy="5222290"/>
          </a:xfrm>
        </p:spPr>
        <p:txBody>
          <a:bodyPr>
            <a:normAutofit/>
          </a:bodyPr>
          <a:lstStyle/>
          <a:p>
            <a:r>
              <a:rPr lang="en-US">
                <a:solidFill>
                  <a:srgbClr val="C00000"/>
                </a:solidFill>
              </a:rPr>
              <a:t>Fundamental principle</a:t>
            </a:r>
            <a:r>
              <a:rPr lang="en-US"/>
              <a:t>: time-of-flight ranging makes use of the propagation of the speed of sound or of an electromagnetic wave</a:t>
            </a:r>
          </a:p>
          <a:p>
            <a:r>
              <a:rPr lang="en-US"/>
              <a:t>Travel distance is given by </a:t>
            </a:r>
          </a:p>
          <a:p>
            <a:endParaRPr lang="en-US"/>
          </a:p>
          <a:p>
            <a:pPr marL="0" indent="0">
              <a:buNone/>
            </a:pPr>
            <a:r>
              <a:rPr lang="en-US"/>
              <a:t>where </a:t>
            </a:r>
            <a:r>
              <a:rPr lang="en-US" i="1"/>
              <a:t>d </a:t>
            </a:r>
            <a:r>
              <a:rPr lang="en-US"/>
              <a:t>is the distance traveled, </a:t>
            </a:r>
            <a:r>
              <a:rPr lang="en-US" i="1"/>
              <a:t>c </a:t>
            </a:r>
            <a:r>
              <a:rPr lang="en-US"/>
              <a:t>is the speed of the wave propagation, and </a:t>
            </a:r>
            <a:r>
              <a:rPr lang="en-US" i="1"/>
              <a:t>t </a:t>
            </a:r>
            <a:r>
              <a:rPr lang="en-US"/>
              <a:t>is the time of flight </a:t>
            </a:r>
          </a:p>
          <a:p>
            <a:r>
              <a:rPr lang="en-US"/>
              <a:t>Propagation speeds:</a:t>
            </a:r>
          </a:p>
          <a:p>
            <a:pPr lvl="1"/>
            <a:r>
              <a:rPr lang="en-US"/>
              <a:t>Sound: 0.3 m/</a:t>
            </a:r>
            <a:r>
              <a:rPr lang="en-US" err="1"/>
              <a:t>ms</a:t>
            </a:r>
            <a:endParaRPr lang="en-US"/>
          </a:p>
          <a:p>
            <a:pPr lvl="1"/>
            <a:r>
              <a:rPr lang="en-US"/>
              <a:t>Light: 0.3 m/ns</a:t>
            </a:r>
          </a:p>
          <a:p>
            <a:r>
              <a:rPr lang="en-US"/>
              <a:t>Performance depends on several factors, e.g., uncertainties in determining the exact time of arrival and interaction with the target</a:t>
            </a:r>
          </a:p>
        </p:txBody>
      </p:sp>
      <p:sp>
        <p:nvSpPr>
          <p:cNvPr id="4" name="Date Placeholder 3"/>
          <p:cNvSpPr>
            <a:spLocks noGrp="1"/>
          </p:cNvSpPr>
          <p:nvPr>
            <p:ph type="dt" sz="half" idx="10"/>
          </p:nvPr>
        </p:nvSpPr>
        <p:spPr/>
        <p:txBody>
          <a:bodyPr/>
          <a:lstStyle/>
          <a:p>
            <a:fld id="{409B5A79-44BA-1D4A-8C1F-1EB0D9420025}"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3"/>
          <a:stretch>
            <a:fillRect/>
          </a:stretch>
        </p:blipFill>
        <p:spPr>
          <a:xfrm>
            <a:off x="5467350" y="2982544"/>
            <a:ext cx="1257300" cy="330200"/>
          </a:xfrm>
          <a:prstGeom prst="rect">
            <a:avLst/>
          </a:prstGeom>
        </p:spPr>
      </p:pic>
    </p:spTree>
    <p:extLst>
      <p:ext uri="{BB962C8B-B14F-4D97-AF65-F5344CB8AC3E}">
        <p14:creationId xmlns:p14="http://schemas.microsoft.com/office/powerpoint/2010/main" val="2086523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Geometric active ranging</a:t>
            </a:r>
          </a:p>
        </p:txBody>
      </p:sp>
      <p:sp>
        <p:nvSpPr>
          <p:cNvPr id="3" name="Content Placeholder 2"/>
          <p:cNvSpPr>
            <a:spLocks noGrp="1"/>
          </p:cNvSpPr>
          <p:nvPr>
            <p:ph idx="1"/>
          </p:nvPr>
        </p:nvSpPr>
        <p:spPr>
          <a:xfrm>
            <a:off x="838200" y="1582534"/>
            <a:ext cx="10515600" cy="4351338"/>
          </a:xfrm>
        </p:spPr>
        <p:txBody>
          <a:bodyPr/>
          <a:lstStyle/>
          <a:p>
            <a:r>
              <a:rPr lang="en-US">
                <a:solidFill>
                  <a:srgbClr val="C00000"/>
                </a:solidFill>
              </a:rPr>
              <a:t>Fundamental principle</a:t>
            </a:r>
            <a:r>
              <a:rPr lang="en-US"/>
              <a:t>: use geometric properties in the measurements to establish distance readings</a:t>
            </a:r>
          </a:p>
          <a:p>
            <a:r>
              <a:rPr lang="en-US"/>
              <a:t>The sensor projects a known light pattern (e.g., point, line, or texture); the reflection is captured by a receiver and, together with known geometric values, range is estimated via triangulation   </a:t>
            </a:r>
          </a:p>
          <a:p>
            <a:r>
              <a:rPr lang="en-US"/>
              <a:t>Examples:</a:t>
            </a:r>
          </a:p>
          <a:p>
            <a:pPr lvl="1"/>
            <a:r>
              <a:rPr lang="en-US"/>
              <a:t>Optical triangulation (1D sensor)</a:t>
            </a:r>
          </a:p>
          <a:p>
            <a:pPr lvl="1"/>
            <a:r>
              <a:rPr lang="en-US"/>
              <a:t>Structured light (2D and 3D sensor)</a:t>
            </a:r>
          </a:p>
        </p:txBody>
      </p:sp>
      <p:sp>
        <p:nvSpPr>
          <p:cNvPr id="4" name="Date Placeholder 3"/>
          <p:cNvSpPr>
            <a:spLocks noGrp="1"/>
          </p:cNvSpPr>
          <p:nvPr>
            <p:ph type="dt" sz="half" idx="10"/>
          </p:nvPr>
        </p:nvSpPr>
        <p:spPr/>
        <p:txBody>
          <a:bodyPr/>
          <a:lstStyle/>
          <a:p>
            <a:fld id="{17E3F0FE-8D59-8943-8260-89400F80D62A}"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rotWithShape="1">
          <a:blip r:embed="rId3"/>
          <a:srcRect t="33968" b="30310"/>
          <a:stretch/>
        </p:blipFill>
        <p:spPr>
          <a:xfrm>
            <a:off x="3831974" y="5068007"/>
            <a:ext cx="2802772" cy="75089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56482" y="5658830"/>
            <a:ext cx="2699904" cy="899968"/>
          </a:xfrm>
          <a:prstGeom prst="rect">
            <a:avLst/>
          </a:prstGeom>
        </p:spPr>
      </p:pic>
      <p:pic>
        <p:nvPicPr>
          <p:cNvPr id="10" name="Picture 9"/>
          <p:cNvPicPr>
            <a:picLocks noChangeAspect="1"/>
          </p:cNvPicPr>
          <p:nvPr/>
        </p:nvPicPr>
        <p:blipFill rotWithShape="1">
          <a:blip r:embed="rId5">
            <a:extLst>
              <a:ext uri="{28A0092B-C50C-407E-A947-70E740481C1C}">
                <a14:useLocalDpi xmlns:a14="http://schemas.microsoft.com/office/drawing/2010/main" val="0"/>
              </a:ext>
            </a:extLst>
          </a:blip>
          <a:srcRect b="50183"/>
          <a:stretch/>
        </p:blipFill>
        <p:spPr>
          <a:xfrm>
            <a:off x="1079886" y="5147176"/>
            <a:ext cx="2670307" cy="1343443"/>
          </a:xfrm>
          <a:prstGeom prst="rect">
            <a:avLst/>
          </a:prstGeom>
        </p:spPr>
      </p:pic>
      <p:pic>
        <p:nvPicPr>
          <p:cNvPr id="3074" name="Picture 2">
            <a:extLst>
              <a:ext uri="{FF2B5EF4-FFF2-40B4-BE49-F238E27FC236}">
                <a16:creationId xmlns:a16="http://schemas.microsoft.com/office/drawing/2014/main" id="{27BD5CA6-F21E-2C40-ABC5-9E02C9A93FB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25179" y="4825537"/>
            <a:ext cx="2670307" cy="145821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68133E39-94EB-D743-91C0-99F74FF465B8}"/>
              </a:ext>
            </a:extLst>
          </p:cNvPr>
          <p:cNvSpPr txBox="1"/>
          <p:nvPr/>
        </p:nvSpPr>
        <p:spPr>
          <a:xfrm>
            <a:off x="9579508" y="6244398"/>
            <a:ext cx="1361647" cy="246221"/>
          </a:xfrm>
          <a:prstGeom prst="rect">
            <a:avLst/>
          </a:prstGeom>
          <a:noFill/>
        </p:spPr>
        <p:txBody>
          <a:bodyPr wrap="square" rtlCol="0">
            <a:spAutoFit/>
          </a:bodyPr>
          <a:lstStyle/>
          <a:p>
            <a:r>
              <a:rPr lang="en-US" sz="1000"/>
              <a:t>Credit: Matt Fisher</a:t>
            </a:r>
          </a:p>
        </p:txBody>
      </p:sp>
    </p:spTree>
    <p:extLst>
      <p:ext uri="{BB962C8B-B14F-4D97-AF65-F5344CB8AC3E}">
        <p14:creationId xmlns:p14="http://schemas.microsoft.com/office/powerpoint/2010/main" val="10942961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Several other sensors are available</a:t>
            </a:r>
          </a:p>
        </p:txBody>
      </p:sp>
      <p:sp>
        <p:nvSpPr>
          <p:cNvPr id="3" name="Content Placeholder 2"/>
          <p:cNvSpPr>
            <a:spLocks noGrp="1"/>
          </p:cNvSpPr>
          <p:nvPr>
            <p:ph idx="1"/>
          </p:nvPr>
        </p:nvSpPr>
        <p:spPr/>
        <p:txBody>
          <a:bodyPr/>
          <a:lstStyle/>
          <a:p>
            <a:r>
              <a:rPr lang="en-US"/>
              <a:t>Classical, e.g.:</a:t>
            </a:r>
          </a:p>
          <a:p>
            <a:pPr lvl="1"/>
            <a:r>
              <a:rPr lang="en-US"/>
              <a:t>Radar (possibly using Doppler effect to produce velocity data)</a:t>
            </a:r>
          </a:p>
          <a:p>
            <a:pPr lvl="1"/>
            <a:r>
              <a:rPr lang="en-US"/>
              <a:t>Tactile sensors</a:t>
            </a:r>
          </a:p>
          <a:p>
            <a:pPr lvl="1"/>
            <a:endParaRPr lang="en-US"/>
          </a:p>
          <a:p>
            <a:r>
              <a:rPr lang="en-US"/>
              <a:t>Emerging technologies:</a:t>
            </a:r>
          </a:p>
          <a:p>
            <a:pPr lvl="1"/>
            <a:r>
              <a:rPr lang="en-US"/>
              <a:t>Artificial skins</a:t>
            </a:r>
          </a:p>
          <a:p>
            <a:pPr lvl="1"/>
            <a:r>
              <a:rPr lang="en-US"/>
              <a:t>Neuromorphic cameras</a:t>
            </a:r>
          </a:p>
          <a:p>
            <a:pPr lvl="1"/>
            <a:endParaRPr lang="en-US"/>
          </a:p>
        </p:txBody>
      </p:sp>
      <p:sp>
        <p:nvSpPr>
          <p:cNvPr id="4" name="Date Placeholder 3"/>
          <p:cNvSpPr>
            <a:spLocks noGrp="1"/>
          </p:cNvSpPr>
          <p:nvPr>
            <p:ph type="dt" sz="half" idx="10"/>
          </p:nvPr>
        </p:nvSpPr>
        <p:spPr/>
        <p:txBody>
          <a:bodyPr/>
          <a:lstStyle/>
          <a:p>
            <a:fld id="{FEF4F262-E611-C740-8226-9EDF3C2938F5}"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6774634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Introduction to computer vision</a:t>
            </a:r>
          </a:p>
        </p:txBody>
      </p:sp>
      <p:sp>
        <p:nvSpPr>
          <p:cNvPr id="4" name="Date Placeholder 3"/>
          <p:cNvSpPr>
            <a:spLocks noGrp="1"/>
          </p:cNvSpPr>
          <p:nvPr>
            <p:ph type="dt" sz="half" idx="10"/>
          </p:nvPr>
        </p:nvSpPr>
        <p:spPr/>
        <p:txBody>
          <a:bodyPr/>
          <a:lstStyle/>
          <a:p>
            <a:fld id="{941810E9-4707-C94F-95AB-D0B6BB19EE61}"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
        <p:nvSpPr>
          <p:cNvPr id="13" name="Content Placeholder 2"/>
          <p:cNvSpPr>
            <a:spLocks noGrp="1"/>
          </p:cNvSpPr>
          <p:nvPr>
            <p:ph idx="1"/>
          </p:nvPr>
        </p:nvSpPr>
        <p:spPr>
          <a:xfrm>
            <a:off x="838200" y="1690688"/>
            <a:ext cx="10515600" cy="4851402"/>
          </a:xfrm>
        </p:spPr>
        <p:txBody>
          <a:bodyPr>
            <a:normAutofit lnSpcReduction="10000"/>
          </a:bodyPr>
          <a:lstStyle/>
          <a:p>
            <a:r>
              <a:rPr lang="en-US">
                <a:latin typeface="Source Sans Pro" panose="020B0503030403020204" pitchFamily="34" charset="0"/>
                <a:ea typeface="Source Sans Pro" panose="020B0503030403020204" pitchFamily="34" charset="0"/>
              </a:rPr>
              <a:t>Aim</a:t>
            </a:r>
          </a:p>
          <a:p>
            <a:pPr lvl="1"/>
            <a:r>
              <a:rPr lang="en-US">
                <a:latin typeface="Source Sans Pro" panose="020B0503030403020204" pitchFamily="34" charset="0"/>
                <a:ea typeface="Source Sans Pro" panose="020B0503030403020204" pitchFamily="34" charset="0"/>
              </a:rPr>
              <a:t>Learn about cameras and camera models</a:t>
            </a:r>
          </a:p>
          <a:p>
            <a:pPr lvl="1"/>
            <a:r>
              <a:rPr lang="en-US">
                <a:latin typeface="Source Sans Pro" panose="020B0503030403020204" pitchFamily="34" charset="0"/>
                <a:ea typeface="Source Sans Pro" panose="020B0503030403020204" pitchFamily="34" charset="0"/>
              </a:rPr>
              <a:t>Learn about the outputs of perception and what they might be used for</a:t>
            </a:r>
          </a:p>
          <a:p>
            <a:pPr lvl="1"/>
            <a:endParaRPr lang="en-US">
              <a:latin typeface="Source Sans Pro" panose="020B0503030403020204" pitchFamily="34" charset="0"/>
              <a:ea typeface="Source Sans Pro" panose="020B0503030403020204" pitchFamily="34" charset="0"/>
            </a:endParaRPr>
          </a:p>
          <a:p>
            <a:endParaRPr lang="en-US">
              <a:latin typeface="Source Sans Pro" panose="020B0503030403020204" pitchFamily="34" charset="0"/>
              <a:ea typeface="Source Sans Pro" panose="020B0503030403020204" pitchFamily="34" charset="0"/>
            </a:endParaRPr>
          </a:p>
          <a:p>
            <a:pPr marL="0" indent="0">
              <a:buNone/>
            </a:pPr>
            <a:endParaRPr lang="en-US" sz="1000">
              <a:latin typeface="Source Sans Pro" panose="020B0503030403020204" pitchFamily="34" charset="0"/>
              <a:ea typeface="Source Sans Pro" panose="020B0503030403020204" pitchFamily="34" charset="0"/>
            </a:endParaRPr>
          </a:p>
          <a:p>
            <a:r>
              <a:rPr lang="en-US">
                <a:latin typeface="Source Sans Pro" panose="020B0503030403020204" pitchFamily="34" charset="0"/>
                <a:ea typeface="Source Sans Pro" panose="020B0503030403020204" pitchFamily="34" charset="0"/>
              </a:rPr>
              <a:t>Readings</a:t>
            </a:r>
          </a:p>
          <a:p>
            <a:pPr lvl="1"/>
            <a:r>
              <a:rPr lang="en-US" err="1">
                <a:latin typeface="Source Sans Pro" panose="020B0503030403020204" pitchFamily="34" charset="0"/>
                <a:ea typeface="Source Sans Pro" panose="020B0503030403020204" pitchFamily="34" charset="0"/>
              </a:rPr>
              <a:t>Siegwart</a:t>
            </a:r>
            <a:r>
              <a:rPr lang="en-US">
                <a:latin typeface="Source Sans Pro" panose="020B0503030403020204" pitchFamily="34" charset="0"/>
                <a:ea typeface="Source Sans Pro" panose="020B0503030403020204" pitchFamily="34" charset="0"/>
              </a:rPr>
              <a:t>, </a:t>
            </a:r>
            <a:r>
              <a:rPr lang="en-US" err="1">
                <a:latin typeface="Source Sans Pro" panose="020B0503030403020204" pitchFamily="34" charset="0"/>
                <a:ea typeface="Source Sans Pro" panose="020B0503030403020204" pitchFamily="34" charset="0"/>
              </a:rPr>
              <a:t>Nourbakhsh</a:t>
            </a:r>
            <a:r>
              <a:rPr lang="en-US">
                <a:latin typeface="Source Sans Pro" panose="020B0503030403020204" pitchFamily="34" charset="0"/>
                <a:ea typeface="Source Sans Pro" panose="020B0503030403020204" pitchFamily="34" charset="0"/>
              </a:rPr>
              <a:t>, </a:t>
            </a:r>
            <a:r>
              <a:rPr lang="en-US" err="1">
                <a:latin typeface="Source Sans Pro" panose="020B0503030403020204" pitchFamily="34" charset="0"/>
                <a:ea typeface="Source Sans Pro" panose="020B0503030403020204" pitchFamily="34" charset="0"/>
              </a:rPr>
              <a:t>Scaramuzza</a:t>
            </a:r>
            <a:r>
              <a:rPr lang="en-US">
                <a:latin typeface="Source Sans Pro" panose="020B0503030403020204" pitchFamily="34" charset="0"/>
                <a:ea typeface="Source Sans Pro" panose="020B0503030403020204" pitchFamily="34" charset="0"/>
              </a:rPr>
              <a:t>. Introduction to Autonomous Mobile Robots. Section 4.2.3.</a:t>
            </a:r>
          </a:p>
          <a:p>
            <a:pPr lvl="1"/>
            <a:r>
              <a:rPr lang="en-US">
                <a:latin typeface="Source Sans Pro" panose="020B0503030403020204" pitchFamily="34" charset="0"/>
                <a:ea typeface="Source Sans Pro" panose="020B0503030403020204" pitchFamily="34" charset="0"/>
              </a:rPr>
              <a:t>D. A. Forsyth and J. Ponce [FP]. Computer Vision: A Modern Approach (2nd Edition). Prentice Hall, 2011. Chapter 1.</a:t>
            </a:r>
          </a:p>
          <a:p>
            <a:pPr lvl="1"/>
            <a:r>
              <a:rPr lang="en-US"/>
              <a:t>R. Hartley and A. Zisserman [HZ]. Multiple View Geometry in Computer Vision. Academic Press, 2002. Chapter 6.1.</a:t>
            </a:r>
          </a:p>
          <a:p>
            <a:pPr lvl="1"/>
            <a:endParaRPr lang="en-US">
              <a:latin typeface="Source Sans Pro" panose="020B0503030403020204" pitchFamily="34" charset="0"/>
              <a:ea typeface="Source Sans Pro" panose="020B0503030403020204" pitchFamily="34" charset="0"/>
            </a:endParaRPr>
          </a:p>
          <a:p>
            <a:pPr lvl="1"/>
            <a:endParaRPr lang="en-US">
              <a:latin typeface="Source Sans Pro" panose="020B0503030403020204" pitchFamily="34" charset="0"/>
              <a:ea typeface="Source Sans Pro" panose="020B0503030403020204" pitchFamily="34" charset="0"/>
            </a:endParaRPr>
          </a:p>
          <a:p>
            <a:pPr lvl="1"/>
            <a:endParaRPr lang="en-US">
              <a:latin typeface="Source Sans Pro" panose="020B0503030403020204" pitchFamily="34" charset="0"/>
              <a:ea typeface="Source Sans Pro" panose="020B0503030403020204" pitchFamily="34" charset="0"/>
            </a:endParaRPr>
          </a:p>
        </p:txBody>
      </p:sp>
      <p:pic>
        <p:nvPicPr>
          <p:cNvPr id="7" name="Picture 6">
            <a:extLst>
              <a:ext uri="{FF2B5EF4-FFF2-40B4-BE49-F238E27FC236}">
                <a16:creationId xmlns:a16="http://schemas.microsoft.com/office/drawing/2014/main" id="{C59B7692-8D49-0143-9D98-71282730116D}"/>
              </a:ext>
            </a:extLst>
          </p:cNvPr>
          <p:cNvPicPr>
            <a:picLocks noChangeAspect="1"/>
          </p:cNvPicPr>
          <p:nvPr/>
        </p:nvPicPr>
        <p:blipFill rotWithShape="1">
          <a:blip r:embed="rId3">
            <a:extLst>
              <a:ext uri="{28A0092B-C50C-407E-A947-70E740481C1C}">
                <a14:useLocalDpi xmlns:a14="http://schemas.microsoft.com/office/drawing/2010/main" val="0"/>
              </a:ext>
            </a:extLst>
          </a:blip>
          <a:srcRect t="10582" b="10987"/>
          <a:stretch/>
        </p:blipFill>
        <p:spPr>
          <a:xfrm>
            <a:off x="8610600" y="2888299"/>
            <a:ext cx="1967098" cy="1228090"/>
          </a:xfrm>
          <a:prstGeom prst="rect">
            <a:avLst/>
          </a:prstGeom>
        </p:spPr>
      </p:pic>
    </p:spTree>
    <p:extLst>
      <p:ext uri="{BB962C8B-B14F-4D97-AF65-F5344CB8AC3E}">
        <p14:creationId xmlns:p14="http://schemas.microsoft.com/office/powerpoint/2010/main" val="17717197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Vision</a:t>
            </a:r>
          </a:p>
        </p:txBody>
      </p:sp>
      <p:sp>
        <p:nvSpPr>
          <p:cNvPr id="3" name="Content Placeholder 2"/>
          <p:cNvSpPr>
            <a:spLocks noGrp="1"/>
          </p:cNvSpPr>
          <p:nvPr>
            <p:ph idx="1"/>
          </p:nvPr>
        </p:nvSpPr>
        <p:spPr>
          <a:xfrm>
            <a:off x="833436" y="1425572"/>
            <a:ext cx="10666901" cy="4351338"/>
          </a:xfrm>
        </p:spPr>
        <p:txBody>
          <a:bodyPr/>
          <a:lstStyle/>
          <a:p>
            <a:r>
              <a:rPr lang="en-US"/>
              <a:t>Vision: ability to interpret the surrounding environment using light in the visible spectrum reflected by objects in the environment</a:t>
            </a:r>
          </a:p>
          <a:p>
            <a:r>
              <a:rPr lang="en-US"/>
              <a:t>Human eye: provides enormous amount of information, ~millions of bits per second</a:t>
            </a:r>
          </a:p>
          <a:p>
            <a:r>
              <a:rPr lang="en-US"/>
              <a:t>Cameras (e.g., CCD, CMOS): capture light -&gt;  convert to digital image  -&gt; process to get relevant information (from geometric to semantic)</a:t>
            </a:r>
          </a:p>
        </p:txBody>
      </p:sp>
      <p:sp>
        <p:nvSpPr>
          <p:cNvPr id="4" name="Date Placeholder 3"/>
          <p:cNvSpPr>
            <a:spLocks noGrp="1"/>
          </p:cNvSpPr>
          <p:nvPr>
            <p:ph type="dt" sz="half" idx="10"/>
          </p:nvPr>
        </p:nvSpPr>
        <p:spPr/>
        <p:txBody>
          <a:bodyPr/>
          <a:lstStyle/>
          <a:p>
            <a:fld id="{13E7C580-AE26-114D-AD30-9730822B0E11}"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7363" y="4202128"/>
            <a:ext cx="3094037" cy="2339962"/>
          </a:xfrm>
          <a:prstGeom prst="rect">
            <a:avLst/>
          </a:prstGeom>
        </p:spPr>
      </p:pic>
      <p:sp>
        <p:nvSpPr>
          <p:cNvPr id="8" name="TextBox 7"/>
          <p:cNvSpPr txBox="1"/>
          <p:nvPr/>
        </p:nvSpPr>
        <p:spPr>
          <a:xfrm>
            <a:off x="1355854" y="4329111"/>
            <a:ext cx="500062" cy="369332"/>
          </a:xfrm>
          <a:prstGeom prst="rect">
            <a:avLst/>
          </a:prstGeom>
          <a:noFill/>
        </p:spPr>
        <p:txBody>
          <a:bodyPr wrap="square" rtlCol="0">
            <a:spAutoFit/>
          </a:bodyPr>
          <a:lstStyle/>
          <a:p>
            <a:r>
              <a:rPr lang="en-US"/>
              <a:t>Sky</a:t>
            </a:r>
          </a:p>
        </p:txBody>
      </p:sp>
      <p:sp>
        <p:nvSpPr>
          <p:cNvPr id="9" name="TextBox 8"/>
          <p:cNvSpPr txBox="1"/>
          <p:nvPr/>
        </p:nvSpPr>
        <p:spPr>
          <a:xfrm>
            <a:off x="1355854" y="6086756"/>
            <a:ext cx="500062" cy="369332"/>
          </a:xfrm>
          <a:prstGeom prst="rect">
            <a:avLst/>
          </a:prstGeom>
          <a:noFill/>
        </p:spPr>
        <p:txBody>
          <a:bodyPr wrap="square" rtlCol="0">
            <a:spAutoFit/>
          </a:bodyPr>
          <a:lstStyle/>
          <a:p>
            <a:r>
              <a:rPr lang="en-US"/>
              <a:t>Car</a:t>
            </a:r>
          </a:p>
        </p:txBody>
      </p:sp>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9692" y="4527504"/>
            <a:ext cx="2316139" cy="1843647"/>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34123" y="4545984"/>
            <a:ext cx="3114445" cy="1857374"/>
          </a:xfrm>
          <a:prstGeom prst="rect">
            <a:avLst/>
          </a:prstGeom>
        </p:spPr>
      </p:pic>
      <p:sp>
        <p:nvSpPr>
          <p:cNvPr id="12" name="TextBox 11"/>
          <p:cNvSpPr txBox="1"/>
          <p:nvPr/>
        </p:nvSpPr>
        <p:spPr>
          <a:xfrm>
            <a:off x="9448568" y="5120638"/>
            <a:ext cx="2642647" cy="646331"/>
          </a:xfrm>
          <a:prstGeom prst="rect">
            <a:avLst/>
          </a:prstGeom>
          <a:noFill/>
        </p:spPr>
        <p:txBody>
          <a:bodyPr wrap="none" rtlCol="0">
            <a:spAutoFit/>
          </a:bodyPr>
          <a:lstStyle/>
          <a:p>
            <a:pPr marL="342900" indent="-342900">
              <a:buFont typeface="+mj-lt"/>
              <a:buAutoNum type="arabicPeriod"/>
            </a:pPr>
            <a:r>
              <a:rPr lang="en-US"/>
              <a:t>Information extraction</a:t>
            </a:r>
          </a:p>
          <a:p>
            <a:pPr marL="342900" indent="-342900">
              <a:buFont typeface="+mj-lt"/>
              <a:buAutoNum type="arabicPeriod"/>
            </a:pPr>
            <a:r>
              <a:rPr lang="en-US"/>
              <a:t>Interpretation</a:t>
            </a:r>
          </a:p>
        </p:txBody>
      </p:sp>
      <p:cxnSp>
        <p:nvCxnSpPr>
          <p:cNvPr id="14" name="Straight Arrow Connector 13"/>
          <p:cNvCxnSpPr/>
          <p:nvPr/>
        </p:nvCxnSpPr>
        <p:spPr>
          <a:xfrm>
            <a:off x="3636438" y="5474671"/>
            <a:ext cx="291036"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6014511" y="5474671"/>
            <a:ext cx="291036"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8989488" y="5447122"/>
            <a:ext cx="291036"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11291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D2C25-6D30-AEE2-FD66-51B64B50C79F}"/>
              </a:ext>
            </a:extLst>
          </p:cNvPr>
          <p:cNvSpPr>
            <a:spLocks noGrp="1"/>
          </p:cNvSpPr>
          <p:nvPr>
            <p:ph type="title"/>
          </p:nvPr>
        </p:nvSpPr>
        <p:spPr/>
        <p:txBody>
          <a:bodyPr/>
          <a:lstStyle/>
          <a:p>
            <a:r>
              <a:rPr lang="en-US"/>
              <a:t>Computer Vision Pipeline</a:t>
            </a:r>
          </a:p>
        </p:txBody>
      </p:sp>
      <p:sp>
        <p:nvSpPr>
          <p:cNvPr id="4" name="Date Placeholder 3">
            <a:extLst>
              <a:ext uri="{FF2B5EF4-FFF2-40B4-BE49-F238E27FC236}">
                <a16:creationId xmlns:a16="http://schemas.microsoft.com/office/drawing/2014/main" id="{42CEE61B-BC7A-C80F-CDD2-6CBDB375DFB6}"/>
              </a:ext>
            </a:extLst>
          </p:cNvPr>
          <p:cNvSpPr>
            <a:spLocks noGrp="1"/>
          </p:cNvSpPr>
          <p:nvPr>
            <p:ph type="dt" sz="half" idx="10"/>
          </p:nvPr>
        </p:nvSpPr>
        <p:spPr/>
        <p:txBody>
          <a:bodyPr/>
          <a:lstStyle/>
          <a:p>
            <a:fld id="{15624DA2-4B9B-3547-B63D-BD06B52A28B7}" type="datetime1">
              <a:rPr lang="en-US" smtClean="0"/>
              <a:t>12/20/2025</a:t>
            </a:fld>
            <a:endParaRPr lang="en-US"/>
          </a:p>
        </p:txBody>
      </p:sp>
      <p:sp>
        <p:nvSpPr>
          <p:cNvPr id="5" name="Footer Placeholder 4">
            <a:extLst>
              <a:ext uri="{FF2B5EF4-FFF2-40B4-BE49-F238E27FC236}">
                <a16:creationId xmlns:a16="http://schemas.microsoft.com/office/drawing/2014/main" id="{15313B7F-C855-A6E5-A6CD-48B6559448C1}"/>
              </a:ext>
            </a:extLst>
          </p:cNvPr>
          <p:cNvSpPr>
            <a:spLocks noGrp="1"/>
          </p:cNvSpPr>
          <p:nvPr>
            <p:ph type="ftr" sz="quarter" idx="11"/>
          </p:nvPr>
        </p:nvSpPr>
        <p:spPr/>
        <p:txBody>
          <a:bodyPr/>
          <a:lstStyle/>
          <a:p>
            <a:r>
              <a:rPr lang="hr-HR"/>
              <a:t>AA174A | Lecture 9</a:t>
            </a:r>
            <a:endParaRPr lang="en-US"/>
          </a:p>
        </p:txBody>
      </p:sp>
      <p:pic>
        <p:nvPicPr>
          <p:cNvPr id="8" name="Picture 7">
            <a:extLst>
              <a:ext uri="{FF2B5EF4-FFF2-40B4-BE49-F238E27FC236}">
                <a16:creationId xmlns:a16="http://schemas.microsoft.com/office/drawing/2014/main" id="{E7991369-5C42-3840-6B1A-EF064FFADC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58143" y="1954577"/>
            <a:ext cx="2316139" cy="1843647"/>
          </a:xfrm>
          <a:prstGeom prst="rect">
            <a:avLst/>
          </a:prstGeom>
        </p:spPr>
      </p:pic>
      <p:sp>
        <p:nvSpPr>
          <p:cNvPr id="11" name="Rectangle 10">
            <a:extLst>
              <a:ext uri="{FF2B5EF4-FFF2-40B4-BE49-F238E27FC236}">
                <a16:creationId xmlns:a16="http://schemas.microsoft.com/office/drawing/2014/main" id="{4E7DECE0-D605-2455-09A5-61278161CC73}"/>
              </a:ext>
            </a:extLst>
          </p:cNvPr>
          <p:cNvSpPr/>
          <p:nvPr/>
        </p:nvSpPr>
        <p:spPr>
          <a:xfrm>
            <a:off x="5583926" y="4412140"/>
            <a:ext cx="1821180" cy="15452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Scene Representation</a:t>
            </a:r>
          </a:p>
        </p:txBody>
      </p:sp>
      <p:pic>
        <p:nvPicPr>
          <p:cNvPr id="1028" name="Picture 4" descr="Importance of Grid System in Graphic Design | UX Collective">
            <a:extLst>
              <a:ext uri="{FF2B5EF4-FFF2-40B4-BE49-F238E27FC236}">
                <a16:creationId xmlns:a16="http://schemas.microsoft.com/office/drawing/2014/main" id="{0678B40C-5B62-0D09-C51B-872F90F4C79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10600" y="3333756"/>
            <a:ext cx="2118432" cy="141413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6FE5C67E-38A9-7701-91B1-5D1C77E2F1A2}"/>
              </a:ext>
            </a:extLst>
          </p:cNvPr>
          <p:cNvSpPr txBox="1"/>
          <p:nvPr/>
        </p:nvSpPr>
        <p:spPr>
          <a:xfrm>
            <a:off x="8419754" y="2686790"/>
            <a:ext cx="2483709" cy="646331"/>
          </a:xfrm>
          <a:prstGeom prst="rect">
            <a:avLst/>
          </a:prstGeom>
          <a:noFill/>
        </p:spPr>
        <p:txBody>
          <a:bodyPr wrap="square" rtlCol="0">
            <a:spAutoFit/>
          </a:bodyPr>
          <a:lstStyle/>
          <a:p>
            <a:pPr algn="ctr"/>
            <a:r>
              <a:rPr lang="en-US"/>
              <a:t>Digital image </a:t>
            </a:r>
          </a:p>
          <a:p>
            <a:pPr algn="ctr"/>
            <a:r>
              <a:rPr lang="en-US"/>
              <a:t>(array of pixel values)</a:t>
            </a:r>
          </a:p>
        </p:txBody>
      </p:sp>
      <p:sp>
        <p:nvSpPr>
          <p:cNvPr id="16" name="Right Arrow 15">
            <a:extLst>
              <a:ext uri="{FF2B5EF4-FFF2-40B4-BE49-F238E27FC236}">
                <a16:creationId xmlns:a16="http://schemas.microsoft.com/office/drawing/2014/main" id="{63B83CA4-D9CD-108B-3F64-CBDE88416043}"/>
              </a:ext>
            </a:extLst>
          </p:cNvPr>
          <p:cNvSpPr/>
          <p:nvPr/>
        </p:nvSpPr>
        <p:spPr>
          <a:xfrm>
            <a:off x="4724400" y="2781300"/>
            <a:ext cx="617220"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4043024E-6B4D-C30E-012C-F5053FC227D5}"/>
              </a:ext>
            </a:extLst>
          </p:cNvPr>
          <p:cNvSpPr/>
          <p:nvPr/>
        </p:nvSpPr>
        <p:spPr>
          <a:xfrm rot="2344584">
            <a:off x="7495680" y="3125924"/>
            <a:ext cx="811829"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3F84E554-2B39-4A2C-F64A-02898C775910}"/>
              </a:ext>
            </a:extLst>
          </p:cNvPr>
          <p:cNvSpPr/>
          <p:nvPr/>
        </p:nvSpPr>
        <p:spPr>
          <a:xfrm rot="7834995">
            <a:off x="7659876" y="4518989"/>
            <a:ext cx="811829"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0CEA7DCE-7AD5-156D-8050-9CBF32D40CC6}"/>
              </a:ext>
            </a:extLst>
          </p:cNvPr>
          <p:cNvSpPr/>
          <p:nvPr/>
        </p:nvSpPr>
        <p:spPr>
          <a:xfrm rot="10800000">
            <a:off x="4825798" y="4993096"/>
            <a:ext cx="617220"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0" name="Picture 6">
            <a:extLst>
              <a:ext uri="{FF2B5EF4-FFF2-40B4-BE49-F238E27FC236}">
                <a16:creationId xmlns:a16="http://schemas.microsoft.com/office/drawing/2014/main" id="{F79137FF-6D5D-CE0A-8345-E0EB937743E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347069" y="2081510"/>
            <a:ext cx="2135415" cy="1600200"/>
          </a:xfrm>
          <a:prstGeom prst="rect">
            <a:avLst/>
          </a:prstGeom>
          <a:noFill/>
          <a:extLst>
            <a:ext uri="{909E8E84-426E-40DD-AFC4-6F175D3DCCD1}">
              <a14:hiddenFill xmlns:a14="http://schemas.microsoft.com/office/drawing/2010/main">
                <a:solidFill>
                  <a:srgbClr val="FFFFFF"/>
                </a:solidFill>
              </a14:hiddenFill>
            </a:ext>
          </a:extLst>
        </p:spPr>
      </p:pic>
      <p:grpSp>
        <p:nvGrpSpPr>
          <p:cNvPr id="37" name="Group 36">
            <a:extLst>
              <a:ext uri="{FF2B5EF4-FFF2-40B4-BE49-F238E27FC236}">
                <a16:creationId xmlns:a16="http://schemas.microsoft.com/office/drawing/2014/main" id="{0021DB72-495C-6D43-9DD1-8E3E1B03432A}"/>
              </a:ext>
            </a:extLst>
          </p:cNvPr>
          <p:cNvGrpSpPr>
            <a:grpSpLocks noChangeAspect="1"/>
          </p:cNvGrpSpPr>
          <p:nvPr/>
        </p:nvGrpSpPr>
        <p:grpSpPr>
          <a:xfrm>
            <a:off x="2342389" y="4357183"/>
            <a:ext cx="2142686" cy="1600200"/>
            <a:chOff x="2133039" y="4237165"/>
            <a:chExt cx="2410610" cy="1800291"/>
          </a:xfrm>
        </p:grpSpPr>
        <p:grpSp>
          <p:nvGrpSpPr>
            <p:cNvPr id="27" name="Group 26">
              <a:extLst>
                <a:ext uri="{FF2B5EF4-FFF2-40B4-BE49-F238E27FC236}">
                  <a16:creationId xmlns:a16="http://schemas.microsoft.com/office/drawing/2014/main" id="{4F43D4E6-0FE2-8C2F-AF26-1E16D05AE8CE}"/>
                </a:ext>
              </a:extLst>
            </p:cNvPr>
            <p:cNvGrpSpPr/>
            <p:nvPr/>
          </p:nvGrpSpPr>
          <p:grpSpPr>
            <a:xfrm>
              <a:off x="2141219" y="4237165"/>
              <a:ext cx="2402430" cy="1800291"/>
              <a:chOff x="2141219" y="4183825"/>
              <a:chExt cx="2402430" cy="1800291"/>
            </a:xfrm>
          </p:grpSpPr>
          <p:pic>
            <p:nvPicPr>
              <p:cNvPr id="23" name="Picture 6">
                <a:extLst>
                  <a:ext uri="{FF2B5EF4-FFF2-40B4-BE49-F238E27FC236}">
                    <a16:creationId xmlns:a16="http://schemas.microsoft.com/office/drawing/2014/main" id="{DC7AF8E6-2AD8-C828-F807-99ABCF31F79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141219" y="4183825"/>
                <a:ext cx="2402430" cy="1800291"/>
              </a:xfrm>
              <a:prstGeom prst="rect">
                <a:avLst/>
              </a:prstGeom>
              <a:noFill/>
              <a:extLst>
                <a:ext uri="{909E8E84-426E-40DD-AFC4-6F175D3DCCD1}">
                  <a14:hiddenFill xmlns:a14="http://schemas.microsoft.com/office/drawing/2010/main">
                    <a:solidFill>
                      <a:srgbClr val="FFFFFF"/>
                    </a:solidFill>
                  </a14:hiddenFill>
                </a:ext>
              </a:extLst>
            </p:spPr>
          </p:pic>
          <p:sp>
            <p:nvSpPr>
              <p:cNvPr id="24" name="Rectangle 23">
                <a:extLst>
                  <a:ext uri="{FF2B5EF4-FFF2-40B4-BE49-F238E27FC236}">
                    <a16:creationId xmlns:a16="http://schemas.microsoft.com/office/drawing/2014/main" id="{46C9FD35-4A37-B12C-5792-7B2264C8A947}"/>
                  </a:ext>
                </a:extLst>
              </p:cNvPr>
              <p:cNvSpPr/>
              <p:nvPr/>
            </p:nvSpPr>
            <p:spPr>
              <a:xfrm>
                <a:off x="3005026" y="4990293"/>
                <a:ext cx="1538623" cy="689249"/>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8B523E6-91B0-C9B3-57EA-5C54A9E90F81}"/>
                  </a:ext>
                </a:extLst>
              </p:cNvPr>
              <p:cNvSpPr/>
              <p:nvPr/>
            </p:nvSpPr>
            <p:spPr>
              <a:xfrm>
                <a:off x="2450854" y="4990293"/>
                <a:ext cx="690715"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E5A16F8-ABF2-9A28-0D87-3FE52775BB12}"/>
                  </a:ext>
                </a:extLst>
              </p:cNvPr>
              <p:cNvSpPr/>
              <p:nvPr/>
            </p:nvSpPr>
            <p:spPr>
              <a:xfrm>
                <a:off x="2146381" y="4897422"/>
                <a:ext cx="536822"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D5BBF3F9-61CB-13D5-98FC-B7856313612D}"/>
                </a:ext>
              </a:extLst>
            </p:cNvPr>
            <p:cNvSpPr/>
            <p:nvPr/>
          </p:nvSpPr>
          <p:spPr>
            <a:xfrm>
              <a:off x="3488436" y="4765827"/>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Car</a:t>
              </a:r>
            </a:p>
          </p:txBody>
        </p:sp>
        <p:sp>
          <p:nvSpPr>
            <p:cNvPr id="32" name="Rectangle 31">
              <a:extLst>
                <a:ext uri="{FF2B5EF4-FFF2-40B4-BE49-F238E27FC236}">
                  <a16:creationId xmlns:a16="http://schemas.microsoft.com/office/drawing/2014/main" id="{E584BC24-DB02-5EF0-4CA4-71339D50884C}"/>
                </a:ext>
              </a:extLst>
            </p:cNvPr>
            <p:cNvSpPr/>
            <p:nvPr/>
          </p:nvSpPr>
          <p:spPr>
            <a:xfrm>
              <a:off x="2451717" y="5490484"/>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Car</a:t>
              </a:r>
            </a:p>
          </p:txBody>
        </p:sp>
        <p:sp>
          <p:nvSpPr>
            <p:cNvPr id="33" name="Rectangle 32">
              <a:extLst>
                <a:ext uri="{FF2B5EF4-FFF2-40B4-BE49-F238E27FC236}">
                  <a16:creationId xmlns:a16="http://schemas.microsoft.com/office/drawing/2014/main" id="{5634E1B3-9356-4A7E-4DC3-E8DBA9A10E49}"/>
                </a:ext>
              </a:extLst>
            </p:cNvPr>
            <p:cNvSpPr/>
            <p:nvPr/>
          </p:nvSpPr>
          <p:spPr>
            <a:xfrm>
              <a:off x="2133039" y="4699008"/>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Car</a:t>
              </a:r>
            </a:p>
          </p:txBody>
        </p:sp>
      </p:grpSp>
      <p:sp>
        <p:nvSpPr>
          <p:cNvPr id="34" name="TextBox 33">
            <a:extLst>
              <a:ext uri="{FF2B5EF4-FFF2-40B4-BE49-F238E27FC236}">
                <a16:creationId xmlns:a16="http://schemas.microsoft.com/office/drawing/2014/main" id="{A5A335F8-73DA-D278-72E7-972724C25DB4}"/>
              </a:ext>
            </a:extLst>
          </p:cNvPr>
          <p:cNvSpPr txBox="1"/>
          <p:nvPr/>
        </p:nvSpPr>
        <p:spPr>
          <a:xfrm>
            <a:off x="2164188" y="1704976"/>
            <a:ext cx="2483709" cy="369332"/>
          </a:xfrm>
          <a:prstGeom prst="rect">
            <a:avLst/>
          </a:prstGeom>
          <a:noFill/>
        </p:spPr>
        <p:txBody>
          <a:bodyPr wrap="square" rtlCol="0">
            <a:spAutoFit/>
          </a:bodyPr>
          <a:lstStyle/>
          <a:p>
            <a:pPr algn="ctr"/>
            <a:r>
              <a:rPr lang="en-US"/>
              <a:t>Real-world scene</a:t>
            </a:r>
          </a:p>
        </p:txBody>
      </p:sp>
      <p:sp>
        <p:nvSpPr>
          <p:cNvPr id="35" name="TextBox 34">
            <a:extLst>
              <a:ext uri="{FF2B5EF4-FFF2-40B4-BE49-F238E27FC236}">
                <a16:creationId xmlns:a16="http://schemas.microsoft.com/office/drawing/2014/main" id="{24013814-3247-8339-37C0-0FF367626E9F}"/>
              </a:ext>
            </a:extLst>
          </p:cNvPr>
          <p:cNvSpPr txBox="1"/>
          <p:nvPr/>
        </p:nvSpPr>
        <p:spPr>
          <a:xfrm>
            <a:off x="5174357" y="1819407"/>
            <a:ext cx="2483709" cy="369332"/>
          </a:xfrm>
          <a:prstGeom prst="rect">
            <a:avLst/>
          </a:prstGeom>
          <a:noFill/>
        </p:spPr>
        <p:txBody>
          <a:bodyPr wrap="square" rtlCol="0">
            <a:spAutoFit/>
          </a:bodyPr>
          <a:lstStyle/>
          <a:p>
            <a:pPr algn="ctr"/>
            <a:r>
              <a:rPr lang="en-US"/>
              <a:t>Sensing device</a:t>
            </a:r>
          </a:p>
        </p:txBody>
      </p:sp>
      <p:sp>
        <p:nvSpPr>
          <p:cNvPr id="36" name="TextBox 35">
            <a:extLst>
              <a:ext uri="{FF2B5EF4-FFF2-40B4-BE49-F238E27FC236}">
                <a16:creationId xmlns:a16="http://schemas.microsoft.com/office/drawing/2014/main" id="{1CA1FD6E-F040-CB26-0F9C-B83892652A1D}"/>
              </a:ext>
            </a:extLst>
          </p:cNvPr>
          <p:cNvSpPr txBox="1"/>
          <p:nvPr/>
        </p:nvSpPr>
        <p:spPr>
          <a:xfrm>
            <a:off x="2172921" y="3970648"/>
            <a:ext cx="2483709" cy="369332"/>
          </a:xfrm>
          <a:prstGeom prst="rect">
            <a:avLst/>
          </a:prstGeom>
          <a:noFill/>
        </p:spPr>
        <p:txBody>
          <a:bodyPr wrap="square" rtlCol="0">
            <a:spAutoFit/>
          </a:bodyPr>
          <a:lstStyle/>
          <a:p>
            <a:pPr algn="ctr"/>
            <a:r>
              <a:rPr lang="en-US"/>
              <a:t>Relevant information</a:t>
            </a:r>
          </a:p>
        </p:txBody>
      </p:sp>
    </p:spTree>
    <p:extLst>
      <p:ext uri="{BB962C8B-B14F-4D97-AF65-F5344CB8AC3E}">
        <p14:creationId xmlns:p14="http://schemas.microsoft.com/office/powerpoint/2010/main" val="1542772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AD93B12-684C-C913-7022-5F8FA4FAE556}"/>
              </a:ext>
            </a:extLst>
          </p:cNvPr>
          <p:cNvSpPr>
            <a:spLocks noGrp="1"/>
          </p:cNvSpPr>
          <p:nvPr>
            <p:ph type="dt" sz="half" idx="10"/>
          </p:nvPr>
        </p:nvSpPr>
        <p:spPr/>
        <p:txBody>
          <a:bodyPr/>
          <a:lstStyle/>
          <a:p>
            <a:fld id="{924FB699-56C3-1945-A9F0-7C4BE08376B4}" type="datetime1">
              <a:rPr lang="en-US" smtClean="0"/>
              <a:t>12/20/2025</a:t>
            </a:fld>
            <a:endParaRPr lang="en-US"/>
          </a:p>
        </p:txBody>
      </p:sp>
      <p:sp>
        <p:nvSpPr>
          <p:cNvPr id="5" name="Footer Placeholder 4">
            <a:extLst>
              <a:ext uri="{FF2B5EF4-FFF2-40B4-BE49-F238E27FC236}">
                <a16:creationId xmlns:a16="http://schemas.microsoft.com/office/drawing/2014/main" id="{4BDB4AFF-4B6A-ECF1-03BF-802136A90333}"/>
              </a:ext>
            </a:extLst>
          </p:cNvPr>
          <p:cNvSpPr>
            <a:spLocks noGrp="1"/>
          </p:cNvSpPr>
          <p:nvPr>
            <p:ph type="ftr" sz="quarter" idx="11"/>
          </p:nvPr>
        </p:nvSpPr>
        <p:spPr/>
        <p:txBody>
          <a:bodyPr/>
          <a:lstStyle/>
          <a:p>
            <a:r>
              <a:rPr lang="hr-HR"/>
              <a:t>AA174A | Lecture 9</a:t>
            </a:r>
            <a:endParaRPr lang="en-US"/>
          </a:p>
        </p:txBody>
      </p:sp>
      <p:pic>
        <p:nvPicPr>
          <p:cNvPr id="7" name="Picture 6">
            <a:extLst>
              <a:ext uri="{FF2B5EF4-FFF2-40B4-BE49-F238E27FC236}">
                <a16:creationId xmlns:a16="http://schemas.microsoft.com/office/drawing/2014/main" id="{CC4EE974-D5E8-38F5-026D-77B9827827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4490" y="372430"/>
            <a:ext cx="2056488" cy="1574009"/>
          </a:xfrm>
          <a:prstGeom prst="rect">
            <a:avLst/>
          </a:prstGeom>
        </p:spPr>
      </p:pic>
      <p:sp>
        <p:nvSpPr>
          <p:cNvPr id="8" name="Rectangle 7">
            <a:extLst>
              <a:ext uri="{FF2B5EF4-FFF2-40B4-BE49-F238E27FC236}">
                <a16:creationId xmlns:a16="http://schemas.microsoft.com/office/drawing/2014/main" id="{70206964-D047-E40C-E6B7-FD270C3EF335}"/>
              </a:ext>
            </a:extLst>
          </p:cNvPr>
          <p:cNvSpPr/>
          <p:nvPr/>
        </p:nvSpPr>
        <p:spPr>
          <a:xfrm>
            <a:off x="5083751" y="2425029"/>
            <a:ext cx="1617017" cy="131924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Scene Representation</a:t>
            </a:r>
          </a:p>
        </p:txBody>
      </p:sp>
      <p:pic>
        <p:nvPicPr>
          <p:cNvPr id="11" name="Picture 4" descr="Importance of Grid System in Graphic Design | UX Collective">
            <a:extLst>
              <a:ext uri="{FF2B5EF4-FFF2-40B4-BE49-F238E27FC236}">
                <a16:creationId xmlns:a16="http://schemas.microsoft.com/office/drawing/2014/main" id="{42DF6415-E421-4CA5-5637-AB88D9BA23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71119" y="1549901"/>
            <a:ext cx="1880945" cy="1207318"/>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5511F2FF-1D4A-FB0F-3F5A-5BF47F89BFE2}"/>
              </a:ext>
            </a:extLst>
          </p:cNvPr>
          <p:cNvSpPr txBox="1"/>
          <p:nvPr/>
        </p:nvSpPr>
        <p:spPr>
          <a:xfrm>
            <a:off x="7601668" y="997555"/>
            <a:ext cx="2205273" cy="551803"/>
          </a:xfrm>
          <a:prstGeom prst="rect">
            <a:avLst/>
          </a:prstGeom>
          <a:noFill/>
        </p:spPr>
        <p:txBody>
          <a:bodyPr wrap="square" rtlCol="0">
            <a:spAutoFit/>
          </a:bodyPr>
          <a:lstStyle/>
          <a:p>
            <a:pPr algn="ctr"/>
            <a:r>
              <a:rPr lang="en-US"/>
              <a:t>Digital image </a:t>
            </a:r>
          </a:p>
          <a:p>
            <a:pPr algn="ctr"/>
            <a:r>
              <a:rPr lang="en-US"/>
              <a:t>(array of pixel values)</a:t>
            </a:r>
          </a:p>
        </p:txBody>
      </p:sp>
      <p:sp>
        <p:nvSpPr>
          <p:cNvPr id="13" name="Right Arrow 12">
            <a:extLst>
              <a:ext uri="{FF2B5EF4-FFF2-40B4-BE49-F238E27FC236}">
                <a16:creationId xmlns:a16="http://schemas.microsoft.com/office/drawing/2014/main" id="{9F777744-4112-D4DB-838A-EA873D1C8901}"/>
              </a:ext>
            </a:extLst>
          </p:cNvPr>
          <p:cNvSpPr/>
          <p:nvPr/>
        </p:nvSpPr>
        <p:spPr>
          <a:xfrm>
            <a:off x="4320582" y="1078243"/>
            <a:ext cx="548027" cy="1952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C229C174-E1F6-DAD4-AE31-8D59D98C0EFF}"/>
              </a:ext>
            </a:extLst>
          </p:cNvPr>
          <p:cNvSpPr/>
          <p:nvPr/>
        </p:nvSpPr>
        <p:spPr>
          <a:xfrm rot="2344584">
            <a:off x="6781187" y="1372464"/>
            <a:ext cx="720819" cy="1952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E801F8DA-9DB6-86DC-FC12-054E2AFD8DBF}"/>
              </a:ext>
            </a:extLst>
          </p:cNvPr>
          <p:cNvSpPr/>
          <p:nvPr/>
        </p:nvSpPr>
        <p:spPr>
          <a:xfrm rot="7834995">
            <a:off x="6940837" y="2557886"/>
            <a:ext cx="693097" cy="20302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D9EB7198-E066-8FE2-C183-D14741AC2DDC}"/>
              </a:ext>
            </a:extLst>
          </p:cNvPr>
          <p:cNvSpPr/>
          <p:nvPr/>
        </p:nvSpPr>
        <p:spPr>
          <a:xfrm rot="10800000">
            <a:off x="4410613" y="2921019"/>
            <a:ext cx="548027" cy="1952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9FF73F7-93E7-79EB-3903-FB6571C6D76A}"/>
              </a:ext>
            </a:extLst>
          </p:cNvPr>
          <p:cNvSpPr/>
          <p:nvPr/>
        </p:nvSpPr>
        <p:spPr>
          <a:xfrm rot="20302738">
            <a:off x="4671724" y="1391331"/>
            <a:ext cx="5439708" cy="2226014"/>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9C73217-121F-5CB3-1C8E-8D26FB2C2C18}"/>
              </a:ext>
            </a:extLst>
          </p:cNvPr>
          <p:cNvSpPr txBox="1"/>
          <p:nvPr/>
        </p:nvSpPr>
        <p:spPr>
          <a:xfrm>
            <a:off x="7109460" y="3977640"/>
            <a:ext cx="3139440" cy="1200329"/>
          </a:xfrm>
          <a:prstGeom prst="rect">
            <a:avLst/>
          </a:prstGeom>
          <a:noFill/>
        </p:spPr>
        <p:txBody>
          <a:bodyPr wrap="square" rtlCol="0">
            <a:spAutoFit/>
          </a:bodyPr>
          <a:lstStyle/>
          <a:p>
            <a:r>
              <a:rPr lang="en-US" b="1"/>
              <a:t>Information Extraction:</a:t>
            </a:r>
          </a:p>
          <a:p>
            <a:pPr marL="285750" indent="-285750">
              <a:buFont typeface="Arial" panose="020B0604020202020204" pitchFamily="34" charset="0"/>
              <a:buChar char="•"/>
            </a:pPr>
            <a:r>
              <a:rPr lang="en-US"/>
              <a:t>Features – e.g. edges, corners, texture, colors, etc. </a:t>
            </a:r>
          </a:p>
          <a:p>
            <a:pPr marL="285750" indent="-285750">
              <a:buFont typeface="Arial" panose="020B0604020202020204" pitchFamily="34" charset="0"/>
              <a:buChar char="•"/>
            </a:pPr>
            <a:r>
              <a:rPr lang="en-US"/>
              <a:t>3D structure</a:t>
            </a:r>
          </a:p>
        </p:txBody>
      </p:sp>
      <p:pic>
        <p:nvPicPr>
          <p:cNvPr id="20" name="Picture 6">
            <a:extLst>
              <a:ext uri="{FF2B5EF4-FFF2-40B4-BE49-F238E27FC236}">
                <a16:creationId xmlns:a16="http://schemas.microsoft.com/office/drawing/2014/main" id="{4FC0603A-DAA5-34A8-AE86-C5618B8B52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305371" y="487308"/>
            <a:ext cx="1778622" cy="1332833"/>
          </a:xfrm>
          <a:prstGeom prst="rect">
            <a:avLst/>
          </a:prstGeom>
          <a:noFill/>
          <a:extLst>
            <a:ext uri="{909E8E84-426E-40DD-AFC4-6F175D3DCCD1}">
              <a14:hiddenFill xmlns:a14="http://schemas.microsoft.com/office/drawing/2010/main">
                <a:solidFill>
                  <a:srgbClr val="FFFFFF"/>
                </a:solidFill>
              </a14:hiddenFill>
            </a:ext>
          </a:extLst>
        </p:spPr>
      </p:pic>
      <p:grpSp>
        <p:nvGrpSpPr>
          <p:cNvPr id="21" name="Group 20">
            <a:extLst>
              <a:ext uri="{FF2B5EF4-FFF2-40B4-BE49-F238E27FC236}">
                <a16:creationId xmlns:a16="http://schemas.microsoft.com/office/drawing/2014/main" id="{95E6165B-C4E4-932C-1780-D01210278598}"/>
              </a:ext>
            </a:extLst>
          </p:cNvPr>
          <p:cNvGrpSpPr>
            <a:grpSpLocks noChangeAspect="1"/>
          </p:cNvGrpSpPr>
          <p:nvPr/>
        </p:nvGrpSpPr>
        <p:grpSpPr>
          <a:xfrm>
            <a:off x="2306584" y="2324011"/>
            <a:ext cx="1860194" cy="1389229"/>
            <a:chOff x="2133039" y="4237165"/>
            <a:chExt cx="2410610" cy="1800291"/>
          </a:xfrm>
        </p:grpSpPr>
        <p:grpSp>
          <p:nvGrpSpPr>
            <p:cNvPr id="22" name="Group 21">
              <a:extLst>
                <a:ext uri="{FF2B5EF4-FFF2-40B4-BE49-F238E27FC236}">
                  <a16:creationId xmlns:a16="http://schemas.microsoft.com/office/drawing/2014/main" id="{6EADAEE9-4B64-3B2D-E660-D8E84B09F2C1}"/>
                </a:ext>
              </a:extLst>
            </p:cNvPr>
            <p:cNvGrpSpPr/>
            <p:nvPr/>
          </p:nvGrpSpPr>
          <p:grpSpPr>
            <a:xfrm>
              <a:off x="2141219" y="4237165"/>
              <a:ext cx="2402430" cy="1800291"/>
              <a:chOff x="2141219" y="4183825"/>
              <a:chExt cx="2402430" cy="1800291"/>
            </a:xfrm>
          </p:grpSpPr>
          <p:pic>
            <p:nvPicPr>
              <p:cNvPr id="26" name="Picture 6">
                <a:extLst>
                  <a:ext uri="{FF2B5EF4-FFF2-40B4-BE49-F238E27FC236}">
                    <a16:creationId xmlns:a16="http://schemas.microsoft.com/office/drawing/2014/main" id="{45278E92-65BE-DFA4-8252-61C36A1746D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141219" y="4183825"/>
                <a:ext cx="2402430" cy="1800291"/>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72CAA352-954C-9F9D-7494-B6C8D2D640B8}"/>
                  </a:ext>
                </a:extLst>
              </p:cNvPr>
              <p:cNvSpPr/>
              <p:nvPr/>
            </p:nvSpPr>
            <p:spPr>
              <a:xfrm>
                <a:off x="3005026" y="4990293"/>
                <a:ext cx="1538623" cy="689249"/>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3CEF2AD-2C00-E322-409C-A3C93BB4C70C}"/>
                  </a:ext>
                </a:extLst>
              </p:cNvPr>
              <p:cNvSpPr/>
              <p:nvPr/>
            </p:nvSpPr>
            <p:spPr>
              <a:xfrm>
                <a:off x="2450854" y="4990293"/>
                <a:ext cx="690715"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B061AFD5-B3C5-2EC7-A712-EB9038524866}"/>
                  </a:ext>
                </a:extLst>
              </p:cNvPr>
              <p:cNvSpPr/>
              <p:nvPr/>
            </p:nvSpPr>
            <p:spPr>
              <a:xfrm>
                <a:off x="2146381" y="4897422"/>
                <a:ext cx="536822"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ectangle 22">
              <a:extLst>
                <a:ext uri="{FF2B5EF4-FFF2-40B4-BE49-F238E27FC236}">
                  <a16:creationId xmlns:a16="http://schemas.microsoft.com/office/drawing/2014/main" id="{6C93622E-1B3A-30D5-E61B-DEA7449D5CAF}"/>
                </a:ext>
              </a:extLst>
            </p:cNvPr>
            <p:cNvSpPr/>
            <p:nvPr/>
          </p:nvSpPr>
          <p:spPr>
            <a:xfrm>
              <a:off x="3488436" y="4765827"/>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a:t>Car</a:t>
              </a:r>
            </a:p>
          </p:txBody>
        </p:sp>
        <p:sp>
          <p:nvSpPr>
            <p:cNvPr id="24" name="Rectangle 23">
              <a:extLst>
                <a:ext uri="{FF2B5EF4-FFF2-40B4-BE49-F238E27FC236}">
                  <a16:creationId xmlns:a16="http://schemas.microsoft.com/office/drawing/2014/main" id="{0549D056-2D6E-8883-3FE8-92B44652ADEF}"/>
                </a:ext>
              </a:extLst>
            </p:cNvPr>
            <p:cNvSpPr/>
            <p:nvPr/>
          </p:nvSpPr>
          <p:spPr>
            <a:xfrm>
              <a:off x="2451717" y="5490484"/>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a:t>Car</a:t>
              </a:r>
            </a:p>
          </p:txBody>
        </p:sp>
        <p:sp>
          <p:nvSpPr>
            <p:cNvPr id="25" name="Rectangle 24">
              <a:extLst>
                <a:ext uri="{FF2B5EF4-FFF2-40B4-BE49-F238E27FC236}">
                  <a16:creationId xmlns:a16="http://schemas.microsoft.com/office/drawing/2014/main" id="{B50835E8-715E-5DD7-FE4C-ACC553EC21A3}"/>
                </a:ext>
              </a:extLst>
            </p:cNvPr>
            <p:cNvSpPr/>
            <p:nvPr/>
          </p:nvSpPr>
          <p:spPr>
            <a:xfrm>
              <a:off x="2133039" y="4699008"/>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a:t>Car</a:t>
              </a:r>
            </a:p>
          </p:txBody>
        </p:sp>
      </p:grpSp>
      <p:sp>
        <p:nvSpPr>
          <p:cNvPr id="30" name="TextBox 29">
            <a:extLst>
              <a:ext uri="{FF2B5EF4-FFF2-40B4-BE49-F238E27FC236}">
                <a16:creationId xmlns:a16="http://schemas.microsoft.com/office/drawing/2014/main" id="{48376233-F79E-42BE-E244-088DB9B6B99E}"/>
              </a:ext>
            </a:extLst>
          </p:cNvPr>
          <p:cNvSpPr txBox="1"/>
          <p:nvPr/>
        </p:nvSpPr>
        <p:spPr>
          <a:xfrm>
            <a:off x="792524" y="702489"/>
            <a:ext cx="1390934" cy="646331"/>
          </a:xfrm>
          <a:prstGeom prst="rect">
            <a:avLst/>
          </a:prstGeom>
          <a:noFill/>
        </p:spPr>
        <p:txBody>
          <a:bodyPr wrap="square" rtlCol="0">
            <a:spAutoFit/>
          </a:bodyPr>
          <a:lstStyle/>
          <a:p>
            <a:pPr algn="ctr"/>
            <a:r>
              <a:rPr lang="en-US"/>
              <a:t>Real-world scene</a:t>
            </a:r>
          </a:p>
        </p:txBody>
      </p:sp>
      <p:sp>
        <p:nvSpPr>
          <p:cNvPr id="31" name="TextBox 30">
            <a:extLst>
              <a:ext uri="{FF2B5EF4-FFF2-40B4-BE49-F238E27FC236}">
                <a16:creationId xmlns:a16="http://schemas.microsoft.com/office/drawing/2014/main" id="{4975C36D-D41A-5116-D275-A86375586B24}"/>
              </a:ext>
            </a:extLst>
          </p:cNvPr>
          <p:cNvSpPr txBox="1"/>
          <p:nvPr/>
        </p:nvSpPr>
        <p:spPr>
          <a:xfrm>
            <a:off x="513227" y="2623171"/>
            <a:ext cx="1946440" cy="646331"/>
          </a:xfrm>
          <a:prstGeom prst="rect">
            <a:avLst/>
          </a:prstGeom>
          <a:noFill/>
        </p:spPr>
        <p:txBody>
          <a:bodyPr wrap="square" rtlCol="0">
            <a:spAutoFit/>
          </a:bodyPr>
          <a:lstStyle/>
          <a:p>
            <a:pPr algn="ctr"/>
            <a:r>
              <a:rPr lang="en-US"/>
              <a:t>Relevant information</a:t>
            </a:r>
          </a:p>
        </p:txBody>
      </p:sp>
    </p:spTree>
    <p:extLst>
      <p:ext uri="{BB962C8B-B14F-4D97-AF65-F5344CB8AC3E}">
        <p14:creationId xmlns:p14="http://schemas.microsoft.com/office/powerpoint/2010/main" val="25771016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AD93B12-684C-C913-7022-5F8FA4FAE556}"/>
              </a:ext>
            </a:extLst>
          </p:cNvPr>
          <p:cNvSpPr>
            <a:spLocks noGrp="1"/>
          </p:cNvSpPr>
          <p:nvPr>
            <p:ph type="dt" sz="half" idx="10"/>
          </p:nvPr>
        </p:nvSpPr>
        <p:spPr/>
        <p:txBody>
          <a:bodyPr/>
          <a:lstStyle/>
          <a:p>
            <a:fld id="{6D8832B0-7666-4C4A-8B5B-6295DC80AE18}" type="datetime1">
              <a:rPr lang="en-US" smtClean="0"/>
              <a:t>12/20/2025</a:t>
            </a:fld>
            <a:endParaRPr lang="en-US"/>
          </a:p>
        </p:txBody>
      </p:sp>
      <p:sp>
        <p:nvSpPr>
          <p:cNvPr id="5" name="Footer Placeholder 4">
            <a:extLst>
              <a:ext uri="{FF2B5EF4-FFF2-40B4-BE49-F238E27FC236}">
                <a16:creationId xmlns:a16="http://schemas.microsoft.com/office/drawing/2014/main" id="{4BDB4AFF-4B6A-ECF1-03BF-802136A90333}"/>
              </a:ext>
            </a:extLst>
          </p:cNvPr>
          <p:cNvSpPr>
            <a:spLocks noGrp="1"/>
          </p:cNvSpPr>
          <p:nvPr>
            <p:ph type="ftr" sz="quarter" idx="11"/>
          </p:nvPr>
        </p:nvSpPr>
        <p:spPr/>
        <p:txBody>
          <a:bodyPr/>
          <a:lstStyle/>
          <a:p>
            <a:r>
              <a:rPr lang="hr-HR"/>
              <a:t>AA174A | Lecture 9</a:t>
            </a:r>
            <a:endParaRPr lang="en-US"/>
          </a:p>
        </p:txBody>
      </p:sp>
      <p:pic>
        <p:nvPicPr>
          <p:cNvPr id="7" name="Picture 6">
            <a:extLst>
              <a:ext uri="{FF2B5EF4-FFF2-40B4-BE49-F238E27FC236}">
                <a16:creationId xmlns:a16="http://schemas.microsoft.com/office/drawing/2014/main" id="{CC4EE974-D5E8-38F5-026D-77B9827827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4490" y="372430"/>
            <a:ext cx="2056488" cy="1574009"/>
          </a:xfrm>
          <a:prstGeom prst="rect">
            <a:avLst/>
          </a:prstGeom>
        </p:spPr>
      </p:pic>
      <p:sp>
        <p:nvSpPr>
          <p:cNvPr id="8" name="Rectangle 7">
            <a:extLst>
              <a:ext uri="{FF2B5EF4-FFF2-40B4-BE49-F238E27FC236}">
                <a16:creationId xmlns:a16="http://schemas.microsoft.com/office/drawing/2014/main" id="{70206964-D047-E40C-E6B7-FD270C3EF335}"/>
              </a:ext>
            </a:extLst>
          </p:cNvPr>
          <p:cNvSpPr/>
          <p:nvPr/>
        </p:nvSpPr>
        <p:spPr>
          <a:xfrm>
            <a:off x="5083751" y="2425029"/>
            <a:ext cx="1617017" cy="131924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Scene Representation</a:t>
            </a:r>
          </a:p>
        </p:txBody>
      </p:sp>
      <p:pic>
        <p:nvPicPr>
          <p:cNvPr id="11" name="Picture 4" descr="Importance of Grid System in Graphic Design | UX Collective">
            <a:extLst>
              <a:ext uri="{FF2B5EF4-FFF2-40B4-BE49-F238E27FC236}">
                <a16:creationId xmlns:a16="http://schemas.microsoft.com/office/drawing/2014/main" id="{42DF6415-E421-4CA5-5637-AB88D9BA23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71119" y="1549901"/>
            <a:ext cx="1880945" cy="1207318"/>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5511F2FF-1D4A-FB0F-3F5A-5BF47F89BFE2}"/>
              </a:ext>
            </a:extLst>
          </p:cNvPr>
          <p:cNvSpPr txBox="1"/>
          <p:nvPr/>
        </p:nvSpPr>
        <p:spPr>
          <a:xfrm>
            <a:off x="7601668" y="997555"/>
            <a:ext cx="2205273" cy="551803"/>
          </a:xfrm>
          <a:prstGeom prst="rect">
            <a:avLst/>
          </a:prstGeom>
          <a:noFill/>
        </p:spPr>
        <p:txBody>
          <a:bodyPr wrap="square" rtlCol="0">
            <a:spAutoFit/>
          </a:bodyPr>
          <a:lstStyle/>
          <a:p>
            <a:pPr algn="ctr"/>
            <a:r>
              <a:rPr lang="en-US"/>
              <a:t>Digital image </a:t>
            </a:r>
          </a:p>
          <a:p>
            <a:pPr algn="ctr"/>
            <a:r>
              <a:rPr lang="en-US"/>
              <a:t>(array of pixel values)</a:t>
            </a:r>
          </a:p>
        </p:txBody>
      </p:sp>
      <p:sp>
        <p:nvSpPr>
          <p:cNvPr id="13" name="Right Arrow 12">
            <a:extLst>
              <a:ext uri="{FF2B5EF4-FFF2-40B4-BE49-F238E27FC236}">
                <a16:creationId xmlns:a16="http://schemas.microsoft.com/office/drawing/2014/main" id="{9F777744-4112-D4DB-838A-EA873D1C8901}"/>
              </a:ext>
            </a:extLst>
          </p:cNvPr>
          <p:cNvSpPr/>
          <p:nvPr/>
        </p:nvSpPr>
        <p:spPr>
          <a:xfrm>
            <a:off x="4320582" y="1078243"/>
            <a:ext cx="548027" cy="1952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C229C174-E1F6-DAD4-AE31-8D59D98C0EFF}"/>
              </a:ext>
            </a:extLst>
          </p:cNvPr>
          <p:cNvSpPr/>
          <p:nvPr/>
        </p:nvSpPr>
        <p:spPr>
          <a:xfrm rot="2344584">
            <a:off x="6781187" y="1372464"/>
            <a:ext cx="720819" cy="1952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E801F8DA-9DB6-86DC-FC12-054E2AFD8DBF}"/>
              </a:ext>
            </a:extLst>
          </p:cNvPr>
          <p:cNvSpPr/>
          <p:nvPr/>
        </p:nvSpPr>
        <p:spPr>
          <a:xfrm rot="7834995">
            <a:off x="6940837" y="2557886"/>
            <a:ext cx="693097" cy="20302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D9EB7198-E066-8FE2-C183-D14741AC2DDC}"/>
              </a:ext>
            </a:extLst>
          </p:cNvPr>
          <p:cNvSpPr/>
          <p:nvPr/>
        </p:nvSpPr>
        <p:spPr>
          <a:xfrm rot="10800000">
            <a:off x="4410613" y="2921019"/>
            <a:ext cx="548027" cy="1952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9FF73F7-93E7-79EB-3903-FB6571C6D76A}"/>
              </a:ext>
            </a:extLst>
          </p:cNvPr>
          <p:cNvSpPr/>
          <p:nvPr/>
        </p:nvSpPr>
        <p:spPr>
          <a:xfrm>
            <a:off x="632648" y="2054633"/>
            <a:ext cx="6218330" cy="209200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9C73217-121F-5CB3-1C8E-8D26FB2C2C18}"/>
              </a:ext>
            </a:extLst>
          </p:cNvPr>
          <p:cNvSpPr txBox="1"/>
          <p:nvPr/>
        </p:nvSpPr>
        <p:spPr>
          <a:xfrm>
            <a:off x="3249395" y="4391780"/>
            <a:ext cx="3238428" cy="1477328"/>
          </a:xfrm>
          <a:prstGeom prst="rect">
            <a:avLst/>
          </a:prstGeom>
          <a:noFill/>
        </p:spPr>
        <p:txBody>
          <a:bodyPr wrap="square" rtlCol="0">
            <a:spAutoFit/>
          </a:bodyPr>
          <a:lstStyle/>
          <a:p>
            <a:r>
              <a:rPr lang="en-US" b="1"/>
              <a:t>Interpretation: </a:t>
            </a:r>
          </a:p>
          <a:p>
            <a:pPr marL="285750" indent="-285750">
              <a:buFont typeface="Arial" panose="020B0604020202020204" pitchFamily="34" charset="0"/>
              <a:buChar char="•"/>
            </a:pPr>
            <a:r>
              <a:rPr lang="en-US"/>
              <a:t>Object detection</a:t>
            </a:r>
          </a:p>
          <a:p>
            <a:pPr marL="285750" indent="-285750">
              <a:buFont typeface="Arial" panose="020B0604020202020204" pitchFamily="34" charset="0"/>
              <a:buChar char="•"/>
            </a:pPr>
            <a:r>
              <a:rPr lang="en-US"/>
              <a:t>Object tracking</a:t>
            </a:r>
          </a:p>
          <a:p>
            <a:pPr marL="285750" indent="-285750">
              <a:buFont typeface="Arial" panose="020B0604020202020204" pitchFamily="34" charset="0"/>
              <a:buChar char="•"/>
            </a:pPr>
            <a:r>
              <a:rPr lang="en-US"/>
              <a:t>Image registration</a:t>
            </a:r>
          </a:p>
          <a:p>
            <a:pPr marL="285750" indent="-285750">
              <a:buFont typeface="Arial" panose="020B0604020202020204" pitchFamily="34" charset="0"/>
              <a:buChar char="•"/>
            </a:pPr>
            <a:r>
              <a:rPr lang="en-US"/>
              <a:t>Image segmentation</a:t>
            </a:r>
          </a:p>
        </p:txBody>
      </p:sp>
      <p:pic>
        <p:nvPicPr>
          <p:cNvPr id="20" name="Picture 6">
            <a:extLst>
              <a:ext uri="{FF2B5EF4-FFF2-40B4-BE49-F238E27FC236}">
                <a16:creationId xmlns:a16="http://schemas.microsoft.com/office/drawing/2014/main" id="{4FC0603A-DAA5-34A8-AE86-C5618B8B52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305371" y="487308"/>
            <a:ext cx="1778622" cy="1332833"/>
          </a:xfrm>
          <a:prstGeom prst="rect">
            <a:avLst/>
          </a:prstGeom>
          <a:noFill/>
          <a:extLst>
            <a:ext uri="{909E8E84-426E-40DD-AFC4-6F175D3DCCD1}">
              <a14:hiddenFill xmlns:a14="http://schemas.microsoft.com/office/drawing/2010/main">
                <a:solidFill>
                  <a:srgbClr val="FFFFFF"/>
                </a:solidFill>
              </a14:hiddenFill>
            </a:ext>
          </a:extLst>
        </p:spPr>
      </p:pic>
      <p:grpSp>
        <p:nvGrpSpPr>
          <p:cNvPr id="21" name="Group 20">
            <a:extLst>
              <a:ext uri="{FF2B5EF4-FFF2-40B4-BE49-F238E27FC236}">
                <a16:creationId xmlns:a16="http://schemas.microsoft.com/office/drawing/2014/main" id="{95E6165B-C4E4-932C-1780-D01210278598}"/>
              </a:ext>
            </a:extLst>
          </p:cNvPr>
          <p:cNvGrpSpPr>
            <a:grpSpLocks noChangeAspect="1"/>
          </p:cNvGrpSpPr>
          <p:nvPr/>
        </p:nvGrpSpPr>
        <p:grpSpPr>
          <a:xfrm>
            <a:off x="2306584" y="2324011"/>
            <a:ext cx="1860194" cy="1389229"/>
            <a:chOff x="2133039" y="4237165"/>
            <a:chExt cx="2410610" cy="1800291"/>
          </a:xfrm>
        </p:grpSpPr>
        <p:grpSp>
          <p:nvGrpSpPr>
            <p:cNvPr id="22" name="Group 21">
              <a:extLst>
                <a:ext uri="{FF2B5EF4-FFF2-40B4-BE49-F238E27FC236}">
                  <a16:creationId xmlns:a16="http://schemas.microsoft.com/office/drawing/2014/main" id="{6EADAEE9-4B64-3B2D-E660-D8E84B09F2C1}"/>
                </a:ext>
              </a:extLst>
            </p:cNvPr>
            <p:cNvGrpSpPr/>
            <p:nvPr/>
          </p:nvGrpSpPr>
          <p:grpSpPr>
            <a:xfrm>
              <a:off x="2141219" y="4237165"/>
              <a:ext cx="2402430" cy="1800291"/>
              <a:chOff x="2141219" y="4183825"/>
              <a:chExt cx="2402430" cy="1800291"/>
            </a:xfrm>
          </p:grpSpPr>
          <p:pic>
            <p:nvPicPr>
              <p:cNvPr id="26" name="Picture 6">
                <a:extLst>
                  <a:ext uri="{FF2B5EF4-FFF2-40B4-BE49-F238E27FC236}">
                    <a16:creationId xmlns:a16="http://schemas.microsoft.com/office/drawing/2014/main" id="{45278E92-65BE-DFA4-8252-61C36A1746D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141219" y="4183825"/>
                <a:ext cx="2402430" cy="1800291"/>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72CAA352-954C-9F9D-7494-B6C8D2D640B8}"/>
                  </a:ext>
                </a:extLst>
              </p:cNvPr>
              <p:cNvSpPr/>
              <p:nvPr/>
            </p:nvSpPr>
            <p:spPr>
              <a:xfrm>
                <a:off x="3005026" y="4990293"/>
                <a:ext cx="1538623" cy="689249"/>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3CEF2AD-2C00-E322-409C-A3C93BB4C70C}"/>
                  </a:ext>
                </a:extLst>
              </p:cNvPr>
              <p:cNvSpPr/>
              <p:nvPr/>
            </p:nvSpPr>
            <p:spPr>
              <a:xfrm>
                <a:off x="2450854" y="4990293"/>
                <a:ext cx="690715"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B061AFD5-B3C5-2EC7-A712-EB9038524866}"/>
                  </a:ext>
                </a:extLst>
              </p:cNvPr>
              <p:cNvSpPr/>
              <p:nvPr/>
            </p:nvSpPr>
            <p:spPr>
              <a:xfrm>
                <a:off x="2146381" y="4897422"/>
                <a:ext cx="536822"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ectangle 22">
              <a:extLst>
                <a:ext uri="{FF2B5EF4-FFF2-40B4-BE49-F238E27FC236}">
                  <a16:creationId xmlns:a16="http://schemas.microsoft.com/office/drawing/2014/main" id="{6C93622E-1B3A-30D5-E61B-DEA7449D5CAF}"/>
                </a:ext>
              </a:extLst>
            </p:cNvPr>
            <p:cNvSpPr/>
            <p:nvPr/>
          </p:nvSpPr>
          <p:spPr>
            <a:xfrm>
              <a:off x="3488436" y="4765827"/>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a:t>Car</a:t>
              </a:r>
            </a:p>
          </p:txBody>
        </p:sp>
        <p:sp>
          <p:nvSpPr>
            <p:cNvPr id="24" name="Rectangle 23">
              <a:extLst>
                <a:ext uri="{FF2B5EF4-FFF2-40B4-BE49-F238E27FC236}">
                  <a16:creationId xmlns:a16="http://schemas.microsoft.com/office/drawing/2014/main" id="{0549D056-2D6E-8883-3FE8-92B44652ADEF}"/>
                </a:ext>
              </a:extLst>
            </p:cNvPr>
            <p:cNvSpPr/>
            <p:nvPr/>
          </p:nvSpPr>
          <p:spPr>
            <a:xfrm>
              <a:off x="2451717" y="5490484"/>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a:t>Car</a:t>
              </a:r>
            </a:p>
          </p:txBody>
        </p:sp>
        <p:sp>
          <p:nvSpPr>
            <p:cNvPr id="25" name="Rectangle 24">
              <a:extLst>
                <a:ext uri="{FF2B5EF4-FFF2-40B4-BE49-F238E27FC236}">
                  <a16:creationId xmlns:a16="http://schemas.microsoft.com/office/drawing/2014/main" id="{B50835E8-715E-5DD7-FE4C-ACC553EC21A3}"/>
                </a:ext>
              </a:extLst>
            </p:cNvPr>
            <p:cNvSpPr/>
            <p:nvPr/>
          </p:nvSpPr>
          <p:spPr>
            <a:xfrm>
              <a:off x="2133039" y="4699008"/>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a:t>Car</a:t>
              </a:r>
            </a:p>
          </p:txBody>
        </p:sp>
      </p:grpSp>
      <p:sp>
        <p:nvSpPr>
          <p:cNvPr id="30" name="TextBox 29">
            <a:extLst>
              <a:ext uri="{FF2B5EF4-FFF2-40B4-BE49-F238E27FC236}">
                <a16:creationId xmlns:a16="http://schemas.microsoft.com/office/drawing/2014/main" id="{48376233-F79E-42BE-E244-088DB9B6B99E}"/>
              </a:ext>
            </a:extLst>
          </p:cNvPr>
          <p:cNvSpPr txBox="1"/>
          <p:nvPr/>
        </p:nvSpPr>
        <p:spPr>
          <a:xfrm>
            <a:off x="792524" y="702489"/>
            <a:ext cx="1390934" cy="646331"/>
          </a:xfrm>
          <a:prstGeom prst="rect">
            <a:avLst/>
          </a:prstGeom>
          <a:noFill/>
        </p:spPr>
        <p:txBody>
          <a:bodyPr wrap="square" rtlCol="0">
            <a:spAutoFit/>
          </a:bodyPr>
          <a:lstStyle/>
          <a:p>
            <a:pPr algn="ctr"/>
            <a:r>
              <a:rPr lang="en-US"/>
              <a:t>Real-world scene</a:t>
            </a:r>
          </a:p>
        </p:txBody>
      </p:sp>
      <p:sp>
        <p:nvSpPr>
          <p:cNvPr id="31" name="TextBox 30">
            <a:extLst>
              <a:ext uri="{FF2B5EF4-FFF2-40B4-BE49-F238E27FC236}">
                <a16:creationId xmlns:a16="http://schemas.microsoft.com/office/drawing/2014/main" id="{4975C36D-D41A-5116-D275-A86375586B24}"/>
              </a:ext>
            </a:extLst>
          </p:cNvPr>
          <p:cNvSpPr txBox="1"/>
          <p:nvPr/>
        </p:nvSpPr>
        <p:spPr>
          <a:xfrm>
            <a:off x="513227" y="2623171"/>
            <a:ext cx="1946440" cy="646331"/>
          </a:xfrm>
          <a:prstGeom prst="rect">
            <a:avLst/>
          </a:prstGeom>
          <a:noFill/>
        </p:spPr>
        <p:txBody>
          <a:bodyPr wrap="square" rtlCol="0">
            <a:spAutoFit/>
          </a:bodyPr>
          <a:lstStyle/>
          <a:p>
            <a:pPr algn="ctr"/>
            <a:r>
              <a:rPr lang="en-US"/>
              <a:t>Relevant information</a:t>
            </a:r>
          </a:p>
        </p:txBody>
      </p:sp>
    </p:spTree>
    <p:extLst>
      <p:ext uri="{BB962C8B-B14F-4D97-AF65-F5344CB8AC3E}">
        <p14:creationId xmlns:p14="http://schemas.microsoft.com/office/powerpoint/2010/main" val="2585402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C148B-AE3E-D5C8-CB8C-DB079878BC86}"/>
              </a:ext>
            </a:extLst>
          </p:cNvPr>
          <p:cNvSpPr>
            <a:spLocks noGrp="1"/>
          </p:cNvSpPr>
          <p:nvPr>
            <p:ph type="title"/>
          </p:nvPr>
        </p:nvSpPr>
        <p:spPr/>
        <p:txBody>
          <a:bodyPr/>
          <a:lstStyle/>
          <a:p>
            <a:r>
              <a:rPr lang="en-US"/>
              <a:t>Object Detection</a:t>
            </a:r>
          </a:p>
        </p:txBody>
      </p:sp>
      <p:sp>
        <p:nvSpPr>
          <p:cNvPr id="3" name="Content Placeholder 2">
            <a:extLst>
              <a:ext uri="{FF2B5EF4-FFF2-40B4-BE49-F238E27FC236}">
                <a16:creationId xmlns:a16="http://schemas.microsoft.com/office/drawing/2014/main" id="{DE578CA4-DFFC-BA28-AEB4-D001D604950E}"/>
              </a:ext>
            </a:extLst>
          </p:cNvPr>
          <p:cNvSpPr>
            <a:spLocks noGrp="1"/>
          </p:cNvSpPr>
          <p:nvPr>
            <p:ph idx="1"/>
          </p:nvPr>
        </p:nvSpPr>
        <p:spPr>
          <a:xfrm>
            <a:off x="838200" y="1825625"/>
            <a:ext cx="10515600" cy="1066337"/>
          </a:xfrm>
        </p:spPr>
        <p:txBody>
          <a:bodyPr/>
          <a:lstStyle/>
          <a:p>
            <a:r>
              <a:rPr lang="en-US"/>
              <a:t>Goal: Detect instances of semantic objects of a certain class</a:t>
            </a:r>
          </a:p>
          <a:p>
            <a:pPr lvl="1"/>
            <a:r>
              <a:rPr lang="en-US"/>
              <a:t>E.g. pedestrian detection, face detection</a:t>
            </a:r>
          </a:p>
        </p:txBody>
      </p:sp>
      <p:sp>
        <p:nvSpPr>
          <p:cNvPr id="4" name="Date Placeholder 3">
            <a:extLst>
              <a:ext uri="{FF2B5EF4-FFF2-40B4-BE49-F238E27FC236}">
                <a16:creationId xmlns:a16="http://schemas.microsoft.com/office/drawing/2014/main" id="{4AEE0E39-06B5-0612-E0E1-DE4530AB8F57}"/>
              </a:ext>
            </a:extLst>
          </p:cNvPr>
          <p:cNvSpPr>
            <a:spLocks noGrp="1"/>
          </p:cNvSpPr>
          <p:nvPr>
            <p:ph type="dt" sz="half" idx="10"/>
          </p:nvPr>
        </p:nvSpPr>
        <p:spPr/>
        <p:txBody>
          <a:bodyPr/>
          <a:lstStyle/>
          <a:p>
            <a:fld id="{E36B4866-71EA-2D44-B9CA-406A2B197D1B}" type="datetime1">
              <a:rPr lang="en-US" smtClean="0"/>
              <a:t>12/20/2025</a:t>
            </a:fld>
            <a:endParaRPr lang="en-US"/>
          </a:p>
        </p:txBody>
      </p:sp>
      <p:sp>
        <p:nvSpPr>
          <p:cNvPr id="5" name="Footer Placeholder 4">
            <a:extLst>
              <a:ext uri="{FF2B5EF4-FFF2-40B4-BE49-F238E27FC236}">
                <a16:creationId xmlns:a16="http://schemas.microsoft.com/office/drawing/2014/main" id="{72C0EB11-98C1-E629-41C4-CE9B5FA46FF8}"/>
              </a:ext>
            </a:extLst>
          </p:cNvPr>
          <p:cNvSpPr>
            <a:spLocks noGrp="1"/>
          </p:cNvSpPr>
          <p:nvPr>
            <p:ph type="ftr" sz="quarter" idx="11"/>
          </p:nvPr>
        </p:nvSpPr>
        <p:spPr/>
        <p:txBody>
          <a:bodyPr/>
          <a:lstStyle/>
          <a:p>
            <a:r>
              <a:rPr lang="hr-HR"/>
              <a:t>AA174A | Lecture 9</a:t>
            </a:r>
            <a:endParaRPr lang="en-US"/>
          </a:p>
        </p:txBody>
      </p:sp>
      <p:pic>
        <p:nvPicPr>
          <p:cNvPr id="10" name="Picture 9" descr="A car on the road&#10;&#10;Description automatically generated">
            <a:extLst>
              <a:ext uri="{FF2B5EF4-FFF2-40B4-BE49-F238E27FC236}">
                <a16:creationId xmlns:a16="http://schemas.microsoft.com/office/drawing/2014/main" id="{3BB86722-5370-BDFE-406C-EC24BA9167FD}"/>
              </a:ext>
            </a:extLst>
          </p:cNvPr>
          <p:cNvPicPr>
            <a:picLocks noChangeAspect="1"/>
          </p:cNvPicPr>
          <p:nvPr/>
        </p:nvPicPr>
        <p:blipFill>
          <a:blip r:embed="rId3"/>
          <a:stretch>
            <a:fillRect/>
          </a:stretch>
        </p:blipFill>
        <p:spPr>
          <a:xfrm>
            <a:off x="7296415" y="3114532"/>
            <a:ext cx="4811199" cy="2715564"/>
          </a:xfrm>
          <a:prstGeom prst="rect">
            <a:avLst/>
          </a:prstGeom>
        </p:spPr>
      </p:pic>
      <p:sp>
        <p:nvSpPr>
          <p:cNvPr id="12" name="Content Placeholder 2">
            <a:extLst>
              <a:ext uri="{FF2B5EF4-FFF2-40B4-BE49-F238E27FC236}">
                <a16:creationId xmlns:a16="http://schemas.microsoft.com/office/drawing/2014/main" id="{B006899E-56CD-BC9C-8AEC-8FC2899886A6}"/>
              </a:ext>
            </a:extLst>
          </p:cNvPr>
          <p:cNvSpPr txBox="1">
            <a:spLocks/>
          </p:cNvSpPr>
          <p:nvPr/>
        </p:nvSpPr>
        <p:spPr>
          <a:xfrm>
            <a:off x="838200" y="2925048"/>
            <a:ext cx="6151880" cy="339447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Approaches:</a:t>
            </a:r>
          </a:p>
          <a:p>
            <a:pPr lvl="1"/>
            <a:r>
              <a:rPr lang="en-US"/>
              <a:t>Traditional methods, e.g.:</a:t>
            </a:r>
          </a:p>
          <a:p>
            <a:pPr lvl="2"/>
            <a:r>
              <a:rPr lang="en-US"/>
              <a:t>Scale-invariant feature transform (SIFT)</a:t>
            </a:r>
          </a:p>
          <a:p>
            <a:pPr lvl="2"/>
            <a:r>
              <a:rPr lang="en-US"/>
              <a:t>Histogram of Oriented Gradients (HOG) </a:t>
            </a:r>
          </a:p>
          <a:p>
            <a:pPr lvl="1"/>
            <a:r>
              <a:rPr lang="en-US"/>
              <a:t>Learning-based:</a:t>
            </a:r>
          </a:p>
          <a:p>
            <a:pPr lvl="2"/>
            <a:r>
              <a:rPr lang="en-US"/>
              <a:t>Using region proposals</a:t>
            </a:r>
          </a:p>
          <a:p>
            <a:pPr lvl="2"/>
            <a:r>
              <a:rPr lang="en-US"/>
              <a:t>Without region proposals: You Only Look Once (YOLO), Single Shot Detector (SSD) </a:t>
            </a:r>
          </a:p>
          <a:p>
            <a:pPr lvl="1"/>
            <a:endParaRPr lang="en-US"/>
          </a:p>
        </p:txBody>
      </p:sp>
    </p:spTree>
    <p:extLst>
      <p:ext uri="{BB962C8B-B14F-4D97-AF65-F5344CB8AC3E}">
        <p14:creationId xmlns:p14="http://schemas.microsoft.com/office/powerpoint/2010/main" val="14669214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2CA81-E19D-0E28-CB42-266CAA8F81B6}"/>
              </a:ext>
            </a:extLst>
          </p:cNvPr>
          <p:cNvSpPr>
            <a:spLocks noGrp="1"/>
          </p:cNvSpPr>
          <p:nvPr>
            <p:ph type="title"/>
          </p:nvPr>
        </p:nvSpPr>
        <p:spPr/>
        <p:txBody>
          <a:bodyPr/>
          <a:lstStyle/>
          <a:p>
            <a:r>
              <a:rPr lang="en-US"/>
              <a:t>Object Tracking</a:t>
            </a:r>
          </a:p>
        </p:txBody>
      </p:sp>
      <p:sp>
        <p:nvSpPr>
          <p:cNvPr id="3" name="Content Placeholder 2">
            <a:extLst>
              <a:ext uri="{FF2B5EF4-FFF2-40B4-BE49-F238E27FC236}">
                <a16:creationId xmlns:a16="http://schemas.microsoft.com/office/drawing/2014/main" id="{3D126D5C-20D0-43DD-0660-6FFAE2D9B4F4}"/>
              </a:ext>
            </a:extLst>
          </p:cNvPr>
          <p:cNvSpPr>
            <a:spLocks noGrp="1"/>
          </p:cNvSpPr>
          <p:nvPr>
            <p:ph idx="1"/>
          </p:nvPr>
        </p:nvSpPr>
        <p:spPr/>
        <p:txBody>
          <a:bodyPr/>
          <a:lstStyle/>
          <a:p>
            <a:r>
              <a:rPr lang="en-US"/>
              <a:t>Goal: Follow and locate a specific object across a sequence of images or video frames</a:t>
            </a:r>
          </a:p>
          <a:p>
            <a:r>
              <a:rPr lang="en-US"/>
              <a:t>Applications: Autonomous driving, surveillance, augmented reality, medical imaging, sports analysis, etc.</a:t>
            </a:r>
          </a:p>
          <a:p>
            <a:r>
              <a:rPr lang="en-US"/>
              <a:t>Approaches: </a:t>
            </a:r>
          </a:p>
          <a:p>
            <a:pPr lvl="1"/>
            <a:r>
              <a:rPr lang="en-US"/>
              <a:t>Traditional methods, e.g. mean-shift tracking or Kalman filters</a:t>
            </a:r>
          </a:p>
          <a:p>
            <a:pPr lvl="1"/>
            <a:r>
              <a:rPr lang="en-US"/>
              <a:t>Learning-based methods, e.g. Siamese networks or recurrent neural networks (RNNs) </a:t>
            </a:r>
          </a:p>
          <a:p>
            <a:pPr lvl="2"/>
            <a:endParaRPr lang="en-US"/>
          </a:p>
        </p:txBody>
      </p:sp>
      <p:sp>
        <p:nvSpPr>
          <p:cNvPr id="4" name="Date Placeholder 3">
            <a:extLst>
              <a:ext uri="{FF2B5EF4-FFF2-40B4-BE49-F238E27FC236}">
                <a16:creationId xmlns:a16="http://schemas.microsoft.com/office/drawing/2014/main" id="{03F555FB-1770-35AA-2E35-DDA9B233F210}"/>
              </a:ext>
            </a:extLst>
          </p:cNvPr>
          <p:cNvSpPr>
            <a:spLocks noGrp="1"/>
          </p:cNvSpPr>
          <p:nvPr>
            <p:ph type="dt" sz="half" idx="10"/>
          </p:nvPr>
        </p:nvSpPr>
        <p:spPr/>
        <p:txBody>
          <a:bodyPr/>
          <a:lstStyle/>
          <a:p>
            <a:fld id="{34ED90B2-79D9-104B-B361-8FFC5CCAE467}" type="datetime1">
              <a:rPr lang="en-US" smtClean="0"/>
              <a:t>12/20/2025</a:t>
            </a:fld>
            <a:endParaRPr lang="en-US"/>
          </a:p>
        </p:txBody>
      </p:sp>
      <p:sp>
        <p:nvSpPr>
          <p:cNvPr id="5" name="Footer Placeholder 4">
            <a:extLst>
              <a:ext uri="{FF2B5EF4-FFF2-40B4-BE49-F238E27FC236}">
                <a16:creationId xmlns:a16="http://schemas.microsoft.com/office/drawing/2014/main" id="{D5399712-1F9F-0DBA-5EF9-93053B416E0F}"/>
              </a:ext>
            </a:extLst>
          </p:cNvPr>
          <p:cNvSpPr>
            <a:spLocks noGrp="1"/>
          </p:cNvSpPr>
          <p:nvPr>
            <p:ph type="ftr" sz="quarter" idx="11"/>
          </p:nvPr>
        </p:nvSpPr>
        <p:spPr/>
        <p:txBody>
          <a:bodyPr/>
          <a:lstStyle/>
          <a:p>
            <a:r>
              <a:rPr lang="hr-HR"/>
              <a:t>AA174A | Lecture 9</a:t>
            </a:r>
            <a:endParaRPr lang="en-US"/>
          </a:p>
        </p:txBody>
      </p:sp>
    </p:spTree>
    <p:extLst>
      <p:ext uri="{BB962C8B-B14F-4D97-AF65-F5344CB8AC3E}">
        <p14:creationId xmlns:p14="http://schemas.microsoft.com/office/powerpoint/2010/main" val="1579708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BC55E-BF28-236D-DE96-01AAD3B74229}"/>
              </a:ext>
            </a:extLst>
          </p:cNvPr>
          <p:cNvSpPr>
            <a:spLocks noGrp="1"/>
          </p:cNvSpPr>
          <p:nvPr>
            <p:ph type="title"/>
          </p:nvPr>
        </p:nvSpPr>
        <p:spPr/>
        <p:txBody>
          <a:bodyPr/>
          <a:lstStyle/>
          <a:p>
            <a:r>
              <a:rPr lang="en-US"/>
              <a:t>Image Registration</a:t>
            </a:r>
          </a:p>
        </p:txBody>
      </p:sp>
      <p:sp>
        <p:nvSpPr>
          <p:cNvPr id="3" name="Content Placeholder 2">
            <a:extLst>
              <a:ext uri="{FF2B5EF4-FFF2-40B4-BE49-F238E27FC236}">
                <a16:creationId xmlns:a16="http://schemas.microsoft.com/office/drawing/2014/main" id="{D0F92A12-5ED1-2FBB-6440-F9B11544D8AA}"/>
              </a:ext>
            </a:extLst>
          </p:cNvPr>
          <p:cNvSpPr>
            <a:spLocks noGrp="1"/>
          </p:cNvSpPr>
          <p:nvPr>
            <p:ph idx="1"/>
          </p:nvPr>
        </p:nvSpPr>
        <p:spPr/>
        <p:txBody>
          <a:bodyPr/>
          <a:lstStyle/>
          <a:p>
            <a:r>
              <a:rPr lang="en-US"/>
              <a:t>Goal: Transform different sets of data into one coordinate system</a:t>
            </a:r>
          </a:p>
          <a:p>
            <a:r>
              <a:rPr lang="en-US"/>
              <a:t>Examples: </a:t>
            </a:r>
          </a:p>
          <a:p>
            <a:pPr lvl="1"/>
            <a:r>
              <a:rPr lang="en-US"/>
              <a:t>Data from multiple photographs (e.g. with different viewpoints)</a:t>
            </a:r>
          </a:p>
          <a:p>
            <a:pPr lvl="1"/>
            <a:r>
              <a:rPr lang="en-US"/>
              <a:t>Data from different sensors (e.g. LIDAR and RGB camera)</a:t>
            </a:r>
          </a:p>
        </p:txBody>
      </p:sp>
      <p:sp>
        <p:nvSpPr>
          <p:cNvPr id="4" name="Date Placeholder 3">
            <a:extLst>
              <a:ext uri="{FF2B5EF4-FFF2-40B4-BE49-F238E27FC236}">
                <a16:creationId xmlns:a16="http://schemas.microsoft.com/office/drawing/2014/main" id="{DD9D6513-DD0F-77CD-A06B-62D60BFD47F8}"/>
              </a:ext>
            </a:extLst>
          </p:cNvPr>
          <p:cNvSpPr>
            <a:spLocks noGrp="1"/>
          </p:cNvSpPr>
          <p:nvPr>
            <p:ph type="dt" sz="half" idx="10"/>
          </p:nvPr>
        </p:nvSpPr>
        <p:spPr/>
        <p:txBody>
          <a:bodyPr/>
          <a:lstStyle/>
          <a:p>
            <a:fld id="{96B580FF-113E-9243-9AC3-FC188F722DB1}" type="datetime1">
              <a:rPr lang="en-US" smtClean="0"/>
              <a:t>12/20/2025</a:t>
            </a:fld>
            <a:endParaRPr lang="en-US"/>
          </a:p>
        </p:txBody>
      </p:sp>
      <p:sp>
        <p:nvSpPr>
          <p:cNvPr id="5" name="Footer Placeholder 4">
            <a:extLst>
              <a:ext uri="{FF2B5EF4-FFF2-40B4-BE49-F238E27FC236}">
                <a16:creationId xmlns:a16="http://schemas.microsoft.com/office/drawing/2014/main" id="{185B41CF-B6A4-48B6-21AA-520FB47B85AB}"/>
              </a:ext>
            </a:extLst>
          </p:cNvPr>
          <p:cNvSpPr>
            <a:spLocks noGrp="1"/>
          </p:cNvSpPr>
          <p:nvPr>
            <p:ph type="ftr" sz="quarter" idx="11"/>
          </p:nvPr>
        </p:nvSpPr>
        <p:spPr/>
        <p:txBody>
          <a:bodyPr/>
          <a:lstStyle/>
          <a:p>
            <a:r>
              <a:rPr lang="hr-HR"/>
              <a:t>AA174A | Lecture 9</a:t>
            </a:r>
            <a:endParaRPr lang="en-US"/>
          </a:p>
        </p:txBody>
      </p:sp>
      <p:pic>
        <p:nvPicPr>
          <p:cNvPr id="1026" name="Picture 2" descr="Image Registration - MATLAB &amp; Simulink">
            <a:extLst>
              <a:ext uri="{FF2B5EF4-FFF2-40B4-BE49-F238E27FC236}">
                <a16:creationId xmlns:a16="http://schemas.microsoft.com/office/drawing/2014/main" id="{F64BBC63-254B-F2F2-1885-3EC720EF6A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97071" y="3767737"/>
            <a:ext cx="5346700" cy="259179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732D240-29B8-5C49-CB23-69AA2B9F3539}"/>
              </a:ext>
            </a:extLst>
          </p:cNvPr>
          <p:cNvSpPr txBox="1"/>
          <p:nvPr/>
        </p:nvSpPr>
        <p:spPr>
          <a:xfrm>
            <a:off x="1747299" y="4623441"/>
            <a:ext cx="1739900" cy="646331"/>
          </a:xfrm>
          <a:prstGeom prst="rect">
            <a:avLst/>
          </a:prstGeom>
          <a:noFill/>
        </p:spPr>
        <p:txBody>
          <a:bodyPr wrap="square" rtlCol="0">
            <a:spAutoFit/>
          </a:bodyPr>
          <a:lstStyle/>
          <a:p>
            <a:r>
              <a:rPr lang="en-US"/>
              <a:t>Source: </a:t>
            </a:r>
            <a:r>
              <a:rPr lang="en-US" err="1">
                <a:hlinkClick r:id="rId4"/>
              </a:rPr>
              <a:t>Mathworks</a:t>
            </a:r>
            <a:endParaRPr lang="en-US"/>
          </a:p>
        </p:txBody>
      </p:sp>
      <p:sp>
        <p:nvSpPr>
          <p:cNvPr id="8" name="TextBox 7">
            <a:extLst>
              <a:ext uri="{FF2B5EF4-FFF2-40B4-BE49-F238E27FC236}">
                <a16:creationId xmlns:a16="http://schemas.microsoft.com/office/drawing/2014/main" id="{C48C305B-B566-E8B6-F3A6-261A837A48EE}"/>
              </a:ext>
            </a:extLst>
          </p:cNvPr>
          <p:cNvSpPr txBox="1"/>
          <p:nvPr/>
        </p:nvSpPr>
        <p:spPr>
          <a:xfrm>
            <a:off x="9151705" y="4332244"/>
            <a:ext cx="2585991" cy="1015663"/>
          </a:xfrm>
          <a:prstGeom prst="rect">
            <a:avLst/>
          </a:prstGeom>
          <a:noFill/>
          <a:ln>
            <a:solidFill>
              <a:schemeClr val="accent1"/>
            </a:solidFill>
          </a:ln>
        </p:spPr>
        <p:txBody>
          <a:bodyPr wrap="square" rtlCol="0">
            <a:spAutoFit/>
          </a:bodyPr>
          <a:lstStyle/>
          <a:p>
            <a:r>
              <a:rPr lang="en-US" sz="2000"/>
              <a:t>Example of LIDAR-camera registration shown in </a:t>
            </a:r>
            <a:r>
              <a:rPr lang="en-US" sz="2000">
                <a:solidFill>
                  <a:srgbClr val="C00000"/>
                </a:solidFill>
              </a:rPr>
              <a:t>Notebook 9</a:t>
            </a:r>
            <a:r>
              <a:rPr lang="en-US" sz="2000"/>
              <a:t>!</a:t>
            </a:r>
          </a:p>
        </p:txBody>
      </p:sp>
    </p:spTree>
    <p:extLst>
      <p:ext uri="{BB962C8B-B14F-4D97-AF65-F5344CB8AC3E}">
        <p14:creationId xmlns:p14="http://schemas.microsoft.com/office/powerpoint/2010/main" val="2169493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15673-1937-42CD-81E5-7FE6D0236801}"/>
              </a:ext>
            </a:extLst>
          </p:cNvPr>
          <p:cNvSpPr>
            <a:spLocks noGrp="1"/>
          </p:cNvSpPr>
          <p:nvPr>
            <p:ph type="title"/>
          </p:nvPr>
        </p:nvSpPr>
        <p:spPr/>
        <p:txBody>
          <a:bodyPr/>
          <a:lstStyle/>
          <a:p>
            <a:r>
              <a:rPr lang="en-US"/>
              <a:t>Image Segmentation</a:t>
            </a:r>
          </a:p>
        </p:txBody>
      </p:sp>
      <p:sp>
        <p:nvSpPr>
          <p:cNvPr id="3" name="Content Placeholder 2">
            <a:extLst>
              <a:ext uri="{FF2B5EF4-FFF2-40B4-BE49-F238E27FC236}">
                <a16:creationId xmlns:a16="http://schemas.microsoft.com/office/drawing/2014/main" id="{B97BDEDB-3C48-01F8-1D29-5702265BAA7A}"/>
              </a:ext>
            </a:extLst>
          </p:cNvPr>
          <p:cNvSpPr>
            <a:spLocks noGrp="1"/>
          </p:cNvSpPr>
          <p:nvPr>
            <p:ph idx="1"/>
          </p:nvPr>
        </p:nvSpPr>
        <p:spPr>
          <a:xfrm>
            <a:off x="838200" y="1546860"/>
            <a:ext cx="5257800" cy="4946015"/>
          </a:xfrm>
        </p:spPr>
        <p:txBody>
          <a:bodyPr>
            <a:normAutofit/>
          </a:bodyPr>
          <a:lstStyle/>
          <a:p>
            <a:r>
              <a:rPr lang="en-US"/>
              <a:t>Semantic segmentation: </a:t>
            </a:r>
          </a:p>
          <a:p>
            <a:pPr lvl="1"/>
            <a:r>
              <a:rPr lang="en-US"/>
              <a:t>Label each pixel in the image with a category label</a:t>
            </a:r>
          </a:p>
          <a:p>
            <a:pPr lvl="1"/>
            <a:r>
              <a:rPr lang="en-US"/>
              <a:t>Doesn’t differentiate instances, only cares about pixels </a:t>
            </a:r>
          </a:p>
          <a:p>
            <a:pPr marL="457200" lvl="1" indent="0">
              <a:buNone/>
            </a:pPr>
            <a:endParaRPr lang="en-US"/>
          </a:p>
          <a:p>
            <a:r>
              <a:rPr lang="en-US"/>
              <a:t>Instance segmentation: </a:t>
            </a:r>
          </a:p>
          <a:p>
            <a:pPr lvl="1"/>
            <a:r>
              <a:rPr lang="en-US"/>
              <a:t>Label each pixel with its object instance</a:t>
            </a:r>
          </a:p>
          <a:p>
            <a:pPr lvl="1"/>
            <a:r>
              <a:rPr lang="en-US"/>
              <a:t>Identifies individual objects within each category</a:t>
            </a:r>
          </a:p>
        </p:txBody>
      </p:sp>
      <p:sp>
        <p:nvSpPr>
          <p:cNvPr id="4" name="Date Placeholder 3">
            <a:extLst>
              <a:ext uri="{FF2B5EF4-FFF2-40B4-BE49-F238E27FC236}">
                <a16:creationId xmlns:a16="http://schemas.microsoft.com/office/drawing/2014/main" id="{03CB2FC1-4BE8-3CF9-FC69-675A67BBCB04}"/>
              </a:ext>
            </a:extLst>
          </p:cNvPr>
          <p:cNvSpPr>
            <a:spLocks noGrp="1"/>
          </p:cNvSpPr>
          <p:nvPr>
            <p:ph type="dt" sz="half" idx="10"/>
          </p:nvPr>
        </p:nvSpPr>
        <p:spPr/>
        <p:txBody>
          <a:bodyPr/>
          <a:lstStyle/>
          <a:p>
            <a:fld id="{6573DE21-C5E8-1A4F-846C-03A0975A3395}" type="datetime1">
              <a:rPr lang="en-US" smtClean="0"/>
              <a:t>12/20/2025</a:t>
            </a:fld>
            <a:endParaRPr lang="en-US"/>
          </a:p>
        </p:txBody>
      </p:sp>
      <p:sp>
        <p:nvSpPr>
          <p:cNvPr id="5" name="Footer Placeholder 4">
            <a:extLst>
              <a:ext uri="{FF2B5EF4-FFF2-40B4-BE49-F238E27FC236}">
                <a16:creationId xmlns:a16="http://schemas.microsoft.com/office/drawing/2014/main" id="{48E1AE13-0445-1CA9-1D93-7C14ACAC0364}"/>
              </a:ext>
            </a:extLst>
          </p:cNvPr>
          <p:cNvSpPr>
            <a:spLocks noGrp="1"/>
          </p:cNvSpPr>
          <p:nvPr>
            <p:ph type="ftr" sz="quarter" idx="11"/>
          </p:nvPr>
        </p:nvSpPr>
        <p:spPr/>
        <p:txBody>
          <a:bodyPr/>
          <a:lstStyle/>
          <a:p>
            <a:r>
              <a:rPr lang="hr-HR"/>
              <a:t>AA174A | Lecture 9</a:t>
            </a:r>
            <a:endParaRPr lang="en-US"/>
          </a:p>
        </p:txBody>
      </p:sp>
      <p:pic>
        <p:nvPicPr>
          <p:cNvPr id="8" name="Picture 7" descr="A yellow cat with black text&#10;&#10;Description automatically generated">
            <a:extLst>
              <a:ext uri="{FF2B5EF4-FFF2-40B4-BE49-F238E27FC236}">
                <a16:creationId xmlns:a16="http://schemas.microsoft.com/office/drawing/2014/main" id="{2929143E-398C-884E-7F0E-0BFD8D61CD5C}"/>
              </a:ext>
            </a:extLst>
          </p:cNvPr>
          <p:cNvPicPr>
            <a:picLocks noChangeAspect="1"/>
          </p:cNvPicPr>
          <p:nvPr/>
        </p:nvPicPr>
        <p:blipFill>
          <a:blip r:embed="rId3"/>
          <a:stretch>
            <a:fillRect/>
          </a:stretch>
        </p:blipFill>
        <p:spPr>
          <a:xfrm>
            <a:off x="7153531" y="2279247"/>
            <a:ext cx="1810828" cy="1542745"/>
          </a:xfrm>
          <a:prstGeom prst="rect">
            <a:avLst/>
          </a:prstGeom>
        </p:spPr>
      </p:pic>
      <p:pic>
        <p:nvPicPr>
          <p:cNvPr id="10" name="Picture 9" descr="A cow silhouette with text&#10;&#10;Description automatically generated with medium confidence">
            <a:extLst>
              <a:ext uri="{FF2B5EF4-FFF2-40B4-BE49-F238E27FC236}">
                <a16:creationId xmlns:a16="http://schemas.microsoft.com/office/drawing/2014/main" id="{27C12FC8-4BA3-11DF-201B-DC55363783A1}"/>
              </a:ext>
            </a:extLst>
          </p:cNvPr>
          <p:cNvPicPr>
            <a:picLocks noChangeAspect="1"/>
          </p:cNvPicPr>
          <p:nvPr/>
        </p:nvPicPr>
        <p:blipFill>
          <a:blip r:embed="rId4"/>
          <a:stretch>
            <a:fillRect/>
          </a:stretch>
        </p:blipFill>
        <p:spPr>
          <a:xfrm>
            <a:off x="9322500" y="2301578"/>
            <a:ext cx="2099880" cy="1568461"/>
          </a:xfrm>
          <a:prstGeom prst="rect">
            <a:avLst/>
          </a:prstGeom>
        </p:spPr>
      </p:pic>
      <p:pic>
        <p:nvPicPr>
          <p:cNvPr id="12" name="Picture 11" descr="A kitten walking on grass&#10;&#10;Description automatically generated">
            <a:extLst>
              <a:ext uri="{FF2B5EF4-FFF2-40B4-BE49-F238E27FC236}">
                <a16:creationId xmlns:a16="http://schemas.microsoft.com/office/drawing/2014/main" id="{E0BAF0D8-1B4B-6E63-7182-27DBCFADE3F5}"/>
              </a:ext>
            </a:extLst>
          </p:cNvPr>
          <p:cNvPicPr>
            <a:picLocks noChangeAspect="1"/>
          </p:cNvPicPr>
          <p:nvPr/>
        </p:nvPicPr>
        <p:blipFill>
          <a:blip r:embed="rId5"/>
          <a:stretch>
            <a:fillRect/>
          </a:stretch>
        </p:blipFill>
        <p:spPr>
          <a:xfrm>
            <a:off x="7153531" y="767193"/>
            <a:ext cx="1737360" cy="1512054"/>
          </a:xfrm>
          <a:prstGeom prst="rect">
            <a:avLst/>
          </a:prstGeom>
        </p:spPr>
      </p:pic>
      <p:pic>
        <p:nvPicPr>
          <p:cNvPr id="14" name="Picture 13" descr="A pair of cows standing in a field&#10;&#10;Description automatically generated">
            <a:extLst>
              <a:ext uri="{FF2B5EF4-FFF2-40B4-BE49-F238E27FC236}">
                <a16:creationId xmlns:a16="http://schemas.microsoft.com/office/drawing/2014/main" id="{B87FDEF9-E9CD-D781-FDE2-47D75C584725}"/>
              </a:ext>
            </a:extLst>
          </p:cNvPr>
          <p:cNvPicPr>
            <a:picLocks noChangeAspect="1"/>
          </p:cNvPicPr>
          <p:nvPr/>
        </p:nvPicPr>
        <p:blipFill>
          <a:blip r:embed="rId6"/>
          <a:stretch>
            <a:fillRect/>
          </a:stretch>
        </p:blipFill>
        <p:spPr>
          <a:xfrm>
            <a:off x="9286616" y="822092"/>
            <a:ext cx="2171647" cy="1449535"/>
          </a:xfrm>
          <a:prstGeom prst="rect">
            <a:avLst/>
          </a:prstGeom>
        </p:spPr>
      </p:pic>
      <p:pic>
        <p:nvPicPr>
          <p:cNvPr id="18" name="Picture 17" descr="A group of animals in front of a christmas tree&#10;&#10;Description automatically generated">
            <a:extLst>
              <a:ext uri="{FF2B5EF4-FFF2-40B4-BE49-F238E27FC236}">
                <a16:creationId xmlns:a16="http://schemas.microsoft.com/office/drawing/2014/main" id="{C0D86D83-40B1-B599-C160-353E3F2ED5C5}"/>
              </a:ext>
            </a:extLst>
          </p:cNvPr>
          <p:cNvPicPr>
            <a:picLocks noChangeAspect="1"/>
          </p:cNvPicPr>
          <p:nvPr/>
        </p:nvPicPr>
        <p:blipFill>
          <a:blip r:embed="rId7"/>
          <a:stretch>
            <a:fillRect/>
          </a:stretch>
        </p:blipFill>
        <p:spPr>
          <a:xfrm>
            <a:off x="7045842" y="4362739"/>
            <a:ext cx="2026206" cy="2026206"/>
          </a:xfrm>
          <a:prstGeom prst="rect">
            <a:avLst/>
          </a:prstGeom>
        </p:spPr>
      </p:pic>
      <p:sp>
        <p:nvSpPr>
          <p:cNvPr id="19" name="TextBox 18">
            <a:extLst>
              <a:ext uri="{FF2B5EF4-FFF2-40B4-BE49-F238E27FC236}">
                <a16:creationId xmlns:a16="http://schemas.microsoft.com/office/drawing/2014/main" id="{94C6B867-9B3F-7DFC-84F9-44B6AF51C6B3}"/>
              </a:ext>
            </a:extLst>
          </p:cNvPr>
          <p:cNvSpPr txBox="1"/>
          <p:nvPr/>
        </p:nvSpPr>
        <p:spPr>
          <a:xfrm>
            <a:off x="9639300" y="4914177"/>
            <a:ext cx="2171647" cy="923330"/>
          </a:xfrm>
          <a:prstGeom prst="rect">
            <a:avLst/>
          </a:prstGeom>
          <a:noFill/>
        </p:spPr>
        <p:txBody>
          <a:bodyPr wrap="square" rtlCol="0">
            <a:spAutoFit/>
          </a:bodyPr>
          <a:lstStyle/>
          <a:p>
            <a:r>
              <a:rPr lang="en-US"/>
              <a:t>Source:</a:t>
            </a:r>
          </a:p>
          <a:p>
            <a:r>
              <a:rPr lang="en-US"/>
              <a:t>Stanford CS 231n lecture slides</a:t>
            </a:r>
          </a:p>
        </p:txBody>
      </p:sp>
    </p:spTree>
    <p:extLst>
      <p:ext uri="{BB962C8B-B14F-4D97-AF65-F5344CB8AC3E}">
        <p14:creationId xmlns:p14="http://schemas.microsoft.com/office/powerpoint/2010/main" val="14960680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FFD01-C408-BF3B-5131-83A1A76ED298}"/>
              </a:ext>
            </a:extLst>
          </p:cNvPr>
          <p:cNvSpPr>
            <a:spLocks noGrp="1"/>
          </p:cNvSpPr>
          <p:nvPr>
            <p:ph type="title"/>
          </p:nvPr>
        </p:nvSpPr>
        <p:spPr/>
        <p:txBody>
          <a:bodyPr/>
          <a:lstStyle/>
          <a:p>
            <a:r>
              <a:rPr lang="en-US"/>
              <a:t>Information extraction and interpretation can also be done with LIDAR data! </a:t>
            </a:r>
          </a:p>
        </p:txBody>
      </p:sp>
      <p:sp>
        <p:nvSpPr>
          <p:cNvPr id="4" name="Date Placeholder 3">
            <a:extLst>
              <a:ext uri="{FF2B5EF4-FFF2-40B4-BE49-F238E27FC236}">
                <a16:creationId xmlns:a16="http://schemas.microsoft.com/office/drawing/2014/main" id="{F5056665-E62F-8565-74D7-09899FE716C9}"/>
              </a:ext>
            </a:extLst>
          </p:cNvPr>
          <p:cNvSpPr>
            <a:spLocks noGrp="1"/>
          </p:cNvSpPr>
          <p:nvPr>
            <p:ph type="dt" sz="half" idx="10"/>
          </p:nvPr>
        </p:nvSpPr>
        <p:spPr/>
        <p:txBody>
          <a:bodyPr/>
          <a:lstStyle/>
          <a:p>
            <a:fld id="{4ED4EBAD-472E-F54D-9E9A-F81DA04A66AC}" type="datetime1">
              <a:rPr lang="en-US" smtClean="0"/>
              <a:t>12/20/2025</a:t>
            </a:fld>
            <a:endParaRPr lang="en-US"/>
          </a:p>
        </p:txBody>
      </p:sp>
      <p:sp>
        <p:nvSpPr>
          <p:cNvPr id="5" name="Footer Placeholder 4">
            <a:extLst>
              <a:ext uri="{FF2B5EF4-FFF2-40B4-BE49-F238E27FC236}">
                <a16:creationId xmlns:a16="http://schemas.microsoft.com/office/drawing/2014/main" id="{1BBB677F-BA49-0E96-103D-5F2B4D67191E}"/>
              </a:ext>
            </a:extLst>
          </p:cNvPr>
          <p:cNvSpPr>
            <a:spLocks noGrp="1"/>
          </p:cNvSpPr>
          <p:nvPr>
            <p:ph type="ftr" sz="quarter" idx="11"/>
          </p:nvPr>
        </p:nvSpPr>
        <p:spPr/>
        <p:txBody>
          <a:bodyPr/>
          <a:lstStyle/>
          <a:p>
            <a:r>
              <a:rPr lang="hr-HR"/>
              <a:t>AA174A | Lecture 9</a:t>
            </a:r>
            <a:endParaRPr lang="en-US"/>
          </a:p>
        </p:txBody>
      </p:sp>
      <p:sp>
        <p:nvSpPr>
          <p:cNvPr id="7" name="TextBox 6">
            <a:extLst>
              <a:ext uri="{FF2B5EF4-FFF2-40B4-BE49-F238E27FC236}">
                <a16:creationId xmlns:a16="http://schemas.microsoft.com/office/drawing/2014/main" id="{FECE33B5-7F4A-2043-797D-9787769FFF73}"/>
              </a:ext>
            </a:extLst>
          </p:cNvPr>
          <p:cNvSpPr txBox="1"/>
          <p:nvPr/>
        </p:nvSpPr>
        <p:spPr>
          <a:xfrm>
            <a:off x="1333500" y="1792303"/>
            <a:ext cx="1752600" cy="369332"/>
          </a:xfrm>
          <a:prstGeom prst="rect">
            <a:avLst/>
          </a:prstGeom>
          <a:noFill/>
        </p:spPr>
        <p:txBody>
          <a:bodyPr wrap="square" rtlCol="0">
            <a:spAutoFit/>
          </a:bodyPr>
          <a:lstStyle/>
          <a:p>
            <a:pPr algn="ctr"/>
            <a:r>
              <a:rPr lang="en-US" b="1"/>
              <a:t>Point cloud</a:t>
            </a:r>
          </a:p>
        </p:txBody>
      </p:sp>
      <p:sp>
        <p:nvSpPr>
          <p:cNvPr id="9" name="TextBox 8">
            <a:extLst>
              <a:ext uri="{FF2B5EF4-FFF2-40B4-BE49-F238E27FC236}">
                <a16:creationId xmlns:a16="http://schemas.microsoft.com/office/drawing/2014/main" id="{4B13F0B8-8347-8D47-75C2-0BB1922F3A23}"/>
              </a:ext>
            </a:extLst>
          </p:cNvPr>
          <p:cNvSpPr txBox="1"/>
          <p:nvPr/>
        </p:nvSpPr>
        <p:spPr>
          <a:xfrm>
            <a:off x="8440633" y="2153151"/>
            <a:ext cx="2988310" cy="338554"/>
          </a:xfrm>
          <a:prstGeom prst="rect">
            <a:avLst/>
          </a:prstGeom>
          <a:noFill/>
        </p:spPr>
        <p:txBody>
          <a:bodyPr wrap="square" rtlCol="0">
            <a:spAutoFit/>
          </a:bodyPr>
          <a:lstStyle/>
          <a:p>
            <a:pPr algn="ctr"/>
            <a:r>
              <a:rPr lang="en-US" sz="1600"/>
              <a:t>Semantic segmentation</a:t>
            </a:r>
          </a:p>
        </p:txBody>
      </p:sp>
      <p:pic>
        <p:nvPicPr>
          <p:cNvPr id="11" name="Picture 10" descr="A room with a broken desk and computer&#10;&#10;Description automatically generated with medium confidence">
            <a:extLst>
              <a:ext uri="{FF2B5EF4-FFF2-40B4-BE49-F238E27FC236}">
                <a16:creationId xmlns:a16="http://schemas.microsoft.com/office/drawing/2014/main" id="{979E960E-C1CB-124D-BCFD-F9E85908FD00}"/>
              </a:ext>
            </a:extLst>
          </p:cNvPr>
          <p:cNvPicPr>
            <a:picLocks noChangeAspect="1"/>
          </p:cNvPicPr>
          <p:nvPr/>
        </p:nvPicPr>
        <p:blipFill>
          <a:blip r:embed="rId3"/>
          <a:stretch>
            <a:fillRect/>
          </a:stretch>
        </p:blipFill>
        <p:spPr>
          <a:xfrm>
            <a:off x="161451" y="2491705"/>
            <a:ext cx="4090437" cy="2517957"/>
          </a:xfrm>
          <a:prstGeom prst="rect">
            <a:avLst/>
          </a:prstGeom>
        </p:spPr>
      </p:pic>
      <p:pic>
        <p:nvPicPr>
          <p:cNvPr id="13" name="Picture 12" descr="A colorfully painted wall&#10;&#10;Description automatically generated with low confidence">
            <a:extLst>
              <a:ext uri="{FF2B5EF4-FFF2-40B4-BE49-F238E27FC236}">
                <a16:creationId xmlns:a16="http://schemas.microsoft.com/office/drawing/2014/main" id="{D40BCF1D-DE1D-97EE-2E7A-628EC6C6D3EE}"/>
              </a:ext>
            </a:extLst>
          </p:cNvPr>
          <p:cNvPicPr>
            <a:picLocks noChangeAspect="1"/>
          </p:cNvPicPr>
          <p:nvPr/>
        </p:nvPicPr>
        <p:blipFill rotWithShape="1">
          <a:blip r:embed="rId4"/>
          <a:srcRect l="3178" t="1731" r="2108" b="3200"/>
          <a:stretch/>
        </p:blipFill>
        <p:spPr>
          <a:xfrm>
            <a:off x="8676640" y="2458981"/>
            <a:ext cx="2548467" cy="1557868"/>
          </a:xfrm>
          <a:prstGeom prst="rect">
            <a:avLst/>
          </a:prstGeom>
        </p:spPr>
      </p:pic>
      <p:sp>
        <p:nvSpPr>
          <p:cNvPr id="14" name="TextBox 13">
            <a:extLst>
              <a:ext uri="{FF2B5EF4-FFF2-40B4-BE49-F238E27FC236}">
                <a16:creationId xmlns:a16="http://schemas.microsoft.com/office/drawing/2014/main" id="{E9DE422C-AB84-D141-B842-07CA27FCF72F}"/>
              </a:ext>
            </a:extLst>
          </p:cNvPr>
          <p:cNvSpPr txBox="1"/>
          <p:nvPr/>
        </p:nvSpPr>
        <p:spPr>
          <a:xfrm>
            <a:off x="8440633" y="4175455"/>
            <a:ext cx="2988310" cy="338554"/>
          </a:xfrm>
          <a:prstGeom prst="rect">
            <a:avLst/>
          </a:prstGeom>
          <a:noFill/>
        </p:spPr>
        <p:txBody>
          <a:bodyPr wrap="square" rtlCol="0">
            <a:spAutoFit/>
          </a:bodyPr>
          <a:lstStyle/>
          <a:p>
            <a:pPr algn="ctr"/>
            <a:r>
              <a:rPr lang="en-US" sz="1600"/>
              <a:t>Object detection</a:t>
            </a:r>
          </a:p>
        </p:txBody>
      </p:sp>
      <p:pic>
        <p:nvPicPr>
          <p:cNvPr id="16" name="Picture 15" descr="A colorful box with different colored boxes&#10;&#10;Description automatically generated with medium confidence">
            <a:extLst>
              <a:ext uri="{FF2B5EF4-FFF2-40B4-BE49-F238E27FC236}">
                <a16:creationId xmlns:a16="http://schemas.microsoft.com/office/drawing/2014/main" id="{BB6CE12D-2349-4279-81E5-D747BB20E4AE}"/>
              </a:ext>
            </a:extLst>
          </p:cNvPr>
          <p:cNvPicPr>
            <a:picLocks noChangeAspect="1"/>
          </p:cNvPicPr>
          <p:nvPr/>
        </p:nvPicPr>
        <p:blipFill>
          <a:blip r:embed="rId5"/>
          <a:stretch>
            <a:fillRect/>
          </a:stretch>
        </p:blipFill>
        <p:spPr>
          <a:xfrm>
            <a:off x="8797649" y="4501707"/>
            <a:ext cx="2427458" cy="1695895"/>
          </a:xfrm>
          <a:prstGeom prst="rect">
            <a:avLst/>
          </a:prstGeom>
        </p:spPr>
      </p:pic>
      <p:sp>
        <p:nvSpPr>
          <p:cNvPr id="17" name="Rounded Rectangle 16">
            <a:extLst>
              <a:ext uri="{FF2B5EF4-FFF2-40B4-BE49-F238E27FC236}">
                <a16:creationId xmlns:a16="http://schemas.microsoft.com/office/drawing/2014/main" id="{A0B6FE21-67E8-22F8-A33D-6FF12B03E938}"/>
              </a:ext>
            </a:extLst>
          </p:cNvPr>
          <p:cNvSpPr/>
          <p:nvPr/>
        </p:nvSpPr>
        <p:spPr>
          <a:xfrm>
            <a:off x="392853" y="1788160"/>
            <a:ext cx="3770926" cy="4443307"/>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ounded Rectangle 18">
            <a:extLst>
              <a:ext uri="{FF2B5EF4-FFF2-40B4-BE49-F238E27FC236}">
                <a16:creationId xmlns:a16="http://schemas.microsoft.com/office/drawing/2014/main" id="{12D9C49F-51FE-2390-1519-3FDBEF7E576A}"/>
              </a:ext>
            </a:extLst>
          </p:cNvPr>
          <p:cNvSpPr/>
          <p:nvPr/>
        </p:nvSpPr>
        <p:spPr>
          <a:xfrm>
            <a:off x="8153400" y="1788159"/>
            <a:ext cx="3603518" cy="4443307"/>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FCD8586-B263-FA02-847C-2E5B9FD2EBBA}"/>
              </a:ext>
            </a:extLst>
          </p:cNvPr>
          <p:cNvSpPr txBox="1"/>
          <p:nvPr/>
        </p:nvSpPr>
        <p:spPr>
          <a:xfrm>
            <a:off x="9390065" y="1765240"/>
            <a:ext cx="1089447" cy="369332"/>
          </a:xfrm>
          <a:prstGeom prst="rect">
            <a:avLst/>
          </a:prstGeom>
          <a:noFill/>
        </p:spPr>
        <p:txBody>
          <a:bodyPr wrap="square" rtlCol="0">
            <a:spAutoFit/>
          </a:bodyPr>
          <a:lstStyle/>
          <a:p>
            <a:pPr algn="ctr"/>
            <a:r>
              <a:rPr lang="en-US" b="1"/>
              <a:t>Tasks</a:t>
            </a:r>
          </a:p>
        </p:txBody>
      </p:sp>
      <p:sp>
        <p:nvSpPr>
          <p:cNvPr id="26" name="TextBox 25">
            <a:extLst>
              <a:ext uri="{FF2B5EF4-FFF2-40B4-BE49-F238E27FC236}">
                <a16:creationId xmlns:a16="http://schemas.microsoft.com/office/drawing/2014/main" id="{A084C5AC-BA14-F1BC-AFAD-BA39EEA69C6D}"/>
              </a:ext>
            </a:extLst>
          </p:cNvPr>
          <p:cNvSpPr txBox="1"/>
          <p:nvPr/>
        </p:nvSpPr>
        <p:spPr>
          <a:xfrm>
            <a:off x="941421" y="5865251"/>
            <a:ext cx="2918527" cy="307777"/>
          </a:xfrm>
          <a:prstGeom prst="rect">
            <a:avLst/>
          </a:prstGeom>
          <a:noFill/>
        </p:spPr>
        <p:txBody>
          <a:bodyPr wrap="square" rtlCol="0">
            <a:spAutoFit/>
          </a:bodyPr>
          <a:lstStyle/>
          <a:p>
            <a:r>
              <a:rPr lang="en-US" sz="1400"/>
              <a:t>Images from </a:t>
            </a:r>
            <a:r>
              <a:rPr lang="en-US" sz="1400">
                <a:hlinkClick r:id="rId6"/>
              </a:rPr>
              <a:t>PointNet</a:t>
            </a:r>
            <a:r>
              <a:rPr lang="en-US" sz="1400"/>
              <a:t> and </a:t>
            </a:r>
            <a:r>
              <a:rPr lang="en-US" sz="1400" err="1">
                <a:hlinkClick r:id="rId7"/>
              </a:rPr>
              <a:t>OctoMap</a:t>
            </a:r>
            <a:r>
              <a:rPr lang="en-US" sz="1400"/>
              <a:t> </a:t>
            </a:r>
          </a:p>
        </p:txBody>
      </p:sp>
      <p:grpSp>
        <p:nvGrpSpPr>
          <p:cNvPr id="30" name="Group 29">
            <a:extLst>
              <a:ext uri="{FF2B5EF4-FFF2-40B4-BE49-F238E27FC236}">
                <a16:creationId xmlns:a16="http://schemas.microsoft.com/office/drawing/2014/main" id="{311753CF-24C0-67BB-874D-BC1E402EBA76}"/>
              </a:ext>
            </a:extLst>
          </p:cNvPr>
          <p:cNvGrpSpPr/>
          <p:nvPr/>
        </p:nvGrpSpPr>
        <p:grpSpPr>
          <a:xfrm>
            <a:off x="4292727" y="1795195"/>
            <a:ext cx="3735496" cy="4443307"/>
            <a:chOff x="4417904" y="1788160"/>
            <a:chExt cx="3735496" cy="4443307"/>
          </a:xfrm>
        </p:grpSpPr>
        <p:sp>
          <p:nvSpPr>
            <p:cNvPr id="8" name="TextBox 7">
              <a:extLst>
                <a:ext uri="{FF2B5EF4-FFF2-40B4-BE49-F238E27FC236}">
                  <a16:creationId xmlns:a16="http://schemas.microsoft.com/office/drawing/2014/main" id="{EF6C2D7B-BE1A-DCBE-69FB-25C0CB88E4B7}"/>
                </a:ext>
              </a:extLst>
            </p:cNvPr>
            <p:cNvSpPr txBox="1"/>
            <p:nvPr/>
          </p:nvSpPr>
          <p:spPr>
            <a:xfrm>
              <a:off x="5158714" y="4097064"/>
              <a:ext cx="2298700" cy="338554"/>
            </a:xfrm>
            <a:prstGeom prst="rect">
              <a:avLst/>
            </a:prstGeom>
            <a:noFill/>
          </p:spPr>
          <p:txBody>
            <a:bodyPr wrap="square" rtlCol="0">
              <a:spAutoFit/>
            </a:bodyPr>
            <a:lstStyle/>
            <a:p>
              <a:pPr algn="ctr"/>
              <a:r>
                <a:rPr lang="en-US" sz="1600"/>
                <a:t>Occupancy grid map</a:t>
              </a:r>
            </a:p>
          </p:txBody>
        </p:sp>
        <p:sp>
          <p:nvSpPr>
            <p:cNvPr id="21" name="TextBox 20">
              <a:extLst>
                <a:ext uri="{FF2B5EF4-FFF2-40B4-BE49-F238E27FC236}">
                  <a16:creationId xmlns:a16="http://schemas.microsoft.com/office/drawing/2014/main" id="{C42F0D6C-F006-EAD0-A9C0-F479DEF89FFF}"/>
                </a:ext>
              </a:extLst>
            </p:cNvPr>
            <p:cNvSpPr txBox="1"/>
            <p:nvPr/>
          </p:nvSpPr>
          <p:spPr>
            <a:xfrm>
              <a:off x="5303517" y="1792303"/>
              <a:ext cx="1752600" cy="369332"/>
            </a:xfrm>
            <a:prstGeom prst="rect">
              <a:avLst/>
            </a:prstGeom>
            <a:noFill/>
          </p:spPr>
          <p:txBody>
            <a:bodyPr wrap="square" rtlCol="0">
              <a:spAutoFit/>
            </a:bodyPr>
            <a:lstStyle/>
            <a:p>
              <a:pPr algn="ctr"/>
              <a:r>
                <a:rPr lang="en-US" b="1"/>
                <a:t>Features</a:t>
              </a:r>
            </a:p>
          </p:txBody>
        </p:sp>
        <p:pic>
          <p:nvPicPr>
            <p:cNvPr id="23" name="Picture 22" descr="A close-up of a colorful point set&#10;&#10;Description automatically generated">
              <a:extLst>
                <a:ext uri="{FF2B5EF4-FFF2-40B4-BE49-F238E27FC236}">
                  <a16:creationId xmlns:a16="http://schemas.microsoft.com/office/drawing/2014/main" id="{C411EAB6-12DD-10BD-2F6A-029702E9CF43}"/>
                </a:ext>
              </a:extLst>
            </p:cNvPr>
            <p:cNvPicPr>
              <a:picLocks noChangeAspect="1"/>
            </p:cNvPicPr>
            <p:nvPr/>
          </p:nvPicPr>
          <p:blipFill rotWithShape="1">
            <a:blip r:embed="rId8"/>
            <a:srcRect b="49230"/>
            <a:stretch/>
          </p:blipFill>
          <p:spPr>
            <a:xfrm>
              <a:off x="4915619" y="2760936"/>
              <a:ext cx="1443574" cy="1105560"/>
            </a:xfrm>
            <a:prstGeom prst="rect">
              <a:avLst/>
            </a:prstGeom>
          </p:spPr>
        </p:pic>
        <p:sp>
          <p:nvSpPr>
            <p:cNvPr id="24" name="TextBox 23">
              <a:extLst>
                <a:ext uri="{FF2B5EF4-FFF2-40B4-BE49-F238E27FC236}">
                  <a16:creationId xmlns:a16="http://schemas.microsoft.com/office/drawing/2014/main" id="{D38B9AB1-FCF2-423B-0612-B808CEBB4979}"/>
                </a:ext>
              </a:extLst>
            </p:cNvPr>
            <p:cNvSpPr txBox="1"/>
            <p:nvPr/>
          </p:nvSpPr>
          <p:spPr>
            <a:xfrm>
              <a:off x="5543485" y="2324910"/>
              <a:ext cx="1546864" cy="338554"/>
            </a:xfrm>
            <a:prstGeom prst="rect">
              <a:avLst/>
            </a:prstGeom>
            <a:noFill/>
          </p:spPr>
          <p:txBody>
            <a:bodyPr wrap="square" rtlCol="0">
              <a:spAutoFit/>
            </a:bodyPr>
            <a:lstStyle/>
            <a:p>
              <a:pPr algn="ctr"/>
              <a:r>
                <a:rPr lang="en-US" sz="1600"/>
                <a:t>Critical points</a:t>
              </a:r>
            </a:p>
          </p:txBody>
        </p:sp>
        <p:pic>
          <p:nvPicPr>
            <p:cNvPr id="25" name="Picture 24" descr="A close-up of a colorful point set&#10;&#10;Description automatically generated">
              <a:extLst>
                <a:ext uri="{FF2B5EF4-FFF2-40B4-BE49-F238E27FC236}">
                  <a16:creationId xmlns:a16="http://schemas.microsoft.com/office/drawing/2014/main" id="{AE6C3D59-613F-58EE-048B-57EBD6F27688}"/>
                </a:ext>
              </a:extLst>
            </p:cNvPr>
            <p:cNvPicPr>
              <a:picLocks noChangeAspect="1"/>
            </p:cNvPicPr>
            <p:nvPr/>
          </p:nvPicPr>
          <p:blipFill rotWithShape="1">
            <a:blip r:embed="rId8"/>
            <a:srcRect t="49230"/>
            <a:stretch/>
          </p:blipFill>
          <p:spPr>
            <a:xfrm>
              <a:off x="6405026" y="2716397"/>
              <a:ext cx="1443574" cy="1105560"/>
            </a:xfrm>
            <a:prstGeom prst="rect">
              <a:avLst/>
            </a:prstGeom>
          </p:spPr>
        </p:pic>
        <p:pic>
          <p:nvPicPr>
            <p:cNvPr id="28" name="Picture 27" descr="A close-up of a model of a building&#10;&#10;Description automatically generated">
              <a:extLst>
                <a:ext uri="{FF2B5EF4-FFF2-40B4-BE49-F238E27FC236}">
                  <a16:creationId xmlns:a16="http://schemas.microsoft.com/office/drawing/2014/main" id="{2CDC7AA7-F108-CA5C-EF5A-A158946F6ED3}"/>
                </a:ext>
              </a:extLst>
            </p:cNvPr>
            <p:cNvPicPr>
              <a:picLocks noChangeAspect="1"/>
            </p:cNvPicPr>
            <p:nvPr/>
          </p:nvPicPr>
          <p:blipFill rotWithShape="1">
            <a:blip r:embed="rId9"/>
            <a:srcRect l="3018" t="6361" r="52043" b="1657"/>
            <a:stretch/>
          </p:blipFill>
          <p:spPr>
            <a:xfrm>
              <a:off x="4452619" y="4432061"/>
              <a:ext cx="1855445" cy="1452594"/>
            </a:xfrm>
            <a:prstGeom prst="rect">
              <a:avLst/>
            </a:prstGeom>
          </p:spPr>
        </p:pic>
        <p:pic>
          <p:nvPicPr>
            <p:cNvPr id="29" name="Picture 28" descr="A close-up of a model of a building&#10;&#10;Description automatically generated">
              <a:extLst>
                <a:ext uri="{FF2B5EF4-FFF2-40B4-BE49-F238E27FC236}">
                  <a16:creationId xmlns:a16="http://schemas.microsoft.com/office/drawing/2014/main" id="{8735EB19-E6E9-CB87-B42C-4EB09A08B35F}"/>
                </a:ext>
              </a:extLst>
            </p:cNvPr>
            <p:cNvPicPr>
              <a:picLocks noChangeAspect="1"/>
            </p:cNvPicPr>
            <p:nvPr/>
          </p:nvPicPr>
          <p:blipFill rotWithShape="1">
            <a:blip r:embed="rId9"/>
            <a:srcRect l="52520" t="6361" r="1419" b="1657"/>
            <a:stretch/>
          </p:blipFill>
          <p:spPr>
            <a:xfrm>
              <a:off x="6256013" y="4449753"/>
              <a:ext cx="1855445" cy="1417210"/>
            </a:xfrm>
            <a:prstGeom prst="rect">
              <a:avLst/>
            </a:prstGeom>
          </p:spPr>
        </p:pic>
        <p:sp>
          <p:nvSpPr>
            <p:cNvPr id="18" name="Rounded Rectangle 17">
              <a:extLst>
                <a:ext uri="{FF2B5EF4-FFF2-40B4-BE49-F238E27FC236}">
                  <a16:creationId xmlns:a16="http://schemas.microsoft.com/office/drawing/2014/main" id="{BFE68E5B-3021-B8F5-034B-1680EDA9B9C6}"/>
                </a:ext>
              </a:extLst>
            </p:cNvPr>
            <p:cNvSpPr/>
            <p:nvPr/>
          </p:nvSpPr>
          <p:spPr>
            <a:xfrm>
              <a:off x="4417904" y="1788160"/>
              <a:ext cx="3735496" cy="4443307"/>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175041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E6DF2-57BD-1A90-C5FA-4B40F338F3B2}"/>
              </a:ext>
            </a:extLst>
          </p:cNvPr>
          <p:cNvSpPr>
            <a:spLocks noGrp="1"/>
          </p:cNvSpPr>
          <p:nvPr>
            <p:ph type="title"/>
          </p:nvPr>
        </p:nvSpPr>
        <p:spPr/>
        <p:txBody>
          <a:bodyPr/>
          <a:lstStyle/>
          <a:p>
            <a:r>
              <a:rPr lang="en-US"/>
              <a:t>From Scenes to Digital Images</a:t>
            </a:r>
          </a:p>
        </p:txBody>
      </p:sp>
      <p:sp>
        <p:nvSpPr>
          <p:cNvPr id="4" name="Date Placeholder 3">
            <a:extLst>
              <a:ext uri="{FF2B5EF4-FFF2-40B4-BE49-F238E27FC236}">
                <a16:creationId xmlns:a16="http://schemas.microsoft.com/office/drawing/2014/main" id="{2A8A3352-44EE-3AD3-BEA7-C499641E67D8}"/>
              </a:ext>
            </a:extLst>
          </p:cNvPr>
          <p:cNvSpPr>
            <a:spLocks noGrp="1"/>
          </p:cNvSpPr>
          <p:nvPr>
            <p:ph type="dt" sz="half" idx="10"/>
          </p:nvPr>
        </p:nvSpPr>
        <p:spPr/>
        <p:txBody>
          <a:bodyPr/>
          <a:lstStyle/>
          <a:p>
            <a:fld id="{C9098215-24FE-C84F-ADF9-8281E650F844}" type="datetime1">
              <a:rPr lang="en-US" smtClean="0"/>
              <a:t>12/20/2025</a:t>
            </a:fld>
            <a:endParaRPr lang="en-US"/>
          </a:p>
        </p:txBody>
      </p:sp>
      <p:sp>
        <p:nvSpPr>
          <p:cNvPr id="5" name="Footer Placeholder 4">
            <a:extLst>
              <a:ext uri="{FF2B5EF4-FFF2-40B4-BE49-F238E27FC236}">
                <a16:creationId xmlns:a16="http://schemas.microsoft.com/office/drawing/2014/main" id="{59088AC8-BB5C-B094-680E-A259C9920C2D}"/>
              </a:ext>
            </a:extLst>
          </p:cNvPr>
          <p:cNvSpPr>
            <a:spLocks noGrp="1"/>
          </p:cNvSpPr>
          <p:nvPr>
            <p:ph type="ftr" sz="quarter" idx="11"/>
          </p:nvPr>
        </p:nvSpPr>
        <p:spPr/>
        <p:txBody>
          <a:bodyPr/>
          <a:lstStyle/>
          <a:p>
            <a:r>
              <a:rPr lang="hr-HR"/>
              <a:t>AA174A | Lecture 9</a:t>
            </a:r>
            <a:endParaRPr lang="en-US"/>
          </a:p>
        </p:txBody>
      </p:sp>
      <p:pic>
        <p:nvPicPr>
          <p:cNvPr id="7" name="Picture 6">
            <a:extLst>
              <a:ext uri="{FF2B5EF4-FFF2-40B4-BE49-F238E27FC236}">
                <a16:creationId xmlns:a16="http://schemas.microsoft.com/office/drawing/2014/main" id="{DF911590-9773-DF8F-1FE1-84C7D38D44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37930" y="2175557"/>
            <a:ext cx="2316139" cy="1843647"/>
          </a:xfrm>
          <a:prstGeom prst="rect">
            <a:avLst/>
          </a:prstGeom>
        </p:spPr>
      </p:pic>
      <p:sp>
        <p:nvSpPr>
          <p:cNvPr id="8" name="Rectangle 7">
            <a:extLst>
              <a:ext uri="{FF2B5EF4-FFF2-40B4-BE49-F238E27FC236}">
                <a16:creationId xmlns:a16="http://schemas.microsoft.com/office/drawing/2014/main" id="{76AB8C3A-D483-E5CF-B3F3-4D41DC58654A}"/>
              </a:ext>
            </a:extLst>
          </p:cNvPr>
          <p:cNvSpPr/>
          <p:nvPr/>
        </p:nvSpPr>
        <p:spPr>
          <a:xfrm>
            <a:off x="5263713" y="4633120"/>
            <a:ext cx="1821180" cy="15452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Scene Representation</a:t>
            </a:r>
          </a:p>
        </p:txBody>
      </p:sp>
      <p:pic>
        <p:nvPicPr>
          <p:cNvPr id="9" name="Picture 4" descr="Importance of Grid System in Graphic Design | UX Collective">
            <a:extLst>
              <a:ext uri="{FF2B5EF4-FFF2-40B4-BE49-F238E27FC236}">
                <a16:creationId xmlns:a16="http://schemas.microsoft.com/office/drawing/2014/main" id="{AFB9FF75-3998-8DDD-E563-7445BED139E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0587" y="2523865"/>
            <a:ext cx="2118432" cy="1414139"/>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E20F39F-22E3-777E-6A58-81F5229A0AB4}"/>
              </a:ext>
            </a:extLst>
          </p:cNvPr>
          <p:cNvSpPr txBox="1"/>
          <p:nvPr/>
        </p:nvSpPr>
        <p:spPr>
          <a:xfrm>
            <a:off x="8159741" y="1876899"/>
            <a:ext cx="2483709" cy="646331"/>
          </a:xfrm>
          <a:prstGeom prst="rect">
            <a:avLst/>
          </a:prstGeom>
          <a:noFill/>
        </p:spPr>
        <p:txBody>
          <a:bodyPr wrap="square" rtlCol="0">
            <a:spAutoFit/>
          </a:bodyPr>
          <a:lstStyle/>
          <a:p>
            <a:pPr algn="ctr"/>
            <a:r>
              <a:rPr lang="en-US"/>
              <a:t>Digital image </a:t>
            </a:r>
          </a:p>
          <a:p>
            <a:pPr algn="ctr"/>
            <a:r>
              <a:rPr lang="en-US"/>
              <a:t>(array of pixel values)</a:t>
            </a:r>
          </a:p>
        </p:txBody>
      </p:sp>
      <p:sp>
        <p:nvSpPr>
          <p:cNvPr id="11" name="Right Arrow 10">
            <a:extLst>
              <a:ext uri="{FF2B5EF4-FFF2-40B4-BE49-F238E27FC236}">
                <a16:creationId xmlns:a16="http://schemas.microsoft.com/office/drawing/2014/main" id="{E90686D3-6940-FE6F-C9BC-9518B86C8138}"/>
              </a:ext>
            </a:extLst>
          </p:cNvPr>
          <p:cNvSpPr/>
          <p:nvPr/>
        </p:nvSpPr>
        <p:spPr>
          <a:xfrm>
            <a:off x="4404187" y="3002280"/>
            <a:ext cx="617220"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984A54F3-2B39-3E0D-6E82-F21205597639}"/>
              </a:ext>
            </a:extLst>
          </p:cNvPr>
          <p:cNvSpPr/>
          <p:nvPr/>
        </p:nvSpPr>
        <p:spPr>
          <a:xfrm>
            <a:off x="7243257" y="3002280"/>
            <a:ext cx="629812"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104F702E-744D-DDD7-A11F-DAB584DC1A2C}"/>
              </a:ext>
            </a:extLst>
          </p:cNvPr>
          <p:cNvSpPr/>
          <p:nvPr/>
        </p:nvSpPr>
        <p:spPr>
          <a:xfrm rot="7834995">
            <a:off x="7339663" y="4739969"/>
            <a:ext cx="811829"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E46DBE7C-A96E-908E-AD9A-161C3DDDCE97}"/>
              </a:ext>
            </a:extLst>
          </p:cNvPr>
          <p:cNvSpPr/>
          <p:nvPr/>
        </p:nvSpPr>
        <p:spPr>
          <a:xfrm rot="10800000">
            <a:off x="4505585" y="5214076"/>
            <a:ext cx="617220" cy="2286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6">
            <a:extLst>
              <a:ext uri="{FF2B5EF4-FFF2-40B4-BE49-F238E27FC236}">
                <a16:creationId xmlns:a16="http://schemas.microsoft.com/office/drawing/2014/main" id="{4EE969FE-46B8-0029-DFAF-40973B3BC89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026856" y="2302490"/>
            <a:ext cx="2135415" cy="16002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8BA181C4-FFEB-15A1-D14E-F8FD14EA5607}"/>
              </a:ext>
            </a:extLst>
          </p:cNvPr>
          <p:cNvGrpSpPr>
            <a:grpSpLocks noChangeAspect="1"/>
          </p:cNvGrpSpPr>
          <p:nvPr/>
        </p:nvGrpSpPr>
        <p:grpSpPr>
          <a:xfrm>
            <a:off x="2022176" y="4578163"/>
            <a:ext cx="2142686" cy="1600200"/>
            <a:chOff x="2133039" y="4237165"/>
            <a:chExt cx="2410610" cy="1800291"/>
          </a:xfrm>
        </p:grpSpPr>
        <p:grpSp>
          <p:nvGrpSpPr>
            <p:cNvPr id="17" name="Group 16">
              <a:extLst>
                <a:ext uri="{FF2B5EF4-FFF2-40B4-BE49-F238E27FC236}">
                  <a16:creationId xmlns:a16="http://schemas.microsoft.com/office/drawing/2014/main" id="{90D0E2ED-202C-358B-2B80-F9C355FEA1C6}"/>
                </a:ext>
              </a:extLst>
            </p:cNvPr>
            <p:cNvGrpSpPr/>
            <p:nvPr/>
          </p:nvGrpSpPr>
          <p:grpSpPr>
            <a:xfrm>
              <a:off x="2141219" y="4237165"/>
              <a:ext cx="2402430" cy="1800291"/>
              <a:chOff x="2141219" y="4183825"/>
              <a:chExt cx="2402430" cy="1800291"/>
            </a:xfrm>
          </p:grpSpPr>
          <p:pic>
            <p:nvPicPr>
              <p:cNvPr id="21" name="Picture 6">
                <a:extLst>
                  <a:ext uri="{FF2B5EF4-FFF2-40B4-BE49-F238E27FC236}">
                    <a16:creationId xmlns:a16="http://schemas.microsoft.com/office/drawing/2014/main" id="{EA569616-1FD8-6946-F93B-418A1A37888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287" t="6603" b="7315"/>
              <a:stretch/>
            </p:blipFill>
            <p:spPr bwMode="auto">
              <a:xfrm>
                <a:off x="2141219" y="4183825"/>
                <a:ext cx="2402430" cy="1800291"/>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21">
                <a:extLst>
                  <a:ext uri="{FF2B5EF4-FFF2-40B4-BE49-F238E27FC236}">
                    <a16:creationId xmlns:a16="http://schemas.microsoft.com/office/drawing/2014/main" id="{07ED381C-7BB3-1984-5AFB-72888C25A3E1}"/>
                  </a:ext>
                </a:extLst>
              </p:cNvPr>
              <p:cNvSpPr/>
              <p:nvPr/>
            </p:nvSpPr>
            <p:spPr>
              <a:xfrm>
                <a:off x="3005026" y="4990293"/>
                <a:ext cx="1538623" cy="689249"/>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1DB7B24-D35F-E614-BF51-EC3E254BC7D7}"/>
                  </a:ext>
                </a:extLst>
              </p:cNvPr>
              <p:cNvSpPr/>
              <p:nvPr/>
            </p:nvSpPr>
            <p:spPr>
              <a:xfrm>
                <a:off x="2450854" y="4990293"/>
                <a:ext cx="690715"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F3C2974-5F0D-1368-456F-F588525E1AC0}"/>
                  </a:ext>
                </a:extLst>
              </p:cNvPr>
              <p:cNvSpPr/>
              <p:nvPr/>
            </p:nvSpPr>
            <p:spPr>
              <a:xfrm>
                <a:off x="2146381" y="4897422"/>
                <a:ext cx="536822" cy="43749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582BE9A3-8805-5022-F827-C4D3E8DCA8F9}"/>
                </a:ext>
              </a:extLst>
            </p:cNvPr>
            <p:cNvSpPr/>
            <p:nvPr/>
          </p:nvSpPr>
          <p:spPr>
            <a:xfrm>
              <a:off x="3488436" y="4765827"/>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Car</a:t>
              </a:r>
            </a:p>
          </p:txBody>
        </p:sp>
        <p:sp>
          <p:nvSpPr>
            <p:cNvPr id="19" name="Rectangle 18">
              <a:extLst>
                <a:ext uri="{FF2B5EF4-FFF2-40B4-BE49-F238E27FC236}">
                  <a16:creationId xmlns:a16="http://schemas.microsoft.com/office/drawing/2014/main" id="{384207E3-751D-A273-9FB0-285E5694BCD0}"/>
                </a:ext>
              </a:extLst>
            </p:cNvPr>
            <p:cNvSpPr/>
            <p:nvPr/>
          </p:nvSpPr>
          <p:spPr>
            <a:xfrm>
              <a:off x="2451717" y="5490484"/>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Car</a:t>
              </a:r>
            </a:p>
          </p:txBody>
        </p:sp>
        <p:sp>
          <p:nvSpPr>
            <p:cNvPr id="20" name="Rectangle 19">
              <a:extLst>
                <a:ext uri="{FF2B5EF4-FFF2-40B4-BE49-F238E27FC236}">
                  <a16:creationId xmlns:a16="http://schemas.microsoft.com/office/drawing/2014/main" id="{3177A857-C3C8-903C-9B6E-0C8CA845F29A}"/>
                </a:ext>
              </a:extLst>
            </p:cNvPr>
            <p:cNvSpPr/>
            <p:nvPr/>
          </p:nvSpPr>
          <p:spPr>
            <a:xfrm>
              <a:off x="2133039" y="4699008"/>
              <a:ext cx="550164" cy="24239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Car</a:t>
              </a:r>
            </a:p>
          </p:txBody>
        </p:sp>
      </p:grpSp>
      <p:sp>
        <p:nvSpPr>
          <p:cNvPr id="25" name="TextBox 24">
            <a:extLst>
              <a:ext uri="{FF2B5EF4-FFF2-40B4-BE49-F238E27FC236}">
                <a16:creationId xmlns:a16="http://schemas.microsoft.com/office/drawing/2014/main" id="{0649C2D3-7D8A-8C37-D0A3-901B9B429059}"/>
              </a:ext>
            </a:extLst>
          </p:cNvPr>
          <p:cNvSpPr txBox="1"/>
          <p:nvPr/>
        </p:nvSpPr>
        <p:spPr>
          <a:xfrm>
            <a:off x="1843975" y="1925956"/>
            <a:ext cx="2483709" cy="369332"/>
          </a:xfrm>
          <a:prstGeom prst="rect">
            <a:avLst/>
          </a:prstGeom>
          <a:noFill/>
        </p:spPr>
        <p:txBody>
          <a:bodyPr wrap="square" rtlCol="0">
            <a:spAutoFit/>
          </a:bodyPr>
          <a:lstStyle/>
          <a:p>
            <a:pPr algn="ctr"/>
            <a:r>
              <a:rPr lang="en-US"/>
              <a:t>Real-world scene</a:t>
            </a:r>
          </a:p>
        </p:txBody>
      </p:sp>
      <p:sp>
        <p:nvSpPr>
          <p:cNvPr id="26" name="TextBox 25">
            <a:extLst>
              <a:ext uri="{FF2B5EF4-FFF2-40B4-BE49-F238E27FC236}">
                <a16:creationId xmlns:a16="http://schemas.microsoft.com/office/drawing/2014/main" id="{84FB4156-AA64-F799-0F6F-E3B7FEB997C6}"/>
              </a:ext>
            </a:extLst>
          </p:cNvPr>
          <p:cNvSpPr txBox="1"/>
          <p:nvPr/>
        </p:nvSpPr>
        <p:spPr>
          <a:xfrm>
            <a:off x="4854144" y="2040387"/>
            <a:ext cx="2483709" cy="369332"/>
          </a:xfrm>
          <a:prstGeom prst="rect">
            <a:avLst/>
          </a:prstGeom>
          <a:noFill/>
        </p:spPr>
        <p:txBody>
          <a:bodyPr wrap="square" rtlCol="0">
            <a:spAutoFit/>
          </a:bodyPr>
          <a:lstStyle/>
          <a:p>
            <a:pPr algn="ctr"/>
            <a:r>
              <a:rPr lang="en-US"/>
              <a:t>Sensing device</a:t>
            </a:r>
          </a:p>
        </p:txBody>
      </p:sp>
      <p:sp>
        <p:nvSpPr>
          <p:cNvPr id="27" name="TextBox 26">
            <a:extLst>
              <a:ext uri="{FF2B5EF4-FFF2-40B4-BE49-F238E27FC236}">
                <a16:creationId xmlns:a16="http://schemas.microsoft.com/office/drawing/2014/main" id="{58C057C0-766F-0E00-BA4D-ADD4F970AA45}"/>
              </a:ext>
            </a:extLst>
          </p:cNvPr>
          <p:cNvSpPr txBox="1"/>
          <p:nvPr/>
        </p:nvSpPr>
        <p:spPr>
          <a:xfrm>
            <a:off x="1852708" y="4191628"/>
            <a:ext cx="2483709" cy="369332"/>
          </a:xfrm>
          <a:prstGeom prst="rect">
            <a:avLst/>
          </a:prstGeom>
          <a:noFill/>
        </p:spPr>
        <p:txBody>
          <a:bodyPr wrap="square" rtlCol="0">
            <a:spAutoFit/>
          </a:bodyPr>
          <a:lstStyle/>
          <a:p>
            <a:pPr algn="ctr"/>
            <a:r>
              <a:rPr lang="en-US"/>
              <a:t>Relevant information</a:t>
            </a:r>
          </a:p>
        </p:txBody>
      </p:sp>
      <p:sp>
        <p:nvSpPr>
          <p:cNvPr id="28" name="Rectangle 27">
            <a:extLst>
              <a:ext uri="{FF2B5EF4-FFF2-40B4-BE49-F238E27FC236}">
                <a16:creationId xmlns:a16="http://schemas.microsoft.com/office/drawing/2014/main" id="{81786D18-6BBB-3746-11E6-091EC34DB989}"/>
              </a:ext>
            </a:extLst>
          </p:cNvPr>
          <p:cNvSpPr/>
          <p:nvPr/>
        </p:nvSpPr>
        <p:spPr>
          <a:xfrm>
            <a:off x="1608750" y="1773237"/>
            <a:ext cx="9450788" cy="231043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3786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2"/>
          <p:cNvSpPr txBox="1">
            <a:spLocks/>
          </p:cNvSpPr>
          <p:nvPr/>
        </p:nvSpPr>
        <p:spPr>
          <a:xfrm>
            <a:off x="838200" y="1530204"/>
            <a:ext cx="10515600" cy="16499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Light is reflected by the object and scattered in all directions</a:t>
            </a:r>
          </a:p>
          <a:p>
            <a:r>
              <a:rPr lang="en-US"/>
              <a:t>If we simply add a photoreceptive surface, the captured image will be extremely blurred</a:t>
            </a:r>
          </a:p>
        </p:txBody>
      </p:sp>
      <p:sp>
        <p:nvSpPr>
          <p:cNvPr id="2" name="Title 1"/>
          <p:cNvSpPr>
            <a:spLocks noGrp="1"/>
          </p:cNvSpPr>
          <p:nvPr>
            <p:ph type="title"/>
          </p:nvPr>
        </p:nvSpPr>
        <p:spPr/>
        <p:txBody>
          <a:bodyPr/>
          <a:lstStyle/>
          <a:p>
            <a:r>
              <a:rPr lang="en-US"/>
              <a:t>How to capture an image of the world?</a:t>
            </a:r>
          </a:p>
        </p:txBody>
      </p:sp>
      <p:sp>
        <p:nvSpPr>
          <p:cNvPr id="4" name="Date Placeholder 3"/>
          <p:cNvSpPr>
            <a:spLocks noGrp="1"/>
          </p:cNvSpPr>
          <p:nvPr>
            <p:ph type="dt" sz="half" idx="10"/>
          </p:nvPr>
        </p:nvSpPr>
        <p:spPr/>
        <p:txBody>
          <a:bodyPr/>
          <a:lstStyle/>
          <a:p>
            <a:fld id="{3A0DC39D-76B8-AB45-8C9F-FE33502C8143}"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8" name="Content Placeholder 7"/>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70200" y="3194199"/>
            <a:ext cx="6451600" cy="3136900"/>
          </a:xfrm>
        </p:spPr>
      </p:pic>
      <p:sp>
        <p:nvSpPr>
          <p:cNvPr id="9" name="Rectangle 8"/>
          <p:cNvSpPr/>
          <p:nvPr/>
        </p:nvSpPr>
        <p:spPr>
          <a:xfrm>
            <a:off x="3010487" y="3270962"/>
            <a:ext cx="1434904" cy="4616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p:cNvCxnSpPr/>
          <p:nvPr/>
        </p:nvCxnSpPr>
        <p:spPr>
          <a:xfrm>
            <a:off x="9017391" y="3788903"/>
            <a:ext cx="0" cy="229303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7829257" y="3419571"/>
            <a:ext cx="2376268" cy="369332"/>
          </a:xfrm>
          <a:prstGeom prst="rect">
            <a:avLst/>
          </a:prstGeom>
          <a:noFill/>
        </p:spPr>
        <p:txBody>
          <a:bodyPr wrap="square" rtlCol="0">
            <a:spAutoFit/>
          </a:bodyPr>
          <a:lstStyle/>
          <a:p>
            <a:r>
              <a:rPr lang="en-US"/>
              <a:t>Photoreceptive surface</a:t>
            </a:r>
          </a:p>
        </p:txBody>
      </p:sp>
    </p:spTree>
    <p:extLst>
      <p:ext uri="{BB962C8B-B14F-4D97-AF65-F5344CB8AC3E}">
        <p14:creationId xmlns:p14="http://schemas.microsoft.com/office/powerpoint/2010/main" val="14360331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2"/>
          <p:cNvSpPr txBox="1">
            <a:spLocks/>
          </p:cNvSpPr>
          <p:nvPr/>
        </p:nvSpPr>
        <p:spPr>
          <a:xfrm>
            <a:off x="838200" y="1530204"/>
            <a:ext cx="10515600" cy="501188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solidFill>
                  <a:srgbClr val="C00000"/>
                </a:solidFill>
              </a:rPr>
              <a:t>Idea</a:t>
            </a:r>
            <a:r>
              <a:rPr lang="en-US"/>
              <a:t>: add a barrier to block off most of the rays</a:t>
            </a:r>
          </a:p>
          <a:p>
            <a:endParaRPr lang="en-US"/>
          </a:p>
          <a:p>
            <a:endParaRPr lang="en-US"/>
          </a:p>
          <a:p>
            <a:endParaRPr lang="en-US"/>
          </a:p>
          <a:p>
            <a:endParaRPr lang="en-US"/>
          </a:p>
          <a:p>
            <a:endParaRPr lang="en-US"/>
          </a:p>
          <a:p>
            <a:endParaRPr lang="en-US"/>
          </a:p>
          <a:p>
            <a:endParaRPr lang="en-US"/>
          </a:p>
          <a:p>
            <a:r>
              <a:rPr lang="en-US">
                <a:solidFill>
                  <a:srgbClr val="C00000"/>
                </a:solidFill>
              </a:rPr>
              <a:t>Pinhole camera</a:t>
            </a:r>
            <a:r>
              <a:rPr lang="en-US"/>
              <a:t>: a camera </a:t>
            </a:r>
            <a:r>
              <a:rPr lang="en-US" i="1"/>
              <a:t>without a lens </a:t>
            </a:r>
            <a:r>
              <a:rPr lang="en-US"/>
              <a:t>but with a tiny aperture, a </a:t>
            </a:r>
            <a:r>
              <a:rPr lang="en-US" i="1"/>
              <a:t>pinhole</a:t>
            </a:r>
            <a:r>
              <a:rPr lang="en-US"/>
              <a:t> </a:t>
            </a:r>
          </a:p>
        </p:txBody>
      </p:sp>
      <p:sp>
        <p:nvSpPr>
          <p:cNvPr id="2" name="Title 1"/>
          <p:cNvSpPr>
            <a:spLocks noGrp="1"/>
          </p:cNvSpPr>
          <p:nvPr>
            <p:ph type="title"/>
          </p:nvPr>
        </p:nvSpPr>
        <p:spPr/>
        <p:txBody>
          <a:bodyPr/>
          <a:lstStyle/>
          <a:p>
            <a:r>
              <a:rPr lang="en-US"/>
              <a:t>Pinhole camera</a:t>
            </a:r>
          </a:p>
        </p:txBody>
      </p:sp>
      <p:sp>
        <p:nvSpPr>
          <p:cNvPr id="4" name="Date Placeholder 3"/>
          <p:cNvSpPr>
            <a:spLocks noGrp="1"/>
          </p:cNvSpPr>
          <p:nvPr>
            <p:ph type="dt" sz="half" idx="10"/>
          </p:nvPr>
        </p:nvSpPr>
        <p:spPr/>
        <p:txBody>
          <a:bodyPr/>
          <a:lstStyle/>
          <a:p>
            <a:fld id="{6FC0B1A6-17F8-824F-A9E9-513E06689B39}"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grpSp>
        <p:nvGrpSpPr>
          <p:cNvPr id="27" name="Group 26"/>
          <p:cNvGrpSpPr/>
          <p:nvPr/>
        </p:nvGrpSpPr>
        <p:grpSpPr>
          <a:xfrm>
            <a:off x="2198858" y="2116025"/>
            <a:ext cx="8413460" cy="3372891"/>
            <a:chOff x="2198858" y="2355178"/>
            <a:chExt cx="8413460" cy="3372891"/>
          </a:xfrm>
        </p:grpSpPr>
        <p:grpSp>
          <p:nvGrpSpPr>
            <p:cNvPr id="22" name="Group 21"/>
            <p:cNvGrpSpPr/>
            <p:nvPr/>
          </p:nvGrpSpPr>
          <p:grpSpPr>
            <a:xfrm>
              <a:off x="2198858" y="2355178"/>
              <a:ext cx="7794284" cy="3372891"/>
              <a:chOff x="2198858" y="2355178"/>
              <a:chExt cx="7794284" cy="3372891"/>
            </a:xfrm>
          </p:grpSpPr>
          <p:sp>
            <p:nvSpPr>
              <p:cNvPr id="9" name="Rectangle 8"/>
              <p:cNvSpPr/>
              <p:nvPr/>
            </p:nvSpPr>
            <p:spPr>
              <a:xfrm>
                <a:off x="3010487" y="3270962"/>
                <a:ext cx="1434904" cy="4616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8858" y="2355178"/>
                <a:ext cx="7794284" cy="3372891"/>
              </a:xfrm>
              <a:prstGeom prst="rect">
                <a:avLst/>
              </a:prstGeom>
            </p:spPr>
          </p:pic>
          <p:cxnSp>
            <p:nvCxnSpPr>
              <p:cNvPr id="13" name="Straight Connector 12"/>
              <p:cNvCxnSpPr/>
              <p:nvPr/>
            </p:nvCxnSpPr>
            <p:spPr>
              <a:xfrm>
                <a:off x="9424184" y="3152016"/>
                <a:ext cx="0" cy="229303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6288258" y="4298533"/>
                <a:ext cx="10554" cy="11465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H="1">
                <a:off x="6288258" y="3152016"/>
                <a:ext cx="10554" cy="101202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p:cNvSpPr/>
              <p:nvPr/>
            </p:nvSpPr>
            <p:spPr>
              <a:xfrm>
                <a:off x="2603695" y="2422234"/>
                <a:ext cx="7145215" cy="4748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a:off x="6341017" y="2787125"/>
                <a:ext cx="2881140" cy="13628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TextBox 13"/>
            <p:cNvSpPr txBox="1"/>
            <p:nvPr/>
          </p:nvSpPr>
          <p:spPr>
            <a:xfrm>
              <a:off x="8236050" y="2659683"/>
              <a:ext cx="2376268" cy="369332"/>
            </a:xfrm>
            <a:prstGeom prst="rect">
              <a:avLst/>
            </a:prstGeom>
            <a:noFill/>
          </p:spPr>
          <p:txBody>
            <a:bodyPr wrap="square" rtlCol="0">
              <a:spAutoFit/>
            </a:bodyPr>
            <a:lstStyle/>
            <a:p>
              <a:r>
                <a:rPr lang="en-US"/>
                <a:t>Photoreceptive surface</a:t>
              </a:r>
            </a:p>
          </p:txBody>
        </p:sp>
        <p:sp>
          <p:nvSpPr>
            <p:cNvPr id="23" name="TextBox 22"/>
            <p:cNvSpPr txBox="1"/>
            <p:nvPr/>
          </p:nvSpPr>
          <p:spPr>
            <a:xfrm>
              <a:off x="6926291" y="3363299"/>
              <a:ext cx="1181783" cy="369332"/>
            </a:xfrm>
            <a:prstGeom prst="rect">
              <a:avLst/>
            </a:prstGeom>
            <a:noFill/>
          </p:spPr>
          <p:txBody>
            <a:bodyPr wrap="square" rtlCol="0">
              <a:spAutoFit/>
            </a:bodyPr>
            <a:lstStyle/>
            <a:p>
              <a:r>
                <a:rPr lang="en-US"/>
                <a:t>Aperture</a:t>
              </a:r>
            </a:p>
          </p:txBody>
        </p:sp>
        <p:cxnSp>
          <p:nvCxnSpPr>
            <p:cNvPr id="25" name="Straight Arrow Connector 24"/>
            <p:cNvCxnSpPr>
              <a:stCxn id="23" idx="2"/>
            </p:cNvCxnSpPr>
            <p:nvPr/>
          </p:nvCxnSpPr>
          <p:spPr>
            <a:xfrm flipH="1">
              <a:off x="6398653" y="3732631"/>
              <a:ext cx="1118530" cy="4165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65526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2"/>
          <p:cNvSpPr txBox="1">
            <a:spLocks/>
          </p:cNvSpPr>
          <p:nvPr/>
        </p:nvSpPr>
        <p:spPr>
          <a:xfrm>
            <a:off x="838200" y="1502068"/>
            <a:ext cx="10515600" cy="501188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Very old idea (several thousands of years BC)</a:t>
            </a:r>
          </a:p>
          <a:p>
            <a:r>
              <a:rPr lang="en-US"/>
              <a:t>First clear description from Leonardo Da Vinci (1502)</a:t>
            </a:r>
          </a:p>
          <a:p>
            <a:r>
              <a:rPr lang="en-US"/>
              <a:t>Oldest known published drawing of a camera </a:t>
            </a:r>
            <a:r>
              <a:rPr lang="en-US" err="1"/>
              <a:t>obscura</a:t>
            </a:r>
            <a:r>
              <a:rPr lang="en-US"/>
              <a:t> by Gemma </a:t>
            </a:r>
            <a:r>
              <a:rPr lang="en-US" err="1"/>
              <a:t>Frisius</a:t>
            </a:r>
            <a:r>
              <a:rPr lang="en-US"/>
              <a:t> (1544)</a:t>
            </a:r>
          </a:p>
        </p:txBody>
      </p:sp>
      <p:sp>
        <p:nvSpPr>
          <p:cNvPr id="2" name="Title 1"/>
          <p:cNvSpPr>
            <a:spLocks noGrp="1"/>
          </p:cNvSpPr>
          <p:nvPr>
            <p:ph type="title"/>
          </p:nvPr>
        </p:nvSpPr>
        <p:spPr/>
        <p:txBody>
          <a:bodyPr/>
          <a:lstStyle/>
          <a:p>
            <a:r>
              <a:rPr lang="en-US"/>
              <a:t>A long history</a:t>
            </a:r>
          </a:p>
        </p:txBody>
      </p:sp>
      <p:sp>
        <p:nvSpPr>
          <p:cNvPr id="4" name="Date Placeholder 3"/>
          <p:cNvSpPr>
            <a:spLocks noGrp="1"/>
          </p:cNvSpPr>
          <p:nvPr>
            <p:ph type="dt" sz="half" idx="10"/>
          </p:nvPr>
        </p:nvSpPr>
        <p:spPr/>
        <p:txBody>
          <a:bodyPr/>
          <a:lstStyle/>
          <a:p>
            <a:fld id="{0569F39D-3B5A-9142-89D9-7A856D753B45}"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3" name="Picture 2"/>
          <p:cNvPicPr>
            <a:picLocks noChangeAspect="1"/>
          </p:cNvPicPr>
          <p:nvPr/>
        </p:nvPicPr>
        <p:blipFill>
          <a:blip r:embed="rId3"/>
          <a:stretch>
            <a:fillRect/>
          </a:stretch>
        </p:blipFill>
        <p:spPr>
          <a:xfrm>
            <a:off x="3205688" y="3545059"/>
            <a:ext cx="5780624" cy="2997031"/>
          </a:xfrm>
          <a:prstGeom prst="rect">
            <a:avLst/>
          </a:prstGeom>
        </p:spPr>
      </p:pic>
    </p:spTree>
    <p:extLst>
      <p:ext uri="{BB962C8B-B14F-4D97-AF65-F5344CB8AC3E}">
        <p14:creationId xmlns:p14="http://schemas.microsoft.com/office/powerpoint/2010/main" val="29252255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Content Placeholder 2"/>
          <p:cNvSpPr txBox="1">
            <a:spLocks/>
          </p:cNvSpPr>
          <p:nvPr/>
        </p:nvSpPr>
        <p:spPr>
          <a:xfrm>
            <a:off x="838200" y="1572407"/>
            <a:ext cx="10515600" cy="50400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endParaRPr lang="en-US"/>
          </a:p>
          <a:p>
            <a:endParaRPr lang="en-US"/>
          </a:p>
          <a:p>
            <a:endParaRPr lang="en-US"/>
          </a:p>
          <a:p>
            <a:endParaRPr lang="en-US"/>
          </a:p>
          <a:p>
            <a:endParaRPr lang="en-US"/>
          </a:p>
          <a:p>
            <a:endParaRPr lang="en-US"/>
          </a:p>
          <a:p>
            <a:r>
              <a:rPr lang="en-US"/>
              <a:t>Perspective projection creates inverted images</a:t>
            </a:r>
          </a:p>
          <a:p>
            <a:r>
              <a:rPr lang="en-US"/>
              <a:t>Sometimes it is convenient to consider a </a:t>
            </a:r>
            <a:r>
              <a:rPr lang="en-US" i="1"/>
              <a:t>virtual image </a:t>
            </a:r>
            <a:r>
              <a:rPr lang="en-US"/>
              <a:t>associated with a plane lying in front of the pinhole</a:t>
            </a:r>
          </a:p>
          <a:p>
            <a:r>
              <a:rPr lang="en-US"/>
              <a:t>Virtual image not inverted but otherwise equivalent to the actual one</a:t>
            </a:r>
          </a:p>
          <a:p>
            <a:endParaRPr lang="en-US"/>
          </a:p>
          <a:p>
            <a:endParaRPr lang="en-US"/>
          </a:p>
        </p:txBody>
      </p:sp>
      <p:sp>
        <p:nvSpPr>
          <p:cNvPr id="2" name="Title 1"/>
          <p:cNvSpPr>
            <a:spLocks noGrp="1"/>
          </p:cNvSpPr>
          <p:nvPr>
            <p:ph type="title"/>
          </p:nvPr>
        </p:nvSpPr>
        <p:spPr/>
        <p:txBody>
          <a:bodyPr/>
          <a:lstStyle/>
          <a:p>
            <a:r>
              <a:rPr lang="en-US"/>
              <a:t>Pinhole camera</a:t>
            </a:r>
          </a:p>
        </p:txBody>
      </p:sp>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152650" y="1953074"/>
            <a:ext cx="7886700" cy="2717800"/>
          </a:xfrm>
        </p:spPr>
      </p:pic>
      <p:sp>
        <p:nvSpPr>
          <p:cNvPr id="4" name="Date Placeholder 3"/>
          <p:cNvSpPr>
            <a:spLocks noGrp="1"/>
          </p:cNvSpPr>
          <p:nvPr>
            <p:ph type="dt" sz="half" idx="10"/>
          </p:nvPr>
        </p:nvSpPr>
        <p:spPr/>
        <p:txBody>
          <a:bodyPr/>
          <a:lstStyle/>
          <a:p>
            <a:fld id="{80F2DC1D-8F70-9C4D-93FA-006527A721DE}"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
        <p:nvSpPr>
          <p:cNvPr id="8" name="TextBox 7"/>
          <p:cNvSpPr txBox="1"/>
          <p:nvPr/>
        </p:nvSpPr>
        <p:spPr>
          <a:xfrm>
            <a:off x="5786807" y="1768408"/>
            <a:ext cx="2197780" cy="369332"/>
          </a:xfrm>
          <a:prstGeom prst="rect">
            <a:avLst/>
          </a:prstGeom>
          <a:noFill/>
        </p:spPr>
        <p:txBody>
          <a:bodyPr wrap="square" rtlCol="0">
            <a:spAutoFit/>
          </a:bodyPr>
          <a:lstStyle/>
          <a:p>
            <a:r>
              <a:rPr lang="en-US"/>
              <a:t>Pinhole of aperture</a:t>
            </a:r>
          </a:p>
        </p:txBody>
      </p:sp>
      <p:cxnSp>
        <p:nvCxnSpPr>
          <p:cNvPr id="10" name="Straight Arrow Connector 9"/>
          <p:cNvCxnSpPr/>
          <p:nvPr/>
        </p:nvCxnSpPr>
        <p:spPr>
          <a:xfrm flipH="1">
            <a:off x="5526260" y="2095536"/>
            <a:ext cx="1308296" cy="115962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094893" y="1715709"/>
            <a:ext cx="0" cy="844061"/>
          </a:xfrm>
          <a:prstGeom prst="straightConnector1">
            <a:avLst/>
          </a:prstGeom>
          <a:ln w="25400">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5261317" y="1715709"/>
            <a:ext cx="0" cy="1114459"/>
          </a:xfrm>
          <a:prstGeom prst="straightConnector1">
            <a:avLst/>
          </a:prstGeom>
          <a:ln w="25400">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a:off x="3193367" y="1815509"/>
            <a:ext cx="1969477" cy="14068"/>
          </a:xfrm>
          <a:prstGeom prst="straightConnector1">
            <a:avLst/>
          </a:prstGeom>
          <a:ln w="127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3079215" y="1455227"/>
            <a:ext cx="2197780" cy="369332"/>
          </a:xfrm>
          <a:prstGeom prst="rect">
            <a:avLst/>
          </a:prstGeom>
          <a:noFill/>
        </p:spPr>
        <p:txBody>
          <a:bodyPr wrap="square" rtlCol="0">
            <a:spAutoFit/>
          </a:bodyPr>
          <a:lstStyle/>
          <a:p>
            <a:pPr algn="ctr"/>
            <a:r>
              <a:rPr lang="en-US"/>
              <a:t>Focal length </a:t>
            </a:r>
            <a:r>
              <a:rPr lang="en-US" i="1"/>
              <a:t>f</a:t>
            </a:r>
          </a:p>
        </p:txBody>
      </p:sp>
      <p:sp>
        <p:nvSpPr>
          <p:cNvPr id="14" name="TextBox 13"/>
          <p:cNvSpPr txBox="1"/>
          <p:nvPr/>
        </p:nvSpPr>
        <p:spPr>
          <a:xfrm>
            <a:off x="9124949" y="4541833"/>
            <a:ext cx="1833563" cy="246221"/>
          </a:xfrm>
          <a:prstGeom prst="rect">
            <a:avLst/>
          </a:prstGeom>
          <a:noFill/>
        </p:spPr>
        <p:txBody>
          <a:bodyPr wrap="square" rtlCol="0">
            <a:spAutoFit/>
          </a:bodyPr>
          <a:lstStyle/>
          <a:p>
            <a:r>
              <a:rPr lang="en-US" sz="1000"/>
              <a:t>Credit: FP Chapter 1</a:t>
            </a:r>
          </a:p>
        </p:txBody>
      </p:sp>
    </p:spTree>
    <p:extLst>
      <p:ext uri="{BB962C8B-B14F-4D97-AF65-F5344CB8AC3E}">
        <p14:creationId xmlns:p14="http://schemas.microsoft.com/office/powerpoint/2010/main" val="18527861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2" name="Content Placeholder 2"/>
              <p:cNvSpPr txBox="1">
                <a:spLocks/>
              </p:cNvSpPr>
              <p:nvPr/>
            </p:nvSpPr>
            <p:spPr>
              <a:xfrm>
                <a:off x="831850" y="1710317"/>
                <a:ext cx="10515600" cy="4108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endParaRPr lang="en-US"/>
              </a:p>
              <a:p>
                <a:endParaRPr lang="en-US"/>
              </a:p>
              <a:p>
                <a:endParaRPr lang="en-US"/>
              </a:p>
              <a:p>
                <a:endParaRPr lang="en-US"/>
              </a:p>
              <a:p>
                <a:endParaRPr lang="en-US"/>
              </a:p>
              <a:p>
                <a:r>
                  <a:rPr lang="en-US"/>
                  <a:t>Since </a:t>
                </a:r>
                <a:r>
                  <a:rPr lang="en-US" i="1"/>
                  <a:t>P</a:t>
                </a:r>
                <a:r>
                  <a:rPr lang="en-US"/>
                  <a:t>, </a:t>
                </a:r>
                <a:r>
                  <a:rPr lang="en-US" i="1"/>
                  <a:t>O</a:t>
                </a:r>
                <a:r>
                  <a:rPr lang="en-US"/>
                  <a:t>, and </a:t>
                </a:r>
                <a:r>
                  <a:rPr lang="en-US" i="1"/>
                  <a:t>p </a:t>
                </a:r>
                <a:r>
                  <a:rPr lang="en-US"/>
                  <a:t>are collinear: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charset="0"/>
                          </a:rPr>
                          <m:t>𝑂𝑝</m:t>
                        </m:r>
                      </m:e>
                    </m:acc>
                    <m:r>
                      <a:rPr lang="en-US" b="0" i="1" smtClean="0">
                        <a:latin typeface="Cambria Math" charset="0"/>
                      </a:rPr>
                      <m:t>=</m:t>
                    </m:r>
                    <m:r>
                      <a:rPr lang="en-US" b="0" i="1" smtClean="0">
                        <a:latin typeface="Cambria Math" charset="0"/>
                      </a:rPr>
                      <m:t>𝜆</m:t>
                    </m:r>
                    <m:acc>
                      <m:accPr>
                        <m:chr m:val="̅"/>
                        <m:ctrlPr>
                          <a:rPr lang="en-US" b="0" i="1" smtClean="0">
                            <a:latin typeface="Cambria Math" panose="02040503050406030204" pitchFamily="18" charset="0"/>
                          </a:rPr>
                        </m:ctrlPr>
                      </m:accPr>
                      <m:e>
                        <m:r>
                          <a:rPr lang="en-US" b="0" i="1" smtClean="0">
                            <a:latin typeface="Cambria Math" charset="0"/>
                          </a:rPr>
                          <m:t>𝑂𝑃</m:t>
                        </m:r>
                      </m:e>
                    </m:acc>
                  </m:oMath>
                </a14:m>
                <a:r>
                  <a:rPr lang="en-US" i="1"/>
                  <a:t> </a:t>
                </a:r>
                <a:r>
                  <a:rPr lang="en-US"/>
                  <a:t>for some </a:t>
                </a:r>
                <a14:m>
                  <m:oMath xmlns:m="http://schemas.openxmlformats.org/officeDocument/2006/math">
                    <m:r>
                      <a:rPr lang="en-US" i="1">
                        <a:latin typeface="Cambria Math" charset="0"/>
                      </a:rPr>
                      <m:t>𝜆</m:t>
                    </m:r>
                    <m:r>
                      <a:rPr lang="en-US" b="0" i="1" smtClean="0">
                        <a:latin typeface="Cambria Math" charset="0"/>
                      </a:rPr>
                      <m:t>∈</m:t>
                    </m:r>
                    <m:r>
                      <a:rPr lang="en-US" b="0" i="1" smtClean="0">
                        <a:latin typeface="Cambria Math" charset="0"/>
                      </a:rPr>
                      <m:t>𝑅</m:t>
                    </m:r>
                  </m:oMath>
                </a14:m>
                <a:endParaRPr lang="en-US"/>
              </a:p>
              <a:p>
                <a:r>
                  <a:rPr lang="en-US"/>
                  <a:t>Also, </a:t>
                </a:r>
                <a:r>
                  <a:rPr lang="en-US" i="1"/>
                  <a:t>z=f</a:t>
                </a:r>
                <a:r>
                  <a:rPr lang="en-US"/>
                  <a:t>, hence</a:t>
                </a:r>
              </a:p>
              <a:p>
                <a:endParaRPr lang="en-US"/>
              </a:p>
              <a:p>
                <a:endParaRPr lang="en-US"/>
              </a:p>
            </p:txBody>
          </p:sp>
        </mc:Choice>
        <mc:Fallback xmlns="">
          <p:sp>
            <p:nvSpPr>
              <p:cNvPr id="22" name="Content Placeholder 2"/>
              <p:cNvSpPr txBox="1">
                <a:spLocks noRot="1" noChangeAspect="1" noMove="1" noResize="1" noEditPoints="1" noAdjustHandles="1" noChangeArrowheads="1" noChangeShapeType="1" noTextEdit="1"/>
              </p:cNvSpPr>
              <p:nvPr/>
            </p:nvSpPr>
            <p:spPr>
              <a:xfrm>
                <a:off x="831850" y="1710317"/>
                <a:ext cx="10515600" cy="4108563"/>
              </a:xfrm>
              <a:prstGeom prst="rect">
                <a:avLst/>
              </a:prstGeom>
              <a:blipFill>
                <a:blip r:embed="rId3"/>
                <a:stretch>
                  <a:fillRect l="-1043"/>
                </a:stretch>
              </a:blipFill>
            </p:spPr>
            <p:txBody>
              <a:bodyPr/>
              <a:lstStyle/>
              <a:p>
                <a:r>
                  <a:rPr lang="en-US">
                    <a:noFill/>
                  </a:rPr>
                  <a:t> </a:t>
                </a:r>
              </a:p>
            </p:txBody>
          </p:sp>
        </mc:Fallback>
      </mc:AlternateContent>
      <p:pic>
        <p:nvPicPr>
          <p:cNvPr id="7" name="Content Placeholder 6"/>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2552212" y="1195813"/>
            <a:ext cx="7143848" cy="3053325"/>
          </a:xfrm>
        </p:spPr>
      </p:pic>
      <p:sp>
        <p:nvSpPr>
          <p:cNvPr id="8" name="Rectangle 7"/>
          <p:cNvSpPr/>
          <p:nvPr/>
        </p:nvSpPr>
        <p:spPr>
          <a:xfrm>
            <a:off x="4333912" y="1790184"/>
            <a:ext cx="365760" cy="3706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p:cNvPicPr>
            <a:picLocks noChangeAspect="1"/>
          </p:cNvPicPr>
          <p:nvPr/>
        </p:nvPicPr>
        <p:blipFill>
          <a:blip r:embed="rId5"/>
          <a:stretch>
            <a:fillRect/>
          </a:stretch>
        </p:blipFill>
        <p:spPr>
          <a:xfrm>
            <a:off x="4516792" y="1870091"/>
            <a:ext cx="137646" cy="246314"/>
          </a:xfrm>
          <a:prstGeom prst="rect">
            <a:avLst/>
          </a:prstGeom>
        </p:spPr>
      </p:pic>
      <p:sp>
        <p:nvSpPr>
          <p:cNvPr id="10" name="TextBox 9"/>
          <p:cNvSpPr txBox="1"/>
          <p:nvPr/>
        </p:nvSpPr>
        <p:spPr>
          <a:xfrm>
            <a:off x="896038" y="2084000"/>
            <a:ext cx="2197780" cy="369332"/>
          </a:xfrm>
          <a:prstGeom prst="rect">
            <a:avLst/>
          </a:prstGeom>
          <a:noFill/>
        </p:spPr>
        <p:txBody>
          <a:bodyPr wrap="square" rtlCol="0">
            <a:spAutoFit/>
          </a:bodyPr>
          <a:lstStyle/>
          <a:p>
            <a:r>
              <a:rPr lang="en-US"/>
              <a:t>Image center</a:t>
            </a:r>
          </a:p>
        </p:txBody>
      </p:sp>
      <p:cxnSp>
        <p:nvCxnSpPr>
          <p:cNvPr id="11" name="Straight Arrow Connector 10"/>
          <p:cNvCxnSpPr/>
          <p:nvPr/>
        </p:nvCxnSpPr>
        <p:spPr>
          <a:xfrm>
            <a:off x="1943787" y="2411128"/>
            <a:ext cx="1348053" cy="36218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290230" y="3909919"/>
            <a:ext cx="2197780" cy="369332"/>
          </a:xfrm>
          <a:prstGeom prst="rect">
            <a:avLst/>
          </a:prstGeom>
          <a:noFill/>
        </p:spPr>
        <p:txBody>
          <a:bodyPr wrap="square" rtlCol="0">
            <a:spAutoFit/>
          </a:bodyPr>
          <a:lstStyle/>
          <a:p>
            <a:r>
              <a:rPr lang="en-US"/>
              <a:t>Optical axis</a:t>
            </a:r>
          </a:p>
        </p:txBody>
      </p:sp>
      <p:cxnSp>
        <p:nvCxnSpPr>
          <p:cNvPr id="14" name="Straight Arrow Connector 13"/>
          <p:cNvCxnSpPr/>
          <p:nvPr/>
        </p:nvCxnSpPr>
        <p:spPr>
          <a:xfrm flipV="1">
            <a:off x="3705739" y="2821217"/>
            <a:ext cx="576971" cy="111850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6012401" y="1790184"/>
            <a:ext cx="948202" cy="369332"/>
          </a:xfrm>
          <a:prstGeom prst="rect">
            <a:avLst/>
          </a:prstGeom>
          <a:noFill/>
        </p:spPr>
        <p:txBody>
          <a:bodyPr wrap="square" rtlCol="0">
            <a:spAutoFit/>
          </a:bodyPr>
          <a:lstStyle/>
          <a:p>
            <a:r>
              <a:rPr lang="en-US"/>
              <a:t>Pinhole</a:t>
            </a:r>
          </a:p>
        </p:txBody>
      </p:sp>
      <p:cxnSp>
        <p:nvCxnSpPr>
          <p:cNvPr id="18" name="Straight Arrow Connector 17"/>
          <p:cNvCxnSpPr/>
          <p:nvPr/>
        </p:nvCxnSpPr>
        <p:spPr>
          <a:xfrm flipH="1">
            <a:off x="5781198" y="2116405"/>
            <a:ext cx="448543" cy="60607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p:cNvSpPr/>
          <p:nvPr/>
        </p:nvSpPr>
        <p:spPr>
          <a:xfrm>
            <a:off x="3742716" y="1681621"/>
            <a:ext cx="251508" cy="3706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a:t>Pinhole perspective</a:t>
            </a:r>
          </a:p>
        </p:txBody>
      </p:sp>
      <p:sp>
        <p:nvSpPr>
          <p:cNvPr id="4" name="Date Placeholder 3"/>
          <p:cNvSpPr>
            <a:spLocks noGrp="1"/>
          </p:cNvSpPr>
          <p:nvPr>
            <p:ph type="dt" sz="half" idx="10"/>
          </p:nvPr>
        </p:nvSpPr>
        <p:spPr/>
        <p:txBody>
          <a:bodyPr/>
          <a:lstStyle/>
          <a:p>
            <a:fld id="{888FB5F9-70D2-BE40-93DB-0CBCE7CBF209}"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27" name="Picture 26"/>
          <p:cNvPicPr>
            <a:picLocks noChangeAspect="1"/>
          </p:cNvPicPr>
          <p:nvPr/>
        </p:nvPicPr>
        <p:blipFill>
          <a:blip r:embed="rId6"/>
          <a:stretch>
            <a:fillRect/>
          </a:stretch>
        </p:blipFill>
        <p:spPr>
          <a:xfrm>
            <a:off x="2209800" y="5350490"/>
            <a:ext cx="7952861" cy="1369307"/>
          </a:xfrm>
          <a:prstGeom prst="rect">
            <a:avLst/>
          </a:prstGeom>
        </p:spPr>
      </p:pic>
      <p:sp>
        <p:nvSpPr>
          <p:cNvPr id="28" name="TextBox 27"/>
          <p:cNvSpPr txBox="1"/>
          <p:nvPr/>
        </p:nvSpPr>
        <p:spPr>
          <a:xfrm>
            <a:off x="896038" y="1537729"/>
            <a:ext cx="1425131" cy="369332"/>
          </a:xfrm>
          <a:prstGeom prst="rect">
            <a:avLst/>
          </a:prstGeom>
          <a:noFill/>
        </p:spPr>
        <p:txBody>
          <a:bodyPr wrap="square" rtlCol="0">
            <a:spAutoFit/>
          </a:bodyPr>
          <a:lstStyle/>
          <a:p>
            <a:r>
              <a:rPr lang="en-US"/>
              <a:t>Image plane</a:t>
            </a:r>
          </a:p>
        </p:txBody>
      </p:sp>
      <p:cxnSp>
        <p:nvCxnSpPr>
          <p:cNvPr id="29" name="Straight Arrow Connector 28"/>
          <p:cNvCxnSpPr/>
          <p:nvPr/>
        </p:nvCxnSpPr>
        <p:spPr>
          <a:xfrm>
            <a:off x="2192257" y="1762502"/>
            <a:ext cx="1297785" cy="1515"/>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31" name="Picture 30"/>
          <p:cNvPicPr>
            <a:picLocks noChangeAspect="1"/>
          </p:cNvPicPr>
          <p:nvPr/>
        </p:nvPicPr>
        <p:blipFill>
          <a:blip r:embed="rId7"/>
          <a:stretch>
            <a:fillRect/>
          </a:stretch>
        </p:blipFill>
        <p:spPr>
          <a:xfrm>
            <a:off x="10651199" y="1974850"/>
            <a:ext cx="1380732" cy="240977"/>
          </a:xfrm>
          <a:prstGeom prst="rect">
            <a:avLst/>
          </a:prstGeom>
        </p:spPr>
      </p:pic>
      <p:pic>
        <p:nvPicPr>
          <p:cNvPr id="32" name="Picture 31"/>
          <p:cNvPicPr>
            <a:picLocks noChangeAspect="1"/>
          </p:cNvPicPr>
          <p:nvPr/>
        </p:nvPicPr>
        <p:blipFill>
          <a:blip r:embed="rId8"/>
          <a:stretch>
            <a:fillRect/>
          </a:stretch>
        </p:blipFill>
        <p:spPr>
          <a:xfrm>
            <a:off x="10651199" y="3351528"/>
            <a:ext cx="1448939" cy="296192"/>
          </a:xfrm>
          <a:prstGeom prst="rect">
            <a:avLst/>
          </a:prstGeom>
        </p:spPr>
      </p:pic>
      <p:cxnSp>
        <p:nvCxnSpPr>
          <p:cNvPr id="34" name="Straight Arrow Connector 33"/>
          <p:cNvCxnSpPr/>
          <p:nvPr/>
        </p:nvCxnSpPr>
        <p:spPr>
          <a:xfrm flipH="1">
            <a:off x="11449474" y="2405372"/>
            <a:ext cx="1627" cy="80044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10209995" y="2606422"/>
            <a:ext cx="1355038" cy="369332"/>
          </a:xfrm>
          <a:prstGeom prst="rect">
            <a:avLst/>
          </a:prstGeom>
          <a:noFill/>
        </p:spPr>
        <p:txBody>
          <a:bodyPr wrap="square" rtlCol="0">
            <a:spAutoFit/>
          </a:bodyPr>
          <a:lstStyle/>
          <a:p>
            <a:r>
              <a:rPr lang="en-US"/>
              <a:t>Perspective</a:t>
            </a:r>
          </a:p>
        </p:txBody>
      </p:sp>
      <p:sp>
        <p:nvSpPr>
          <p:cNvPr id="24" name="TextBox 23"/>
          <p:cNvSpPr txBox="1"/>
          <p:nvPr/>
        </p:nvSpPr>
        <p:spPr>
          <a:xfrm>
            <a:off x="8093540" y="3809136"/>
            <a:ext cx="1833563" cy="246221"/>
          </a:xfrm>
          <a:prstGeom prst="rect">
            <a:avLst/>
          </a:prstGeom>
          <a:noFill/>
        </p:spPr>
        <p:txBody>
          <a:bodyPr wrap="square" rtlCol="0">
            <a:spAutoFit/>
          </a:bodyPr>
          <a:lstStyle/>
          <a:p>
            <a:r>
              <a:rPr lang="en-US" sz="1000"/>
              <a:t>Credit: FP Chapter 1</a:t>
            </a:r>
          </a:p>
        </p:txBody>
      </p:sp>
    </p:spTree>
    <p:extLst>
      <p:ext uri="{BB962C8B-B14F-4D97-AF65-F5344CB8AC3E}">
        <p14:creationId xmlns:p14="http://schemas.microsoft.com/office/powerpoint/2010/main" val="18856708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Issues with pinhole camera</a:t>
            </a:r>
          </a:p>
        </p:txBody>
      </p:sp>
      <p:sp>
        <p:nvSpPr>
          <p:cNvPr id="3" name="Content Placeholder 2"/>
          <p:cNvSpPr>
            <a:spLocks noGrp="1"/>
          </p:cNvSpPr>
          <p:nvPr>
            <p:ph idx="1"/>
          </p:nvPr>
        </p:nvSpPr>
        <p:spPr>
          <a:xfrm>
            <a:off x="838199" y="1825625"/>
            <a:ext cx="5295315" cy="4351338"/>
          </a:xfrm>
        </p:spPr>
        <p:txBody>
          <a:bodyPr/>
          <a:lstStyle/>
          <a:p>
            <a:r>
              <a:rPr lang="en-US"/>
              <a:t>Larger aperture -&gt; greater number of light rays that pass through the aperture -&gt; blur</a:t>
            </a:r>
          </a:p>
          <a:p>
            <a:r>
              <a:rPr lang="en-US"/>
              <a:t>Smaller aperture -&gt; fewer number of light rays that pass through the aperture -&gt; darkness (+ diffraction)</a:t>
            </a:r>
          </a:p>
          <a:p>
            <a:endParaRPr lang="en-US"/>
          </a:p>
          <a:p>
            <a:r>
              <a:rPr lang="en-US">
                <a:solidFill>
                  <a:srgbClr val="C00000"/>
                </a:solidFill>
              </a:rPr>
              <a:t>Solution</a:t>
            </a:r>
            <a:r>
              <a:rPr lang="en-US"/>
              <a:t>: add a lens to replace the aperture!</a:t>
            </a:r>
          </a:p>
        </p:txBody>
      </p:sp>
      <p:sp>
        <p:nvSpPr>
          <p:cNvPr id="4" name="Date Placeholder 3"/>
          <p:cNvSpPr>
            <a:spLocks noGrp="1"/>
          </p:cNvSpPr>
          <p:nvPr>
            <p:ph type="dt" sz="half" idx="10"/>
          </p:nvPr>
        </p:nvSpPr>
        <p:spPr/>
        <p:txBody>
          <a:bodyPr/>
          <a:lstStyle/>
          <a:p>
            <a:fld id="{5E503094-1062-3F43-BADC-0E70AA0D1338}"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4672" y="1923660"/>
            <a:ext cx="5669475" cy="4155267"/>
          </a:xfrm>
          <a:prstGeom prst="rect">
            <a:avLst/>
          </a:prstGeom>
        </p:spPr>
      </p:pic>
    </p:spTree>
    <p:extLst>
      <p:ext uri="{BB962C8B-B14F-4D97-AF65-F5344CB8AC3E}">
        <p14:creationId xmlns:p14="http://schemas.microsoft.com/office/powerpoint/2010/main" val="25778926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Lenses</a:t>
            </a:r>
          </a:p>
        </p:txBody>
      </p:sp>
      <p:sp>
        <p:nvSpPr>
          <p:cNvPr id="3" name="Content Placeholder 2"/>
          <p:cNvSpPr>
            <a:spLocks noGrp="1"/>
          </p:cNvSpPr>
          <p:nvPr>
            <p:ph idx="1"/>
          </p:nvPr>
        </p:nvSpPr>
        <p:spPr/>
        <p:txBody>
          <a:bodyPr/>
          <a:lstStyle/>
          <a:p>
            <a:r>
              <a:rPr lang="en-US"/>
              <a:t>Lens: an optical element that focuses light by means of refraction</a:t>
            </a:r>
          </a:p>
        </p:txBody>
      </p:sp>
      <p:sp>
        <p:nvSpPr>
          <p:cNvPr id="4" name="Date Placeholder 3"/>
          <p:cNvSpPr>
            <a:spLocks noGrp="1"/>
          </p:cNvSpPr>
          <p:nvPr>
            <p:ph type="dt" sz="half" idx="10"/>
          </p:nvPr>
        </p:nvSpPr>
        <p:spPr/>
        <p:txBody>
          <a:bodyPr/>
          <a:lstStyle/>
          <a:p>
            <a:fld id="{0B26C267-A0C4-7440-9FAC-9FAA051676AD}"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sp>
        <p:nvSpPr>
          <p:cNvPr id="8" name="Rectangle 7"/>
          <p:cNvSpPr/>
          <p:nvPr/>
        </p:nvSpPr>
        <p:spPr>
          <a:xfrm>
            <a:off x="2321169" y="2827606"/>
            <a:ext cx="7357403" cy="5627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8854440" y="5176911"/>
            <a:ext cx="824132" cy="5627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8764172" y="3263389"/>
            <a:ext cx="572917" cy="22511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2825904" y="2833333"/>
            <a:ext cx="368969" cy="4357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2000" y="3196097"/>
            <a:ext cx="8128000" cy="2908300"/>
          </a:xfrm>
          <a:prstGeom prst="rect">
            <a:avLst/>
          </a:prstGeom>
        </p:spPr>
      </p:pic>
      <p:pic>
        <p:nvPicPr>
          <p:cNvPr id="26" name="Picture 2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11884" y="3262044"/>
            <a:ext cx="8140700" cy="2844800"/>
          </a:xfrm>
          <a:prstGeom prst="rect">
            <a:avLst/>
          </a:prstGeom>
        </p:spPr>
      </p:pic>
      <p:sp>
        <p:nvSpPr>
          <p:cNvPr id="9" name="Rectangle 8"/>
          <p:cNvSpPr/>
          <p:nvPr/>
        </p:nvSpPr>
        <p:spPr>
          <a:xfrm>
            <a:off x="1929922" y="3029998"/>
            <a:ext cx="824132" cy="5627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10085861" y="3311351"/>
            <a:ext cx="824132" cy="28656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p:cNvCxnSpPr/>
          <p:nvPr/>
        </p:nvCxnSpPr>
        <p:spPr>
          <a:xfrm flipH="1">
            <a:off x="10099834" y="3486515"/>
            <a:ext cx="1171" cy="269044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pic>
        <p:nvPicPr>
          <p:cNvPr id="12" name="Picture 11"/>
          <p:cNvPicPr>
            <a:picLocks noChangeAspect="1"/>
          </p:cNvPicPr>
          <p:nvPr/>
        </p:nvPicPr>
        <p:blipFill>
          <a:blip r:embed="rId5"/>
          <a:stretch>
            <a:fillRect/>
          </a:stretch>
        </p:blipFill>
        <p:spPr>
          <a:xfrm>
            <a:off x="2667488" y="3033175"/>
            <a:ext cx="342900" cy="317500"/>
          </a:xfrm>
          <a:prstGeom prst="rect">
            <a:avLst/>
          </a:prstGeom>
        </p:spPr>
      </p:pic>
      <p:pic>
        <p:nvPicPr>
          <p:cNvPr id="13" name="Picture 12"/>
          <p:cNvPicPr>
            <a:picLocks noChangeAspect="1"/>
          </p:cNvPicPr>
          <p:nvPr/>
        </p:nvPicPr>
        <p:blipFill>
          <a:blip r:embed="rId6"/>
          <a:stretch>
            <a:fillRect/>
          </a:stretch>
        </p:blipFill>
        <p:spPr>
          <a:xfrm>
            <a:off x="10254662" y="5807076"/>
            <a:ext cx="444500" cy="368300"/>
          </a:xfrm>
          <a:prstGeom prst="rect">
            <a:avLst/>
          </a:prstGeom>
        </p:spPr>
      </p:pic>
    </p:spTree>
    <p:extLst>
      <p:ext uri="{BB962C8B-B14F-4D97-AF65-F5344CB8AC3E}">
        <p14:creationId xmlns:p14="http://schemas.microsoft.com/office/powerpoint/2010/main" val="621642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Next time: camera models &amp; calibration</a:t>
            </a:r>
          </a:p>
        </p:txBody>
      </p:sp>
      <p:sp>
        <p:nvSpPr>
          <p:cNvPr id="4" name="Date Placeholder 3"/>
          <p:cNvSpPr>
            <a:spLocks noGrp="1"/>
          </p:cNvSpPr>
          <p:nvPr>
            <p:ph type="dt" sz="half" idx="10"/>
          </p:nvPr>
        </p:nvSpPr>
        <p:spPr/>
        <p:txBody>
          <a:bodyPr/>
          <a:lstStyle/>
          <a:p>
            <a:fld id="{F8167C14-B434-EF42-AA4C-35D70B873282}" type="datetime1">
              <a:rPr lang="en-US" smtClean="0"/>
              <a:t>12/20/2025</a:t>
            </a:fld>
            <a:endParaRPr lang="en-US"/>
          </a:p>
        </p:txBody>
      </p:sp>
      <p:sp>
        <p:nvSpPr>
          <p:cNvPr id="5" name="Footer Placeholder 4"/>
          <p:cNvSpPr>
            <a:spLocks noGrp="1"/>
          </p:cNvSpPr>
          <p:nvPr>
            <p:ph type="ftr" sz="quarter" idx="11"/>
          </p:nvPr>
        </p:nvSpPr>
        <p:spPr/>
        <p:txBody>
          <a:bodyPr/>
          <a:lstStyle/>
          <a:p>
            <a:r>
              <a:rPr lang="hr-HR"/>
              <a:t>AA174A | Lecture 9</a:t>
            </a:r>
            <a:endParaRPr lang="en-US"/>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3754" y="1690688"/>
            <a:ext cx="6124492" cy="4593369"/>
          </a:xfrm>
          <a:prstGeom prst="rect">
            <a:avLst/>
          </a:prstGeom>
        </p:spPr>
      </p:pic>
    </p:spTree>
    <p:extLst>
      <p:ext uri="{BB962C8B-B14F-4D97-AF65-F5344CB8AC3E}">
        <p14:creationId xmlns:p14="http://schemas.microsoft.com/office/powerpoint/2010/main" val="629011366"/>
      </p:ext>
    </p:extLst>
  </p:cSld>
  <p:clrMapOvr>
    <a:masterClrMapping/>
  </p:clrMapOvr>
</p:sld>
</file>

<file path=ppt/theme/theme1.xml><?xml version="1.0" encoding="utf-8"?>
<a:theme xmlns:a="http://schemas.openxmlformats.org/drawingml/2006/main" name="AA27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136</TotalTime>
  <Words>4697</Words>
  <Application>Microsoft Office PowerPoint</Application>
  <PresentationFormat>Widescreen</PresentationFormat>
  <Paragraphs>575</Paragraphs>
  <Slides>39</Slides>
  <Notes>35</Notes>
  <HiddenSlides>0</HiddenSlides>
  <MMClips>1</MMClips>
  <ScaleCrop>false</ScaleCrop>
  <HeadingPairs>
    <vt:vector size="4" baseType="variant">
      <vt:variant>
        <vt:lpstr>Theme</vt:lpstr>
      </vt:variant>
      <vt:variant>
        <vt:i4>1</vt:i4>
      </vt:variant>
      <vt:variant>
        <vt:lpstr>Slide Titles</vt:lpstr>
      </vt:variant>
      <vt:variant>
        <vt:i4>39</vt:i4>
      </vt:variant>
    </vt:vector>
  </HeadingPairs>
  <TitlesOfParts>
    <vt:vector size="40" baseType="lpstr">
      <vt:lpstr>AA274</vt:lpstr>
      <vt:lpstr>Principles of Robot Autonomy I</vt:lpstr>
      <vt:lpstr>Attendance Form</vt:lpstr>
      <vt:lpstr>Agenda</vt:lpstr>
      <vt:lpstr>Sensors for mobile robots</vt:lpstr>
      <vt:lpstr>Example: self-driving cars</vt:lpstr>
      <vt:lpstr>PowerPoint Presentation</vt:lpstr>
      <vt:lpstr>Classification of sensors</vt:lpstr>
      <vt:lpstr>Sensor performance: design specs</vt:lpstr>
      <vt:lpstr>Sensor performance: in situ specs</vt:lpstr>
      <vt:lpstr>Sensor errors</vt:lpstr>
      <vt:lpstr>An ecosystem of sensors</vt:lpstr>
      <vt:lpstr>Encoders</vt:lpstr>
      <vt:lpstr>Heading sensors</vt:lpstr>
      <vt:lpstr>Accelerometer and IMU</vt:lpstr>
      <vt:lpstr>Inertial Measurement Unit (IMU)</vt:lpstr>
      <vt:lpstr>Beacons</vt:lpstr>
      <vt:lpstr>Active ranging</vt:lpstr>
      <vt:lpstr>Time-of-flight active ranging</vt:lpstr>
      <vt:lpstr>Geometric active ranging</vt:lpstr>
      <vt:lpstr>Several other sensors are available</vt:lpstr>
      <vt:lpstr>Introduction to computer vision</vt:lpstr>
      <vt:lpstr>Vision</vt:lpstr>
      <vt:lpstr>Computer Vision Pipeline</vt:lpstr>
      <vt:lpstr>PowerPoint Presentation</vt:lpstr>
      <vt:lpstr>PowerPoint Presentation</vt:lpstr>
      <vt:lpstr>Object Detection</vt:lpstr>
      <vt:lpstr>Object Tracking</vt:lpstr>
      <vt:lpstr>Image Registration</vt:lpstr>
      <vt:lpstr>Image Segmentation</vt:lpstr>
      <vt:lpstr>Information extraction and interpretation can also be done with LIDAR data! </vt:lpstr>
      <vt:lpstr>From Scenes to Digital Images</vt:lpstr>
      <vt:lpstr>How to capture an image of the world?</vt:lpstr>
      <vt:lpstr>Pinhole camera</vt:lpstr>
      <vt:lpstr>A long history</vt:lpstr>
      <vt:lpstr>Pinhole camera</vt:lpstr>
      <vt:lpstr>Pinhole perspective</vt:lpstr>
      <vt:lpstr>Issues with pinhole camera</vt:lpstr>
      <vt:lpstr>Lenses</vt:lpstr>
      <vt:lpstr>Next time: camera models &amp; calibration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 274 Principles of Robotic Autonomy</dc:title>
  <dc:creator>Marco Pavone</dc:creator>
  <cp:lastModifiedBy>Marco Pavone</cp:lastModifiedBy>
  <cp:revision>2</cp:revision>
  <cp:lastPrinted>2023-10-18T18:02:49Z</cp:lastPrinted>
  <dcterms:created xsi:type="dcterms:W3CDTF">2017-01-06T12:29:52Z</dcterms:created>
  <dcterms:modified xsi:type="dcterms:W3CDTF">2025-12-20T20:21:55Z</dcterms:modified>
</cp:coreProperties>
</file>