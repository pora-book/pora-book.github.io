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bookmarkIdSeed="2">
  <p:sldMasterIdLst>
    <p:sldMasterId id="2147483648" r:id="rId1"/>
  </p:sldMasterIdLst>
  <p:notesMasterIdLst>
    <p:notesMasterId r:id="rId32"/>
  </p:notesMasterIdLst>
  <p:sldIdLst>
    <p:sldId id="256" r:id="rId2"/>
    <p:sldId id="374" r:id="rId3"/>
    <p:sldId id="287" r:id="rId4"/>
    <p:sldId id="478" r:id="rId5"/>
    <p:sldId id="479" r:id="rId6"/>
    <p:sldId id="480" r:id="rId7"/>
    <p:sldId id="481" r:id="rId8"/>
    <p:sldId id="482" r:id="rId9"/>
    <p:sldId id="472" r:id="rId10"/>
    <p:sldId id="473" r:id="rId11"/>
    <p:sldId id="483" r:id="rId12"/>
    <p:sldId id="484" r:id="rId13"/>
    <p:sldId id="474" r:id="rId14"/>
    <p:sldId id="475" r:id="rId15"/>
    <p:sldId id="464" r:id="rId16"/>
    <p:sldId id="465" r:id="rId17"/>
    <p:sldId id="468" r:id="rId18"/>
    <p:sldId id="469" r:id="rId19"/>
    <p:sldId id="470" r:id="rId20"/>
    <p:sldId id="466" r:id="rId21"/>
    <p:sldId id="485" r:id="rId22"/>
    <p:sldId id="486" r:id="rId23"/>
    <p:sldId id="487" r:id="rId24"/>
    <p:sldId id="488" r:id="rId25"/>
    <p:sldId id="489" r:id="rId26"/>
    <p:sldId id="494" r:id="rId27"/>
    <p:sldId id="495" r:id="rId28"/>
    <p:sldId id="496" r:id="rId29"/>
    <p:sldId id="497" r:id="rId30"/>
    <p:sldId id="34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CC25E8B-7885-9143-B6A6-C663038D90BB}">
          <p14:sldIdLst>
            <p14:sldId id="256"/>
            <p14:sldId id="374"/>
            <p14:sldId id="287"/>
            <p14:sldId id="478"/>
            <p14:sldId id="479"/>
            <p14:sldId id="480"/>
            <p14:sldId id="481"/>
            <p14:sldId id="482"/>
            <p14:sldId id="472"/>
            <p14:sldId id="473"/>
            <p14:sldId id="483"/>
            <p14:sldId id="484"/>
            <p14:sldId id="474"/>
            <p14:sldId id="475"/>
            <p14:sldId id="464"/>
            <p14:sldId id="465"/>
            <p14:sldId id="468"/>
            <p14:sldId id="469"/>
            <p14:sldId id="470"/>
            <p14:sldId id="466"/>
            <p14:sldId id="485"/>
            <p14:sldId id="486"/>
            <p14:sldId id="487"/>
            <p14:sldId id="488"/>
            <p14:sldId id="489"/>
            <p14:sldId id="494"/>
            <p14:sldId id="495"/>
            <p14:sldId id="496"/>
            <p14:sldId id="497"/>
            <p14:sldId id="34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320"/>
    <p:restoredTop sz="72122"/>
  </p:normalViewPr>
  <p:slideViewPr>
    <p:cSldViewPr snapToGrid="0" snapToObjects="1">
      <p:cViewPr varScale="1">
        <p:scale>
          <a:sx n="88" d="100"/>
          <a:sy n="88" d="100"/>
        </p:scale>
        <p:origin x="124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D6F028-2067-3740-AA48-A91E93570B1D}" type="datetimeFigureOut">
              <a:rPr lang="en-US" smtClean="0"/>
              <a:t>12/20/2025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B2D7EC-928D-0645-AAE8-498D7443D60E}" type="slidenum">
              <a:rPr lang="en-US" smtClean="0"/>
              <a:t>‹#›</a:t>
            </a:fld>
            <a:endParaRPr lang="en-US"/>
          </a:p>
        </p:txBody>
      </p:sp>
    </p:spTree>
    <p:extLst>
      <p:ext uri="{BB962C8B-B14F-4D97-AF65-F5344CB8AC3E}">
        <p14:creationId xmlns:p14="http://schemas.microsoft.com/office/powerpoint/2010/main" val="3293729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8" Type="http://schemas.openxmlformats.org/officeDocument/2006/relationships/hyperlink" Target="https://en.wikipedia.org/wiki/Ray_(geometry)" TargetMode="External"/><Relationship Id="rId3" Type="http://schemas.openxmlformats.org/officeDocument/2006/relationships/hyperlink" Target="https://en.wikipedia.org/wiki/Argument_of_a_function" TargetMode="External"/><Relationship Id="rId7" Type="http://schemas.openxmlformats.org/officeDocument/2006/relationships/hyperlink" Target="https://en.wikipedia.org/wiki/Cartesian_coordinate_system" TargetMode="External"/><Relationship Id="rId2" Type="http://schemas.openxmlformats.org/officeDocument/2006/relationships/slide" Target="../slides/slide22.xml"/><Relationship Id="rId1" Type="http://schemas.openxmlformats.org/officeDocument/2006/relationships/notesMaster" Target="../notesMasters/notesMaster1.xml"/><Relationship Id="rId6" Type="http://schemas.openxmlformats.org/officeDocument/2006/relationships/hyperlink" Target="https://en.wikipedia.org/wiki/Radian" TargetMode="External"/><Relationship Id="rId5" Type="http://schemas.openxmlformats.org/officeDocument/2006/relationships/hyperlink" Target="https://en.wikipedia.org/wiki/Angle_measure" TargetMode="External"/><Relationship Id="rId4" Type="http://schemas.openxmlformats.org/officeDocument/2006/relationships/hyperlink" Target="https://en.wikipedia.org/wiki/Arctangent" TargetMode="External"/><Relationship Id="rId9" Type="http://schemas.openxmlformats.org/officeDocument/2006/relationships/hyperlink" Target="https://en.wikipedia.org/wiki/Origin_(mathematics)" TargetMode="Externa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8" Type="http://schemas.openxmlformats.org/officeDocument/2006/relationships/hyperlink" Target="https://en.wikipedia.org/wiki/Likelihood_function" TargetMode="External"/><Relationship Id="rId3" Type="http://schemas.openxmlformats.org/officeDocument/2006/relationships/hyperlink" Target="https://en.wikipedia.org/wiki/Statistics" TargetMode="External"/><Relationship Id="rId7" Type="http://schemas.openxmlformats.org/officeDocument/2006/relationships/hyperlink" Target="https://en.wikipedia.org/wiki/Mathematical_optimization" TargetMode="External"/><Relationship Id="rId2" Type="http://schemas.openxmlformats.org/officeDocument/2006/relationships/slide" Target="../slides/slide26.xml"/><Relationship Id="rId1" Type="http://schemas.openxmlformats.org/officeDocument/2006/relationships/notesMaster" Target="../notesMasters/notesMaster1.xml"/><Relationship Id="rId6" Type="http://schemas.openxmlformats.org/officeDocument/2006/relationships/hyperlink" Target="https://en.wikipedia.org/wiki/Probability_distribution" TargetMode="External"/><Relationship Id="rId5" Type="http://schemas.openxmlformats.org/officeDocument/2006/relationships/hyperlink" Target="https://en.wikipedia.org/wiki/Statistical_parameter" TargetMode="External"/><Relationship Id="rId10" Type="http://schemas.openxmlformats.org/officeDocument/2006/relationships/hyperlink" Target="https://en.wikipedia.org/wiki/Realization_(probability)" TargetMode="External"/><Relationship Id="rId4" Type="http://schemas.openxmlformats.org/officeDocument/2006/relationships/hyperlink" Target="https://en.wikipedia.org/wiki/Estimation_theory" TargetMode="External"/><Relationship Id="rId9" Type="http://schemas.openxmlformats.org/officeDocument/2006/relationships/hyperlink" Target="https://en.wikipedia.org/wiki/Statistical_model" TargetMode="Externa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1</a:t>
            </a:fld>
            <a:endParaRPr lang="en-US"/>
          </a:p>
        </p:txBody>
      </p:sp>
    </p:spTree>
    <p:extLst>
      <p:ext uri="{BB962C8B-B14F-4D97-AF65-F5344CB8AC3E}">
        <p14:creationId xmlns:p14="http://schemas.microsoft.com/office/powerpoint/2010/main" val="17061316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3</a:t>
            </a:fld>
            <a:endParaRPr lang="en-US"/>
          </a:p>
        </p:txBody>
      </p:sp>
    </p:spTree>
    <p:extLst>
      <p:ext uri="{BB962C8B-B14F-4D97-AF65-F5344CB8AC3E}">
        <p14:creationId xmlns:p14="http://schemas.microsoft.com/office/powerpoint/2010/main" val="19672098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Mobile robot localization is the problem of determining the pose of a robot relative to a given map of the environment.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It is often called </a:t>
            </a:r>
            <a:r>
              <a:rPr lang="en-US" sz="1200" i="1" kern="1200" dirty="0">
                <a:solidFill>
                  <a:schemeClr val="tx1"/>
                </a:solidFill>
                <a:effectLst/>
                <a:latin typeface="+mn-lt"/>
                <a:ea typeface="+mn-ea"/>
                <a:cs typeface="+mn-cs"/>
              </a:rPr>
              <a:t>position estimation </a:t>
            </a:r>
            <a:r>
              <a:rPr lang="en-US" sz="1200" kern="1200" dirty="0">
                <a:solidFill>
                  <a:schemeClr val="tx1"/>
                </a:solidFill>
                <a:effectLst/>
                <a:latin typeface="+mn-lt"/>
                <a:ea typeface="+mn-ea"/>
                <a:cs typeface="+mn-cs"/>
              </a:rPr>
              <a:t>or </a:t>
            </a:r>
            <a:r>
              <a:rPr lang="en-US" sz="1200" i="1" kern="1200" dirty="0">
                <a:solidFill>
                  <a:schemeClr val="tx1"/>
                </a:solidFill>
                <a:effectLst/>
                <a:latin typeface="+mn-lt"/>
                <a:ea typeface="+mn-ea"/>
                <a:cs typeface="+mn-cs"/>
              </a:rPr>
              <a:t>position tracking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In other words, localization is the process of establishing correspondence between the map coordinate system and the robot’s local coordinate system.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Knowing this coordinate transformation enables the robot to express the location of objects of interests within its own coordinate frame—a necessary prerequisite for robot navigation </a:t>
            </a:r>
            <a:endParaRPr lang="en-US" dirty="0"/>
          </a:p>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4</a:t>
            </a:fld>
            <a:endParaRPr lang="en-US"/>
          </a:p>
        </p:txBody>
      </p:sp>
    </p:spTree>
    <p:extLst>
      <p:ext uri="{BB962C8B-B14F-4D97-AF65-F5344CB8AC3E}">
        <p14:creationId xmlns:p14="http://schemas.microsoft.com/office/powerpoint/2010/main" val="15610517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Localization problems are characterized by the type of knowledge that is available initially and at run-time. We distinguish three types of localization problems with an increasing degree of difficulty.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Position tracking assumes that the </a:t>
            </a:r>
            <a:r>
              <a:rPr lang="en-US" sz="1200" i="1" kern="1200" dirty="0">
                <a:solidFill>
                  <a:schemeClr val="tx1"/>
                </a:solidFill>
                <a:effectLst/>
                <a:latin typeface="+mn-lt"/>
                <a:ea typeface="+mn-ea"/>
                <a:cs typeface="+mn-cs"/>
              </a:rPr>
              <a:t>initial </a:t>
            </a:r>
            <a:r>
              <a:rPr lang="en-US" sz="1200" kern="1200" dirty="0">
                <a:solidFill>
                  <a:schemeClr val="tx1"/>
                </a:solidFill>
                <a:effectLst/>
                <a:latin typeface="+mn-lt"/>
                <a:ea typeface="+mn-ea"/>
                <a:cs typeface="+mn-cs"/>
              </a:rPr>
              <a:t>robot pose is known.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Here the initial pose of the robot is unknown. The robot is initially placed somewhere in its environment, but it lacks knowledge of where it is.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b="1" kern="1200" dirty="0">
                <a:solidFill>
                  <a:schemeClr val="tx1"/>
                </a:solidFill>
                <a:effectLst/>
                <a:latin typeface="+mn-lt"/>
                <a:ea typeface="+mn-ea"/>
                <a:cs typeface="+mn-cs"/>
              </a:rPr>
              <a:t>Kidnapped robot problem. </a:t>
            </a:r>
            <a:r>
              <a:rPr lang="en-US" sz="1200" b="0" kern="1200" baseline="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During operation, the robot can get kidnapped and teleported to some other location. The ability to recover from failures is essential for truly autonomous robots.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p>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5</a:t>
            </a:fld>
            <a:endParaRPr lang="en-US"/>
          </a:p>
        </p:txBody>
      </p:sp>
    </p:spTree>
    <p:extLst>
      <p:ext uri="{BB962C8B-B14F-4D97-AF65-F5344CB8AC3E}">
        <p14:creationId xmlns:p14="http://schemas.microsoft.com/office/powerpoint/2010/main" val="8365382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A second dimension that has a substantial impact on the difficulty of localization is the environment. Environments can be static or dynamic.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Static environments are environments where the only variable quantity (state) is the robot’s pose.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Dynamic environments possess objects other than the robot whose location or configuration changes over time. </a:t>
            </a:r>
            <a:endParaRPr lang="en-US" dirty="0"/>
          </a:p>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6</a:t>
            </a:fld>
            <a:endParaRPr lang="en-US"/>
          </a:p>
        </p:txBody>
      </p:sp>
    </p:spTree>
    <p:extLst>
      <p:ext uri="{BB962C8B-B14F-4D97-AF65-F5344CB8AC3E}">
        <p14:creationId xmlns:p14="http://schemas.microsoft.com/office/powerpoint/2010/main" val="20086307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A third dimension that characterizes different localization problems pertains to the fact whether or not the localization algorithm controls the motion of the robot.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In passive approaches, the localization module only </a:t>
            </a:r>
            <a:r>
              <a:rPr lang="en-US" sz="1200" i="1" kern="1200" dirty="0">
                <a:solidFill>
                  <a:schemeClr val="tx1"/>
                </a:solidFill>
                <a:effectLst/>
                <a:latin typeface="+mn-lt"/>
                <a:ea typeface="+mn-ea"/>
                <a:cs typeface="+mn-cs"/>
              </a:rPr>
              <a:t>observes </a:t>
            </a:r>
            <a:r>
              <a:rPr lang="en-US" sz="1200" kern="1200" dirty="0">
                <a:solidFill>
                  <a:schemeClr val="tx1"/>
                </a:solidFill>
                <a:effectLst/>
                <a:latin typeface="+mn-lt"/>
                <a:ea typeface="+mn-ea"/>
                <a:cs typeface="+mn-cs"/>
              </a:rPr>
              <a:t>the robot operating. </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Active localization algorithms control the robot so as to minimize the localization error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However, a key limitation of active approaches is that they require control over the robot. Thus, in practice, an active localization technique alone tends to be insufficient: The robot has to be able to localize itself even when carrying out some other task than localization. Some active localization techniques are built on top of a passive technique. Others combine tasks performance goals with localization goals when controlling a robot.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p>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7</a:t>
            </a:fld>
            <a:endParaRPr lang="en-US"/>
          </a:p>
        </p:txBody>
      </p:sp>
    </p:spTree>
    <p:extLst>
      <p:ext uri="{BB962C8B-B14F-4D97-AF65-F5344CB8AC3E}">
        <p14:creationId xmlns:p14="http://schemas.microsoft.com/office/powerpoint/2010/main" val="42176788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A fourth dimension of the localization problem is related to the number of robots involved.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b="1" kern="1200" dirty="0">
                <a:solidFill>
                  <a:schemeClr val="tx1"/>
                </a:solidFill>
                <a:effectLst/>
                <a:latin typeface="+mn-lt"/>
                <a:ea typeface="+mn-ea"/>
                <a:cs typeface="+mn-cs"/>
              </a:rPr>
              <a:t>Single-robot localization. </a:t>
            </a:r>
            <a:r>
              <a:rPr lang="en-US" sz="1200" kern="1200" dirty="0">
                <a:solidFill>
                  <a:schemeClr val="tx1"/>
                </a:solidFill>
                <a:effectLst/>
                <a:latin typeface="+mn-lt"/>
                <a:ea typeface="+mn-ea"/>
                <a:cs typeface="+mn-cs"/>
              </a:rPr>
              <a:t>The most commonly studied approach to localization deals with a single robot only.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b="1" kern="1200" dirty="0">
                <a:solidFill>
                  <a:schemeClr val="tx1"/>
                </a:solidFill>
                <a:effectLst/>
                <a:latin typeface="+mn-lt"/>
                <a:ea typeface="+mn-ea"/>
                <a:cs typeface="+mn-cs"/>
              </a:rPr>
              <a:t>Multi-robot localization. </a:t>
            </a:r>
            <a:r>
              <a:rPr lang="en-US" sz="1200" kern="1200" dirty="0">
                <a:solidFill>
                  <a:schemeClr val="tx1"/>
                </a:solidFill>
                <a:effectLst/>
                <a:latin typeface="+mn-lt"/>
                <a:ea typeface="+mn-ea"/>
                <a:cs typeface="+mn-cs"/>
              </a:rPr>
              <a:t>The localization problem naturally arises to teams of robots. </a:t>
            </a:r>
            <a:endParaRPr lang="en-US" dirty="0"/>
          </a:p>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8</a:t>
            </a:fld>
            <a:endParaRPr lang="en-US"/>
          </a:p>
        </p:txBody>
      </p:sp>
    </p:spTree>
    <p:extLst>
      <p:ext uri="{BB962C8B-B14F-4D97-AF65-F5344CB8AC3E}">
        <p14:creationId xmlns:p14="http://schemas.microsoft.com/office/powerpoint/2010/main" val="34045008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Probabilistic localization algorithms are variants of the Bayes filter. The straightforward application of Bayes filters to the localization problem is called </a:t>
            </a:r>
            <a:r>
              <a:rPr lang="en-US" sz="1200" i="1" kern="1200" dirty="0">
                <a:solidFill>
                  <a:schemeClr val="tx1"/>
                </a:solidFill>
                <a:effectLst/>
                <a:latin typeface="+mn-lt"/>
                <a:ea typeface="+mn-ea"/>
                <a:cs typeface="+mn-cs"/>
              </a:rPr>
              <a:t>Markov localization</a:t>
            </a:r>
            <a:r>
              <a:rPr lang="en-US" sz="1200" kern="1200" dirty="0">
                <a:solidFill>
                  <a:schemeClr val="tx1"/>
                </a:solidFill>
                <a:effectLst/>
                <a:latin typeface="+mn-lt"/>
                <a:ea typeface="+mn-ea"/>
                <a:cs typeface="+mn-cs"/>
              </a:rPr>
              <a:t>. </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We need to translate 4 key components (state-control-measurement), maps, motion and measurement models</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p>
          <a:p>
            <a:pPr marL="171450" indent="-171450">
              <a:buFont typeface="Arial" charset="0"/>
              <a:buChar char="•"/>
            </a:pPr>
            <a:endParaRPr lang="en-US" sz="1200" kern="1200" dirty="0">
              <a:solidFill>
                <a:schemeClr val="tx1"/>
              </a:solidFill>
              <a:effectLst/>
              <a:latin typeface="+mn-lt"/>
              <a:ea typeface="+mn-ea"/>
              <a:cs typeface="+mn-cs"/>
            </a:endParaRPr>
          </a:p>
          <a:p>
            <a:pPr marL="171450" indent="-171450">
              <a:buFont typeface="Arial" charset="0"/>
              <a:buChar char="•"/>
            </a:pPr>
            <a:endParaRPr lang="en-US" sz="1200" kern="1200" dirty="0">
              <a:solidFill>
                <a:schemeClr val="tx1"/>
              </a:solidFill>
              <a:effectLst/>
              <a:latin typeface="+mn-lt"/>
              <a:ea typeface="+mn-ea"/>
              <a:cs typeface="+mn-cs"/>
            </a:endParaRPr>
          </a:p>
          <a:p>
            <a:pPr marL="171450" indent="-171450">
              <a:buFont typeface="Arial" charset="0"/>
              <a:buChar char="•"/>
            </a:pP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z_t</a:t>
            </a:r>
            <a:r>
              <a:rPr lang="en-US" sz="1200" kern="1200" dirty="0">
                <a:solidFill>
                  <a:schemeClr val="tx1"/>
                </a:solidFill>
                <a:effectLst/>
                <a:latin typeface="+mn-lt"/>
                <a:ea typeface="+mn-ea"/>
                <a:cs typeface="+mn-cs"/>
              </a:rPr>
              <a:t>  =\left\{\begin{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err="1">
                <a:solidFill>
                  <a:schemeClr val="tx1"/>
                </a:solidFill>
                <a:effectLst/>
                <a:latin typeface="+mn-lt"/>
                <a:ea typeface="+mn-ea"/>
                <a:cs typeface="+mn-cs"/>
              </a:rPr>
              <a:t>r_i</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phi_i</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}\right\}_</a:t>
            </a:r>
            <a:r>
              <a:rPr lang="en-US" sz="1200" kern="1200" dirty="0" err="1">
                <a:solidFill>
                  <a:schemeClr val="tx1"/>
                </a:solidFill>
                <a:effectLst/>
                <a:latin typeface="+mn-lt"/>
                <a:ea typeface="+mn-ea"/>
                <a:cs typeface="+mn-cs"/>
              </a:rPr>
              <a:t>i</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v\\</a:t>
            </a:r>
          </a:p>
          <a:p>
            <a:r>
              <a:rPr lang="en-US" sz="1200" kern="1200" dirty="0">
                <a:solidFill>
                  <a:schemeClr val="tx1"/>
                </a:solidFill>
                <a:effectLst/>
                <a:latin typeface="+mn-lt"/>
                <a:ea typeface="+mn-ea"/>
                <a:cs typeface="+mn-cs"/>
              </a:rPr>
              <a:t>\omega</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  =\begin{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x\\</a:t>
            </a:r>
          </a:p>
          <a:p>
            <a:r>
              <a:rPr lang="en-US" sz="1200" kern="1200" dirty="0">
                <a:solidFill>
                  <a:schemeClr val="tx1"/>
                </a:solidFill>
                <a:effectLst/>
                <a:latin typeface="+mn-lt"/>
                <a:ea typeface="+mn-ea"/>
                <a:cs typeface="+mn-cs"/>
              </a:rPr>
              <a:t>y\\</a:t>
            </a:r>
          </a:p>
          <a:p>
            <a:r>
              <a:rPr lang="en-US" sz="1200" kern="1200" dirty="0">
                <a:solidFill>
                  <a:schemeClr val="tx1"/>
                </a:solidFill>
                <a:effectLst/>
                <a:latin typeface="+mn-lt"/>
                <a:ea typeface="+mn-ea"/>
                <a:cs typeface="+mn-cs"/>
              </a:rPr>
              <a:t>\theta</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9</a:t>
            </a:fld>
            <a:endParaRPr lang="en-US"/>
          </a:p>
        </p:txBody>
      </p:sp>
    </p:spTree>
    <p:extLst>
      <p:ext uri="{BB962C8B-B14F-4D97-AF65-F5344CB8AC3E}">
        <p14:creationId xmlns:p14="http://schemas.microsoft.com/office/powerpoint/2010/main" val="292025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To express the process of generating measurements, we need to specify the environment in which a measurement is generated.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a map m is a list of objects in the environment along with their properties: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Maps are usually indexed in one of two ways, knowns as </a:t>
            </a:r>
            <a:r>
              <a:rPr lang="en-US" sz="1200" i="1" kern="1200" dirty="0">
                <a:solidFill>
                  <a:schemeClr val="tx1"/>
                </a:solidFill>
                <a:effectLst/>
                <a:latin typeface="+mn-lt"/>
                <a:ea typeface="+mn-ea"/>
                <a:cs typeface="+mn-cs"/>
              </a:rPr>
              <a:t>feature-based </a:t>
            </a:r>
            <a:r>
              <a:rPr lang="en-US" sz="1200" kern="1200" dirty="0">
                <a:solidFill>
                  <a:schemeClr val="tx1"/>
                </a:solidFill>
                <a:effectLst/>
                <a:latin typeface="+mn-lt"/>
                <a:ea typeface="+mn-ea"/>
                <a:cs typeface="+mn-cs"/>
              </a:rPr>
              <a:t>and </a:t>
            </a:r>
            <a:r>
              <a:rPr lang="en-US" sz="1200" i="1" kern="1200" dirty="0">
                <a:solidFill>
                  <a:schemeClr val="tx1"/>
                </a:solidFill>
                <a:effectLst/>
                <a:latin typeface="+mn-lt"/>
                <a:ea typeface="+mn-ea"/>
                <a:cs typeface="+mn-cs"/>
              </a:rPr>
              <a:t>location-based</a:t>
            </a:r>
            <a:r>
              <a:rPr lang="en-US" sz="1200" kern="1200" dirty="0">
                <a:solidFill>
                  <a:schemeClr val="tx1"/>
                </a:solidFill>
                <a:effectLst/>
                <a:latin typeface="+mn-lt"/>
                <a:ea typeface="+mn-ea"/>
                <a:cs typeface="+mn-cs"/>
              </a:rPr>
              <a:t>. </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In location-based maps, the index n corresponds to a specific location. Typical  example:</a:t>
            </a:r>
            <a:r>
              <a:rPr lang="en-US" sz="1200" kern="1200" baseline="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occupancy grid map </a:t>
            </a:r>
            <a:r>
              <a:rPr lang="en-US" sz="1200" kern="1200" dirty="0">
                <a:solidFill>
                  <a:schemeClr val="tx1"/>
                </a:solidFill>
                <a:effectLst/>
                <a:latin typeface="+mn-lt"/>
                <a:ea typeface="+mn-ea"/>
                <a:cs typeface="+mn-cs"/>
              </a:rPr>
              <a:t> </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In feature-based maps, n is a feature index. The value of </a:t>
            </a:r>
            <a:r>
              <a:rPr lang="en-US" sz="1200" kern="1200" dirty="0" err="1">
                <a:solidFill>
                  <a:schemeClr val="tx1"/>
                </a:solidFill>
                <a:effectLst/>
                <a:latin typeface="+mn-lt"/>
                <a:ea typeface="+mn-ea"/>
                <a:cs typeface="+mn-cs"/>
              </a:rPr>
              <a:t>m_i</a:t>
            </a:r>
            <a:r>
              <a:rPr lang="en-US" sz="1200" kern="1200" dirty="0">
                <a:solidFill>
                  <a:schemeClr val="tx1"/>
                </a:solidFill>
                <a:effectLst/>
                <a:latin typeface="+mn-lt"/>
                <a:ea typeface="+mn-ea"/>
                <a:cs typeface="+mn-cs"/>
              </a:rPr>
              <a:t> contains, next to the properties of a feature, the Cartesian location of the feature. </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Location-based maps are </a:t>
            </a:r>
            <a:r>
              <a:rPr lang="en-US" sz="1200" i="1" kern="1200" dirty="0">
                <a:solidFill>
                  <a:schemeClr val="tx1"/>
                </a:solidFill>
                <a:effectLst/>
                <a:latin typeface="+mn-lt"/>
                <a:ea typeface="+mn-ea"/>
                <a:cs typeface="+mn-cs"/>
              </a:rPr>
              <a:t>volumetric</a:t>
            </a:r>
            <a:r>
              <a:rPr lang="en-US" sz="1200" kern="1200" dirty="0">
                <a:solidFill>
                  <a:schemeClr val="tx1"/>
                </a:solidFill>
                <a:effectLst/>
                <a:latin typeface="+mn-lt"/>
                <a:ea typeface="+mn-ea"/>
                <a:cs typeface="+mn-cs"/>
              </a:rPr>
              <a:t>, in that they offer a label for any location in the world. Volumetric maps contain information not only about objects in the environment, but also about the absence of objects (e.g., free-space).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Feature- based maps only specify the shape of the environment at the specific locations, namely the locations of the objects contained in the map. Feature representation makes it easier to adjust the position of an object, e.g., as a result of additional sensing.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p>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10</a:t>
            </a:fld>
            <a:endParaRPr lang="en-US"/>
          </a:p>
        </p:txBody>
      </p:sp>
    </p:spTree>
    <p:extLst>
      <p:ext uri="{BB962C8B-B14F-4D97-AF65-F5344CB8AC3E}">
        <p14:creationId xmlns:p14="http://schemas.microsoft.com/office/powerpoint/2010/main" val="4878290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b="0" i="0" kern="1200" dirty="0">
                <a:solidFill>
                  <a:schemeClr val="tx1"/>
                </a:solidFill>
                <a:effectLst/>
                <a:latin typeface="+mn-lt"/>
                <a:ea typeface="+mn-ea"/>
                <a:cs typeface="+mn-cs"/>
              </a:rPr>
              <a:t>Decomposition into a finite set of regions called </a:t>
            </a:r>
            <a:r>
              <a:rPr lang="en-US" sz="1200" b="0" i="1" kern="1200" dirty="0">
                <a:solidFill>
                  <a:schemeClr val="tx1"/>
                </a:solidFill>
                <a:effectLst/>
                <a:latin typeface="+mn-lt"/>
                <a:ea typeface="+mn-ea"/>
                <a:cs typeface="+mn-cs"/>
              </a:rPr>
              <a:t>cells</a:t>
            </a:r>
            <a:r>
              <a:rPr lang="en-US" sz="1200" b="0" i="0" kern="1200" dirty="0">
                <a:solidFill>
                  <a:schemeClr val="tx1"/>
                </a:solidFill>
                <a:effectLst/>
                <a:latin typeface="+mn-lt"/>
                <a:ea typeface="+mn-ea"/>
                <a:cs typeface="+mn-cs"/>
              </a:rPr>
              <a:t>. </a:t>
            </a:r>
            <a:endParaRPr lang="en-US" sz="1200" dirty="0">
              <a:solidFill>
                <a:srgbClr val="C00000"/>
              </a:solidFill>
            </a:endParaRP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dirty="0">
                <a:solidFill>
                  <a:srgbClr val="C00000"/>
                </a:solidFill>
              </a:rPr>
              <a:t>Vertical cell decomposition: Select cells by sweeping a vertical line and relying on geometric criticality. </a:t>
            </a:r>
            <a:r>
              <a:rPr lang="en-US" dirty="0"/>
              <a:t>The underlying assumption behind this decomposition is that the particular position of a robot within each area of free space does not matter. Very efficient, as each area can be stored in a node</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An alternative is fixed decomposition, in which the world is tessellated, transforming the continuous real environment into a discrete approximation for the map</a:t>
            </a:r>
            <a:endParaRPr lang="en-US" sz="1200" dirty="0">
              <a:solidFill>
                <a:srgbClr val="C00000"/>
              </a:solidFill>
            </a:endParaRPr>
          </a:p>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11</a:t>
            </a:fld>
            <a:endParaRPr lang="en-US"/>
          </a:p>
        </p:txBody>
      </p:sp>
    </p:spTree>
    <p:extLst>
      <p:ext uri="{BB962C8B-B14F-4D97-AF65-F5344CB8AC3E}">
        <p14:creationId xmlns:p14="http://schemas.microsoft.com/office/powerpoint/2010/main" val="17992448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dirty="0">
                <a:solidFill>
                  <a:srgbClr val="C00000"/>
                </a:solidFill>
              </a:rPr>
              <a:t>Line-based map: based</a:t>
            </a:r>
            <a:r>
              <a:rPr lang="en-US" sz="1200" baseline="0" dirty="0">
                <a:solidFill>
                  <a:srgbClr val="C00000"/>
                </a:solidFill>
              </a:rPr>
              <a:t> on geometric features such as lines</a:t>
            </a:r>
            <a:endParaRPr lang="en-US" sz="1200" dirty="0">
              <a:solidFill>
                <a:srgbClr val="C00000"/>
              </a:solidFill>
            </a:endParaRP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dirty="0">
                <a:solidFill>
                  <a:srgbClr val="C00000"/>
                </a:solidFill>
              </a:rPr>
              <a:t>Topological map: avoid direct measurement of geometric environmental quantities, instead concentrating on characteristics of the environment that are most relevant for localization. It specifies nodes and connectivity among these nodes </a:t>
            </a:r>
          </a:p>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12</a:t>
            </a:fld>
            <a:endParaRPr lang="en-US"/>
          </a:p>
        </p:txBody>
      </p:sp>
    </p:spTree>
    <p:extLst>
      <p:ext uri="{BB962C8B-B14F-4D97-AF65-F5344CB8AC3E}">
        <p14:creationId xmlns:p14="http://schemas.microsoft.com/office/powerpoint/2010/main" val="6852965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The probabilistic kinematic model, or </a:t>
            </a:r>
            <a:r>
              <a:rPr lang="en-US" sz="1200" i="1" kern="1200" dirty="0">
                <a:solidFill>
                  <a:schemeClr val="tx1"/>
                </a:solidFill>
                <a:effectLst/>
                <a:latin typeface="+mn-lt"/>
                <a:ea typeface="+mn-ea"/>
                <a:cs typeface="+mn-cs"/>
              </a:rPr>
              <a:t>motion model </a:t>
            </a:r>
            <a:r>
              <a:rPr lang="en-US" sz="1200" kern="1200" dirty="0">
                <a:solidFill>
                  <a:schemeClr val="tx1"/>
                </a:solidFill>
                <a:effectLst/>
                <a:latin typeface="+mn-lt"/>
                <a:ea typeface="+mn-ea"/>
                <a:cs typeface="+mn-cs"/>
              </a:rPr>
              <a:t>plays the role of the state transition model in mobile robotics. This model is the familiar conditional density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This model describes the posterior distribution over kinematics </a:t>
            </a:r>
            <a:r>
              <a:rPr lang="en-US" sz="1200" kern="1200" baseline="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states that a robots assumes when executing the motion command </a:t>
            </a:r>
            <a:r>
              <a:rPr lang="en-US" sz="1200" kern="1200" dirty="0" err="1">
                <a:solidFill>
                  <a:schemeClr val="tx1"/>
                </a:solidFill>
                <a:effectLst/>
                <a:latin typeface="+mn-lt"/>
                <a:ea typeface="+mn-ea"/>
                <a:cs typeface="+mn-cs"/>
              </a:rPr>
              <a:t>ut</a:t>
            </a:r>
            <a:r>
              <a:rPr lang="en-US" sz="1200" kern="1200" dirty="0">
                <a:solidFill>
                  <a:schemeClr val="tx1"/>
                </a:solidFill>
                <a:effectLst/>
                <a:latin typeface="+mn-lt"/>
                <a:ea typeface="+mn-ea"/>
                <a:cs typeface="+mn-cs"/>
              </a:rPr>
              <a:t> when its pose is xt−1. </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The darker a pose, the more likely it is. </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Sampling from a conditional density is different than calculating the density: In sampling, one is given </a:t>
            </a:r>
            <a:r>
              <a:rPr lang="en-US" sz="1200" kern="1200" dirty="0" err="1">
                <a:solidFill>
                  <a:schemeClr val="tx1"/>
                </a:solidFill>
                <a:effectLst/>
                <a:latin typeface="+mn-lt"/>
                <a:ea typeface="+mn-ea"/>
                <a:cs typeface="+mn-cs"/>
              </a:rPr>
              <a:t>ut</a:t>
            </a:r>
            <a:r>
              <a:rPr lang="en-US" sz="1200" kern="1200" dirty="0">
                <a:solidFill>
                  <a:schemeClr val="tx1"/>
                </a:solidFill>
                <a:effectLst/>
                <a:latin typeface="+mn-lt"/>
                <a:ea typeface="+mn-ea"/>
                <a:cs typeface="+mn-cs"/>
              </a:rPr>
              <a:t> and xt−1 and seeks to generate a random </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drawn according to the motion model p(</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ut</a:t>
            </a:r>
            <a:r>
              <a:rPr lang="en-US" sz="1200" kern="1200" dirty="0">
                <a:solidFill>
                  <a:schemeClr val="tx1"/>
                </a:solidFill>
                <a:effectLst/>
                <a:latin typeface="+mn-lt"/>
                <a:ea typeface="+mn-ea"/>
                <a:cs typeface="+mn-cs"/>
              </a:rPr>
              <a:t>, xt−1). When calculating the density, one is also given </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generated through other means, and one seeks to compute the probability of </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under p(</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ut</a:t>
            </a:r>
            <a:r>
              <a:rPr lang="en-US" sz="1200" kern="1200" dirty="0">
                <a:solidFill>
                  <a:schemeClr val="tx1"/>
                </a:solidFill>
                <a:effectLst/>
                <a:latin typeface="+mn-lt"/>
                <a:ea typeface="+mn-ea"/>
                <a:cs typeface="+mn-cs"/>
              </a:rPr>
              <a:t>, xt−1).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robot motion is</a:t>
            </a:r>
            <a:r>
              <a:rPr lang="en-US" sz="1200" kern="1200" baseline="0" dirty="0">
                <a:solidFill>
                  <a:schemeClr val="tx1"/>
                </a:solidFill>
                <a:effectLst/>
                <a:latin typeface="+mn-lt"/>
                <a:ea typeface="+mn-ea"/>
                <a:cs typeface="+mn-cs"/>
              </a:rPr>
              <a:t> not in</a:t>
            </a:r>
            <a:r>
              <a:rPr lang="en-US" sz="1200" kern="1200" dirty="0">
                <a:solidFill>
                  <a:schemeClr val="tx1"/>
                </a:solidFill>
                <a:effectLst/>
                <a:latin typeface="+mn-lt"/>
                <a:ea typeface="+mn-ea"/>
                <a:cs typeface="+mn-cs"/>
              </a:rPr>
              <a:t> a vacuum! This consideration calls for a motion model that takes the map m into account.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We will refer to p(</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ut</a:t>
            </a:r>
            <a:r>
              <a:rPr lang="en-US" sz="1200" kern="1200" dirty="0">
                <a:solidFill>
                  <a:schemeClr val="tx1"/>
                </a:solidFill>
                <a:effectLst/>
                <a:latin typeface="+mn-lt"/>
                <a:ea typeface="+mn-ea"/>
                <a:cs typeface="+mn-cs"/>
              </a:rPr>
              <a:t>, xt−1, m) as a </a:t>
            </a:r>
            <a:r>
              <a:rPr lang="en-US" sz="1200" i="1" kern="1200" dirty="0">
                <a:solidFill>
                  <a:schemeClr val="tx1"/>
                </a:solidFill>
                <a:effectLst/>
                <a:latin typeface="+mn-lt"/>
                <a:ea typeface="+mn-ea"/>
                <a:cs typeface="+mn-cs"/>
              </a:rPr>
              <a:t>map-based motion model</a:t>
            </a:r>
            <a:r>
              <a:rPr lang="en-US" sz="1200" kern="1200" dirty="0">
                <a:solidFill>
                  <a:schemeClr val="tx1"/>
                </a:solidFill>
                <a:effectLst/>
                <a:latin typeface="+mn-lt"/>
                <a:ea typeface="+mn-ea"/>
                <a:cs typeface="+mn-cs"/>
              </a:rPr>
              <a:t>. The map-based motion model computes the likelihood that a robot placed in a world with map m arrives at pose </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upon executing action </a:t>
            </a:r>
            <a:r>
              <a:rPr lang="en-US" sz="1200" kern="1200" dirty="0" err="1">
                <a:solidFill>
                  <a:schemeClr val="tx1"/>
                </a:solidFill>
                <a:effectLst/>
                <a:latin typeface="+mn-lt"/>
                <a:ea typeface="+mn-ea"/>
                <a:cs typeface="+mn-cs"/>
              </a:rPr>
              <a:t>ut</a:t>
            </a:r>
            <a:r>
              <a:rPr lang="en-US" sz="1200" kern="1200" dirty="0">
                <a:solidFill>
                  <a:schemeClr val="tx1"/>
                </a:solidFill>
                <a:effectLst/>
                <a:latin typeface="+mn-lt"/>
                <a:ea typeface="+mn-ea"/>
                <a:cs typeface="+mn-cs"/>
              </a:rPr>
              <a:t> at pose xt−1.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Unfortunately, computing this motion model in closed form is difficult.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Luckily, there exists an efficient approximation for the map-based motion model, which works well if the distance between xt−1 and </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is small (e.g., smaller than half a robot diameter).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The approximation factorizes the map-based motion model into two components: </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According to this factorization, we simply multiply the map-free estimate p(</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ut</a:t>
            </a:r>
            <a:r>
              <a:rPr lang="en-US" sz="1200" kern="1200" dirty="0">
                <a:solidFill>
                  <a:schemeClr val="tx1"/>
                </a:solidFill>
                <a:effectLst/>
                <a:latin typeface="+mn-lt"/>
                <a:ea typeface="+mn-ea"/>
                <a:cs typeface="+mn-cs"/>
              </a:rPr>
              <a:t>, xt−1) with a second term, p(</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 m), which expresses the “consistency” of pose </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with the map m. In the case of occupancy maps, p(</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 m) = 0 if and only if the robot “collides” with an occupied grid cell in the map; otherwise it assumes a constant value.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But By omitting these terms, we discard any information relating to the robot’s path leading up to </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hr-HR"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hr-HR"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hr-HR"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hr-HR" sz="1200" kern="1200" dirty="0">
                <a:solidFill>
                  <a:schemeClr val="tx1"/>
                </a:solidFill>
                <a:effectLst/>
                <a:latin typeface="+mn-lt"/>
                <a:ea typeface="+mn-ea"/>
                <a:cs typeface="+mn-cs"/>
              </a:rPr>
              <a:t>p(m \,  | \, </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 </a:t>
            </a:r>
            <a:r>
              <a:rPr lang="hr-HR" sz="1200" kern="1200" dirty="0" err="1">
                <a:solidFill>
                  <a:schemeClr val="tx1"/>
                </a:solidFill>
                <a:effectLst/>
                <a:latin typeface="+mn-lt"/>
                <a:ea typeface="+mn-ea"/>
                <a:cs typeface="+mn-cs"/>
              </a:rPr>
              <a:t>u_t</a:t>
            </a:r>
            <a:r>
              <a:rPr lang="hr-HR" sz="1200" kern="1200" dirty="0">
                <a:solidFill>
                  <a:schemeClr val="tx1"/>
                </a:solidFill>
                <a:effectLst/>
                <a:latin typeface="+mn-lt"/>
                <a:ea typeface="+mn-ea"/>
                <a:cs typeface="+mn-cs"/>
              </a:rPr>
              <a:t>, x_{t-1}) \</a:t>
            </a:r>
            <a:r>
              <a:rPr lang="hr-HR" sz="1200" kern="1200" dirty="0" err="1">
                <a:solidFill>
                  <a:schemeClr val="tx1"/>
                </a:solidFill>
                <a:effectLst/>
                <a:latin typeface="+mn-lt"/>
                <a:ea typeface="+mn-ea"/>
                <a:cs typeface="+mn-cs"/>
              </a:rPr>
              <a:t>approx</a:t>
            </a:r>
            <a:r>
              <a:rPr lang="hr-HR" sz="1200" kern="1200" dirty="0">
                <a:solidFill>
                  <a:schemeClr val="tx1"/>
                </a:solidFill>
                <a:effectLst/>
                <a:latin typeface="+mn-lt"/>
                <a:ea typeface="+mn-ea"/>
                <a:cs typeface="+mn-cs"/>
              </a:rPr>
              <a:t> p(m \,  | \, </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a:t>
            </a:r>
          </a:p>
          <a:p>
            <a:pPr marL="0" marR="0" indent="0" algn="l" defTabSz="914400" rtl="0" eaLnBrk="1" fontAlgn="auto" latinLnBrk="0" hangingPunct="1">
              <a:lnSpc>
                <a:spcPct val="100000"/>
              </a:lnSpc>
              <a:spcBef>
                <a:spcPts val="0"/>
              </a:spcBef>
              <a:spcAft>
                <a:spcPts val="0"/>
              </a:spcAft>
              <a:buClrTx/>
              <a:buSzTx/>
              <a:buFontTx/>
              <a:buNone/>
              <a:tabLst/>
              <a:defRPr/>
            </a:pPr>
            <a:endParaRPr lang="hr-HR"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hr-HR" sz="1200" kern="1200" dirty="0">
                <a:solidFill>
                  <a:schemeClr val="tx1"/>
                </a:solidFill>
                <a:effectLst/>
                <a:latin typeface="+mn-lt"/>
                <a:ea typeface="+mn-ea"/>
                <a:cs typeface="+mn-cs"/>
              </a:rPr>
              <a:t>p(</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 \,  | \, u_{t}, x_{t-1},m) a\</a:t>
            </a:r>
            <a:r>
              <a:rPr lang="hr-HR" sz="1200" kern="1200" dirty="0" err="1">
                <a:solidFill>
                  <a:schemeClr val="tx1"/>
                </a:solidFill>
                <a:effectLst/>
                <a:latin typeface="+mn-lt"/>
                <a:ea typeface="+mn-ea"/>
                <a:cs typeface="+mn-cs"/>
              </a:rPr>
              <a:t>approx</a:t>
            </a:r>
            <a:r>
              <a:rPr lang="hr-HR" sz="1200" kern="1200" dirty="0">
                <a:solidFill>
                  <a:schemeClr val="tx1"/>
                </a:solidFill>
                <a:effectLst/>
                <a:latin typeface="+mn-lt"/>
                <a:ea typeface="+mn-ea"/>
                <a:cs typeface="+mn-cs"/>
              </a:rPr>
              <a:t> \</a:t>
            </a:r>
            <a:r>
              <a:rPr lang="hr-HR" sz="1200" kern="1200" dirty="0" err="1">
                <a:solidFill>
                  <a:schemeClr val="tx1"/>
                </a:solidFill>
                <a:effectLst/>
                <a:latin typeface="+mn-lt"/>
                <a:ea typeface="+mn-ea"/>
                <a:cs typeface="+mn-cs"/>
              </a:rPr>
              <a:t>eta</a:t>
            </a:r>
            <a:r>
              <a:rPr lang="hr-HR" sz="1200" kern="1200" dirty="0">
                <a:solidFill>
                  <a:schemeClr val="tx1"/>
                </a:solidFill>
                <a:effectLst/>
                <a:latin typeface="+mn-lt"/>
                <a:ea typeface="+mn-ea"/>
                <a:cs typeface="+mn-cs"/>
              </a:rPr>
              <a:t> \</a:t>
            </a:r>
            <a:r>
              <a:rPr lang="hr-HR" sz="1200" kern="1200" dirty="0" err="1">
                <a:solidFill>
                  <a:schemeClr val="tx1"/>
                </a:solidFill>
                <a:effectLst/>
                <a:latin typeface="+mn-lt"/>
                <a:ea typeface="+mn-ea"/>
                <a:cs typeface="+mn-cs"/>
              </a:rPr>
              <a:t>frac</a:t>
            </a:r>
            <a:r>
              <a:rPr lang="hr-HR" sz="1200" kern="1200" dirty="0">
                <a:solidFill>
                  <a:schemeClr val="tx1"/>
                </a:solidFill>
                <a:effectLst/>
                <a:latin typeface="+mn-lt"/>
                <a:ea typeface="+mn-ea"/>
                <a:cs typeface="+mn-cs"/>
              </a:rPr>
              <a:t>{p(</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 \, | \, </a:t>
            </a:r>
            <a:r>
              <a:rPr lang="hr-HR" sz="1200" kern="1200" dirty="0" err="1">
                <a:solidFill>
                  <a:schemeClr val="tx1"/>
                </a:solidFill>
                <a:effectLst/>
                <a:latin typeface="+mn-lt"/>
                <a:ea typeface="+mn-ea"/>
                <a:cs typeface="+mn-cs"/>
              </a:rPr>
              <a:t>u_t</a:t>
            </a:r>
            <a:r>
              <a:rPr lang="hr-HR" sz="1200" kern="1200" dirty="0">
                <a:solidFill>
                  <a:schemeClr val="tx1"/>
                </a:solidFill>
                <a:effectLst/>
                <a:latin typeface="+mn-lt"/>
                <a:ea typeface="+mn-ea"/>
                <a:cs typeface="+mn-cs"/>
              </a:rPr>
              <a:t>, \, x_{t-1})\, p(</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 \,  | \, m)}{p(</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a:t>
            </a:r>
          </a:p>
          <a:p>
            <a:pPr marL="0" marR="0" indent="0" algn="l" defTabSz="914400" rtl="0" eaLnBrk="1" fontAlgn="auto" latinLnBrk="0" hangingPunct="1">
              <a:lnSpc>
                <a:spcPct val="100000"/>
              </a:lnSpc>
              <a:spcBef>
                <a:spcPts val="0"/>
              </a:spcBef>
              <a:spcAft>
                <a:spcPts val="0"/>
              </a:spcAft>
              <a:buClrTx/>
              <a:buSzTx/>
              <a:buFontTx/>
              <a:buNone/>
              <a:tabLst/>
              <a:defRPr/>
            </a:pPr>
            <a:endParaRPr lang="hr-HR"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hr-HR" sz="1200" kern="1200" dirty="0">
                <a:solidFill>
                  <a:schemeClr val="tx1"/>
                </a:solidFill>
                <a:effectLst/>
                <a:latin typeface="+mn-lt"/>
                <a:ea typeface="+mn-ea"/>
                <a:cs typeface="+mn-cs"/>
              </a:rPr>
              <a:t>p(</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 \,  | \, u_{t}, x_{t-1})</a:t>
            </a:r>
          </a:p>
          <a:p>
            <a:pPr marL="0" marR="0" indent="0" algn="l" defTabSz="914400" rtl="0" eaLnBrk="1" fontAlgn="auto" latinLnBrk="0" hangingPunct="1">
              <a:lnSpc>
                <a:spcPct val="100000"/>
              </a:lnSpc>
              <a:spcBef>
                <a:spcPts val="0"/>
              </a:spcBef>
              <a:spcAft>
                <a:spcPts val="0"/>
              </a:spcAft>
              <a:buClrTx/>
              <a:buSzTx/>
              <a:buFontTx/>
              <a:buNone/>
              <a:tabLst/>
              <a:defRPr/>
            </a:pPr>
            <a:r>
              <a:rPr lang="hr-HR" sz="1200" kern="1200" dirty="0">
                <a:solidFill>
                  <a:schemeClr val="tx1"/>
                </a:solidFill>
                <a:effectLst/>
                <a:latin typeface="+mn-lt"/>
                <a:ea typeface="+mn-ea"/>
                <a:cs typeface="+mn-cs"/>
              </a:rPr>
              <a:t>p(</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 \,  | \, u_{t}, x_{t-1}) \</a:t>
            </a:r>
            <a:r>
              <a:rPr lang="hr-HR" sz="1200" kern="1200" dirty="0" err="1">
                <a:solidFill>
                  <a:schemeClr val="tx1"/>
                </a:solidFill>
                <a:effectLst/>
                <a:latin typeface="+mn-lt"/>
                <a:ea typeface="+mn-ea"/>
                <a:cs typeface="+mn-cs"/>
              </a:rPr>
              <a:t>neq</a:t>
            </a:r>
            <a:r>
              <a:rPr lang="hr-HR" sz="1200" kern="1200" dirty="0">
                <a:solidFill>
                  <a:schemeClr val="tx1"/>
                </a:solidFill>
                <a:effectLst/>
                <a:latin typeface="+mn-lt"/>
                <a:ea typeface="+mn-ea"/>
                <a:cs typeface="+mn-cs"/>
              </a:rPr>
              <a:t> p(</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 \,  | \, u_{t}, x_{t-1},m)</a:t>
            </a: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13</a:t>
            </a:fld>
            <a:endParaRPr lang="en-US"/>
          </a:p>
        </p:txBody>
      </p:sp>
    </p:spTree>
    <p:extLst>
      <p:ext uri="{BB962C8B-B14F-4D97-AF65-F5344CB8AC3E}">
        <p14:creationId xmlns:p14="http://schemas.microsoft.com/office/powerpoint/2010/main" val="4378849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Measurement model is probabilistic</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Many sensors generate more than one numerical measurement value when queried.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We will approximate p(</a:t>
            </a:r>
            <a:r>
              <a:rPr lang="en-US" sz="1200" kern="1200" dirty="0" err="1">
                <a:solidFill>
                  <a:schemeClr val="tx1"/>
                </a:solidFill>
                <a:effectLst/>
                <a:latin typeface="+mn-lt"/>
                <a:ea typeface="+mn-ea"/>
                <a:cs typeface="+mn-cs"/>
              </a:rPr>
              <a:t>zt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m) by the product of the individual measurement likelihoods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hr-HR"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hr-HR"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hr-HR" sz="1200" kern="1200" dirty="0">
                <a:solidFill>
                  <a:schemeClr val="tx1"/>
                </a:solidFill>
                <a:effectLst/>
                <a:latin typeface="+mn-lt"/>
                <a:ea typeface="+mn-ea"/>
                <a:cs typeface="+mn-cs"/>
              </a:rPr>
              <a:t>p(</a:t>
            </a:r>
            <a:r>
              <a:rPr lang="hr-HR" sz="1200" kern="1200" dirty="0" err="1">
                <a:solidFill>
                  <a:schemeClr val="tx1"/>
                </a:solidFill>
                <a:effectLst/>
                <a:latin typeface="+mn-lt"/>
                <a:ea typeface="+mn-ea"/>
                <a:cs typeface="+mn-cs"/>
              </a:rPr>
              <a:t>z_t</a:t>
            </a:r>
            <a:r>
              <a:rPr lang="hr-HR" sz="1200" kern="1200" dirty="0">
                <a:solidFill>
                  <a:schemeClr val="tx1"/>
                </a:solidFill>
                <a:effectLst/>
                <a:latin typeface="+mn-lt"/>
                <a:ea typeface="+mn-ea"/>
                <a:cs typeface="+mn-cs"/>
              </a:rPr>
              <a:t> \, | \, </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 m)</a:t>
            </a: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err="1">
                <a:solidFill>
                  <a:schemeClr val="tx1"/>
                </a:solidFill>
                <a:effectLst/>
                <a:latin typeface="+mn-lt"/>
                <a:ea typeface="+mn-ea"/>
                <a:cs typeface="+mn-cs"/>
              </a:rPr>
              <a:t>z_t</a:t>
            </a:r>
            <a:r>
              <a:rPr lang="en-US" sz="1200" kern="1200" dirty="0">
                <a:solidFill>
                  <a:schemeClr val="tx1"/>
                </a:solidFill>
                <a:effectLst/>
                <a:latin typeface="+mn-lt"/>
                <a:ea typeface="+mn-ea"/>
                <a:cs typeface="+mn-cs"/>
              </a:rPr>
              <a:t> = \{z_t^1, \</a:t>
            </a:r>
            <a:r>
              <a:rPr lang="en-US" sz="1200" kern="1200" dirty="0" err="1">
                <a:solidFill>
                  <a:schemeClr val="tx1"/>
                </a:solidFill>
                <a:effectLst/>
                <a:latin typeface="+mn-lt"/>
                <a:ea typeface="+mn-ea"/>
                <a:cs typeface="+mn-cs"/>
              </a:rPr>
              <a:t>ldots</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z_t^K</a:t>
            </a:r>
            <a:r>
              <a:rPr lang="en-US" sz="1200" kern="1200" dirty="0">
                <a:solidFill>
                  <a:schemeClr val="tx1"/>
                </a:solidFill>
                <a:effectLst/>
                <a:latin typeface="+mn-lt"/>
                <a:ea typeface="+mn-ea"/>
                <a:cs typeface="+mn-cs"/>
              </a:rPr>
              <a:t> \}</a:t>
            </a:r>
          </a:p>
          <a:p>
            <a:r>
              <a:rPr lang="hr-HR" sz="1200" kern="1200" dirty="0">
                <a:solidFill>
                  <a:schemeClr val="tx1"/>
                </a:solidFill>
                <a:effectLst/>
                <a:latin typeface="+mn-lt"/>
                <a:ea typeface="+mn-ea"/>
                <a:cs typeface="+mn-cs"/>
              </a:rPr>
              <a:t>p(</a:t>
            </a:r>
            <a:r>
              <a:rPr lang="hr-HR" sz="1200" kern="1200" dirty="0" err="1">
                <a:solidFill>
                  <a:schemeClr val="tx1"/>
                </a:solidFill>
                <a:effectLst/>
                <a:latin typeface="+mn-lt"/>
                <a:ea typeface="+mn-ea"/>
                <a:cs typeface="+mn-cs"/>
              </a:rPr>
              <a:t>z_t</a:t>
            </a:r>
            <a:r>
              <a:rPr lang="hr-HR" sz="1200" kern="1200" dirty="0">
                <a:solidFill>
                  <a:schemeClr val="tx1"/>
                </a:solidFill>
                <a:effectLst/>
                <a:latin typeface="+mn-lt"/>
                <a:ea typeface="+mn-ea"/>
                <a:cs typeface="+mn-cs"/>
              </a:rPr>
              <a:t> \, | \, </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 m) = \</a:t>
            </a:r>
            <a:r>
              <a:rPr lang="hr-HR" sz="1200" kern="1200" dirty="0" err="1">
                <a:solidFill>
                  <a:schemeClr val="tx1"/>
                </a:solidFill>
                <a:effectLst/>
                <a:latin typeface="+mn-lt"/>
                <a:ea typeface="+mn-ea"/>
                <a:cs typeface="+mn-cs"/>
              </a:rPr>
              <a:t>prod</a:t>
            </a:r>
            <a:r>
              <a:rPr lang="hr-HR" sz="1200" kern="1200" dirty="0">
                <a:solidFill>
                  <a:schemeClr val="tx1"/>
                </a:solidFill>
                <a:effectLst/>
                <a:latin typeface="+mn-lt"/>
                <a:ea typeface="+mn-ea"/>
                <a:cs typeface="+mn-cs"/>
              </a:rPr>
              <a:t>_{k=1}^K \, p(</a:t>
            </a:r>
            <a:r>
              <a:rPr lang="hr-HR" sz="1200" kern="1200" dirty="0" err="1">
                <a:solidFill>
                  <a:schemeClr val="tx1"/>
                </a:solidFill>
                <a:effectLst/>
                <a:latin typeface="+mn-lt"/>
                <a:ea typeface="+mn-ea"/>
                <a:cs typeface="+mn-cs"/>
              </a:rPr>
              <a:t>z_t^k</a:t>
            </a:r>
            <a:r>
              <a:rPr lang="hr-HR" sz="1200" kern="1200" dirty="0">
                <a:solidFill>
                  <a:schemeClr val="tx1"/>
                </a:solidFill>
                <a:effectLst/>
                <a:latin typeface="+mn-lt"/>
                <a:ea typeface="+mn-ea"/>
                <a:cs typeface="+mn-cs"/>
              </a:rPr>
              <a:t> \, | \, </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 m)</a:t>
            </a:r>
          </a:p>
          <a:p>
            <a:br>
              <a:rPr lang="hr-HR" sz="1200" kern="1200" dirty="0">
                <a:solidFill>
                  <a:schemeClr val="tx1"/>
                </a:solidFill>
                <a:effectLst/>
                <a:latin typeface="+mn-lt"/>
                <a:ea typeface="+mn-ea"/>
                <a:cs typeface="+mn-cs"/>
              </a:rPr>
            </a:br>
            <a:endParaRPr lang="hr-HR"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14</a:t>
            </a:fld>
            <a:endParaRPr lang="en-US"/>
          </a:p>
        </p:txBody>
      </p:sp>
    </p:spTree>
    <p:extLst>
      <p:ext uri="{BB962C8B-B14F-4D97-AF65-F5344CB8AC3E}">
        <p14:creationId xmlns:p14="http://schemas.microsoft.com/office/powerpoint/2010/main" val="18541726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Probabilistic localization algorithms are variants of the Bayes filter. The straightforward application of Bayes filters to the localization problem is called </a:t>
            </a:r>
            <a:r>
              <a:rPr lang="en-US" sz="1200" i="1" kern="1200" dirty="0">
                <a:solidFill>
                  <a:schemeClr val="tx1"/>
                </a:solidFill>
                <a:effectLst/>
                <a:latin typeface="+mn-lt"/>
                <a:ea typeface="+mn-ea"/>
                <a:cs typeface="+mn-cs"/>
              </a:rPr>
              <a:t>Markov localization</a:t>
            </a:r>
            <a:r>
              <a:rPr lang="en-US" sz="1200" kern="1200" dirty="0">
                <a:solidFill>
                  <a:schemeClr val="tx1"/>
                </a:solidFill>
                <a:effectLst/>
                <a:latin typeface="+mn-lt"/>
                <a:ea typeface="+mn-ea"/>
                <a:cs typeface="+mn-cs"/>
              </a:rPr>
              <a:t>. </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The map plays a role in the measurement model p(</a:t>
            </a:r>
            <a:r>
              <a:rPr lang="en-US" sz="1200" kern="1200" dirty="0" err="1">
                <a:solidFill>
                  <a:schemeClr val="tx1"/>
                </a:solidFill>
                <a:effectLst/>
                <a:latin typeface="+mn-lt"/>
                <a:ea typeface="+mn-ea"/>
                <a:cs typeface="+mn-cs"/>
              </a:rPr>
              <a:t>zt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xt,m</a:t>
            </a:r>
            <a:r>
              <a:rPr lang="en-US" sz="1200" kern="1200" dirty="0">
                <a:solidFill>
                  <a:schemeClr val="tx1"/>
                </a:solidFill>
                <a:effectLst/>
                <a:latin typeface="+mn-lt"/>
                <a:ea typeface="+mn-ea"/>
                <a:cs typeface="+mn-cs"/>
              </a:rPr>
              <a:t>) (Line 4). It often, but not always, is incorporated in the motion model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Markov localization addresses the global localization problem, the position tracking problem, and the kidnapped robot problem in static environments.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p>
          <a:p>
            <a:pPr marL="171450" indent="-171450">
              <a:buFont typeface="Arial" charset="0"/>
              <a:buChar char="•"/>
            </a:pP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\begin{algorithm}[H]</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KwData</a:t>
            </a:r>
            <a:r>
              <a:rPr lang="en-US" sz="1200" kern="1200" dirty="0">
                <a:solidFill>
                  <a:schemeClr val="tx1"/>
                </a:solidFill>
                <a:effectLst/>
                <a:latin typeface="+mn-lt"/>
                <a:ea typeface="+mn-ea"/>
                <a:cs typeface="+mn-cs"/>
              </a:rPr>
              <a:t>{$bel(x_{t-1}), </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z_t</a:t>
            </a:r>
            <a:r>
              <a:rPr lang="en-US" sz="1200" kern="1200" dirty="0">
                <a:solidFill>
                  <a:schemeClr val="tx1"/>
                </a:solidFill>
                <a:effectLst/>
                <a:latin typeface="+mn-lt"/>
                <a:ea typeface="+mn-ea"/>
                <a:cs typeface="+mn-cs"/>
              </a:rPr>
              <a:t>, {\color{red} m}$}</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KwResult</a:t>
            </a:r>
            <a:r>
              <a:rPr lang="en-US" sz="1200" kern="1200" dirty="0">
                <a:solidFill>
                  <a:schemeClr val="tx1"/>
                </a:solidFill>
                <a:effectLst/>
                <a:latin typeface="+mn-lt"/>
                <a:ea typeface="+mn-ea"/>
                <a:cs typeface="+mn-cs"/>
              </a:rPr>
              <a:t>{$bel(</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ForEach</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{bel}(</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int</a:t>
            </a:r>
            <a:r>
              <a:rPr lang="en-US" sz="1200" kern="1200" dirty="0">
                <a:solidFill>
                  <a:schemeClr val="tx1"/>
                </a:solidFill>
                <a:effectLst/>
                <a:latin typeface="+mn-lt"/>
                <a:ea typeface="+mn-ea"/>
                <a:cs typeface="+mn-cs"/>
              </a:rPr>
              <a:t> p(</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 \, | \, </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x_{t-1}, {\color{red} m}) \, bel(x_{t-1})\, dx_{t-1}$\;</a:t>
            </a:r>
          </a:p>
          <a:p>
            <a:r>
              <a:rPr lang="en-US" sz="1200" kern="1200" dirty="0">
                <a:solidFill>
                  <a:schemeClr val="tx1"/>
                </a:solidFill>
                <a:effectLst/>
                <a:latin typeface="+mn-lt"/>
                <a:ea typeface="+mn-ea"/>
                <a:cs typeface="+mn-cs"/>
              </a:rPr>
              <a:t>$bel(</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 = \eta p(</a:t>
            </a:r>
            <a:r>
              <a:rPr lang="en-US" sz="1200" kern="1200" dirty="0" err="1">
                <a:solidFill>
                  <a:schemeClr val="tx1"/>
                </a:solidFill>
                <a:effectLst/>
                <a:latin typeface="+mn-lt"/>
                <a:ea typeface="+mn-ea"/>
                <a:cs typeface="+mn-cs"/>
              </a:rPr>
              <a:t>z_t</a:t>
            </a:r>
            <a:r>
              <a:rPr lang="en-US" sz="1200" kern="1200" dirty="0">
                <a:solidFill>
                  <a:schemeClr val="tx1"/>
                </a:solidFill>
                <a:effectLst/>
                <a:latin typeface="+mn-lt"/>
                <a:ea typeface="+mn-ea"/>
                <a:cs typeface="+mn-cs"/>
              </a:rPr>
              <a:t> \, | \, x_{t}, {\color{red} m})\,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{bel}(x_{t})$\;</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Return $bel(</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\end{algorithm}</a:t>
            </a: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15</a:t>
            </a:fld>
            <a:endParaRPr lang="en-US"/>
          </a:p>
        </p:txBody>
      </p:sp>
    </p:spTree>
    <p:extLst>
      <p:ext uri="{BB962C8B-B14F-4D97-AF65-F5344CB8AC3E}">
        <p14:creationId xmlns:p14="http://schemas.microsoft.com/office/powerpoint/2010/main" val="11682713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bel(x_0) \sim \</a:t>
            </a:r>
            <a:r>
              <a:rPr lang="en-US" sz="1200" kern="1200" dirty="0" err="1">
                <a:solidFill>
                  <a:schemeClr val="tx1"/>
                </a:solidFill>
                <a:effectLst/>
                <a:latin typeface="+mn-lt"/>
                <a:ea typeface="+mn-ea"/>
                <a:cs typeface="+mn-cs"/>
              </a:rPr>
              <a:t>mathcal</a:t>
            </a:r>
            <a:r>
              <a:rPr lang="en-US" sz="1200" kern="1200" dirty="0">
                <a:solidFill>
                  <a:schemeClr val="tx1"/>
                </a:solidFill>
                <a:effectLst/>
                <a:latin typeface="+mn-lt"/>
                <a:ea typeface="+mn-ea"/>
                <a:cs typeface="+mn-cs"/>
              </a:rPr>
              <a:t> N(\</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{x}_0, \Sigma_0)</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bel(x_0) = \begin{cases}</a:t>
            </a:r>
          </a:p>
          <a:p>
            <a:r>
              <a:rPr lang="en-US" sz="1200" kern="1200" dirty="0">
                <a:solidFill>
                  <a:schemeClr val="tx1"/>
                </a:solidFill>
                <a:effectLst/>
                <a:latin typeface="+mn-lt"/>
                <a:ea typeface="+mn-ea"/>
                <a:cs typeface="+mn-cs"/>
              </a:rPr>
              <a:t>1 \text{ if } x_0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{x}_0\\</a:t>
            </a:r>
          </a:p>
          <a:p>
            <a:r>
              <a:rPr lang="en-US" sz="1200" kern="1200" dirty="0">
                <a:solidFill>
                  <a:schemeClr val="tx1"/>
                </a:solidFill>
                <a:effectLst/>
                <a:latin typeface="+mn-lt"/>
                <a:ea typeface="+mn-ea"/>
                <a:cs typeface="+mn-cs"/>
              </a:rPr>
              <a:t>0 \text{ otherwise}</a:t>
            </a:r>
          </a:p>
          <a:p>
            <a:r>
              <a:rPr lang="en-US" sz="1200" kern="1200" dirty="0">
                <a:solidFill>
                  <a:schemeClr val="tx1"/>
                </a:solidFill>
                <a:effectLst/>
                <a:latin typeface="+mn-lt"/>
                <a:ea typeface="+mn-ea"/>
                <a:cs typeface="+mn-cs"/>
              </a:rPr>
              <a:t>\end{cases}</a:t>
            </a: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16</a:t>
            </a:fld>
            <a:endParaRPr lang="en-US"/>
          </a:p>
        </p:txBody>
      </p:sp>
    </p:spTree>
    <p:extLst>
      <p:ext uri="{BB962C8B-B14F-4D97-AF65-F5344CB8AC3E}">
        <p14:creationId xmlns:p14="http://schemas.microsoft.com/office/powerpoint/2010/main" val="6132937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Figure depicts our one-dimensional hallway with three identically looking doors.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The initial belief bel(x0) is uniform over all poses, as illustrated by the uniform density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s the robot queries its sensors and notices that it is adjacent to one of the doors, it multiplies its belief bel(x0) by p(</a:t>
            </a:r>
            <a:r>
              <a:rPr lang="en-US" sz="1200" kern="1200" dirty="0" err="1">
                <a:solidFill>
                  <a:schemeClr val="tx1"/>
                </a:solidFill>
                <a:effectLst/>
                <a:latin typeface="+mn-lt"/>
                <a:ea typeface="+mn-ea"/>
                <a:cs typeface="+mn-cs"/>
              </a:rPr>
              <a:t>zt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m), as stated in Line 4 of our algorithm.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The lower density is the result of multiplying this density into the robot’s uniform prior belief. Again, the resulting belief is multi-modal, reflecting the residual uncertainty of the robot at this point. </a:t>
            </a:r>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17</a:t>
            </a:fld>
            <a:endParaRPr lang="en-US"/>
          </a:p>
        </p:txBody>
      </p:sp>
    </p:spTree>
    <p:extLst>
      <p:ext uri="{BB962C8B-B14F-4D97-AF65-F5344CB8AC3E}">
        <p14:creationId xmlns:p14="http://schemas.microsoft.com/office/powerpoint/2010/main" val="3515496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As the robot moves to the right, indicated in Figure 7.4c, Line 3 of the Markov locations algorithm convolves its belief with the motion model p(</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 ut,xt−1).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The effect is visualized in Figure 7.4c, which shows a shifted belief that is also flattened out, as a result of the convolution. </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The final measurement is illustrated in Figure 7.4d. Here the Markov localization algorithm multiplies the current belief with the perceptual probability p(</a:t>
            </a:r>
            <a:r>
              <a:rPr lang="en-US" sz="1200" kern="1200" dirty="0" err="1">
                <a:solidFill>
                  <a:schemeClr val="tx1"/>
                </a:solidFill>
                <a:effectLst/>
                <a:latin typeface="+mn-lt"/>
                <a:ea typeface="+mn-ea"/>
                <a:cs typeface="+mn-cs"/>
              </a:rPr>
              <a:t>zt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At this point, most of the probability mass is focused on the correct pose, and the robot is quite confident of having localized itself.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18</a:t>
            </a:fld>
            <a:endParaRPr lang="en-US"/>
          </a:p>
        </p:txBody>
      </p:sp>
    </p:spTree>
    <p:extLst>
      <p:ext uri="{BB962C8B-B14F-4D97-AF65-F5344CB8AC3E}">
        <p14:creationId xmlns:p14="http://schemas.microsoft.com/office/powerpoint/2010/main" val="107172263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We will now consider a different representation and devise practical algorithms that can localize mobile robots in real time. </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sz="1200" kern="1200" dirty="0">
              <a:solidFill>
                <a:schemeClr val="tx1"/>
              </a:solidFill>
              <a:effectLst/>
              <a:latin typeface="+mn-lt"/>
              <a:ea typeface="+mn-ea"/>
              <a:cs typeface="+mn-cs"/>
            </a:endParaRP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We begin with Kalman filters, which represent beliefs by their first and second moment.  </a:t>
            </a:r>
            <a:endParaRPr lang="en-US" dirty="0"/>
          </a:p>
          <a:p>
            <a:pPr marL="171450" indent="-171450">
              <a:buFont typeface="Arial" charset="0"/>
              <a:buChar char="•"/>
            </a:pPr>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20</a:t>
            </a:fld>
            <a:endParaRPr lang="en-US"/>
          </a:p>
        </p:txBody>
      </p:sp>
    </p:spTree>
    <p:extLst>
      <p:ext uri="{BB962C8B-B14F-4D97-AF65-F5344CB8AC3E}">
        <p14:creationId xmlns:p14="http://schemas.microsoft.com/office/powerpoint/2010/main" val="4073797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The extended </a:t>
            </a:r>
            <a:r>
              <a:rPr lang="en-US" sz="1200" kern="1200" dirty="0" err="1">
                <a:solidFill>
                  <a:schemeClr val="tx1"/>
                </a:solidFill>
                <a:effectLst/>
                <a:latin typeface="+mn-lt"/>
                <a:ea typeface="+mn-ea"/>
                <a:cs typeface="+mn-cs"/>
              </a:rPr>
              <a:t>Kalman</a:t>
            </a:r>
            <a:r>
              <a:rPr lang="en-US" sz="1200" kern="1200" dirty="0">
                <a:solidFill>
                  <a:schemeClr val="tx1"/>
                </a:solidFill>
                <a:effectLst/>
                <a:latin typeface="+mn-lt"/>
                <a:ea typeface="+mn-ea"/>
                <a:cs typeface="+mn-cs"/>
              </a:rPr>
              <a:t> filter localization algorithm, or EKF localization, is a special case of Markov localization. EKF localization represent beliefs bel(</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by their their first and second moment, that is, the mean </a:t>
            </a:r>
            <a:r>
              <a:rPr lang="en-US" sz="1200" kern="1200" dirty="0" err="1">
                <a:solidFill>
                  <a:schemeClr val="tx1"/>
                </a:solidFill>
                <a:effectLst/>
                <a:latin typeface="+mn-lt"/>
                <a:ea typeface="+mn-ea"/>
                <a:cs typeface="+mn-cs"/>
              </a:rPr>
              <a:t>μt</a:t>
            </a:r>
            <a:r>
              <a:rPr lang="en-US" sz="1200" kern="1200" dirty="0">
                <a:solidFill>
                  <a:schemeClr val="tx1"/>
                </a:solidFill>
                <a:effectLst/>
                <a:latin typeface="+mn-lt"/>
                <a:ea typeface="+mn-ea"/>
                <a:cs typeface="+mn-cs"/>
              </a:rPr>
              <a:t> and the covariance </a:t>
            </a:r>
            <a:r>
              <a:rPr lang="en-US" sz="1200" kern="1200" dirty="0" err="1">
                <a:solidFill>
                  <a:schemeClr val="tx1"/>
                </a:solidFill>
                <a:effectLst/>
                <a:latin typeface="+mn-lt"/>
                <a:ea typeface="+mn-ea"/>
                <a:cs typeface="+mn-cs"/>
              </a:rPr>
              <a:t>Σt</a:t>
            </a:r>
            <a:r>
              <a:rPr lang="en-US" sz="1200" kern="1200" dirty="0">
                <a:solidFill>
                  <a:schemeClr val="tx1"/>
                </a:solidFill>
                <a:effectLst/>
                <a:latin typeface="+mn-lt"/>
                <a:ea typeface="+mn-ea"/>
                <a:cs typeface="+mn-cs"/>
              </a:rPr>
              <a:t>.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Our EKF localization algorithm assumes that the map is represented by a collection of features. </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Features correspond to distinct objects in the physical world.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At any point in time t, the robot gets to observe a vector of ranges and bearings to nearby features: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pt-BR"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pt-BR"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pt-BR" sz="1200" kern="1200" dirty="0">
                <a:solidFill>
                  <a:schemeClr val="tx1"/>
                </a:solidFill>
                <a:effectLst/>
                <a:latin typeface="+mn-lt"/>
                <a:ea typeface="+mn-ea"/>
                <a:cs typeface="+mn-cs"/>
              </a:rPr>
              <a:t>m = \{m_1, m_2,\</a:t>
            </a:r>
            <a:r>
              <a:rPr lang="pt-BR" sz="1200" kern="1200" dirty="0" err="1">
                <a:solidFill>
                  <a:schemeClr val="tx1"/>
                </a:solidFill>
                <a:effectLst/>
                <a:latin typeface="+mn-lt"/>
                <a:ea typeface="+mn-ea"/>
                <a:cs typeface="+mn-cs"/>
              </a:rPr>
              <a:t>ldots</a:t>
            </a:r>
            <a:r>
              <a:rPr lang="pt-BR" sz="1200" kern="1200" dirty="0">
                <a:solidFill>
                  <a:schemeClr val="tx1"/>
                </a:solidFill>
                <a:effectLst/>
                <a:latin typeface="+mn-lt"/>
                <a:ea typeface="+mn-ea"/>
                <a:cs typeface="+mn-cs"/>
              </a:rPr>
              <a:t>\}, \</a:t>
            </a:r>
            <a:r>
              <a:rPr lang="pt-BR" sz="1200" kern="1200" dirty="0" err="1">
                <a:solidFill>
                  <a:schemeClr val="tx1"/>
                </a:solidFill>
                <a:effectLst/>
                <a:latin typeface="+mn-lt"/>
                <a:ea typeface="+mn-ea"/>
                <a:cs typeface="+mn-cs"/>
              </a:rPr>
              <a:t>qquad</a:t>
            </a:r>
            <a:r>
              <a:rPr lang="pt-BR" sz="1200" kern="1200" dirty="0">
                <a:solidFill>
                  <a:schemeClr val="tx1"/>
                </a:solidFill>
                <a:effectLst/>
                <a:latin typeface="+mn-lt"/>
                <a:ea typeface="+mn-ea"/>
                <a:cs typeface="+mn-cs"/>
              </a:rPr>
              <a:t> </a:t>
            </a:r>
            <a:r>
              <a:rPr lang="pt-BR" sz="1200" kern="1200" dirty="0" err="1">
                <a:solidFill>
                  <a:schemeClr val="tx1"/>
                </a:solidFill>
                <a:effectLst/>
                <a:latin typeface="+mn-lt"/>
                <a:ea typeface="+mn-ea"/>
                <a:cs typeface="+mn-cs"/>
              </a:rPr>
              <a:t>m_i</a:t>
            </a:r>
            <a:r>
              <a:rPr lang="pt-BR" sz="1200" kern="1200" dirty="0">
                <a:solidFill>
                  <a:schemeClr val="tx1"/>
                </a:solidFill>
                <a:effectLst/>
                <a:latin typeface="+mn-lt"/>
                <a:ea typeface="+mn-ea"/>
                <a:cs typeface="+mn-cs"/>
              </a:rPr>
              <a:t> = (m_{</a:t>
            </a:r>
            <a:r>
              <a:rPr lang="pt-BR" sz="1200" kern="1200" dirty="0" err="1">
                <a:solidFill>
                  <a:schemeClr val="tx1"/>
                </a:solidFill>
                <a:effectLst/>
                <a:latin typeface="+mn-lt"/>
                <a:ea typeface="+mn-ea"/>
                <a:cs typeface="+mn-cs"/>
              </a:rPr>
              <a:t>i,x</a:t>
            </a:r>
            <a:r>
              <a:rPr lang="pt-BR" sz="1200" kern="1200" dirty="0">
                <a:solidFill>
                  <a:schemeClr val="tx1"/>
                </a:solidFill>
                <a:effectLst/>
                <a:latin typeface="+mn-lt"/>
                <a:ea typeface="+mn-ea"/>
                <a:cs typeface="+mn-cs"/>
              </a:rPr>
              <a:t>}, m_{</a:t>
            </a:r>
            <a:r>
              <a:rPr lang="pt-BR" sz="1200" kern="1200" dirty="0" err="1">
                <a:solidFill>
                  <a:schemeClr val="tx1"/>
                </a:solidFill>
                <a:effectLst/>
                <a:latin typeface="+mn-lt"/>
                <a:ea typeface="+mn-ea"/>
                <a:cs typeface="+mn-cs"/>
              </a:rPr>
              <a:t>i,y</a:t>
            </a:r>
            <a:r>
              <a:rPr lang="pt-BR" sz="120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21</a:t>
            </a:fld>
            <a:endParaRPr lang="en-US"/>
          </a:p>
        </p:txBody>
      </p:sp>
    </p:spTree>
    <p:extLst>
      <p:ext uri="{BB962C8B-B14F-4D97-AF65-F5344CB8AC3E}">
        <p14:creationId xmlns:p14="http://schemas.microsoft.com/office/powerpoint/2010/main" val="143026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The most common model for processing landmarks assumes that the sensor can measure the range and the bearing of the landmark relative to the robot’s local coordinate frame.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Any local feature extracted from range scans come with range and bearing information, as do visual features detected by stereo vision.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The resulting measurement model is formulated for the case where the </a:t>
            </a:r>
            <a:r>
              <a:rPr lang="en-US" sz="1200" kern="1200" dirty="0" err="1">
                <a:solidFill>
                  <a:schemeClr val="tx1"/>
                </a:solidFill>
                <a:effectLst/>
                <a:latin typeface="+mn-lt"/>
                <a:ea typeface="+mn-ea"/>
                <a:cs typeface="+mn-cs"/>
              </a:rPr>
              <a:t>i-th</a:t>
            </a:r>
            <a:r>
              <a:rPr lang="en-US" sz="1200" kern="1200" dirty="0">
                <a:solidFill>
                  <a:schemeClr val="tx1"/>
                </a:solidFill>
                <a:effectLst/>
                <a:latin typeface="+mn-lt"/>
                <a:ea typeface="+mn-ea"/>
                <a:cs typeface="+mn-cs"/>
              </a:rPr>
              <a:t> feature at time t corresponds to the j-</a:t>
            </a:r>
            <a:r>
              <a:rPr lang="en-US" sz="1200" kern="1200" dirty="0" err="1">
                <a:solidFill>
                  <a:schemeClr val="tx1"/>
                </a:solidFill>
                <a:effectLst/>
                <a:latin typeface="+mn-lt"/>
                <a:ea typeface="+mn-ea"/>
                <a:cs typeface="+mn-cs"/>
              </a:rPr>
              <a:t>th</a:t>
            </a:r>
            <a:r>
              <a:rPr lang="en-US" sz="1200" kern="1200" dirty="0">
                <a:solidFill>
                  <a:schemeClr val="tx1"/>
                </a:solidFill>
                <a:effectLst/>
                <a:latin typeface="+mn-lt"/>
                <a:ea typeface="+mn-ea"/>
                <a:cs typeface="+mn-cs"/>
              </a:rPr>
              <a:t> landmark in the map.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b="1" i="0" dirty="0">
                <a:solidFill>
                  <a:srgbClr val="202122"/>
                </a:solidFill>
                <a:effectLst/>
                <a:latin typeface="Arial" panose="020B0604020202020204" pitchFamily="34" charset="0"/>
              </a:rPr>
              <a:t>atan2</a:t>
            </a:r>
            <a:r>
              <a:rPr lang="en-US" b="0" i="0" dirty="0">
                <a:solidFill>
                  <a:srgbClr val="202122"/>
                </a:solidFill>
                <a:effectLst/>
                <a:latin typeface="Arial" panose="020B0604020202020204" pitchFamily="34" charset="0"/>
              </a:rPr>
              <a:t> is the 2-</a:t>
            </a:r>
            <a:r>
              <a:rPr lang="en-US" b="0" i="0" u="none" strike="noStrike" dirty="0">
                <a:solidFill>
                  <a:srgbClr val="3366CC"/>
                </a:solidFill>
                <a:effectLst/>
                <a:latin typeface="Arial" panose="020B0604020202020204" pitchFamily="34" charset="0"/>
                <a:hlinkClick r:id="rId3" tooltip="Argument of a function"/>
              </a:rPr>
              <a:t>argument</a:t>
            </a:r>
            <a:r>
              <a:rPr lang="en-US" b="0" i="0" dirty="0">
                <a:solidFill>
                  <a:srgbClr val="202122"/>
                </a:solidFill>
                <a:effectLst/>
                <a:latin typeface="Arial" panose="020B0604020202020204" pitchFamily="34" charset="0"/>
              </a:rPr>
              <a:t> </a:t>
            </a:r>
            <a:r>
              <a:rPr lang="en-US" b="0" i="0" u="none" strike="noStrike" dirty="0">
                <a:solidFill>
                  <a:srgbClr val="3366CC"/>
                </a:solidFill>
                <a:effectLst/>
                <a:latin typeface="Arial" panose="020B0604020202020204" pitchFamily="34" charset="0"/>
                <a:hlinkClick r:id="rId4" tooltip="Arctangent"/>
              </a:rPr>
              <a:t>arctangent</a:t>
            </a:r>
            <a:r>
              <a:rPr lang="en-US" b="0" i="0" dirty="0">
                <a:solidFill>
                  <a:srgbClr val="202122"/>
                </a:solidFill>
                <a:effectLst/>
                <a:latin typeface="Arial" panose="020B0604020202020204" pitchFamily="34" charset="0"/>
              </a:rPr>
              <a:t>. </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rgbClr val="202122"/>
              </a:solidFill>
              <a:effectLst/>
              <a:latin typeface="Arial" panose="020B0604020202020204" pitchFamily="34" charset="0"/>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b="0" i="0" dirty="0">
                <a:solidFill>
                  <a:srgbClr val="202122"/>
                </a:solidFill>
                <a:effectLst/>
                <a:latin typeface="Arial" panose="020B0604020202020204" pitchFamily="34" charset="0"/>
              </a:rPr>
              <a:t>By definition, theta =atan2⁡(</a:t>
            </a:r>
            <a:r>
              <a:rPr lang="en-US" b="0" i="0" dirty="0" err="1">
                <a:solidFill>
                  <a:srgbClr val="202122"/>
                </a:solidFill>
                <a:effectLst/>
                <a:latin typeface="Arial" panose="020B0604020202020204" pitchFamily="34" charset="0"/>
              </a:rPr>
              <a:t>y,x</a:t>
            </a:r>
            <a:r>
              <a:rPr lang="en-US" b="0" i="0" dirty="0">
                <a:solidFill>
                  <a:srgbClr val="202122"/>
                </a:solidFill>
                <a:effectLst/>
                <a:latin typeface="Arial" panose="020B0604020202020204" pitchFamily="34" charset="0"/>
              </a:rPr>
              <a:t>) is the </a:t>
            </a:r>
            <a:r>
              <a:rPr lang="en-US" b="0" i="0" u="none" strike="noStrike" dirty="0">
                <a:solidFill>
                  <a:srgbClr val="3366CC"/>
                </a:solidFill>
                <a:effectLst/>
                <a:latin typeface="Arial" panose="020B0604020202020204" pitchFamily="34" charset="0"/>
                <a:hlinkClick r:id="rId5" tooltip="Angle measure"/>
              </a:rPr>
              <a:t>angle measure</a:t>
            </a:r>
            <a:r>
              <a:rPr lang="en-US" b="0" i="0" dirty="0">
                <a:solidFill>
                  <a:srgbClr val="202122"/>
                </a:solidFill>
                <a:effectLst/>
                <a:latin typeface="Arial" panose="020B0604020202020204" pitchFamily="34" charset="0"/>
              </a:rPr>
              <a:t> (in </a:t>
            </a:r>
            <a:r>
              <a:rPr lang="en-US" b="0" i="0" u="none" strike="noStrike" dirty="0">
                <a:solidFill>
                  <a:srgbClr val="3366CC"/>
                </a:solidFill>
                <a:effectLst/>
                <a:latin typeface="Arial" panose="020B0604020202020204" pitchFamily="34" charset="0"/>
                <a:hlinkClick r:id="rId6" tooltip="Radian"/>
              </a:rPr>
              <a:t>radians</a:t>
            </a:r>
            <a:r>
              <a:rPr lang="en-US" b="0" i="0" dirty="0">
                <a:solidFill>
                  <a:srgbClr val="202122"/>
                </a:solidFill>
                <a:effectLst/>
                <a:latin typeface="Arial" panose="020B0604020202020204" pitchFamily="34" charset="0"/>
              </a:rPr>
              <a:t>, with −\pi&lt;\theta≤\pi) between the positive </a:t>
            </a:r>
            <a:r>
              <a:rPr lang="en-US" b="0" i="0" u="none" strike="noStrike" dirty="0">
                <a:solidFill>
                  <a:srgbClr val="3366CC"/>
                </a:solidFill>
                <a:effectLst/>
                <a:latin typeface="Arial" panose="020B0604020202020204" pitchFamily="34" charset="0"/>
              </a:rPr>
              <a:t>x</a:t>
            </a:r>
            <a:r>
              <a:rPr lang="en-US" b="0" i="0" u="none" strike="noStrike" dirty="0">
                <a:solidFill>
                  <a:srgbClr val="3366CC"/>
                </a:solidFill>
                <a:effectLst/>
                <a:latin typeface="Arial" panose="020B0604020202020204" pitchFamily="34" charset="0"/>
                <a:hlinkClick r:id="rId7" tooltip="Cartesian coordinate system"/>
              </a:rPr>
              <a:t>-axis</a:t>
            </a:r>
            <a:r>
              <a:rPr lang="en-US" b="0" i="0" dirty="0">
                <a:solidFill>
                  <a:srgbClr val="202122"/>
                </a:solidFill>
                <a:effectLst/>
                <a:latin typeface="Arial" panose="020B0604020202020204" pitchFamily="34" charset="0"/>
              </a:rPr>
              <a:t> and the </a:t>
            </a:r>
            <a:r>
              <a:rPr lang="en-US" b="0" i="0" u="none" strike="noStrike" dirty="0">
                <a:solidFill>
                  <a:srgbClr val="3366CC"/>
                </a:solidFill>
                <a:effectLst/>
                <a:latin typeface="Arial" panose="020B0604020202020204" pitchFamily="34" charset="0"/>
                <a:hlinkClick r:id="rId8" tooltip="Ray (geometry)"/>
              </a:rPr>
              <a:t>ray</a:t>
            </a:r>
            <a:r>
              <a:rPr lang="en-US" b="0" i="0" dirty="0">
                <a:solidFill>
                  <a:srgbClr val="202122"/>
                </a:solidFill>
                <a:effectLst/>
                <a:latin typeface="Arial" panose="020B0604020202020204" pitchFamily="34" charset="0"/>
              </a:rPr>
              <a:t> from the </a:t>
            </a:r>
            <a:r>
              <a:rPr lang="en-US" b="0" i="0" u="none" strike="noStrike" dirty="0">
                <a:solidFill>
                  <a:srgbClr val="3366CC"/>
                </a:solidFill>
                <a:effectLst/>
                <a:latin typeface="Arial" panose="020B0604020202020204" pitchFamily="34" charset="0"/>
                <a:hlinkClick r:id="rId9" tooltip="Origin (mathematics)"/>
              </a:rPr>
              <a:t>origin</a:t>
            </a:r>
            <a:r>
              <a:rPr lang="en-US" b="0" i="0" dirty="0">
                <a:solidFill>
                  <a:srgbClr val="202122"/>
                </a:solidFill>
                <a:effectLst/>
                <a:latin typeface="Arial" panose="020B0604020202020204" pitchFamily="34" charset="0"/>
              </a:rPr>
              <a:t> to the point (</a:t>
            </a:r>
            <a:r>
              <a:rPr lang="en-US" b="0" i="0" dirty="0" err="1">
                <a:solidFill>
                  <a:srgbClr val="202122"/>
                </a:solidFill>
                <a:effectLst/>
                <a:latin typeface="Arial" panose="020B0604020202020204" pitchFamily="34" charset="0"/>
              </a:rPr>
              <a:t>x,y</a:t>
            </a:r>
            <a:r>
              <a:rPr lang="en-US" b="0" i="0" dirty="0">
                <a:solidFill>
                  <a:srgbClr val="202122"/>
                </a:solidFill>
                <a:effectLst/>
                <a:latin typeface="Arial" panose="020B0604020202020204" pitchFamily="34" charset="0"/>
              </a:rPr>
              <a:t>) in the </a:t>
            </a:r>
            <a:r>
              <a:rPr lang="en-US" b="0" i="0" u="none" strike="noStrike" dirty="0">
                <a:solidFill>
                  <a:srgbClr val="3366CC"/>
                </a:solidFill>
                <a:effectLst/>
                <a:latin typeface="Arial" panose="020B0604020202020204" pitchFamily="34" charset="0"/>
                <a:hlinkClick r:id="rId7" tooltip="Cartesian coordinate system"/>
              </a:rPr>
              <a:t>Cartesian plane</a:t>
            </a:r>
            <a:r>
              <a:rPr lang="en-US" b="0" i="0" dirty="0">
                <a:solidFill>
                  <a:srgbClr val="202122"/>
                </a:solidFill>
                <a:effectLst/>
                <a:latin typeface="Arial" panose="020B0604020202020204" pitchFamily="34" charset="0"/>
              </a:rPr>
              <a:t>.</a:t>
            </a:r>
            <a:endParaRPr lang="en-US" sz="1200" b="0" i="0" kern="1200" dirty="0">
              <a:solidFill>
                <a:srgbClr val="202122"/>
              </a:solidFill>
              <a:effectLst/>
              <a:latin typeface="Arial" panose="020B0604020202020204" pitchFamily="34" charset="0"/>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DeclareMathOperator</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atantwo</a:t>
            </a:r>
            <a:r>
              <a:rPr lang="en-US" sz="1200" kern="1200" dirty="0">
                <a:solidFill>
                  <a:schemeClr val="tx1"/>
                </a:solidFill>
                <a:effectLst/>
                <a:latin typeface="+mn-lt"/>
                <a:ea typeface="+mn-ea"/>
                <a:cs typeface="+mn-cs"/>
              </a:rPr>
              <a:t>}{atan2}</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err="1">
                <a:solidFill>
                  <a:schemeClr val="tx1"/>
                </a:solidFill>
                <a:effectLst/>
                <a:latin typeface="+mn-lt"/>
                <a:ea typeface="+mn-ea"/>
                <a:cs typeface="+mn-cs"/>
              </a:rPr>
              <a:t>r^i_t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phi^i_t</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 = \underbrace{\begin{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sqrt</a:t>
            </a:r>
            <a:r>
              <a:rPr lang="en-US" sz="1200" kern="1200" dirty="0">
                <a:solidFill>
                  <a:schemeClr val="tx1"/>
                </a:solidFill>
                <a:effectLst/>
                <a:latin typeface="+mn-lt"/>
                <a:ea typeface="+mn-ea"/>
                <a:cs typeface="+mn-cs"/>
              </a:rPr>
              <a:t>{(m_{</a:t>
            </a:r>
            <a:r>
              <a:rPr lang="en-US" sz="1200" kern="1200" dirty="0" err="1">
                <a:solidFill>
                  <a:schemeClr val="tx1"/>
                </a:solidFill>
                <a:effectLst/>
                <a:latin typeface="+mn-lt"/>
                <a:ea typeface="+mn-ea"/>
                <a:cs typeface="+mn-cs"/>
              </a:rPr>
              <a:t>j,x</a:t>
            </a:r>
            <a:r>
              <a:rPr lang="en-US" sz="1200" kern="1200" dirty="0">
                <a:solidFill>
                  <a:schemeClr val="tx1"/>
                </a:solidFill>
                <a:effectLst/>
                <a:latin typeface="+mn-lt"/>
                <a:ea typeface="+mn-ea"/>
                <a:cs typeface="+mn-cs"/>
              </a:rPr>
              <a:t>} - x)^2 + (m_{</a:t>
            </a:r>
            <a:r>
              <a:rPr lang="en-US" sz="1200" kern="1200" dirty="0" err="1">
                <a:solidFill>
                  <a:schemeClr val="tx1"/>
                </a:solidFill>
                <a:effectLst/>
                <a:latin typeface="+mn-lt"/>
                <a:ea typeface="+mn-ea"/>
                <a:cs typeface="+mn-cs"/>
              </a:rPr>
              <a:t>j,y</a:t>
            </a:r>
            <a:r>
              <a:rPr lang="en-US" sz="1200" kern="1200" dirty="0">
                <a:solidFill>
                  <a:schemeClr val="tx1"/>
                </a:solidFill>
                <a:effectLst/>
                <a:latin typeface="+mn-lt"/>
                <a:ea typeface="+mn-ea"/>
                <a:cs typeface="+mn-cs"/>
              </a:rPr>
              <a:t>}-y)^2}\\</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atantwo</a:t>
            </a:r>
            <a:r>
              <a:rPr lang="en-US" sz="1200" kern="1200" dirty="0">
                <a:solidFill>
                  <a:schemeClr val="tx1"/>
                </a:solidFill>
                <a:effectLst/>
                <a:latin typeface="+mn-lt"/>
                <a:ea typeface="+mn-ea"/>
                <a:cs typeface="+mn-cs"/>
              </a:rPr>
              <a:t>(m_{</a:t>
            </a:r>
            <a:r>
              <a:rPr lang="en-US" sz="1200" kern="1200" dirty="0" err="1">
                <a:solidFill>
                  <a:schemeClr val="tx1"/>
                </a:solidFill>
                <a:effectLst/>
                <a:latin typeface="+mn-lt"/>
                <a:ea typeface="+mn-ea"/>
                <a:cs typeface="+mn-cs"/>
              </a:rPr>
              <a:t>j,y</a:t>
            </a:r>
            <a:r>
              <a:rPr lang="en-US" sz="1200" kern="1200" dirty="0">
                <a:solidFill>
                  <a:schemeClr val="tx1"/>
                </a:solidFill>
                <a:effectLst/>
                <a:latin typeface="+mn-lt"/>
                <a:ea typeface="+mn-ea"/>
                <a:cs typeface="+mn-cs"/>
              </a:rPr>
              <a:t>}-y, m_{</a:t>
            </a:r>
            <a:r>
              <a:rPr lang="en-US" sz="1200" kern="1200" dirty="0" err="1">
                <a:solidFill>
                  <a:schemeClr val="tx1"/>
                </a:solidFill>
                <a:effectLst/>
                <a:latin typeface="+mn-lt"/>
                <a:ea typeface="+mn-ea"/>
                <a:cs typeface="+mn-cs"/>
              </a:rPr>
              <a:t>j,x</a:t>
            </a:r>
            <a:r>
              <a:rPr lang="en-US" sz="1200" kern="1200" dirty="0">
                <a:solidFill>
                  <a:schemeClr val="tx1"/>
                </a:solidFill>
                <a:effectLst/>
                <a:latin typeface="+mn-lt"/>
                <a:ea typeface="+mn-ea"/>
                <a:cs typeface="+mn-cs"/>
              </a:rPr>
              <a:t>}-x) - \theta</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}}_{=h(</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 j, m)} + \</a:t>
            </a:r>
            <a:r>
              <a:rPr lang="en-US" sz="1200" kern="1200" dirty="0" err="1">
                <a:solidFill>
                  <a:schemeClr val="tx1"/>
                </a:solidFill>
                <a:effectLst/>
                <a:latin typeface="+mn-lt"/>
                <a:ea typeface="+mn-ea"/>
                <a:cs typeface="+mn-cs"/>
              </a:rPr>
              <a:t>mathcal</a:t>
            </a:r>
            <a:r>
              <a:rPr lang="en-US" sz="1200" kern="1200" dirty="0">
                <a:solidFill>
                  <a:schemeClr val="tx1"/>
                </a:solidFill>
                <a:effectLst/>
                <a:latin typeface="+mn-lt"/>
                <a:ea typeface="+mn-ea"/>
                <a:cs typeface="+mn-cs"/>
              </a:rPr>
              <a:t> N(0, </a:t>
            </a:r>
            <a:r>
              <a:rPr lang="en-US" sz="1200" kern="1200" dirty="0" err="1">
                <a:solidFill>
                  <a:schemeClr val="tx1"/>
                </a:solidFill>
                <a:effectLst/>
                <a:latin typeface="+mn-lt"/>
                <a:ea typeface="+mn-ea"/>
                <a:cs typeface="+mn-cs"/>
              </a:rPr>
              <a:t>Q_t</a:t>
            </a:r>
            <a:r>
              <a:rPr lang="en-US" sz="1200" kern="1200" dirty="0">
                <a:solidFill>
                  <a:schemeClr val="tx1"/>
                </a:solidFill>
                <a:effectLst/>
                <a:latin typeface="+mn-lt"/>
                <a:ea typeface="+mn-ea"/>
                <a:cs typeface="+mn-cs"/>
              </a:rPr>
              <a:t>)</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err="1">
                <a:solidFill>
                  <a:schemeClr val="tx1"/>
                </a:solidFill>
                <a:effectLst/>
                <a:latin typeface="+mn-lt"/>
                <a:ea typeface="+mn-ea"/>
                <a:cs typeface="+mn-cs"/>
              </a:rPr>
              <a:t>z_t</a:t>
            </a:r>
            <a:r>
              <a:rPr lang="en-US" sz="1200" kern="1200" dirty="0">
                <a:solidFill>
                  <a:schemeClr val="tx1"/>
                </a:solidFill>
                <a:effectLst/>
                <a:latin typeface="+mn-lt"/>
                <a:ea typeface="+mn-ea"/>
                <a:cs typeface="+mn-cs"/>
              </a:rPr>
              <a:t> = \{z_t^1, z_t^2, \</a:t>
            </a:r>
            <a:r>
              <a:rPr lang="en-US" sz="1200" kern="1200" dirty="0" err="1">
                <a:solidFill>
                  <a:schemeClr val="tx1"/>
                </a:solidFill>
                <a:effectLst/>
                <a:latin typeface="+mn-lt"/>
                <a:ea typeface="+mn-ea"/>
                <a:cs typeface="+mn-cs"/>
              </a:rPr>
              <a:t>ldots</a:t>
            </a:r>
            <a:r>
              <a:rPr lang="en-US" sz="1200" kern="1200" dirty="0">
                <a:solidFill>
                  <a:schemeClr val="tx1"/>
                </a:solidFill>
                <a:effectLst/>
                <a:latin typeface="+mn-lt"/>
                <a:ea typeface="+mn-ea"/>
                <a:cs typeface="+mn-cs"/>
              </a:rPr>
              <a:t>\} = \{(r_t^1, \phi_t^1), (r_t^2, \phi_t^2),\</a:t>
            </a:r>
            <a:r>
              <a:rPr lang="en-US" sz="1200" kern="1200" dirty="0" err="1">
                <a:solidFill>
                  <a:schemeClr val="tx1"/>
                </a:solidFill>
                <a:effectLst/>
                <a:latin typeface="+mn-lt"/>
                <a:ea typeface="+mn-ea"/>
                <a:cs typeface="+mn-cs"/>
              </a:rPr>
              <a:t>ldots</a:t>
            </a:r>
            <a:r>
              <a:rPr lang="en-US" sz="120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22</a:t>
            </a:fld>
            <a:endParaRPr lang="en-US"/>
          </a:p>
        </p:txBody>
      </p:sp>
    </p:spTree>
    <p:extLst>
      <p:ext uri="{BB962C8B-B14F-4D97-AF65-F5344CB8AC3E}">
        <p14:creationId xmlns:p14="http://schemas.microsoft.com/office/powerpoint/2010/main" val="18546190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To implement this measurement model, we need to define a variable that establishes correspondence between the measurement </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 and the landmark m-j in the map. </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Formally, we define a </a:t>
                </a:r>
                <a:r>
                  <a:rPr lang="en-US" i="1" dirty="0"/>
                  <a:t>correspondence variable </a:t>
                </a:r>
                <a:r>
                  <a:rPr lang="en-US" dirty="0"/>
                  <a:t>between measurement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charset="0"/>
                          </a:rPr>
                          <m:t>𝑧</m:t>
                        </m:r>
                      </m:e>
                      <m:sub>
                        <m:r>
                          <a:rPr lang="en-US" b="0" i="1" smtClean="0">
                            <a:latin typeface="Cambria Math" charset="0"/>
                          </a:rPr>
                          <m:t>𝑡</m:t>
                        </m:r>
                      </m:sub>
                      <m:sup>
                        <m:r>
                          <a:rPr lang="en-US" b="0" i="1" smtClean="0">
                            <a:latin typeface="Cambria Math" charset="0"/>
                          </a:rPr>
                          <m:t>𝑖</m:t>
                        </m:r>
                      </m:sup>
                    </m:sSubSup>
                  </m:oMath>
                </a14:m>
                <a:r>
                  <a:rPr lang="en-US" dirty="0"/>
                  <a:t> and landmark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𝑚</m:t>
                        </m:r>
                      </m:e>
                      <m:sub>
                        <m:r>
                          <a:rPr lang="en-US" b="0" i="1" smtClean="0">
                            <a:latin typeface="Cambria Math" charset="0"/>
                          </a:rPr>
                          <m:t>𝑗</m:t>
                        </m:r>
                      </m:sub>
                    </m:sSub>
                  </m:oMath>
                </a14:m>
                <a:r>
                  <a:rPr lang="en-US" dirty="0"/>
                  <a:t> in the map as </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 In our first algorithm, the correspondence is assumed to be known. We then progress to a more general version which allows for ambiguity among features.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err="1">
                    <a:solidFill>
                      <a:schemeClr val="tx1"/>
                    </a:solidFill>
                    <a:effectLst/>
                    <a:latin typeface="+mn-lt"/>
                    <a:ea typeface="+mn-ea"/>
                    <a:cs typeface="+mn-cs"/>
                  </a:rPr>
                  <a:t>c_t^i</a:t>
                </a:r>
                <a:r>
                  <a:rPr lang="en-US" sz="1200" kern="1200" dirty="0">
                    <a:solidFill>
                      <a:schemeClr val="tx1"/>
                    </a:solidFill>
                    <a:effectLst/>
                    <a:latin typeface="+mn-lt"/>
                    <a:ea typeface="+mn-ea"/>
                    <a:cs typeface="+mn-cs"/>
                  </a:rPr>
                  <a:t> \in \{1,\</a:t>
                </a:r>
                <a:r>
                  <a:rPr lang="en-US" sz="1200" kern="1200" dirty="0" err="1">
                    <a:solidFill>
                      <a:schemeClr val="tx1"/>
                    </a:solidFill>
                    <a:effectLst/>
                    <a:latin typeface="+mn-lt"/>
                    <a:ea typeface="+mn-ea"/>
                    <a:cs typeface="+mn-cs"/>
                  </a:rPr>
                  <a:t>ldots</a:t>
                </a:r>
                <a:r>
                  <a:rPr lang="en-US" sz="1200" kern="1200" dirty="0">
                    <a:solidFill>
                      <a:schemeClr val="tx1"/>
                    </a:solidFill>
                    <a:effectLst/>
                    <a:latin typeface="+mn-lt"/>
                    <a:ea typeface="+mn-ea"/>
                    <a:cs typeface="+mn-cs"/>
                  </a:rPr>
                  <a:t>, N+1\}</a:t>
                </a:r>
              </a:p>
              <a:p>
                <a:endParaRPr lang="en-US"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kern="1200" dirty="0" err="1">
                    <a:solidFill>
                      <a:schemeClr val="tx1"/>
                    </a:solidFill>
                    <a:effectLst/>
                    <a:latin typeface="+mn-lt"/>
                    <a:ea typeface="+mn-ea"/>
                    <a:cs typeface="+mn-cs"/>
                  </a:rPr>
                  <a:t>c_t^i</a:t>
                </a:r>
                <a:r>
                  <a:rPr lang="fr-FR" sz="1200" kern="1200" dirty="0">
                    <a:solidFill>
                      <a:schemeClr val="tx1"/>
                    </a:solidFill>
                    <a:effectLst/>
                    <a:latin typeface="+mn-lt"/>
                    <a:ea typeface="+mn-ea"/>
                    <a:cs typeface="+mn-cs"/>
                  </a:rPr>
                  <a:t> = j\</a:t>
                </a:r>
                <a:r>
                  <a:rPr lang="fr-FR" sz="1200" kern="1200" dirty="0" err="1">
                    <a:solidFill>
                      <a:schemeClr val="tx1"/>
                    </a:solidFill>
                    <a:effectLst/>
                    <a:latin typeface="+mn-lt"/>
                    <a:ea typeface="+mn-ea"/>
                    <a:cs typeface="+mn-cs"/>
                  </a:rPr>
                  <a:t>leq</a:t>
                </a:r>
                <a:r>
                  <a:rPr lang="fr-FR" sz="1200" kern="1200" dirty="0">
                    <a:solidFill>
                      <a:schemeClr val="tx1"/>
                    </a:solidFill>
                    <a:effectLst/>
                    <a:latin typeface="+mn-lt"/>
                    <a:ea typeface="+mn-ea"/>
                    <a:cs typeface="+mn-cs"/>
                  </a:rPr>
                  <a:t> N</a:t>
                </a:r>
              </a:p>
              <a:p>
                <a:endParaRPr lang="en-US" dirty="0"/>
              </a:p>
            </p:txBody>
          </p:sp>
        </mc:Choice>
        <mc:Fallback xmlns="">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smtClean="0">
                    <a:solidFill>
                      <a:schemeClr val="tx1"/>
                    </a:solidFill>
                    <a:effectLst/>
                    <a:latin typeface="+mn-lt"/>
                    <a:ea typeface="+mn-ea"/>
                    <a:cs typeface="+mn-cs"/>
                  </a:rPr>
                  <a:t>To implement this measurement model, we need to define a variable that establishes correspondence between the feature </a:t>
                </a:r>
                <a:r>
                  <a:rPr lang="en-US" sz="1200" kern="1200" dirty="0" err="1" smtClean="0">
                    <a:solidFill>
                      <a:schemeClr val="tx1"/>
                    </a:solidFill>
                    <a:effectLst/>
                    <a:latin typeface="+mn-lt"/>
                    <a:ea typeface="+mn-ea"/>
                    <a:cs typeface="+mn-cs"/>
                  </a:rPr>
                  <a:t>fti</a:t>
                </a:r>
                <a:r>
                  <a:rPr lang="en-US" sz="1200" kern="1200" dirty="0" smtClean="0">
                    <a:solidFill>
                      <a:schemeClr val="tx1"/>
                    </a:solidFill>
                    <a:effectLst/>
                    <a:latin typeface="+mn-lt"/>
                    <a:ea typeface="+mn-ea"/>
                    <a:cs typeface="+mn-cs"/>
                  </a:rPr>
                  <a:t> and the landmark </a:t>
                </a:r>
                <a:r>
                  <a:rPr lang="en-US" sz="1200" kern="1200" dirty="0" err="1" smtClean="0">
                    <a:solidFill>
                      <a:schemeClr val="tx1"/>
                    </a:solidFill>
                    <a:effectLst/>
                    <a:latin typeface="+mn-lt"/>
                    <a:ea typeface="+mn-ea"/>
                    <a:cs typeface="+mn-cs"/>
                  </a:rPr>
                  <a:t>mj</a:t>
                </a:r>
                <a:r>
                  <a:rPr lang="en-US" sz="1200" kern="1200" dirty="0" smtClean="0">
                    <a:solidFill>
                      <a:schemeClr val="tx1"/>
                    </a:solidFill>
                    <a:effectLst/>
                    <a:latin typeface="+mn-lt"/>
                    <a:ea typeface="+mn-ea"/>
                    <a:cs typeface="+mn-cs"/>
                  </a:rPr>
                  <a:t> in the map. </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smtClean="0"/>
                  <a:t>Formally, we define a </a:t>
                </a:r>
                <a:r>
                  <a:rPr lang="en-US" i="1" dirty="0" smtClean="0"/>
                  <a:t>correspondence variable </a:t>
                </a:r>
                <a:r>
                  <a:rPr lang="en-US" dirty="0" smtClean="0"/>
                  <a:t>between measurement </a:t>
                </a:r>
                <a:r>
                  <a:rPr lang="en-US" b="0" i="0" smtClean="0">
                    <a:latin typeface="Cambria Math" charset="0"/>
                  </a:rPr>
                  <a:t>𝑧_𝑡^𝑖</a:t>
                </a:r>
                <a:r>
                  <a:rPr lang="en-US" dirty="0" smtClean="0"/>
                  <a:t> and landmark </a:t>
                </a:r>
                <a:r>
                  <a:rPr lang="en-US" b="0" i="0" smtClean="0">
                    <a:latin typeface="Cambria Math" charset="0"/>
                  </a:rPr>
                  <a:t>𝑚_𝑗</a:t>
                </a:r>
                <a:r>
                  <a:rPr lang="en-US" dirty="0" smtClean="0"/>
                  <a:t> in the map as </a:t>
                </a:r>
                <a:endParaRPr lang="en-US" dirty="0" smtClean="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err="1" smtClean="0">
                    <a:solidFill>
                      <a:schemeClr val="tx1"/>
                    </a:solidFill>
                    <a:effectLst/>
                    <a:latin typeface="+mn-lt"/>
                    <a:ea typeface="+mn-ea"/>
                    <a:cs typeface="+mn-cs"/>
                  </a:rPr>
                  <a:t>ch</a:t>
                </a:r>
                <a:r>
                  <a:rPr lang="en-US" sz="1200" kern="1200" dirty="0" smtClean="0">
                    <a:solidFill>
                      <a:schemeClr val="tx1"/>
                    </a:solidFill>
                    <a:effectLst/>
                    <a:latin typeface="+mn-lt"/>
                    <a:ea typeface="+mn-ea"/>
                    <a:cs typeface="+mn-cs"/>
                  </a:rPr>
                  <a:t> feature vector </a:t>
                </a:r>
                <a:r>
                  <a:rPr lang="en-US" sz="1200" kern="1200" dirty="0" err="1" smtClean="0">
                    <a:solidFill>
                      <a:schemeClr val="tx1"/>
                    </a:solidFill>
                    <a:effectLst/>
                    <a:latin typeface="+mn-lt"/>
                    <a:ea typeface="+mn-ea"/>
                    <a:cs typeface="+mn-cs"/>
                  </a:rPr>
                  <a:t>zti</a:t>
                </a:r>
                <a:r>
                  <a:rPr lang="en-US" sz="1200" kern="1200" dirty="0" smtClean="0">
                    <a:solidFill>
                      <a:schemeClr val="tx1"/>
                    </a:solidFill>
                    <a:effectLst/>
                    <a:latin typeface="+mn-lt"/>
                    <a:ea typeface="+mn-ea"/>
                    <a:cs typeface="+mn-cs"/>
                  </a:rPr>
                  <a:t>. Correspondence variables were already discussed in Chapter 6.6. In our first algorithm, the correspondence is assumed to be known. We then progress to a more general version which allows for ambiguity among features. </a:t>
                </a:r>
                <a:endParaRPr lang="en-US" dirty="0" smtClean="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smtClean="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sz="1200" kern="1200" dirty="0" smtClean="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smtClean="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err="1" smtClean="0">
                    <a:solidFill>
                      <a:schemeClr val="tx1"/>
                    </a:solidFill>
                    <a:effectLst/>
                    <a:latin typeface="+mn-lt"/>
                    <a:ea typeface="+mn-ea"/>
                    <a:cs typeface="+mn-cs"/>
                  </a:rPr>
                  <a:t>c_t^i</a:t>
                </a:r>
                <a:r>
                  <a:rPr lang="en-US" sz="1200" kern="1200" dirty="0" smtClean="0">
                    <a:solidFill>
                      <a:schemeClr val="tx1"/>
                    </a:solidFill>
                    <a:effectLst/>
                    <a:latin typeface="+mn-lt"/>
                    <a:ea typeface="+mn-ea"/>
                    <a:cs typeface="+mn-cs"/>
                  </a:rPr>
                  <a:t> </a:t>
                </a:r>
                <a:r>
                  <a:rPr lang="en-US" sz="1200" kern="1200" dirty="0" smtClean="0">
                    <a:solidFill>
                      <a:schemeClr val="tx1"/>
                    </a:solidFill>
                    <a:effectLst/>
                    <a:latin typeface="+mn-lt"/>
                    <a:ea typeface="+mn-ea"/>
                    <a:cs typeface="+mn-cs"/>
                  </a:rPr>
                  <a:t>\in \{1,\</a:t>
                </a:r>
                <a:r>
                  <a:rPr lang="en-US" sz="1200" kern="1200" dirty="0" err="1" smtClean="0">
                    <a:solidFill>
                      <a:schemeClr val="tx1"/>
                    </a:solidFill>
                    <a:effectLst/>
                    <a:latin typeface="+mn-lt"/>
                    <a:ea typeface="+mn-ea"/>
                    <a:cs typeface="+mn-cs"/>
                  </a:rPr>
                  <a:t>ldots</a:t>
                </a:r>
                <a:r>
                  <a:rPr lang="en-US" sz="1200" kern="1200" dirty="0" smtClean="0">
                    <a:solidFill>
                      <a:schemeClr val="tx1"/>
                    </a:solidFill>
                    <a:effectLst/>
                    <a:latin typeface="+mn-lt"/>
                    <a:ea typeface="+mn-ea"/>
                    <a:cs typeface="+mn-cs"/>
                  </a:rPr>
                  <a:t>, N+1\}</a:t>
                </a:r>
              </a:p>
              <a:p>
                <a:endParaRPr lang="en-US"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fr-FR" sz="1200" kern="1200" dirty="0" err="1" smtClean="0">
                    <a:solidFill>
                      <a:schemeClr val="tx1"/>
                    </a:solidFill>
                    <a:effectLst/>
                    <a:latin typeface="+mn-lt"/>
                    <a:ea typeface="+mn-ea"/>
                    <a:cs typeface="+mn-cs"/>
                  </a:rPr>
                  <a:t>c_t^i</a:t>
                </a:r>
                <a:r>
                  <a:rPr lang="fr-FR" sz="1200" kern="1200" dirty="0" smtClean="0">
                    <a:solidFill>
                      <a:schemeClr val="tx1"/>
                    </a:solidFill>
                    <a:effectLst/>
                    <a:latin typeface="+mn-lt"/>
                    <a:ea typeface="+mn-ea"/>
                    <a:cs typeface="+mn-cs"/>
                  </a:rPr>
                  <a:t> = j\</a:t>
                </a:r>
                <a:r>
                  <a:rPr lang="fr-FR" sz="1200" kern="1200" dirty="0" err="1" smtClean="0">
                    <a:solidFill>
                      <a:schemeClr val="tx1"/>
                    </a:solidFill>
                    <a:effectLst/>
                    <a:latin typeface="+mn-lt"/>
                    <a:ea typeface="+mn-ea"/>
                    <a:cs typeface="+mn-cs"/>
                  </a:rPr>
                  <a:t>leq</a:t>
                </a:r>
                <a:r>
                  <a:rPr lang="fr-FR" sz="1200" kern="1200" dirty="0" smtClean="0">
                    <a:solidFill>
                      <a:schemeClr val="tx1"/>
                    </a:solidFill>
                    <a:effectLst/>
                    <a:latin typeface="+mn-lt"/>
                    <a:ea typeface="+mn-ea"/>
                    <a:cs typeface="+mn-cs"/>
                  </a:rPr>
                  <a:t> N</a:t>
                </a:r>
              </a:p>
              <a:p>
                <a:endParaRPr lang="en-US" dirty="0"/>
              </a:p>
            </p:txBody>
          </p:sp>
        </mc:Fallback>
      </mc:AlternateContent>
      <p:sp>
        <p:nvSpPr>
          <p:cNvPr id="4" name="Slide Number Placeholder 3"/>
          <p:cNvSpPr>
            <a:spLocks noGrp="1"/>
          </p:cNvSpPr>
          <p:nvPr>
            <p:ph type="sldNum" sz="quarter" idx="10"/>
          </p:nvPr>
        </p:nvSpPr>
        <p:spPr/>
        <p:txBody>
          <a:bodyPr/>
          <a:lstStyle/>
          <a:p>
            <a:fld id="{63B2D7EC-928D-0645-AAE8-498D7443D60E}" type="slidenum">
              <a:rPr lang="en-US" smtClean="0"/>
              <a:t>23</a:t>
            </a:fld>
            <a:endParaRPr lang="en-US"/>
          </a:p>
        </p:txBody>
      </p:sp>
    </p:spTree>
    <p:extLst>
      <p:ext uri="{BB962C8B-B14F-4D97-AF65-F5344CB8AC3E}">
        <p14:creationId xmlns:p14="http://schemas.microsoft.com/office/powerpoint/2010/main" val="8876433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The measurement model for our feature-based maps shall be a variant of Equation (6.41) in Chapter 6.6 which presupposes knowledge of the landmark identity via the correspondence variables. </a:t>
            </a:r>
            <a:endParaRPr lang="en-US" dirty="0"/>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 = g(</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x_{t-1}) + \</a:t>
            </a:r>
            <a:r>
              <a:rPr lang="en-US" sz="1200" kern="1200" dirty="0" err="1">
                <a:solidFill>
                  <a:schemeClr val="tx1"/>
                </a:solidFill>
                <a:effectLst/>
                <a:latin typeface="+mn-lt"/>
                <a:ea typeface="+mn-ea"/>
                <a:cs typeface="+mn-cs"/>
              </a:rPr>
              <a:t>epsilon_t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qquad</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epsilon_t</a:t>
            </a:r>
            <a:r>
              <a:rPr lang="en-US" sz="1200" kern="1200" dirty="0">
                <a:solidFill>
                  <a:schemeClr val="tx1"/>
                </a:solidFill>
                <a:effectLst/>
                <a:latin typeface="+mn-lt"/>
                <a:ea typeface="+mn-ea"/>
                <a:cs typeface="+mn-cs"/>
              </a:rPr>
              <a:t>\sim \</a:t>
            </a:r>
            <a:r>
              <a:rPr lang="en-US" sz="1200" kern="1200" dirty="0" err="1">
                <a:solidFill>
                  <a:schemeClr val="tx1"/>
                </a:solidFill>
                <a:effectLst/>
                <a:latin typeface="+mn-lt"/>
                <a:ea typeface="+mn-ea"/>
                <a:cs typeface="+mn-cs"/>
              </a:rPr>
              <a:t>mathcal</a:t>
            </a:r>
            <a:r>
              <a:rPr lang="en-US" sz="1200" kern="1200" dirty="0">
                <a:solidFill>
                  <a:schemeClr val="tx1"/>
                </a:solidFill>
                <a:effectLst/>
                <a:latin typeface="+mn-lt"/>
                <a:ea typeface="+mn-ea"/>
                <a:cs typeface="+mn-cs"/>
              </a:rPr>
              <a:t> N(0, </a:t>
            </a:r>
            <a:r>
              <a:rPr lang="en-US" sz="1200" kern="1200" dirty="0" err="1">
                <a:solidFill>
                  <a:schemeClr val="tx1"/>
                </a:solidFill>
                <a:effectLst/>
                <a:latin typeface="+mn-lt"/>
                <a:ea typeface="+mn-ea"/>
                <a:cs typeface="+mn-cs"/>
              </a:rPr>
              <a:t>R_t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qquad</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G_t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J_g</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\mu_{t-1})</a:t>
            </a:r>
          </a:p>
          <a:p>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h(</a:t>
            </a:r>
            <a:r>
              <a:rPr lang="en-US" sz="1200" kern="1200" dirty="0" err="1">
                <a:solidFill>
                  <a:schemeClr val="tx1"/>
                </a:solidFill>
                <a:effectLst/>
                <a:latin typeface="+mn-lt"/>
                <a:ea typeface="+mn-ea"/>
                <a:cs typeface="+mn-cs"/>
              </a:rPr>
              <a:t>x_i,j</a:t>
            </a:r>
            <a:r>
              <a:rPr lang="en-US" sz="1200" kern="1200" dirty="0">
                <a:solidFill>
                  <a:schemeClr val="tx1"/>
                </a:solidFill>
                <a:effectLst/>
                <a:latin typeface="+mn-lt"/>
                <a:ea typeface="+mn-ea"/>
                <a:cs typeface="+mn-cs"/>
              </a:rPr>
              <a:t>, m) + \</a:t>
            </a:r>
            <a:r>
              <a:rPr lang="en-US" sz="1200" kern="1200" dirty="0" err="1">
                <a:solidFill>
                  <a:schemeClr val="tx1"/>
                </a:solidFill>
                <a:effectLst/>
                <a:latin typeface="+mn-lt"/>
                <a:ea typeface="+mn-ea"/>
                <a:cs typeface="+mn-cs"/>
              </a:rPr>
              <a:t>delta_t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qquad</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delta_t</a:t>
            </a:r>
            <a:r>
              <a:rPr lang="en-US" sz="1200" kern="1200" dirty="0">
                <a:solidFill>
                  <a:schemeClr val="tx1"/>
                </a:solidFill>
                <a:effectLst/>
                <a:latin typeface="+mn-lt"/>
                <a:ea typeface="+mn-ea"/>
                <a:cs typeface="+mn-cs"/>
              </a:rPr>
              <a:t>\sim \</a:t>
            </a:r>
            <a:r>
              <a:rPr lang="en-US" sz="1200" kern="1200" dirty="0" err="1">
                <a:solidFill>
                  <a:schemeClr val="tx1"/>
                </a:solidFill>
                <a:effectLst/>
                <a:latin typeface="+mn-lt"/>
                <a:ea typeface="+mn-ea"/>
                <a:cs typeface="+mn-cs"/>
              </a:rPr>
              <a:t>mathcal</a:t>
            </a:r>
            <a:r>
              <a:rPr lang="en-US" sz="1200" kern="1200" dirty="0">
                <a:solidFill>
                  <a:schemeClr val="tx1"/>
                </a:solidFill>
                <a:effectLst/>
                <a:latin typeface="+mn-lt"/>
                <a:ea typeface="+mn-ea"/>
                <a:cs typeface="+mn-cs"/>
              </a:rPr>
              <a:t> N(0, </a:t>
            </a:r>
            <a:r>
              <a:rPr lang="en-US" sz="1200" kern="1200" dirty="0" err="1">
                <a:solidFill>
                  <a:schemeClr val="tx1"/>
                </a:solidFill>
                <a:effectLst/>
                <a:latin typeface="+mn-lt"/>
                <a:ea typeface="+mn-ea"/>
                <a:cs typeface="+mn-cs"/>
              </a:rPr>
              <a:t>Q_t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qquad</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frac</a:t>
            </a:r>
            <a:r>
              <a:rPr lang="en-US" sz="1200" kern="1200" dirty="0">
                <a:solidFill>
                  <a:schemeClr val="tx1"/>
                </a:solidFill>
                <a:effectLst/>
                <a:latin typeface="+mn-lt"/>
                <a:ea typeface="+mn-ea"/>
                <a:cs typeface="+mn-cs"/>
              </a:rPr>
              <a:t>{\partial h(\</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 j, m)}{\partial </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Q_t</a:t>
            </a:r>
            <a:r>
              <a:rPr lang="en-US" sz="1200" kern="1200" dirty="0">
                <a:solidFill>
                  <a:schemeClr val="tx1"/>
                </a:solidFill>
                <a:effectLst/>
                <a:latin typeface="+mn-lt"/>
                <a:ea typeface="+mn-ea"/>
                <a:cs typeface="+mn-cs"/>
              </a:rPr>
              <a:t> = \begin{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\sigma_r^2 &amp; 0\\</a:t>
            </a:r>
          </a:p>
          <a:p>
            <a:r>
              <a:rPr lang="en-US" sz="1200" kern="1200" dirty="0">
                <a:solidFill>
                  <a:schemeClr val="tx1"/>
                </a:solidFill>
                <a:effectLst/>
                <a:latin typeface="+mn-lt"/>
                <a:ea typeface="+mn-ea"/>
                <a:cs typeface="+mn-cs"/>
              </a:rPr>
              <a:t>0 &amp; \sigma_{\phi}^2</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endParaRPr lang="en-US" dirty="0"/>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frac</a:t>
            </a:r>
            <a:r>
              <a:rPr lang="en-US" sz="1200" kern="1200" dirty="0">
                <a:solidFill>
                  <a:schemeClr val="tx1"/>
                </a:solidFill>
                <a:effectLst/>
                <a:latin typeface="+mn-lt"/>
                <a:ea typeface="+mn-ea"/>
                <a:cs typeface="+mn-cs"/>
              </a:rPr>
              <a:t>{\partial h(\</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 j, m)}{\partial </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 \begin{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frac</a:t>
            </a:r>
            <a:r>
              <a:rPr lang="en-US" sz="1200" kern="1200" dirty="0">
                <a:solidFill>
                  <a:schemeClr val="tx1"/>
                </a:solidFill>
                <a:effectLst/>
                <a:latin typeface="+mn-lt"/>
                <a:ea typeface="+mn-ea"/>
                <a:cs typeface="+mn-cs"/>
              </a:rPr>
              <a:t>{\partial </a:t>
            </a:r>
            <a:r>
              <a:rPr lang="en-US" sz="1200" kern="1200" dirty="0" err="1">
                <a:solidFill>
                  <a:schemeClr val="tx1"/>
                </a:solidFill>
                <a:effectLst/>
                <a:latin typeface="+mn-lt"/>
                <a:ea typeface="+mn-ea"/>
                <a:cs typeface="+mn-cs"/>
              </a:rPr>
              <a:t>r_t^i</a:t>
            </a:r>
            <a:r>
              <a:rPr lang="en-US" sz="1200" kern="1200" dirty="0">
                <a:solidFill>
                  <a:schemeClr val="tx1"/>
                </a:solidFill>
                <a:effectLst/>
                <a:latin typeface="+mn-lt"/>
                <a:ea typeface="+mn-ea"/>
                <a:cs typeface="+mn-cs"/>
              </a:rPr>
              <a:t>}{\partial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frac</a:t>
            </a:r>
            <a:r>
              <a:rPr lang="en-US" sz="1200" kern="1200" dirty="0">
                <a:solidFill>
                  <a:schemeClr val="tx1"/>
                </a:solidFill>
                <a:effectLst/>
                <a:latin typeface="+mn-lt"/>
                <a:ea typeface="+mn-ea"/>
                <a:cs typeface="+mn-cs"/>
              </a:rPr>
              <a:t>{\partial </a:t>
            </a:r>
            <a:r>
              <a:rPr lang="en-US" sz="1200" kern="1200" dirty="0" err="1">
                <a:solidFill>
                  <a:schemeClr val="tx1"/>
                </a:solidFill>
                <a:effectLst/>
                <a:latin typeface="+mn-lt"/>
                <a:ea typeface="+mn-ea"/>
                <a:cs typeface="+mn-cs"/>
              </a:rPr>
              <a:t>r_t^i</a:t>
            </a:r>
            <a:r>
              <a:rPr lang="en-US" sz="1200" kern="1200" dirty="0">
                <a:solidFill>
                  <a:schemeClr val="tx1"/>
                </a:solidFill>
                <a:effectLst/>
                <a:latin typeface="+mn-lt"/>
                <a:ea typeface="+mn-ea"/>
                <a:cs typeface="+mn-cs"/>
              </a:rPr>
              <a:t>}{\partial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 &amp;\</a:t>
            </a:r>
            <a:r>
              <a:rPr lang="en-US" sz="1200" kern="1200" dirty="0" err="1">
                <a:solidFill>
                  <a:schemeClr val="tx1"/>
                </a:solidFill>
                <a:effectLst/>
                <a:latin typeface="+mn-lt"/>
                <a:ea typeface="+mn-ea"/>
                <a:cs typeface="+mn-cs"/>
              </a:rPr>
              <a:t>frac</a:t>
            </a:r>
            <a:r>
              <a:rPr lang="en-US" sz="1200" kern="1200" dirty="0">
                <a:solidFill>
                  <a:schemeClr val="tx1"/>
                </a:solidFill>
                <a:effectLst/>
                <a:latin typeface="+mn-lt"/>
                <a:ea typeface="+mn-ea"/>
                <a:cs typeface="+mn-cs"/>
              </a:rPr>
              <a:t>{\partial </a:t>
            </a:r>
            <a:r>
              <a:rPr lang="en-US" sz="1200" kern="1200" dirty="0" err="1">
                <a:solidFill>
                  <a:schemeClr val="tx1"/>
                </a:solidFill>
                <a:effectLst/>
                <a:latin typeface="+mn-lt"/>
                <a:ea typeface="+mn-ea"/>
                <a:cs typeface="+mn-cs"/>
              </a:rPr>
              <a:t>r_t^i</a:t>
            </a:r>
            <a:r>
              <a:rPr lang="en-US" sz="1200" kern="1200" dirty="0">
                <a:solidFill>
                  <a:schemeClr val="tx1"/>
                </a:solidFill>
                <a:effectLst/>
                <a:latin typeface="+mn-lt"/>
                <a:ea typeface="+mn-ea"/>
                <a:cs typeface="+mn-cs"/>
              </a:rPr>
              <a:t>}{\partial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{\mu}_{t,\theta}} \\</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frac</a:t>
            </a:r>
            <a:r>
              <a:rPr lang="en-US" sz="1200" kern="1200" dirty="0">
                <a:solidFill>
                  <a:schemeClr val="tx1"/>
                </a:solidFill>
                <a:effectLst/>
                <a:latin typeface="+mn-lt"/>
                <a:ea typeface="+mn-ea"/>
                <a:cs typeface="+mn-cs"/>
              </a:rPr>
              <a:t>{\partial \</a:t>
            </a:r>
            <a:r>
              <a:rPr lang="en-US" sz="1200" kern="1200" dirty="0" err="1">
                <a:solidFill>
                  <a:schemeClr val="tx1"/>
                </a:solidFill>
                <a:effectLst/>
                <a:latin typeface="+mn-lt"/>
                <a:ea typeface="+mn-ea"/>
                <a:cs typeface="+mn-cs"/>
              </a:rPr>
              <a:t>phi_t^i</a:t>
            </a:r>
            <a:r>
              <a:rPr lang="en-US" sz="1200" kern="1200" dirty="0">
                <a:solidFill>
                  <a:schemeClr val="tx1"/>
                </a:solidFill>
                <a:effectLst/>
                <a:latin typeface="+mn-lt"/>
                <a:ea typeface="+mn-ea"/>
                <a:cs typeface="+mn-cs"/>
              </a:rPr>
              <a:t>}{\partial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frac</a:t>
            </a:r>
            <a:r>
              <a:rPr lang="en-US" sz="1200" kern="1200" dirty="0">
                <a:solidFill>
                  <a:schemeClr val="tx1"/>
                </a:solidFill>
                <a:effectLst/>
                <a:latin typeface="+mn-lt"/>
                <a:ea typeface="+mn-ea"/>
                <a:cs typeface="+mn-cs"/>
              </a:rPr>
              <a:t>{\partial \</a:t>
            </a:r>
            <a:r>
              <a:rPr lang="en-US" sz="1200" kern="1200" dirty="0" err="1">
                <a:solidFill>
                  <a:schemeClr val="tx1"/>
                </a:solidFill>
                <a:effectLst/>
                <a:latin typeface="+mn-lt"/>
                <a:ea typeface="+mn-ea"/>
                <a:cs typeface="+mn-cs"/>
              </a:rPr>
              <a:t>phi_t^i</a:t>
            </a:r>
            <a:r>
              <a:rPr lang="en-US" sz="1200" kern="1200" dirty="0">
                <a:solidFill>
                  <a:schemeClr val="tx1"/>
                </a:solidFill>
                <a:effectLst/>
                <a:latin typeface="+mn-lt"/>
                <a:ea typeface="+mn-ea"/>
                <a:cs typeface="+mn-cs"/>
              </a:rPr>
              <a:t>}{\partial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 &amp;\</a:t>
            </a:r>
            <a:r>
              <a:rPr lang="en-US" sz="1200" kern="1200" dirty="0" err="1">
                <a:solidFill>
                  <a:schemeClr val="tx1"/>
                </a:solidFill>
                <a:effectLst/>
                <a:latin typeface="+mn-lt"/>
                <a:ea typeface="+mn-ea"/>
                <a:cs typeface="+mn-cs"/>
              </a:rPr>
              <a:t>frac</a:t>
            </a:r>
            <a:r>
              <a:rPr lang="en-US" sz="1200" kern="1200" dirty="0">
                <a:solidFill>
                  <a:schemeClr val="tx1"/>
                </a:solidFill>
                <a:effectLst/>
                <a:latin typeface="+mn-lt"/>
                <a:ea typeface="+mn-ea"/>
                <a:cs typeface="+mn-cs"/>
              </a:rPr>
              <a:t>{\partial \</a:t>
            </a:r>
            <a:r>
              <a:rPr lang="en-US" sz="1200" kern="1200" dirty="0" err="1">
                <a:solidFill>
                  <a:schemeClr val="tx1"/>
                </a:solidFill>
                <a:effectLst/>
                <a:latin typeface="+mn-lt"/>
                <a:ea typeface="+mn-ea"/>
                <a:cs typeface="+mn-cs"/>
              </a:rPr>
              <a:t>phi_t^i</a:t>
            </a:r>
            <a:r>
              <a:rPr lang="en-US" sz="1200" kern="1200" dirty="0">
                <a:solidFill>
                  <a:schemeClr val="tx1"/>
                </a:solidFill>
                <a:effectLst/>
                <a:latin typeface="+mn-lt"/>
                <a:ea typeface="+mn-ea"/>
                <a:cs typeface="+mn-cs"/>
              </a:rPr>
              <a:t>}{\partial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{\mu}_{t,\theta}} \\</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frac</a:t>
            </a:r>
            <a:r>
              <a:rPr lang="en-US" sz="1200" kern="1200" dirty="0">
                <a:solidFill>
                  <a:schemeClr val="tx1"/>
                </a:solidFill>
                <a:effectLst/>
                <a:latin typeface="+mn-lt"/>
                <a:ea typeface="+mn-ea"/>
                <a:cs typeface="+mn-cs"/>
              </a:rPr>
              <a:t>{m_{</a:t>
            </a:r>
            <a:r>
              <a:rPr lang="en-US" sz="1200" kern="1200" dirty="0" err="1">
                <a:solidFill>
                  <a:schemeClr val="tx1"/>
                </a:solidFill>
                <a:effectLst/>
                <a:latin typeface="+mn-lt"/>
                <a:ea typeface="+mn-ea"/>
                <a:cs typeface="+mn-cs"/>
              </a:rPr>
              <a:t>j,x</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sqrt</a:t>
            </a:r>
            <a:r>
              <a:rPr lang="en-US" sz="1200" kern="1200" dirty="0">
                <a:solidFill>
                  <a:schemeClr val="tx1"/>
                </a:solidFill>
                <a:effectLst/>
                <a:latin typeface="+mn-lt"/>
                <a:ea typeface="+mn-ea"/>
                <a:cs typeface="+mn-cs"/>
              </a:rPr>
              <a:t>{(m_{</a:t>
            </a:r>
            <a:r>
              <a:rPr lang="en-US" sz="1200" kern="1200" dirty="0" err="1">
                <a:solidFill>
                  <a:schemeClr val="tx1"/>
                </a:solidFill>
                <a:effectLst/>
                <a:latin typeface="+mn-lt"/>
                <a:ea typeface="+mn-ea"/>
                <a:cs typeface="+mn-cs"/>
              </a:rPr>
              <a:t>j,x</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})^2 + (m_{</a:t>
            </a:r>
            <a:r>
              <a:rPr lang="en-US" sz="1200" kern="1200" dirty="0" err="1">
                <a:solidFill>
                  <a:schemeClr val="tx1"/>
                </a:solidFill>
                <a:effectLst/>
                <a:latin typeface="+mn-lt"/>
                <a:ea typeface="+mn-ea"/>
                <a:cs typeface="+mn-cs"/>
              </a:rPr>
              <a:t>j,y</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})^2}}&amp;-\</a:t>
            </a:r>
            <a:r>
              <a:rPr lang="en-US" sz="1200" kern="1200" dirty="0" err="1">
                <a:solidFill>
                  <a:schemeClr val="tx1"/>
                </a:solidFill>
                <a:effectLst/>
                <a:latin typeface="+mn-lt"/>
                <a:ea typeface="+mn-ea"/>
                <a:cs typeface="+mn-cs"/>
              </a:rPr>
              <a:t>frac</a:t>
            </a:r>
            <a:r>
              <a:rPr lang="en-US" sz="1200" kern="1200" dirty="0">
                <a:solidFill>
                  <a:schemeClr val="tx1"/>
                </a:solidFill>
                <a:effectLst/>
                <a:latin typeface="+mn-lt"/>
                <a:ea typeface="+mn-ea"/>
                <a:cs typeface="+mn-cs"/>
              </a:rPr>
              <a:t>{m_{</a:t>
            </a:r>
            <a:r>
              <a:rPr lang="en-US" sz="1200" kern="1200" dirty="0" err="1">
                <a:solidFill>
                  <a:schemeClr val="tx1"/>
                </a:solidFill>
                <a:effectLst/>
                <a:latin typeface="+mn-lt"/>
                <a:ea typeface="+mn-ea"/>
                <a:cs typeface="+mn-cs"/>
              </a:rPr>
              <a:t>j,y</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sqrt</a:t>
            </a:r>
            <a:r>
              <a:rPr lang="en-US" sz="1200" kern="1200" dirty="0">
                <a:solidFill>
                  <a:schemeClr val="tx1"/>
                </a:solidFill>
                <a:effectLst/>
                <a:latin typeface="+mn-lt"/>
                <a:ea typeface="+mn-ea"/>
                <a:cs typeface="+mn-cs"/>
              </a:rPr>
              <a:t>{(m_{</a:t>
            </a:r>
            <a:r>
              <a:rPr lang="en-US" sz="1200" kern="1200" dirty="0" err="1">
                <a:solidFill>
                  <a:schemeClr val="tx1"/>
                </a:solidFill>
                <a:effectLst/>
                <a:latin typeface="+mn-lt"/>
                <a:ea typeface="+mn-ea"/>
                <a:cs typeface="+mn-cs"/>
              </a:rPr>
              <a:t>j,x</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})^2 + (m_{</a:t>
            </a:r>
            <a:r>
              <a:rPr lang="en-US" sz="1200" kern="1200" dirty="0" err="1">
                <a:solidFill>
                  <a:schemeClr val="tx1"/>
                </a:solidFill>
                <a:effectLst/>
                <a:latin typeface="+mn-lt"/>
                <a:ea typeface="+mn-ea"/>
                <a:cs typeface="+mn-cs"/>
              </a:rPr>
              <a:t>j,y</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})^2}} &amp; 0\\</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frac</a:t>
            </a:r>
            <a:r>
              <a:rPr lang="en-US" sz="1200" kern="1200" dirty="0">
                <a:solidFill>
                  <a:schemeClr val="tx1"/>
                </a:solidFill>
                <a:effectLst/>
                <a:latin typeface="+mn-lt"/>
                <a:ea typeface="+mn-ea"/>
                <a:cs typeface="+mn-cs"/>
              </a:rPr>
              <a:t>{m_{</a:t>
            </a:r>
            <a:r>
              <a:rPr lang="en-US" sz="1200" kern="1200" dirty="0" err="1">
                <a:solidFill>
                  <a:schemeClr val="tx1"/>
                </a:solidFill>
                <a:effectLst/>
                <a:latin typeface="+mn-lt"/>
                <a:ea typeface="+mn-ea"/>
                <a:cs typeface="+mn-cs"/>
              </a:rPr>
              <a:t>j,y</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}}{{(m_{</a:t>
            </a:r>
            <a:r>
              <a:rPr lang="en-US" sz="1200" kern="1200" dirty="0" err="1">
                <a:solidFill>
                  <a:schemeClr val="tx1"/>
                </a:solidFill>
                <a:effectLst/>
                <a:latin typeface="+mn-lt"/>
                <a:ea typeface="+mn-ea"/>
                <a:cs typeface="+mn-cs"/>
              </a:rPr>
              <a:t>j,x</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})^2 + (m_{</a:t>
            </a:r>
            <a:r>
              <a:rPr lang="en-US" sz="1200" kern="1200" dirty="0" err="1">
                <a:solidFill>
                  <a:schemeClr val="tx1"/>
                </a:solidFill>
                <a:effectLst/>
                <a:latin typeface="+mn-lt"/>
                <a:ea typeface="+mn-ea"/>
                <a:cs typeface="+mn-cs"/>
              </a:rPr>
              <a:t>j,y</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})^2}}&amp;-\</a:t>
            </a:r>
            <a:r>
              <a:rPr lang="en-US" sz="1200" kern="1200" dirty="0" err="1">
                <a:solidFill>
                  <a:schemeClr val="tx1"/>
                </a:solidFill>
                <a:effectLst/>
                <a:latin typeface="+mn-lt"/>
                <a:ea typeface="+mn-ea"/>
                <a:cs typeface="+mn-cs"/>
              </a:rPr>
              <a:t>frac</a:t>
            </a:r>
            <a:r>
              <a:rPr lang="en-US" sz="1200" kern="1200" dirty="0">
                <a:solidFill>
                  <a:schemeClr val="tx1"/>
                </a:solidFill>
                <a:effectLst/>
                <a:latin typeface="+mn-lt"/>
                <a:ea typeface="+mn-ea"/>
                <a:cs typeface="+mn-cs"/>
              </a:rPr>
              <a:t>{m_{</a:t>
            </a:r>
            <a:r>
              <a:rPr lang="en-US" sz="1200" kern="1200" dirty="0" err="1">
                <a:solidFill>
                  <a:schemeClr val="tx1"/>
                </a:solidFill>
                <a:effectLst/>
                <a:latin typeface="+mn-lt"/>
                <a:ea typeface="+mn-ea"/>
                <a:cs typeface="+mn-cs"/>
              </a:rPr>
              <a:t>j,x</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}}{{(m_{</a:t>
            </a:r>
            <a:r>
              <a:rPr lang="en-US" sz="1200" kern="1200" dirty="0" err="1">
                <a:solidFill>
                  <a:schemeClr val="tx1"/>
                </a:solidFill>
                <a:effectLst/>
                <a:latin typeface="+mn-lt"/>
                <a:ea typeface="+mn-ea"/>
                <a:cs typeface="+mn-cs"/>
              </a:rPr>
              <a:t>j,x</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})^2 + (m_{</a:t>
            </a:r>
            <a:r>
              <a:rPr lang="en-US" sz="1200" kern="1200" dirty="0" err="1">
                <a:solidFill>
                  <a:schemeClr val="tx1"/>
                </a:solidFill>
                <a:effectLst/>
                <a:latin typeface="+mn-lt"/>
                <a:ea typeface="+mn-ea"/>
                <a:cs typeface="+mn-cs"/>
              </a:rPr>
              <a:t>j,y</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})^2}} &amp; -1</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24</a:t>
            </a:fld>
            <a:endParaRPr lang="en-US"/>
          </a:p>
        </p:txBody>
      </p:sp>
    </p:spTree>
    <p:extLst>
      <p:ext uri="{BB962C8B-B14F-4D97-AF65-F5344CB8AC3E}">
        <p14:creationId xmlns:p14="http://schemas.microsoft.com/office/powerpoint/2010/main" val="17795044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kern="1200" dirty="0">
                <a:solidFill>
                  <a:schemeClr val="tx1"/>
                </a:solidFill>
                <a:effectLst/>
                <a:latin typeface="+mn-lt"/>
                <a:ea typeface="+mn-ea"/>
                <a:cs typeface="+mn-cs"/>
              </a:rPr>
              <a:t>we note that our feature-based localizer processes multiple measurements at- a-time, whereas the EKF discussed in Chapter 3.2 only processed a single sensor item. Our algorithm relies on an implicit conditional independence assumption, which we briefly discussed in Chapter 6.6, Equation (6.40). Essentially, we assume that all feature measurement probabilities are independent given the pose </a:t>
            </a:r>
            <a:r>
              <a:rPr lang="en-US" sz="1200" kern="1200" dirty="0" err="1">
                <a:solidFill>
                  <a:schemeClr val="tx1"/>
                </a:solidFill>
                <a:effectLst/>
                <a:latin typeface="+mn-lt"/>
                <a:ea typeface="+mn-ea"/>
                <a:cs typeface="+mn-cs"/>
              </a:rPr>
              <a:t>xt</a:t>
            </a:r>
            <a:r>
              <a:rPr lang="en-US" sz="1200" kern="1200" dirty="0">
                <a:solidFill>
                  <a:schemeClr val="tx1"/>
                </a:solidFill>
                <a:effectLst/>
                <a:latin typeface="+mn-lt"/>
                <a:ea typeface="+mn-ea"/>
                <a:cs typeface="+mn-cs"/>
              </a:rPr>
              <a:t> and the map m: </a:t>
            </a:r>
            <a:endParaRPr lang="en-US" dirty="0"/>
          </a:p>
          <a:p>
            <a:pPr marL="171450" indent="-171450">
              <a:buFont typeface="Arial" charset="0"/>
              <a:buChar char="•"/>
            </a:pP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usepackage</a:t>
            </a:r>
            <a:r>
              <a:rPr lang="en-US" sz="1200" kern="1200" dirty="0">
                <a:solidFill>
                  <a:schemeClr val="tx1"/>
                </a:solidFill>
                <a:effectLst/>
                <a:latin typeface="+mn-lt"/>
                <a:ea typeface="+mn-ea"/>
                <a:cs typeface="+mn-cs"/>
              </a:rPr>
              <a:t>{algorithm2e}</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DeclareMathOperator</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atantwo</a:t>
            </a:r>
            <a:r>
              <a:rPr lang="en-US" sz="1200" kern="1200" dirty="0">
                <a:solidFill>
                  <a:schemeClr val="tx1"/>
                </a:solidFill>
                <a:effectLst/>
                <a:latin typeface="+mn-lt"/>
                <a:ea typeface="+mn-ea"/>
                <a:cs typeface="+mn-cs"/>
              </a:rPr>
              <a:t>}{atan2}</a:t>
            </a:r>
          </a:p>
          <a:p>
            <a:r>
              <a:rPr lang="en-US" sz="1200" kern="1200" dirty="0">
                <a:solidFill>
                  <a:schemeClr val="tx1"/>
                </a:solidFill>
                <a:effectLst/>
                <a:latin typeface="+mn-lt"/>
                <a:ea typeface="+mn-ea"/>
                <a:cs typeface="+mn-cs"/>
              </a:rPr>
              <a:t>\begin{algorithm}[H]</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KwData</a:t>
            </a:r>
            <a:r>
              <a:rPr lang="en-US" sz="1200" kern="1200" dirty="0">
                <a:solidFill>
                  <a:schemeClr val="tx1"/>
                </a:solidFill>
                <a:effectLst/>
                <a:latin typeface="+mn-lt"/>
                <a:ea typeface="+mn-ea"/>
                <a:cs typeface="+mn-cs"/>
              </a:rPr>
              <a:t>{$(\mu_{t-1}, \Sigma_{t-1}), </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z_t</a:t>
            </a:r>
            <a:r>
              <a:rPr lang="en-US" sz="1200" kern="1200" dirty="0">
                <a:solidFill>
                  <a:schemeClr val="tx1"/>
                </a:solidFill>
                <a:effectLst/>
                <a:latin typeface="+mn-lt"/>
                <a:ea typeface="+mn-ea"/>
                <a:cs typeface="+mn-cs"/>
              </a:rPr>
              <a:t>, {\color{red} </a:t>
            </a:r>
            <a:r>
              <a:rPr lang="en-US" sz="1200" kern="1200" dirty="0" err="1">
                <a:solidFill>
                  <a:schemeClr val="tx1"/>
                </a:solidFill>
                <a:effectLst/>
                <a:latin typeface="+mn-lt"/>
                <a:ea typeface="+mn-ea"/>
                <a:cs typeface="+mn-cs"/>
              </a:rPr>
              <a:t>c_t</a:t>
            </a:r>
            <a:r>
              <a:rPr lang="en-US" sz="1200" kern="1200" dirty="0">
                <a:solidFill>
                  <a:schemeClr val="tx1"/>
                </a:solidFill>
                <a:effectLst/>
                <a:latin typeface="+mn-lt"/>
                <a:ea typeface="+mn-ea"/>
                <a:cs typeface="+mn-cs"/>
              </a:rPr>
              <a:t>, m}$}</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KwResult</a:t>
            </a:r>
            <a:r>
              <a:rPr lang="en-US" sz="1200" kern="1200" dirty="0">
                <a:solidFill>
                  <a:schemeClr val="tx1"/>
                </a:solidFill>
                <a:effectLst/>
                <a:latin typeface="+mn-lt"/>
                <a:ea typeface="+mn-ea"/>
                <a:cs typeface="+mn-cs"/>
              </a:rPr>
              <a:t>{$(\mu_{t}, \Sigma_{t})$}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 =  { g(</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\mu_{t-1})}$ \;</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{\Sigma}_t = { </a:t>
            </a:r>
            <a:r>
              <a:rPr lang="en-US" sz="1200" kern="1200" dirty="0" err="1">
                <a:solidFill>
                  <a:schemeClr val="tx1"/>
                </a:solidFill>
                <a:effectLst/>
                <a:latin typeface="+mn-lt"/>
                <a:ea typeface="+mn-ea"/>
                <a:cs typeface="+mn-cs"/>
              </a:rPr>
              <a:t>G_t</a:t>
            </a:r>
            <a:r>
              <a:rPr lang="en-US" sz="1200" kern="1200" dirty="0">
                <a:solidFill>
                  <a:schemeClr val="tx1"/>
                </a:solidFill>
                <a:effectLst/>
                <a:latin typeface="+mn-lt"/>
                <a:ea typeface="+mn-ea"/>
                <a:cs typeface="+mn-cs"/>
              </a:rPr>
              <a:t>} \Sigma_{t-1}{ </a:t>
            </a:r>
            <a:r>
              <a:rPr lang="en-US" sz="1200" kern="1200" dirty="0" err="1">
                <a:solidFill>
                  <a:schemeClr val="tx1"/>
                </a:solidFill>
                <a:effectLst/>
                <a:latin typeface="+mn-lt"/>
                <a:ea typeface="+mn-ea"/>
                <a:cs typeface="+mn-cs"/>
              </a:rPr>
              <a:t>G_t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T+R_t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BlankLine</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ForEach</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r_t^i</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phi_t^i</a:t>
            </a:r>
            <a:r>
              <a:rPr lang="en-US" sz="1200" kern="1200" dirty="0">
                <a:solidFill>
                  <a:schemeClr val="tx1"/>
                </a:solidFill>
                <a:effectLst/>
                <a:latin typeface="+mn-lt"/>
                <a:ea typeface="+mn-ea"/>
                <a:cs typeface="+mn-cs"/>
              </a:rPr>
              <a:t>)^T$}{</a:t>
            </a:r>
          </a:p>
          <a:p>
            <a:r>
              <a:rPr lang="en-US" sz="1200" kern="1200" dirty="0">
                <a:solidFill>
                  <a:schemeClr val="tx1"/>
                </a:solidFill>
                <a:effectLst/>
                <a:latin typeface="+mn-lt"/>
                <a:ea typeface="+mn-ea"/>
                <a:cs typeface="+mn-cs"/>
              </a:rPr>
              <a:t>$j = </a:t>
            </a:r>
            <a:r>
              <a:rPr lang="en-US" sz="1200" kern="1200" dirty="0" err="1">
                <a:solidFill>
                  <a:schemeClr val="tx1"/>
                </a:solidFill>
                <a:effectLst/>
                <a:latin typeface="+mn-lt"/>
                <a:ea typeface="+mn-ea"/>
                <a:cs typeface="+mn-cs"/>
              </a:rPr>
              <a:t>c_t^i</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$\hat </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sqrt</a:t>
            </a:r>
            <a:r>
              <a:rPr lang="en-US" sz="1200" kern="1200" dirty="0">
                <a:solidFill>
                  <a:schemeClr val="tx1"/>
                </a:solidFill>
                <a:effectLst/>
                <a:latin typeface="+mn-lt"/>
                <a:ea typeface="+mn-ea"/>
                <a:cs typeface="+mn-cs"/>
              </a:rPr>
              <a:t>{(m_{</a:t>
            </a:r>
            <a:r>
              <a:rPr lang="en-US" sz="1200" kern="1200" dirty="0" err="1">
                <a:solidFill>
                  <a:schemeClr val="tx1"/>
                </a:solidFill>
                <a:effectLst/>
                <a:latin typeface="+mn-lt"/>
                <a:ea typeface="+mn-ea"/>
                <a:cs typeface="+mn-cs"/>
              </a:rPr>
              <a:t>j,x</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})^2 + (m_{</a:t>
            </a:r>
            <a:r>
              <a:rPr lang="en-US" sz="1200" kern="1200" dirty="0" err="1">
                <a:solidFill>
                  <a:schemeClr val="tx1"/>
                </a:solidFill>
                <a:effectLst/>
                <a:latin typeface="+mn-lt"/>
                <a:ea typeface="+mn-ea"/>
                <a:cs typeface="+mn-cs"/>
              </a:rPr>
              <a:t>j,y</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})^2}\\</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atantwo</a:t>
            </a:r>
            <a:r>
              <a:rPr lang="en-US" sz="1200" kern="1200" dirty="0">
                <a:solidFill>
                  <a:schemeClr val="tx1"/>
                </a:solidFill>
                <a:effectLst/>
                <a:latin typeface="+mn-lt"/>
                <a:ea typeface="+mn-ea"/>
                <a:cs typeface="+mn-cs"/>
              </a:rPr>
              <a:t>(m_{</a:t>
            </a:r>
            <a:r>
              <a:rPr lang="en-US" sz="1200" kern="1200" dirty="0" err="1">
                <a:solidFill>
                  <a:schemeClr val="tx1"/>
                </a:solidFill>
                <a:effectLst/>
                <a:latin typeface="+mn-lt"/>
                <a:ea typeface="+mn-ea"/>
                <a:cs typeface="+mn-cs"/>
              </a:rPr>
              <a:t>j,y</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 m_{</a:t>
            </a:r>
            <a:r>
              <a:rPr lang="en-US" sz="1200" kern="1200" dirty="0" err="1">
                <a:solidFill>
                  <a:schemeClr val="tx1"/>
                </a:solidFill>
                <a:effectLst/>
                <a:latin typeface="+mn-lt"/>
                <a:ea typeface="+mn-ea"/>
                <a:cs typeface="+mn-cs"/>
              </a:rPr>
              <a:t>j,x</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{\mu}_{t,\theta}</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BlankLine</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S_t^i</a:t>
            </a:r>
            <a:r>
              <a:rPr lang="en-US" sz="1200" kern="1200" dirty="0">
                <a:solidFill>
                  <a:schemeClr val="tx1"/>
                </a:solidFill>
                <a:effectLst/>
                <a:latin typeface="+mn-lt"/>
                <a:ea typeface="+mn-ea"/>
                <a:cs typeface="+mn-cs"/>
              </a:rPr>
              <a:t> = {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{\Sigma}_t \, {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]^T}+</a:t>
            </a:r>
            <a:r>
              <a:rPr lang="en-US" sz="1200" kern="1200" dirty="0" err="1">
                <a:solidFill>
                  <a:schemeClr val="tx1"/>
                </a:solidFill>
                <a:effectLst/>
                <a:latin typeface="+mn-lt"/>
                <a:ea typeface="+mn-ea"/>
                <a:cs typeface="+mn-cs"/>
              </a:rPr>
              <a:t>Q_t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K_t^i</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{\Sigma}_t \, {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]^T} \, [</a:t>
            </a:r>
            <a:r>
              <a:rPr lang="en-US" sz="1200" kern="1200" dirty="0" err="1">
                <a:solidFill>
                  <a:schemeClr val="tx1"/>
                </a:solidFill>
                <a:effectLst/>
                <a:latin typeface="+mn-lt"/>
                <a:ea typeface="+mn-ea"/>
                <a:cs typeface="+mn-cs"/>
              </a:rPr>
              <a:t>S_t^i</a:t>
            </a:r>
            <a:r>
              <a:rPr lang="en-US" sz="1200" kern="1200" dirty="0">
                <a:solidFill>
                  <a:schemeClr val="tx1"/>
                </a:solidFill>
                <a:effectLst/>
                <a:latin typeface="+mn-lt"/>
                <a:ea typeface="+mn-ea"/>
                <a:cs typeface="+mn-cs"/>
              </a:rPr>
              <a:t>]^{-1}$\;</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  + </a:t>
            </a:r>
            <a:r>
              <a:rPr lang="en-US" sz="1200" kern="1200" dirty="0" err="1">
                <a:solidFill>
                  <a:schemeClr val="tx1"/>
                </a:solidFill>
                <a:effectLst/>
                <a:latin typeface="+mn-lt"/>
                <a:ea typeface="+mn-ea"/>
                <a:cs typeface="+mn-cs"/>
              </a:rPr>
              <a:t>K_t^i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\hat{z}_</a:t>
            </a:r>
            <a:r>
              <a:rPr lang="en-US" sz="1200" kern="1200" dirty="0" err="1">
                <a:solidFill>
                  <a:schemeClr val="tx1"/>
                </a:solidFill>
                <a:effectLst/>
                <a:latin typeface="+mn-lt"/>
                <a:ea typeface="+mn-ea"/>
                <a:cs typeface="+mn-cs"/>
              </a:rPr>
              <a:t>t^i</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{\Sigma}_t = (I - </a:t>
            </a:r>
            <a:r>
              <a:rPr lang="en-US" sz="1200" kern="1200" dirty="0" err="1">
                <a:solidFill>
                  <a:schemeClr val="tx1"/>
                </a:solidFill>
                <a:effectLst/>
                <a:latin typeface="+mn-lt"/>
                <a:ea typeface="+mn-ea"/>
                <a:cs typeface="+mn-cs"/>
              </a:rPr>
              <a:t>K_t^i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{\Sigma}_t$\;</a:t>
            </a:r>
          </a:p>
          <a:p>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mu_t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 and $\</a:t>
            </a:r>
            <a:r>
              <a:rPr lang="en-US" sz="1200" kern="1200" dirty="0" err="1">
                <a:solidFill>
                  <a:schemeClr val="tx1"/>
                </a:solidFill>
                <a:effectLst/>
                <a:latin typeface="+mn-lt"/>
                <a:ea typeface="+mn-ea"/>
                <a:cs typeface="+mn-cs"/>
              </a:rPr>
              <a:t>Sigma_t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{\Sigma}_t$\;</a:t>
            </a:r>
          </a:p>
          <a:p>
            <a:r>
              <a:rPr lang="en-US" sz="1200" kern="1200" dirty="0">
                <a:solidFill>
                  <a:schemeClr val="tx1"/>
                </a:solidFill>
                <a:effectLst/>
                <a:latin typeface="+mn-lt"/>
                <a:ea typeface="+mn-ea"/>
                <a:cs typeface="+mn-cs"/>
              </a:rPr>
              <a:t>Return $(\</a:t>
            </a:r>
            <a:r>
              <a:rPr lang="en-US" sz="1200" kern="1200" dirty="0" err="1">
                <a:solidFill>
                  <a:schemeClr val="tx1"/>
                </a:solidFill>
                <a:effectLst/>
                <a:latin typeface="+mn-lt"/>
                <a:ea typeface="+mn-ea"/>
                <a:cs typeface="+mn-cs"/>
              </a:rPr>
              <a:t>mu_t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Sigma_t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\end{algorithm}</a:t>
            </a: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63B2D7EC-928D-0645-AAE8-498D7443D60E}" type="slidenum">
              <a:rPr lang="en-US" smtClean="0"/>
              <a:t>25</a:t>
            </a:fld>
            <a:endParaRPr lang="en-US"/>
          </a:p>
        </p:txBody>
      </p:sp>
    </p:spTree>
    <p:extLst>
      <p:ext uri="{BB962C8B-B14F-4D97-AF65-F5344CB8AC3E}">
        <p14:creationId xmlns:p14="http://schemas.microsoft.com/office/powerpoint/2010/main" val="10840238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The EKF localization discussed thus is only applicable when landmark correspondences can be determined with absolute certainty</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In practice, this is rarely the case. Most implementations therefore determine the identity of the landmark during localization.</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The simplest way to cope</a:t>
            </a:r>
            <a:r>
              <a:rPr lang="en-US" baseline="0" dirty="0"/>
              <a:t> with the </a:t>
            </a:r>
            <a:r>
              <a:rPr lang="en-US" dirty="0"/>
              <a:t>correspondence proble</a:t>
            </a:r>
            <a:r>
              <a:rPr lang="en-US" baseline="0" dirty="0"/>
              <a:t>m </a:t>
            </a:r>
            <a:r>
              <a:rPr lang="en-US" dirty="0"/>
              <a:t>is known as maximum likelihood correspondence, in which one first determines the most likely value of the correspondence variable, and then takes this value for granted.</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The maximum likelihood estimator determines the correspondence that maximizes the data likelihood.</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Note that this expression is conditioned on prior correspondences c1,t−1. While those have been estimated in previous update steps, the maximum likelihood approach treats those as if they are always correct</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This has two important ramifications: It makes it possible to update the filter incrementally. But it also introduces brittleness in the filter, which tends to diverge when correspondence estimates is erroneous.</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Unfortunately, there are exponentially many terms in this maximization</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The most common technique to avoid such an exponential complexity performs the maximization separately for each individual feature z </a:t>
            </a:r>
            <a:r>
              <a:rPr lang="en-US" dirty="0" err="1"/>
              <a:t>i</a:t>
            </a:r>
            <a:r>
              <a:rPr lang="en-US" dirty="0"/>
              <a:t> t in the measurement vector</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endParaRPr lang="en-US"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a:p>
            <a:pPr marL="0" marR="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In </a:t>
            </a:r>
            <a:r>
              <a:rPr lang="en-US" sz="1200" b="0" i="0" u="none" strike="noStrike" kern="1200" dirty="0">
                <a:solidFill>
                  <a:schemeClr val="tx1"/>
                </a:solidFill>
                <a:effectLst/>
                <a:latin typeface="+mn-lt"/>
                <a:ea typeface="+mn-ea"/>
                <a:cs typeface="+mn-cs"/>
                <a:hlinkClick r:id="rId3" tooltip="Statistics"/>
              </a:rPr>
              <a:t>statistics</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maximum likelihood estimation</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MLE</a:t>
            </a:r>
            <a:r>
              <a:rPr lang="en-US" sz="1200" b="0" i="0" kern="1200" dirty="0">
                <a:solidFill>
                  <a:schemeClr val="tx1"/>
                </a:solidFill>
                <a:effectLst/>
                <a:latin typeface="+mn-lt"/>
                <a:ea typeface="+mn-ea"/>
                <a:cs typeface="+mn-cs"/>
              </a:rPr>
              <a:t>) is a method of </a:t>
            </a:r>
            <a:r>
              <a:rPr lang="en-US" sz="1200" b="0" i="0" u="none" strike="noStrike" kern="1200" dirty="0">
                <a:solidFill>
                  <a:schemeClr val="tx1"/>
                </a:solidFill>
                <a:effectLst/>
                <a:latin typeface="+mn-lt"/>
                <a:ea typeface="+mn-ea"/>
                <a:cs typeface="+mn-cs"/>
                <a:hlinkClick r:id="rId4" tooltip="Estimation theory"/>
              </a:rPr>
              <a:t>estimating</a:t>
            </a:r>
            <a:r>
              <a:rPr lang="en-US" sz="1200" b="0" i="0" kern="1200" dirty="0">
                <a:solidFill>
                  <a:schemeClr val="tx1"/>
                </a:solidFill>
                <a:effectLst/>
                <a:latin typeface="+mn-lt"/>
                <a:ea typeface="+mn-ea"/>
                <a:cs typeface="+mn-cs"/>
              </a:rPr>
              <a:t> the </a:t>
            </a:r>
            <a:r>
              <a:rPr lang="en-US" sz="1200" b="0" i="0" u="none" strike="noStrike" kern="1200" dirty="0">
                <a:solidFill>
                  <a:schemeClr val="tx1"/>
                </a:solidFill>
                <a:effectLst/>
                <a:latin typeface="+mn-lt"/>
                <a:ea typeface="+mn-ea"/>
                <a:cs typeface="+mn-cs"/>
                <a:hlinkClick r:id="rId5" tooltip="Statistical parameter"/>
              </a:rPr>
              <a:t>parameters</a:t>
            </a:r>
            <a:r>
              <a:rPr lang="en-US" sz="1200" b="0" i="0" kern="1200" dirty="0">
                <a:solidFill>
                  <a:schemeClr val="tx1"/>
                </a:solidFill>
                <a:effectLst/>
                <a:latin typeface="+mn-lt"/>
                <a:ea typeface="+mn-ea"/>
                <a:cs typeface="+mn-cs"/>
              </a:rPr>
              <a:t> of an assumed </a:t>
            </a:r>
            <a:r>
              <a:rPr lang="en-US" sz="1200" b="0" i="0" u="none" strike="noStrike" kern="1200" dirty="0">
                <a:solidFill>
                  <a:schemeClr val="tx1"/>
                </a:solidFill>
                <a:effectLst/>
                <a:latin typeface="+mn-lt"/>
                <a:ea typeface="+mn-ea"/>
                <a:cs typeface="+mn-cs"/>
                <a:hlinkClick r:id="rId6" tooltip="Probability distribution"/>
              </a:rPr>
              <a:t>probability distribution</a:t>
            </a:r>
            <a:r>
              <a:rPr lang="en-US" sz="1200" b="0" i="0" kern="1200" dirty="0">
                <a:solidFill>
                  <a:schemeClr val="tx1"/>
                </a:solidFill>
                <a:effectLst/>
                <a:latin typeface="+mn-lt"/>
                <a:ea typeface="+mn-ea"/>
                <a:cs typeface="+mn-cs"/>
              </a:rPr>
              <a:t>, given some observed data. This is achieved by </a:t>
            </a:r>
            <a:r>
              <a:rPr lang="en-US" sz="1200" b="0" i="0" u="none" strike="noStrike" kern="1200" dirty="0">
                <a:solidFill>
                  <a:schemeClr val="tx1"/>
                </a:solidFill>
                <a:effectLst/>
                <a:latin typeface="+mn-lt"/>
                <a:ea typeface="+mn-ea"/>
                <a:cs typeface="+mn-cs"/>
                <a:hlinkClick r:id="rId7" tooltip="Mathematical optimization"/>
              </a:rPr>
              <a:t>maximizing</a:t>
            </a:r>
            <a:r>
              <a:rPr lang="en-US" sz="1200" b="0" i="0" kern="1200" dirty="0">
                <a:solidFill>
                  <a:schemeClr val="tx1"/>
                </a:solidFill>
                <a:effectLst/>
                <a:latin typeface="+mn-lt"/>
                <a:ea typeface="+mn-ea"/>
                <a:cs typeface="+mn-cs"/>
              </a:rPr>
              <a:t> a </a:t>
            </a:r>
            <a:r>
              <a:rPr lang="en-US" sz="1200" b="0" i="0" u="none" strike="noStrike" kern="1200" dirty="0">
                <a:solidFill>
                  <a:schemeClr val="tx1"/>
                </a:solidFill>
                <a:effectLst/>
                <a:latin typeface="+mn-lt"/>
                <a:ea typeface="+mn-ea"/>
                <a:cs typeface="+mn-cs"/>
                <a:hlinkClick r:id="rId8" tooltip="Likelihood function"/>
              </a:rPr>
              <a:t>likelihood function</a:t>
            </a:r>
            <a:r>
              <a:rPr lang="en-US" sz="1200" b="0" i="0" kern="1200" dirty="0">
                <a:solidFill>
                  <a:schemeClr val="tx1"/>
                </a:solidFill>
                <a:effectLst/>
                <a:latin typeface="+mn-lt"/>
                <a:ea typeface="+mn-ea"/>
                <a:cs typeface="+mn-cs"/>
              </a:rPr>
              <a:t> so that, under the assumed </a:t>
            </a:r>
            <a:r>
              <a:rPr lang="en-US" sz="1200" b="0" i="0" u="none" strike="noStrike" kern="1200" dirty="0">
                <a:solidFill>
                  <a:schemeClr val="tx1"/>
                </a:solidFill>
                <a:effectLst/>
                <a:latin typeface="+mn-lt"/>
                <a:ea typeface="+mn-ea"/>
                <a:cs typeface="+mn-cs"/>
                <a:hlinkClick r:id="rId9" tooltip="Statistical model"/>
              </a:rPr>
              <a:t>statistical model</a:t>
            </a:r>
            <a:r>
              <a:rPr lang="en-US" sz="1200" b="0" i="0" kern="1200" dirty="0">
                <a:solidFill>
                  <a:schemeClr val="tx1"/>
                </a:solidFill>
                <a:effectLst/>
                <a:latin typeface="+mn-lt"/>
                <a:ea typeface="+mn-ea"/>
                <a:cs typeface="+mn-cs"/>
              </a:rPr>
              <a:t>, the </a:t>
            </a:r>
            <a:r>
              <a:rPr lang="en-US" sz="1200" b="0" i="0" u="none" strike="noStrike" kern="1200" dirty="0">
                <a:solidFill>
                  <a:schemeClr val="tx1"/>
                </a:solidFill>
                <a:effectLst/>
                <a:latin typeface="+mn-lt"/>
                <a:ea typeface="+mn-ea"/>
                <a:cs typeface="+mn-cs"/>
                <a:hlinkClick r:id="rId10" tooltip="Realization (probability)"/>
              </a:rPr>
              <a:t>observed data</a:t>
            </a:r>
            <a:r>
              <a:rPr lang="en-US" sz="1200" b="0" i="0" kern="1200" dirty="0">
                <a:solidFill>
                  <a:schemeClr val="tx1"/>
                </a:solidFill>
                <a:effectLst/>
                <a:latin typeface="+mn-lt"/>
                <a:ea typeface="+mn-ea"/>
                <a:cs typeface="+mn-cs"/>
              </a:rPr>
              <a:t> is most probable.</a:t>
            </a: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DeclareMathOperator</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argmax</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arg</a:t>
            </a:r>
            <a:r>
              <a:rPr lang="en-US" sz="1200" kern="1200" dirty="0">
                <a:solidFill>
                  <a:schemeClr val="tx1"/>
                </a:solidFill>
                <a:effectLst/>
                <a:latin typeface="+mn-lt"/>
                <a:ea typeface="+mn-ea"/>
                <a:cs typeface="+mn-cs"/>
              </a:rPr>
              <a:t>\,max}</a:t>
            </a: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\hat </a:t>
            </a:r>
            <a:r>
              <a:rPr lang="en-US" sz="1200" kern="1200" dirty="0" err="1">
                <a:solidFill>
                  <a:schemeClr val="tx1"/>
                </a:solidFill>
                <a:effectLst/>
                <a:latin typeface="+mn-lt"/>
                <a:ea typeface="+mn-ea"/>
                <a:cs typeface="+mn-cs"/>
              </a:rPr>
              <a:t>c_t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argmax</a:t>
            </a:r>
            <a:r>
              <a:rPr lang="en-US" sz="1200" kern="1200" dirty="0">
                <a:solidFill>
                  <a:schemeClr val="tx1"/>
                </a:solidFill>
                <a:effectLst/>
                <a:latin typeface="+mn-lt"/>
                <a:ea typeface="+mn-ea"/>
                <a:cs typeface="+mn-cs"/>
              </a:rPr>
              <a:t>_{</a:t>
            </a:r>
            <a:r>
              <a:rPr lang="en-US" sz="1200" kern="1200" dirty="0" err="1">
                <a:solidFill>
                  <a:schemeClr val="tx1"/>
                </a:solidFill>
                <a:effectLst/>
                <a:latin typeface="+mn-lt"/>
                <a:ea typeface="+mn-ea"/>
                <a:cs typeface="+mn-cs"/>
              </a:rPr>
              <a:t>c_t</a:t>
            </a:r>
            <a:r>
              <a:rPr lang="en-US" sz="1200" kern="1200" dirty="0">
                <a:solidFill>
                  <a:schemeClr val="tx1"/>
                </a:solidFill>
                <a:effectLst/>
                <a:latin typeface="+mn-lt"/>
                <a:ea typeface="+mn-ea"/>
                <a:cs typeface="+mn-cs"/>
              </a:rPr>
              <a:t>} \, p(</a:t>
            </a:r>
            <a:r>
              <a:rPr lang="en-US" sz="1200" kern="1200" dirty="0" err="1">
                <a:solidFill>
                  <a:schemeClr val="tx1"/>
                </a:solidFill>
                <a:effectLst/>
                <a:latin typeface="+mn-lt"/>
                <a:ea typeface="+mn-ea"/>
                <a:cs typeface="+mn-cs"/>
              </a:rPr>
              <a:t>z_t</a:t>
            </a:r>
            <a:r>
              <a:rPr lang="en-US" sz="1200" kern="1200" dirty="0">
                <a:solidFill>
                  <a:schemeClr val="tx1"/>
                </a:solidFill>
                <a:effectLst/>
                <a:latin typeface="+mn-lt"/>
                <a:ea typeface="+mn-ea"/>
                <a:cs typeface="+mn-cs"/>
              </a:rPr>
              <a:t> \, | \, c_{1:t}, m, z_{1:t-1}, u_{1:t})</a:t>
            </a: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26</a:t>
            </a:fld>
            <a:endParaRPr lang="en-US"/>
          </a:p>
        </p:txBody>
      </p:sp>
    </p:spTree>
    <p:extLst>
      <p:ext uri="{BB962C8B-B14F-4D97-AF65-F5344CB8AC3E}">
        <p14:creationId xmlns:p14="http://schemas.microsoft.com/office/powerpoint/2010/main" val="18291335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dirty="0"/>
              <a:t>The likelihood p(</a:t>
            </a:r>
            <a:r>
              <a:rPr lang="en-US" dirty="0" err="1"/>
              <a:t>z_it</a:t>
            </a:r>
            <a:r>
              <a:rPr lang="en-US" dirty="0"/>
              <a:t> | c1:t, m, z1:t−1, u1:t) I is now easily computed from the belief bel(</a:t>
            </a:r>
            <a:r>
              <a:rPr lang="en-US" dirty="0" err="1"/>
              <a:t>xt</a:t>
            </a:r>
            <a:r>
              <a:rPr lang="en-US" dirty="0"/>
              <a:t>) by integrating over the pose </a:t>
            </a:r>
            <a:r>
              <a:rPr lang="en-US" dirty="0" err="1"/>
              <a:t>xt</a:t>
            </a:r>
            <a:r>
              <a:rPr lang="en-US" dirty="0"/>
              <a:t>,</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&amp;\sim \</a:t>
            </a:r>
            <a:r>
              <a:rPr lang="en-US" sz="1200" kern="1200" dirty="0" err="1">
                <a:solidFill>
                  <a:schemeClr val="tx1"/>
                </a:solidFill>
                <a:effectLst/>
                <a:latin typeface="+mn-lt"/>
                <a:ea typeface="+mn-ea"/>
                <a:cs typeface="+mn-cs"/>
              </a:rPr>
              <a:t>mathcal</a:t>
            </a:r>
            <a:r>
              <a:rPr lang="en-US" sz="1200" kern="1200" dirty="0">
                <a:solidFill>
                  <a:schemeClr val="tx1"/>
                </a:solidFill>
                <a:effectLst/>
                <a:latin typeface="+mn-lt"/>
                <a:ea typeface="+mn-ea"/>
                <a:cs typeface="+mn-cs"/>
              </a:rPr>
              <a:t> N(h(</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c_t^i</a:t>
            </a:r>
            <a:r>
              <a:rPr lang="en-US" sz="1200" kern="1200" dirty="0">
                <a:solidFill>
                  <a:schemeClr val="tx1"/>
                </a:solidFill>
                <a:effectLst/>
                <a:latin typeface="+mn-lt"/>
                <a:ea typeface="+mn-ea"/>
                <a:cs typeface="+mn-cs"/>
              </a:rPr>
              <a:t>, m), </a:t>
            </a:r>
            <a:r>
              <a:rPr lang="en-US" sz="1200" kern="1200" dirty="0" err="1">
                <a:solidFill>
                  <a:schemeClr val="tx1"/>
                </a:solidFill>
                <a:effectLst/>
                <a:latin typeface="+mn-lt"/>
                <a:ea typeface="+mn-ea"/>
                <a:cs typeface="+mn-cs"/>
              </a:rPr>
              <a:t>Q_t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&amp;\</a:t>
            </a:r>
            <a:r>
              <a:rPr lang="en-US" sz="1200" kern="1200" dirty="0" err="1">
                <a:solidFill>
                  <a:schemeClr val="tx1"/>
                </a:solidFill>
                <a:effectLst/>
                <a:latin typeface="+mn-lt"/>
                <a:ea typeface="+mn-ea"/>
                <a:cs typeface="+mn-cs"/>
              </a:rPr>
              <a:t>approx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mathcal</a:t>
            </a:r>
            <a:r>
              <a:rPr lang="en-US" sz="1200" kern="1200" dirty="0">
                <a:solidFill>
                  <a:schemeClr val="tx1"/>
                </a:solidFill>
                <a:effectLst/>
                <a:latin typeface="+mn-lt"/>
                <a:ea typeface="+mn-ea"/>
                <a:cs typeface="+mn-cs"/>
              </a:rPr>
              <a:t> N(h(\</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 </a:t>
            </a:r>
            <a:r>
              <a:rPr lang="en-US" sz="1200" kern="1200" dirty="0" err="1">
                <a:solidFill>
                  <a:schemeClr val="tx1"/>
                </a:solidFill>
                <a:effectLst/>
                <a:latin typeface="+mn-lt"/>
                <a:ea typeface="+mn-ea"/>
                <a:cs typeface="+mn-cs"/>
              </a:rPr>
              <a:t>c_t^i</a:t>
            </a:r>
            <a:r>
              <a:rPr lang="en-US" sz="1200" kern="1200" dirty="0">
                <a:solidFill>
                  <a:schemeClr val="tx1"/>
                </a:solidFill>
                <a:effectLst/>
                <a:latin typeface="+mn-lt"/>
                <a:ea typeface="+mn-ea"/>
                <a:cs typeface="+mn-cs"/>
              </a:rPr>
              <a:t>, m) +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x_t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 </a:t>
            </a:r>
            <a:r>
              <a:rPr lang="en-US" sz="1200" kern="1200" dirty="0" err="1">
                <a:solidFill>
                  <a:schemeClr val="tx1"/>
                </a:solidFill>
                <a:effectLst/>
                <a:latin typeface="+mn-lt"/>
                <a:ea typeface="+mn-ea"/>
                <a:cs typeface="+mn-cs"/>
              </a:rPr>
              <a:t>Q_t</a:t>
            </a:r>
            <a:r>
              <a:rPr lang="en-US" sz="1200" kern="1200" dirty="0">
                <a:solidFill>
                  <a:schemeClr val="tx1"/>
                </a:solidFill>
                <a:effectLst/>
                <a:latin typeface="+mn-lt"/>
                <a:ea typeface="+mn-ea"/>
                <a:cs typeface="+mn-cs"/>
              </a:rPr>
              <a:t>)</a:t>
            </a:r>
          </a:p>
          <a:p>
            <a:endParaRPr lang="hr-HR"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\sim \</a:t>
            </a:r>
            <a:r>
              <a:rPr lang="en-US" sz="1200" kern="1200" dirty="0" err="1">
                <a:solidFill>
                  <a:schemeClr val="tx1"/>
                </a:solidFill>
                <a:effectLst/>
                <a:latin typeface="+mn-lt"/>
                <a:ea typeface="+mn-ea"/>
                <a:cs typeface="+mn-cs"/>
              </a:rPr>
              <a:t>mathcal</a:t>
            </a:r>
            <a:r>
              <a:rPr lang="en-US" sz="1200" kern="1200" dirty="0">
                <a:solidFill>
                  <a:schemeClr val="tx1"/>
                </a:solidFill>
                <a:effectLst/>
                <a:latin typeface="+mn-lt"/>
                <a:ea typeface="+mn-ea"/>
                <a:cs typeface="+mn-cs"/>
              </a:rPr>
              <a:t> N(\</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{\Sigma}_t)</a:t>
            </a:r>
          </a:p>
          <a:p>
            <a:endParaRPr lang="hr-HR" sz="1200" kern="1200" dirty="0">
              <a:solidFill>
                <a:schemeClr val="tx1"/>
              </a:solidFill>
              <a:effectLst/>
              <a:latin typeface="+mn-lt"/>
              <a:ea typeface="+mn-ea"/>
              <a:cs typeface="+mn-cs"/>
            </a:endParaRPr>
          </a:p>
          <a:p>
            <a:r>
              <a:rPr lang="hr-HR" sz="1200" kern="1200" dirty="0">
                <a:solidFill>
                  <a:schemeClr val="tx1"/>
                </a:solidFill>
                <a:effectLst/>
                <a:latin typeface="+mn-lt"/>
                <a:ea typeface="+mn-ea"/>
                <a:cs typeface="+mn-cs"/>
              </a:rPr>
              <a:t>p({\</a:t>
            </a:r>
            <a:r>
              <a:rPr lang="hr-HR" sz="1200" kern="1200" dirty="0" err="1">
                <a:solidFill>
                  <a:schemeClr val="tx1"/>
                </a:solidFill>
                <a:effectLst/>
                <a:latin typeface="+mn-lt"/>
                <a:ea typeface="+mn-ea"/>
                <a:cs typeface="+mn-cs"/>
              </a:rPr>
              <a:t>color</a:t>
            </a:r>
            <a:r>
              <a:rPr lang="hr-HR" sz="1200" kern="1200" dirty="0">
                <a:solidFill>
                  <a:schemeClr val="tx1"/>
                </a:solidFill>
                <a:effectLst/>
                <a:latin typeface="+mn-lt"/>
                <a:ea typeface="+mn-ea"/>
                <a:cs typeface="+mn-cs"/>
              </a:rPr>
              <a:t>{red} </a:t>
            </a:r>
            <a:r>
              <a:rPr lang="hr-HR" sz="1200" kern="1200" dirty="0" err="1">
                <a:solidFill>
                  <a:schemeClr val="tx1"/>
                </a:solidFill>
                <a:effectLst/>
                <a:latin typeface="+mn-lt"/>
                <a:ea typeface="+mn-ea"/>
                <a:cs typeface="+mn-cs"/>
              </a:rPr>
              <a:t>z_t^i</a:t>
            </a:r>
            <a:r>
              <a:rPr lang="hr-HR" sz="1200" kern="1200" dirty="0">
                <a:solidFill>
                  <a:schemeClr val="tx1"/>
                </a:solidFill>
                <a:effectLst/>
                <a:latin typeface="+mn-lt"/>
                <a:ea typeface="+mn-ea"/>
                <a:cs typeface="+mn-cs"/>
              </a:rPr>
              <a:t>} \, | \, c_{1:t}, m, z_{1:t-1}, u_{1:t})</a:t>
            </a:r>
          </a:p>
          <a:p>
            <a:endParaRPr lang="hr-HR" sz="1200" kern="1200" dirty="0">
              <a:solidFill>
                <a:schemeClr val="tx1"/>
              </a:solidFill>
              <a:effectLst/>
              <a:latin typeface="+mn-lt"/>
              <a:ea typeface="+mn-ea"/>
              <a:cs typeface="+mn-cs"/>
            </a:endParaRPr>
          </a:p>
          <a:p>
            <a:r>
              <a:rPr lang="hr-HR" sz="1200" kern="1200" dirty="0">
                <a:solidFill>
                  <a:schemeClr val="tx1"/>
                </a:solidFill>
                <a:effectLst/>
                <a:latin typeface="+mn-lt"/>
                <a:ea typeface="+mn-ea"/>
                <a:cs typeface="+mn-cs"/>
              </a:rPr>
              <a:t>p(</a:t>
            </a:r>
            <a:r>
              <a:rPr lang="hr-HR" sz="1200" kern="1200" dirty="0" err="1">
                <a:solidFill>
                  <a:schemeClr val="tx1"/>
                </a:solidFill>
                <a:effectLst/>
                <a:latin typeface="+mn-lt"/>
                <a:ea typeface="+mn-ea"/>
                <a:cs typeface="+mn-cs"/>
              </a:rPr>
              <a:t>z_t^i</a:t>
            </a:r>
            <a:r>
              <a:rPr lang="hr-HR" sz="1200" kern="1200" dirty="0">
                <a:solidFill>
                  <a:schemeClr val="tx1"/>
                </a:solidFill>
                <a:effectLst/>
                <a:latin typeface="+mn-lt"/>
                <a:ea typeface="+mn-ea"/>
                <a:cs typeface="+mn-cs"/>
              </a:rPr>
              <a:t> \, | \, c_{1:t}, m, z_{1:t-1}, u_{1:t}) &amp;= \</a:t>
            </a:r>
            <a:r>
              <a:rPr lang="hr-HR" sz="1200" kern="1200" dirty="0" err="1">
                <a:solidFill>
                  <a:schemeClr val="tx1"/>
                </a:solidFill>
                <a:effectLst/>
                <a:latin typeface="+mn-lt"/>
                <a:ea typeface="+mn-ea"/>
                <a:cs typeface="+mn-cs"/>
              </a:rPr>
              <a:t>int</a:t>
            </a:r>
            <a:r>
              <a:rPr lang="hr-HR" sz="1200" kern="1200" dirty="0">
                <a:solidFill>
                  <a:schemeClr val="tx1"/>
                </a:solidFill>
                <a:effectLst/>
                <a:latin typeface="+mn-lt"/>
                <a:ea typeface="+mn-ea"/>
                <a:cs typeface="+mn-cs"/>
              </a:rPr>
              <a:t> p(</a:t>
            </a:r>
            <a:r>
              <a:rPr lang="hr-HR" sz="1200" kern="1200" dirty="0" err="1">
                <a:solidFill>
                  <a:schemeClr val="tx1"/>
                </a:solidFill>
                <a:effectLst/>
                <a:latin typeface="+mn-lt"/>
                <a:ea typeface="+mn-ea"/>
                <a:cs typeface="+mn-cs"/>
              </a:rPr>
              <a:t>z_t^i</a:t>
            </a:r>
            <a:r>
              <a:rPr lang="hr-HR" sz="1200" kern="1200" dirty="0">
                <a:solidFill>
                  <a:schemeClr val="tx1"/>
                </a:solidFill>
                <a:effectLst/>
                <a:latin typeface="+mn-lt"/>
                <a:ea typeface="+mn-ea"/>
                <a:cs typeface="+mn-cs"/>
              </a:rPr>
              <a:t> \, | \, </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 c_{1:t}, m, z_{1:t-1}, u_{1:t}) \, p(</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 \, | \, c_{1:t}, m, z_{1:t-1}, u_{1:t}) \, </a:t>
            </a:r>
            <a:r>
              <a:rPr lang="hr-HR" sz="1200" kern="1200" dirty="0" err="1">
                <a:solidFill>
                  <a:schemeClr val="tx1"/>
                </a:solidFill>
                <a:effectLst/>
                <a:latin typeface="+mn-lt"/>
                <a:ea typeface="+mn-ea"/>
                <a:cs typeface="+mn-cs"/>
              </a:rPr>
              <a:t>dx_t</a:t>
            </a:r>
            <a:r>
              <a:rPr lang="hr-HR" sz="1200" kern="1200" dirty="0">
                <a:solidFill>
                  <a:schemeClr val="tx1"/>
                </a:solidFill>
                <a:effectLst/>
                <a:latin typeface="+mn-lt"/>
                <a:ea typeface="+mn-ea"/>
                <a:cs typeface="+mn-cs"/>
              </a:rPr>
              <a:t>\\</a:t>
            </a:r>
          </a:p>
          <a:p>
            <a:r>
              <a:rPr lang="hr-HR" sz="1200" kern="1200" dirty="0">
                <a:solidFill>
                  <a:schemeClr val="tx1"/>
                </a:solidFill>
                <a:effectLst/>
                <a:latin typeface="+mn-lt"/>
                <a:ea typeface="+mn-ea"/>
                <a:cs typeface="+mn-cs"/>
              </a:rPr>
              <a:t>&amp;= \</a:t>
            </a:r>
            <a:r>
              <a:rPr lang="hr-HR" sz="1200" kern="1200" dirty="0" err="1">
                <a:solidFill>
                  <a:schemeClr val="tx1"/>
                </a:solidFill>
                <a:effectLst/>
                <a:latin typeface="+mn-lt"/>
                <a:ea typeface="+mn-ea"/>
                <a:cs typeface="+mn-cs"/>
              </a:rPr>
              <a:t>int</a:t>
            </a:r>
            <a:r>
              <a:rPr lang="hr-HR" sz="1200" kern="1200" dirty="0">
                <a:solidFill>
                  <a:schemeClr val="tx1"/>
                </a:solidFill>
                <a:effectLst/>
                <a:latin typeface="+mn-lt"/>
                <a:ea typeface="+mn-ea"/>
                <a:cs typeface="+mn-cs"/>
              </a:rPr>
              <a:t> p(</a:t>
            </a:r>
            <a:r>
              <a:rPr lang="hr-HR" sz="1200" kern="1200" dirty="0" err="1">
                <a:solidFill>
                  <a:schemeClr val="tx1"/>
                </a:solidFill>
                <a:effectLst/>
                <a:latin typeface="+mn-lt"/>
                <a:ea typeface="+mn-ea"/>
                <a:cs typeface="+mn-cs"/>
              </a:rPr>
              <a:t>z_t^i</a:t>
            </a:r>
            <a:r>
              <a:rPr lang="hr-HR" sz="1200" kern="1200" dirty="0">
                <a:solidFill>
                  <a:schemeClr val="tx1"/>
                </a:solidFill>
                <a:effectLst/>
                <a:latin typeface="+mn-lt"/>
                <a:ea typeface="+mn-ea"/>
                <a:cs typeface="+mn-cs"/>
              </a:rPr>
              <a:t> \, | \, </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 c_{t}^i, m) \</a:t>
            </a:r>
            <a:r>
              <a:rPr lang="hr-HR" sz="1200" kern="1200" dirty="0" err="1">
                <a:solidFill>
                  <a:schemeClr val="tx1"/>
                </a:solidFill>
                <a:effectLst/>
                <a:latin typeface="+mn-lt"/>
                <a:ea typeface="+mn-ea"/>
                <a:cs typeface="+mn-cs"/>
              </a:rPr>
              <a:t>quad</a:t>
            </a:r>
            <a:r>
              <a:rPr lang="hr-HR" sz="1200" kern="1200" dirty="0">
                <a:solidFill>
                  <a:schemeClr val="tx1"/>
                </a:solidFill>
                <a:effectLst/>
                <a:latin typeface="+mn-lt"/>
                <a:ea typeface="+mn-ea"/>
                <a:cs typeface="+mn-cs"/>
              </a:rPr>
              <a:t> \</a:t>
            </a:r>
            <a:r>
              <a:rPr lang="hr-HR" sz="1200" kern="1200" dirty="0" err="1">
                <a:solidFill>
                  <a:schemeClr val="tx1"/>
                </a:solidFill>
                <a:effectLst/>
                <a:latin typeface="+mn-lt"/>
                <a:ea typeface="+mn-ea"/>
                <a:cs typeface="+mn-cs"/>
              </a:rPr>
              <a:t>cdot</a:t>
            </a:r>
            <a:r>
              <a:rPr lang="hr-HR" sz="1200" kern="1200" dirty="0">
                <a:solidFill>
                  <a:schemeClr val="tx1"/>
                </a:solidFill>
                <a:effectLst/>
                <a:latin typeface="+mn-lt"/>
                <a:ea typeface="+mn-ea"/>
                <a:cs typeface="+mn-cs"/>
              </a:rPr>
              <a:t> \</a:t>
            </a:r>
            <a:r>
              <a:rPr lang="hr-HR" sz="1200" kern="1200" dirty="0" err="1">
                <a:solidFill>
                  <a:schemeClr val="tx1"/>
                </a:solidFill>
                <a:effectLst/>
                <a:latin typeface="+mn-lt"/>
                <a:ea typeface="+mn-ea"/>
                <a:cs typeface="+mn-cs"/>
              </a:rPr>
              <a:t>quad</a:t>
            </a:r>
            <a:r>
              <a:rPr lang="hr-HR" sz="1200" kern="1200" dirty="0">
                <a:solidFill>
                  <a:schemeClr val="tx1"/>
                </a:solidFill>
                <a:effectLst/>
                <a:latin typeface="+mn-lt"/>
                <a:ea typeface="+mn-ea"/>
                <a:cs typeface="+mn-cs"/>
              </a:rPr>
              <a:t> \</a:t>
            </a:r>
            <a:r>
              <a:rPr lang="hr-HR" sz="1200" kern="1200" dirty="0" err="1">
                <a:solidFill>
                  <a:schemeClr val="tx1"/>
                </a:solidFill>
                <a:effectLst/>
                <a:latin typeface="+mn-lt"/>
                <a:ea typeface="+mn-ea"/>
                <a:cs typeface="+mn-cs"/>
              </a:rPr>
              <a:t>overline</a:t>
            </a:r>
            <a:r>
              <a:rPr lang="hr-HR" sz="1200" kern="1200" dirty="0">
                <a:solidFill>
                  <a:schemeClr val="tx1"/>
                </a:solidFill>
                <a:effectLst/>
                <a:latin typeface="+mn-lt"/>
                <a:ea typeface="+mn-ea"/>
                <a:cs typeface="+mn-cs"/>
              </a:rPr>
              <a:t>{bel}(</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 </a:t>
            </a:r>
            <a:r>
              <a:rPr lang="hr-HR" sz="1200" kern="1200" dirty="0" err="1">
                <a:solidFill>
                  <a:schemeClr val="tx1"/>
                </a:solidFill>
                <a:effectLst/>
                <a:latin typeface="+mn-lt"/>
                <a:ea typeface="+mn-ea"/>
                <a:cs typeface="+mn-cs"/>
              </a:rPr>
              <a:t>dx_t</a:t>
            </a:r>
            <a:endParaRPr lang="hr-HR" sz="1200" kern="1200" dirty="0">
              <a:solidFill>
                <a:schemeClr val="tx1"/>
              </a:solidFill>
              <a:effectLst/>
              <a:latin typeface="+mn-lt"/>
              <a:ea typeface="+mn-ea"/>
              <a:cs typeface="+mn-cs"/>
            </a:endParaRPr>
          </a:p>
          <a:p>
            <a:endParaRPr lang="hr-HR"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63B2D7EC-928D-0645-AAE8-498D7443D60E}" type="slidenum">
              <a:rPr lang="en-US" smtClean="0"/>
              <a:t>27</a:t>
            </a:fld>
            <a:endParaRPr lang="en-US"/>
          </a:p>
        </p:txBody>
      </p:sp>
    </p:spTree>
    <p:extLst>
      <p:ext uri="{BB962C8B-B14F-4D97-AF65-F5344CB8AC3E}">
        <p14:creationId xmlns:p14="http://schemas.microsoft.com/office/powerpoint/2010/main" val="17542343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\hat{c}_</a:t>
            </a:r>
            <a:r>
              <a:rPr lang="en-US" sz="1200" kern="1200" dirty="0" err="1">
                <a:solidFill>
                  <a:schemeClr val="tx1"/>
                </a:solidFill>
                <a:effectLst/>
                <a:latin typeface="+mn-lt"/>
                <a:ea typeface="+mn-ea"/>
                <a:cs typeface="+mn-cs"/>
              </a:rPr>
              <a:t>t^i</a:t>
            </a:r>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argmax</a:t>
            </a:r>
            <a:r>
              <a:rPr lang="en-US" sz="1200" kern="1200" dirty="0">
                <a:solidFill>
                  <a:schemeClr val="tx1"/>
                </a:solidFill>
                <a:effectLst/>
                <a:latin typeface="+mn-lt"/>
                <a:ea typeface="+mn-ea"/>
                <a:cs typeface="+mn-cs"/>
              </a:rPr>
              <a:t>_{</a:t>
            </a:r>
            <a:r>
              <a:rPr lang="en-US" sz="1200" kern="1200" dirty="0" err="1">
                <a:solidFill>
                  <a:schemeClr val="tx1"/>
                </a:solidFill>
                <a:effectLst/>
                <a:latin typeface="+mn-lt"/>
                <a:ea typeface="+mn-ea"/>
                <a:cs typeface="+mn-cs"/>
              </a:rPr>
              <a:t>c_t^i</a:t>
            </a:r>
            <a:r>
              <a:rPr lang="en-US" sz="1200" kern="1200" dirty="0">
                <a:solidFill>
                  <a:schemeClr val="tx1"/>
                </a:solidFill>
                <a:effectLst/>
                <a:latin typeface="+mn-lt"/>
                <a:ea typeface="+mn-ea"/>
                <a:cs typeface="+mn-cs"/>
              </a:rPr>
              <a:t>} \, p(</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c_{1:t}, m, z_{1:t-1}, u_{1:t})\\</a:t>
            </a:r>
          </a:p>
          <a:p>
            <a:r>
              <a:rPr lang="en-US" sz="1200" kern="1200" dirty="0">
                <a:solidFill>
                  <a:schemeClr val="tx1"/>
                </a:solidFill>
                <a:effectLst/>
                <a:latin typeface="+mn-lt"/>
                <a:ea typeface="+mn-ea"/>
                <a:cs typeface="+mn-cs"/>
              </a:rPr>
              <a:t>&amp;\</a:t>
            </a:r>
            <a:r>
              <a:rPr lang="en-US" sz="1200" kern="1200" dirty="0" err="1">
                <a:solidFill>
                  <a:schemeClr val="tx1"/>
                </a:solidFill>
                <a:effectLst/>
                <a:latin typeface="+mn-lt"/>
                <a:ea typeface="+mn-ea"/>
                <a:cs typeface="+mn-cs"/>
              </a:rPr>
              <a:t>approx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argmax</a:t>
            </a:r>
            <a:r>
              <a:rPr lang="en-US" sz="1200" kern="1200" dirty="0">
                <a:solidFill>
                  <a:schemeClr val="tx1"/>
                </a:solidFill>
                <a:effectLst/>
                <a:latin typeface="+mn-lt"/>
                <a:ea typeface="+mn-ea"/>
                <a:cs typeface="+mn-cs"/>
              </a:rPr>
              <a:t>_{</a:t>
            </a:r>
            <a:r>
              <a:rPr lang="en-US" sz="1200" kern="1200" dirty="0" err="1">
                <a:solidFill>
                  <a:schemeClr val="tx1"/>
                </a:solidFill>
                <a:effectLst/>
                <a:latin typeface="+mn-lt"/>
                <a:ea typeface="+mn-ea"/>
                <a:cs typeface="+mn-cs"/>
              </a:rPr>
              <a:t>c_t^i</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mathcal</a:t>
            </a:r>
            <a:r>
              <a:rPr lang="en-US" sz="1200" kern="1200" dirty="0">
                <a:solidFill>
                  <a:schemeClr val="tx1"/>
                </a:solidFill>
                <a:effectLst/>
                <a:latin typeface="+mn-lt"/>
                <a:ea typeface="+mn-ea"/>
                <a:cs typeface="+mn-cs"/>
              </a:rPr>
              <a:t> N(</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h(\bar \</a:t>
            </a:r>
            <a:r>
              <a:rPr lang="en-US" sz="1200" kern="1200" dirty="0" err="1">
                <a:solidFill>
                  <a:schemeClr val="tx1"/>
                </a:solidFill>
                <a:effectLst/>
                <a:latin typeface="+mn-lt"/>
                <a:ea typeface="+mn-ea"/>
                <a:cs typeface="+mn-cs"/>
              </a:rPr>
              <a:t>mu_t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c_t^i</a:t>
            </a:r>
            <a:r>
              <a:rPr lang="en-US" sz="1200" kern="1200" dirty="0">
                <a:solidFill>
                  <a:schemeClr val="tx1"/>
                </a:solidFill>
                <a:effectLst/>
                <a:latin typeface="+mn-lt"/>
                <a:ea typeface="+mn-ea"/>
                <a:cs typeface="+mn-cs"/>
              </a:rPr>
              <a:t>, m), </a:t>
            </a:r>
            <a:r>
              <a:rPr lang="en-US" sz="1200" kern="1200" dirty="0" err="1">
                <a:solidFill>
                  <a:schemeClr val="tx1"/>
                </a:solidFill>
                <a:effectLst/>
                <a:latin typeface="+mn-lt"/>
                <a:ea typeface="+mn-ea"/>
                <a:cs typeface="+mn-cs"/>
              </a:rPr>
              <a:t>H_t</a:t>
            </a:r>
            <a:r>
              <a:rPr lang="en-US" sz="1200" kern="1200" dirty="0">
                <a:solidFill>
                  <a:schemeClr val="tx1"/>
                </a:solidFill>
                <a:effectLst/>
                <a:latin typeface="+mn-lt"/>
                <a:ea typeface="+mn-ea"/>
                <a:cs typeface="+mn-cs"/>
              </a:rPr>
              <a:t>\bar{\Sigma}_t </a:t>
            </a:r>
            <a:r>
              <a:rPr lang="en-US" sz="1200" kern="1200" dirty="0" err="1">
                <a:solidFill>
                  <a:schemeClr val="tx1"/>
                </a:solidFill>
                <a:effectLst/>
                <a:latin typeface="+mn-lt"/>
                <a:ea typeface="+mn-ea"/>
                <a:cs typeface="+mn-cs"/>
              </a:rPr>
              <a:t>H_t^T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Q_t</a:t>
            </a:r>
            <a:r>
              <a:rPr lang="en-US" sz="1200" kern="1200" dirty="0">
                <a:solidFill>
                  <a:schemeClr val="tx1"/>
                </a:solidFill>
                <a:effectLst/>
                <a:latin typeface="+mn-lt"/>
                <a:ea typeface="+mn-ea"/>
                <a:cs typeface="+mn-cs"/>
              </a:rPr>
              <a:t>)</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p(</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 \, c_{1:t}, m, z_{1:t-1}, u_{1:t})  \</a:t>
            </a:r>
            <a:r>
              <a:rPr lang="en-US" sz="1200" kern="1200" dirty="0" err="1">
                <a:solidFill>
                  <a:schemeClr val="tx1"/>
                </a:solidFill>
                <a:effectLst/>
                <a:latin typeface="+mn-lt"/>
                <a:ea typeface="+mn-ea"/>
                <a:cs typeface="+mn-cs"/>
              </a:rPr>
              <a:t>approx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mathcal</a:t>
            </a:r>
            <a:r>
              <a:rPr lang="en-US" sz="1200" kern="1200" dirty="0">
                <a:solidFill>
                  <a:schemeClr val="tx1"/>
                </a:solidFill>
                <a:effectLst/>
                <a:latin typeface="+mn-lt"/>
                <a:ea typeface="+mn-ea"/>
                <a:cs typeface="+mn-cs"/>
              </a:rPr>
              <a:t> N(h(\</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 </a:t>
            </a:r>
            <a:r>
              <a:rPr lang="en-US" sz="1200" kern="1200" dirty="0" err="1">
                <a:solidFill>
                  <a:schemeClr val="tx1"/>
                </a:solidFill>
                <a:effectLst/>
                <a:latin typeface="+mn-lt"/>
                <a:ea typeface="+mn-ea"/>
                <a:cs typeface="+mn-cs"/>
              </a:rPr>
              <a:t>c_t^i</a:t>
            </a:r>
            <a:r>
              <a:rPr lang="en-US" sz="1200" kern="1200" dirty="0">
                <a:solidFill>
                  <a:schemeClr val="tx1"/>
                </a:solidFill>
                <a:effectLst/>
                <a:latin typeface="+mn-lt"/>
                <a:ea typeface="+mn-ea"/>
                <a:cs typeface="+mn-cs"/>
              </a:rPr>
              <a:t>, m),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{\Sigma}_t \,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]^T + </a:t>
            </a:r>
            <a:r>
              <a:rPr lang="en-US" sz="1200" kern="1200" dirty="0" err="1">
                <a:solidFill>
                  <a:schemeClr val="tx1"/>
                </a:solidFill>
                <a:effectLst/>
                <a:latin typeface="+mn-lt"/>
                <a:ea typeface="+mn-ea"/>
                <a:cs typeface="+mn-cs"/>
              </a:rPr>
              <a:t>Q_t</a:t>
            </a:r>
            <a:r>
              <a:rPr lang="en-US" sz="1200" kern="1200" dirty="0">
                <a:solidFill>
                  <a:schemeClr val="tx1"/>
                </a:solidFill>
                <a:effectLst/>
                <a:latin typeface="+mn-lt"/>
                <a:ea typeface="+mn-ea"/>
                <a:cs typeface="+mn-cs"/>
              </a:rPr>
              <a:t>)</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p(</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 \, c_{1:t}, m, z_{1:t-1}, u_{1:t})  = \eta \, \</a:t>
            </a:r>
            <a:r>
              <a:rPr lang="en-US" sz="1200" kern="1200" dirty="0" err="1">
                <a:solidFill>
                  <a:schemeClr val="tx1"/>
                </a:solidFill>
                <a:effectLst/>
                <a:latin typeface="+mn-lt"/>
                <a:ea typeface="+mn-ea"/>
                <a:cs typeface="+mn-cs"/>
              </a:rPr>
              <a:t>exp</a:t>
            </a:r>
            <a:r>
              <a:rPr lang="en-US" sz="1200" kern="1200" dirty="0">
                <a:solidFill>
                  <a:schemeClr val="tx1"/>
                </a:solidFill>
                <a:effectLst/>
                <a:latin typeface="+mn-lt"/>
                <a:ea typeface="+mn-ea"/>
                <a:cs typeface="+mn-cs"/>
              </a:rPr>
              <a:t>\left\{-\</a:t>
            </a:r>
            <a:r>
              <a:rPr lang="en-US" sz="1200" kern="1200" dirty="0" err="1">
                <a:solidFill>
                  <a:schemeClr val="tx1"/>
                </a:solidFill>
                <a:effectLst/>
                <a:latin typeface="+mn-lt"/>
                <a:ea typeface="+mn-ea"/>
                <a:cs typeface="+mn-cs"/>
              </a:rPr>
              <a:t>frac</a:t>
            </a:r>
            <a:r>
              <a:rPr lang="en-US" sz="1200" kern="1200" dirty="0">
                <a:solidFill>
                  <a:schemeClr val="tx1"/>
                </a:solidFill>
                <a:effectLst/>
                <a:latin typeface="+mn-lt"/>
                <a:ea typeface="+mn-ea"/>
                <a:cs typeface="+mn-cs"/>
              </a:rPr>
              <a:t>{1}{2}(</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h(\</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 </a:t>
            </a:r>
            <a:r>
              <a:rPr lang="en-US" sz="1200" kern="1200" dirty="0" err="1">
                <a:solidFill>
                  <a:schemeClr val="tx1"/>
                </a:solidFill>
                <a:effectLst/>
                <a:latin typeface="+mn-lt"/>
                <a:ea typeface="+mn-ea"/>
                <a:cs typeface="+mn-cs"/>
              </a:rPr>
              <a:t>c_t^i</a:t>
            </a:r>
            <a:r>
              <a:rPr lang="en-US" sz="1200" kern="1200" dirty="0">
                <a:solidFill>
                  <a:schemeClr val="tx1"/>
                </a:solidFill>
                <a:effectLst/>
                <a:latin typeface="+mn-lt"/>
                <a:ea typeface="+mn-ea"/>
                <a:cs typeface="+mn-cs"/>
              </a:rPr>
              <a:t>, m))^T \,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{\Sigma}_t \,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]^T + </a:t>
            </a:r>
            <a:r>
              <a:rPr lang="en-US" sz="1200" kern="1200" dirty="0" err="1">
                <a:solidFill>
                  <a:schemeClr val="tx1"/>
                </a:solidFill>
                <a:effectLst/>
                <a:latin typeface="+mn-lt"/>
                <a:ea typeface="+mn-ea"/>
                <a:cs typeface="+mn-cs"/>
              </a:rPr>
              <a:t>Q_t</a:t>
            </a:r>
            <a:r>
              <a:rPr lang="en-US" sz="1200" kern="1200" dirty="0">
                <a:solidFill>
                  <a:schemeClr val="tx1"/>
                </a:solidFill>
                <a:effectLst/>
                <a:latin typeface="+mn-lt"/>
                <a:ea typeface="+mn-ea"/>
                <a:cs typeface="+mn-cs"/>
              </a:rPr>
              <a:t>)^{-1}\,(</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h(\</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 </a:t>
            </a:r>
            <a:r>
              <a:rPr lang="en-US" sz="1200" kern="1200" dirty="0" err="1">
                <a:solidFill>
                  <a:schemeClr val="tx1"/>
                </a:solidFill>
                <a:effectLst/>
                <a:latin typeface="+mn-lt"/>
                <a:ea typeface="+mn-ea"/>
                <a:cs typeface="+mn-cs"/>
              </a:rPr>
              <a:t>c_t^i</a:t>
            </a:r>
            <a:r>
              <a:rPr lang="en-US" sz="1200" kern="1200" dirty="0">
                <a:solidFill>
                  <a:schemeClr val="tx1"/>
                </a:solidFill>
                <a:effectLst/>
                <a:latin typeface="+mn-lt"/>
                <a:ea typeface="+mn-ea"/>
                <a:cs typeface="+mn-cs"/>
              </a:rPr>
              <a:t>, m))  \right \}</a:t>
            </a: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28</a:t>
            </a:fld>
            <a:endParaRPr lang="en-US"/>
          </a:p>
        </p:txBody>
      </p:sp>
    </p:spTree>
    <p:extLst>
      <p:ext uri="{BB962C8B-B14F-4D97-AF65-F5344CB8AC3E}">
        <p14:creationId xmlns:p14="http://schemas.microsoft.com/office/powerpoint/2010/main" val="9758187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e we only have a probabilistic estimate of the pose, hence have to use our best estimate for the pose, and fold in the uncertainty in our estimate. Our state estimate is given by µ¯t. As the derivation above shows, the covariance is adjusted by the additional uncertainty </a:t>
            </a:r>
            <a:r>
              <a:rPr lang="en-US" dirty="0" err="1"/>
              <a:t>Ht</a:t>
            </a:r>
            <a:r>
              <a:rPr lang="en-US" dirty="0"/>
              <a:t> </a:t>
            </a:r>
            <a:r>
              <a:rPr lang="en-US" dirty="0" err="1"/>
              <a:t>Σ</a:t>
            </a:r>
            <a:r>
              <a:rPr lang="en-US" dirty="0"/>
              <a:t>¯ t HT t ,</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Maximum likelihood techniques are brittle if there are many equally likely hypotheses for the correspondence variable. H</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To reduce the danger of asserting a false data association, there exist essentially two techniques:</a:t>
            </a:r>
            <a:endParaRPr lang="en-US" sz="1200" kern="1200" dirty="0">
              <a:solidFill>
                <a:schemeClr val="tx1"/>
              </a:solidFill>
              <a:effectLst/>
              <a:latin typeface="+mn-lt"/>
              <a:ea typeface="+mn-ea"/>
              <a:cs typeface="+mn-cs"/>
            </a:endParaRP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First, select landmarks that are sufficiently unique</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Second, make sure that the robot’s pose uncertainty remains small.</a:t>
            </a:r>
            <a:endParaRPr lang="en-US" sz="1200" kern="1200" dirty="0">
              <a:solidFill>
                <a:schemeClr val="tx1"/>
              </a:solidFill>
              <a:effectLst/>
              <a:latin typeface="+mn-lt"/>
              <a:ea typeface="+mn-ea"/>
              <a:cs typeface="+mn-cs"/>
            </a:endParaRPr>
          </a:p>
          <a:p>
            <a:endParaRPr lang="de-DE" sz="1200" kern="1200" dirty="0">
              <a:solidFill>
                <a:schemeClr val="tx1"/>
              </a:solidFill>
              <a:effectLst/>
              <a:latin typeface="+mn-lt"/>
              <a:ea typeface="+mn-ea"/>
              <a:cs typeface="+mn-cs"/>
            </a:endParaRPr>
          </a:p>
          <a:p>
            <a:endParaRPr lang="de-DE" sz="1200" kern="1200" dirty="0">
              <a:solidFill>
                <a:schemeClr val="tx1"/>
              </a:solidFill>
              <a:effectLst/>
              <a:latin typeface="+mn-lt"/>
              <a:ea typeface="+mn-ea"/>
              <a:cs typeface="+mn-cs"/>
            </a:endParaRPr>
          </a:p>
          <a:p>
            <a:r>
              <a:rPr lang="de-DE" sz="1200" kern="1200" dirty="0" err="1">
                <a:solidFill>
                  <a:schemeClr val="tx1"/>
                </a:solidFill>
                <a:effectLst/>
                <a:latin typeface="+mn-lt"/>
                <a:ea typeface="+mn-ea"/>
                <a:cs typeface="+mn-cs"/>
              </a:rPr>
              <a:t>H_t^k</a:t>
            </a:r>
            <a:r>
              <a:rPr lang="de-DE" sz="1200" kern="1200" dirty="0">
                <a:solidFill>
                  <a:schemeClr val="tx1"/>
                </a:solidFill>
                <a:effectLst/>
                <a:latin typeface="+mn-lt"/>
                <a:ea typeface="+mn-ea"/>
                <a:cs typeface="+mn-cs"/>
              </a:rPr>
              <a:t> = </a:t>
            </a:r>
          </a:p>
          <a:p>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begin</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pmatrix</a:t>
            </a:r>
            <a:r>
              <a:rPr lang="de-DE" sz="1200" kern="1200" dirty="0">
                <a:solidFill>
                  <a:schemeClr val="tx1"/>
                </a:solidFill>
                <a:effectLst/>
                <a:latin typeface="+mn-lt"/>
                <a:ea typeface="+mn-ea"/>
                <a:cs typeface="+mn-cs"/>
              </a:rPr>
              <a:t>}</a:t>
            </a:r>
          </a:p>
          <a:p>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frac</a:t>
            </a:r>
            <a:r>
              <a:rPr lang="de-DE" sz="1200" kern="1200" dirty="0">
                <a:solidFill>
                  <a:schemeClr val="tx1"/>
                </a:solidFill>
                <a:effectLst/>
                <a:latin typeface="+mn-lt"/>
                <a:ea typeface="+mn-ea"/>
                <a:cs typeface="+mn-cs"/>
              </a:rPr>
              <a:t>{m_{</a:t>
            </a:r>
            <a:r>
              <a:rPr lang="de-DE" sz="1200" kern="1200" dirty="0" err="1">
                <a:solidFill>
                  <a:schemeClr val="tx1"/>
                </a:solidFill>
                <a:effectLst/>
                <a:latin typeface="+mn-lt"/>
                <a:ea typeface="+mn-ea"/>
                <a:cs typeface="+mn-cs"/>
              </a:rPr>
              <a:t>k,x</a:t>
            </a:r>
            <a:r>
              <a:rPr lang="de-DE" sz="1200" kern="1200" dirty="0">
                <a:solidFill>
                  <a:schemeClr val="tx1"/>
                </a:solidFill>
                <a:effectLst/>
                <a:latin typeface="+mn-lt"/>
                <a:ea typeface="+mn-ea"/>
                <a:cs typeface="+mn-cs"/>
              </a:rPr>
              <a:t>} - \</a:t>
            </a:r>
            <a:r>
              <a:rPr lang="de-DE" sz="1200" kern="1200" dirty="0" err="1">
                <a:solidFill>
                  <a:schemeClr val="tx1"/>
                </a:solidFill>
                <a:effectLst/>
                <a:latin typeface="+mn-lt"/>
                <a:ea typeface="+mn-ea"/>
                <a:cs typeface="+mn-cs"/>
              </a:rPr>
              <a:t>overline</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mu</a:t>
            </a:r>
            <a:r>
              <a:rPr lang="de-DE" sz="1200" kern="1200" dirty="0">
                <a:solidFill>
                  <a:schemeClr val="tx1"/>
                </a:solidFill>
                <a:effectLst/>
                <a:latin typeface="+mn-lt"/>
                <a:ea typeface="+mn-ea"/>
                <a:cs typeface="+mn-cs"/>
              </a:rPr>
              <a:t>}_{</a:t>
            </a:r>
            <a:r>
              <a:rPr lang="de-DE" sz="1200" kern="1200" dirty="0" err="1">
                <a:solidFill>
                  <a:schemeClr val="tx1"/>
                </a:solidFill>
                <a:effectLst/>
                <a:latin typeface="+mn-lt"/>
                <a:ea typeface="+mn-ea"/>
                <a:cs typeface="+mn-cs"/>
              </a:rPr>
              <a:t>t,x</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sqrt</a:t>
            </a:r>
            <a:r>
              <a:rPr lang="de-DE" sz="1200" kern="1200" dirty="0">
                <a:solidFill>
                  <a:schemeClr val="tx1"/>
                </a:solidFill>
                <a:effectLst/>
                <a:latin typeface="+mn-lt"/>
                <a:ea typeface="+mn-ea"/>
                <a:cs typeface="+mn-cs"/>
              </a:rPr>
              <a:t>{(m_{</a:t>
            </a:r>
            <a:r>
              <a:rPr lang="de-DE" sz="1200" kern="1200" dirty="0" err="1">
                <a:solidFill>
                  <a:schemeClr val="tx1"/>
                </a:solidFill>
                <a:effectLst/>
                <a:latin typeface="+mn-lt"/>
                <a:ea typeface="+mn-ea"/>
                <a:cs typeface="+mn-cs"/>
              </a:rPr>
              <a:t>k,x</a:t>
            </a:r>
            <a:r>
              <a:rPr lang="de-DE" sz="1200" kern="1200" dirty="0">
                <a:solidFill>
                  <a:schemeClr val="tx1"/>
                </a:solidFill>
                <a:effectLst/>
                <a:latin typeface="+mn-lt"/>
                <a:ea typeface="+mn-ea"/>
                <a:cs typeface="+mn-cs"/>
              </a:rPr>
              <a:t>} - \</a:t>
            </a:r>
            <a:r>
              <a:rPr lang="de-DE" sz="1200" kern="1200" dirty="0" err="1">
                <a:solidFill>
                  <a:schemeClr val="tx1"/>
                </a:solidFill>
                <a:effectLst/>
                <a:latin typeface="+mn-lt"/>
                <a:ea typeface="+mn-ea"/>
                <a:cs typeface="+mn-cs"/>
              </a:rPr>
              <a:t>overline</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mu</a:t>
            </a:r>
            <a:r>
              <a:rPr lang="de-DE" sz="1200" kern="1200" dirty="0">
                <a:solidFill>
                  <a:schemeClr val="tx1"/>
                </a:solidFill>
                <a:effectLst/>
                <a:latin typeface="+mn-lt"/>
                <a:ea typeface="+mn-ea"/>
                <a:cs typeface="+mn-cs"/>
              </a:rPr>
              <a:t>}_{</a:t>
            </a:r>
            <a:r>
              <a:rPr lang="de-DE" sz="1200" kern="1200" dirty="0" err="1">
                <a:solidFill>
                  <a:schemeClr val="tx1"/>
                </a:solidFill>
                <a:effectLst/>
                <a:latin typeface="+mn-lt"/>
                <a:ea typeface="+mn-ea"/>
                <a:cs typeface="+mn-cs"/>
              </a:rPr>
              <a:t>t,x</a:t>
            </a:r>
            <a:r>
              <a:rPr lang="de-DE" sz="1200" kern="1200" dirty="0">
                <a:solidFill>
                  <a:schemeClr val="tx1"/>
                </a:solidFill>
                <a:effectLst/>
                <a:latin typeface="+mn-lt"/>
                <a:ea typeface="+mn-ea"/>
                <a:cs typeface="+mn-cs"/>
              </a:rPr>
              <a:t>})^2 + (m_{</a:t>
            </a:r>
            <a:r>
              <a:rPr lang="de-DE" sz="1200" kern="1200" dirty="0" err="1">
                <a:solidFill>
                  <a:schemeClr val="tx1"/>
                </a:solidFill>
                <a:effectLst/>
                <a:latin typeface="+mn-lt"/>
                <a:ea typeface="+mn-ea"/>
                <a:cs typeface="+mn-cs"/>
              </a:rPr>
              <a:t>k,y</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overline</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mu</a:t>
            </a:r>
            <a:r>
              <a:rPr lang="de-DE" sz="1200" kern="1200" dirty="0">
                <a:solidFill>
                  <a:schemeClr val="tx1"/>
                </a:solidFill>
                <a:effectLst/>
                <a:latin typeface="+mn-lt"/>
                <a:ea typeface="+mn-ea"/>
                <a:cs typeface="+mn-cs"/>
              </a:rPr>
              <a:t>}_{</a:t>
            </a:r>
            <a:r>
              <a:rPr lang="de-DE" sz="1200" kern="1200" dirty="0" err="1">
                <a:solidFill>
                  <a:schemeClr val="tx1"/>
                </a:solidFill>
                <a:effectLst/>
                <a:latin typeface="+mn-lt"/>
                <a:ea typeface="+mn-ea"/>
                <a:cs typeface="+mn-cs"/>
              </a:rPr>
              <a:t>t,y</a:t>
            </a:r>
            <a:r>
              <a:rPr lang="de-DE" sz="1200" kern="1200" dirty="0">
                <a:solidFill>
                  <a:schemeClr val="tx1"/>
                </a:solidFill>
                <a:effectLst/>
                <a:latin typeface="+mn-lt"/>
                <a:ea typeface="+mn-ea"/>
                <a:cs typeface="+mn-cs"/>
              </a:rPr>
              <a:t>})^2}}&amp;-\</a:t>
            </a:r>
            <a:r>
              <a:rPr lang="de-DE" sz="1200" kern="1200" dirty="0" err="1">
                <a:solidFill>
                  <a:schemeClr val="tx1"/>
                </a:solidFill>
                <a:effectLst/>
                <a:latin typeface="+mn-lt"/>
                <a:ea typeface="+mn-ea"/>
                <a:cs typeface="+mn-cs"/>
              </a:rPr>
              <a:t>frac</a:t>
            </a:r>
            <a:r>
              <a:rPr lang="de-DE" sz="1200" kern="1200" dirty="0">
                <a:solidFill>
                  <a:schemeClr val="tx1"/>
                </a:solidFill>
                <a:effectLst/>
                <a:latin typeface="+mn-lt"/>
                <a:ea typeface="+mn-ea"/>
                <a:cs typeface="+mn-cs"/>
              </a:rPr>
              <a:t>{m_{</a:t>
            </a:r>
            <a:r>
              <a:rPr lang="de-DE" sz="1200" kern="1200" dirty="0" err="1">
                <a:solidFill>
                  <a:schemeClr val="tx1"/>
                </a:solidFill>
                <a:effectLst/>
                <a:latin typeface="+mn-lt"/>
                <a:ea typeface="+mn-ea"/>
                <a:cs typeface="+mn-cs"/>
              </a:rPr>
              <a:t>k,y</a:t>
            </a:r>
            <a:r>
              <a:rPr lang="de-DE" sz="1200" kern="1200" dirty="0">
                <a:solidFill>
                  <a:schemeClr val="tx1"/>
                </a:solidFill>
                <a:effectLst/>
                <a:latin typeface="+mn-lt"/>
                <a:ea typeface="+mn-ea"/>
                <a:cs typeface="+mn-cs"/>
              </a:rPr>
              <a:t>} - \</a:t>
            </a:r>
            <a:r>
              <a:rPr lang="de-DE" sz="1200" kern="1200" dirty="0" err="1">
                <a:solidFill>
                  <a:schemeClr val="tx1"/>
                </a:solidFill>
                <a:effectLst/>
                <a:latin typeface="+mn-lt"/>
                <a:ea typeface="+mn-ea"/>
                <a:cs typeface="+mn-cs"/>
              </a:rPr>
              <a:t>overline</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mu</a:t>
            </a:r>
            <a:r>
              <a:rPr lang="de-DE" sz="1200" kern="1200" dirty="0">
                <a:solidFill>
                  <a:schemeClr val="tx1"/>
                </a:solidFill>
                <a:effectLst/>
                <a:latin typeface="+mn-lt"/>
                <a:ea typeface="+mn-ea"/>
                <a:cs typeface="+mn-cs"/>
              </a:rPr>
              <a:t>}_{</a:t>
            </a:r>
            <a:r>
              <a:rPr lang="de-DE" sz="1200" kern="1200" dirty="0" err="1">
                <a:solidFill>
                  <a:schemeClr val="tx1"/>
                </a:solidFill>
                <a:effectLst/>
                <a:latin typeface="+mn-lt"/>
                <a:ea typeface="+mn-ea"/>
                <a:cs typeface="+mn-cs"/>
              </a:rPr>
              <a:t>t,y</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sqrt</a:t>
            </a:r>
            <a:r>
              <a:rPr lang="de-DE" sz="1200" kern="1200" dirty="0">
                <a:solidFill>
                  <a:schemeClr val="tx1"/>
                </a:solidFill>
                <a:effectLst/>
                <a:latin typeface="+mn-lt"/>
                <a:ea typeface="+mn-ea"/>
                <a:cs typeface="+mn-cs"/>
              </a:rPr>
              <a:t>{(m_{</a:t>
            </a:r>
            <a:r>
              <a:rPr lang="de-DE" sz="1200" kern="1200" dirty="0" err="1">
                <a:solidFill>
                  <a:schemeClr val="tx1"/>
                </a:solidFill>
                <a:effectLst/>
                <a:latin typeface="+mn-lt"/>
                <a:ea typeface="+mn-ea"/>
                <a:cs typeface="+mn-cs"/>
              </a:rPr>
              <a:t>k,x</a:t>
            </a:r>
            <a:r>
              <a:rPr lang="de-DE" sz="1200" kern="1200" dirty="0">
                <a:solidFill>
                  <a:schemeClr val="tx1"/>
                </a:solidFill>
                <a:effectLst/>
                <a:latin typeface="+mn-lt"/>
                <a:ea typeface="+mn-ea"/>
                <a:cs typeface="+mn-cs"/>
              </a:rPr>
              <a:t>} - \</a:t>
            </a:r>
            <a:r>
              <a:rPr lang="de-DE" sz="1200" kern="1200" dirty="0" err="1">
                <a:solidFill>
                  <a:schemeClr val="tx1"/>
                </a:solidFill>
                <a:effectLst/>
                <a:latin typeface="+mn-lt"/>
                <a:ea typeface="+mn-ea"/>
                <a:cs typeface="+mn-cs"/>
              </a:rPr>
              <a:t>overline</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mu</a:t>
            </a:r>
            <a:r>
              <a:rPr lang="de-DE" sz="1200" kern="1200" dirty="0">
                <a:solidFill>
                  <a:schemeClr val="tx1"/>
                </a:solidFill>
                <a:effectLst/>
                <a:latin typeface="+mn-lt"/>
                <a:ea typeface="+mn-ea"/>
                <a:cs typeface="+mn-cs"/>
              </a:rPr>
              <a:t>}_{</a:t>
            </a:r>
            <a:r>
              <a:rPr lang="de-DE" sz="1200" kern="1200" dirty="0" err="1">
                <a:solidFill>
                  <a:schemeClr val="tx1"/>
                </a:solidFill>
                <a:effectLst/>
                <a:latin typeface="+mn-lt"/>
                <a:ea typeface="+mn-ea"/>
                <a:cs typeface="+mn-cs"/>
              </a:rPr>
              <a:t>t,x</a:t>
            </a:r>
            <a:r>
              <a:rPr lang="de-DE" sz="1200" kern="1200" dirty="0">
                <a:solidFill>
                  <a:schemeClr val="tx1"/>
                </a:solidFill>
                <a:effectLst/>
                <a:latin typeface="+mn-lt"/>
                <a:ea typeface="+mn-ea"/>
                <a:cs typeface="+mn-cs"/>
              </a:rPr>
              <a:t>})^2 + (m_{</a:t>
            </a:r>
            <a:r>
              <a:rPr lang="de-DE" sz="1200" kern="1200" dirty="0" err="1">
                <a:solidFill>
                  <a:schemeClr val="tx1"/>
                </a:solidFill>
                <a:effectLst/>
                <a:latin typeface="+mn-lt"/>
                <a:ea typeface="+mn-ea"/>
                <a:cs typeface="+mn-cs"/>
              </a:rPr>
              <a:t>k,y</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overline</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mu</a:t>
            </a:r>
            <a:r>
              <a:rPr lang="de-DE" sz="1200" kern="1200" dirty="0">
                <a:solidFill>
                  <a:schemeClr val="tx1"/>
                </a:solidFill>
                <a:effectLst/>
                <a:latin typeface="+mn-lt"/>
                <a:ea typeface="+mn-ea"/>
                <a:cs typeface="+mn-cs"/>
              </a:rPr>
              <a:t>}_{</a:t>
            </a:r>
            <a:r>
              <a:rPr lang="de-DE" sz="1200" kern="1200" dirty="0" err="1">
                <a:solidFill>
                  <a:schemeClr val="tx1"/>
                </a:solidFill>
                <a:effectLst/>
                <a:latin typeface="+mn-lt"/>
                <a:ea typeface="+mn-ea"/>
                <a:cs typeface="+mn-cs"/>
              </a:rPr>
              <a:t>t,y</a:t>
            </a:r>
            <a:r>
              <a:rPr lang="de-DE" sz="1200" kern="1200" dirty="0">
                <a:solidFill>
                  <a:schemeClr val="tx1"/>
                </a:solidFill>
                <a:effectLst/>
                <a:latin typeface="+mn-lt"/>
                <a:ea typeface="+mn-ea"/>
                <a:cs typeface="+mn-cs"/>
              </a:rPr>
              <a:t>})^2}} &amp; 0\\</a:t>
            </a:r>
          </a:p>
          <a:p>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frac</a:t>
            </a:r>
            <a:r>
              <a:rPr lang="de-DE" sz="1200" kern="1200" dirty="0">
                <a:solidFill>
                  <a:schemeClr val="tx1"/>
                </a:solidFill>
                <a:effectLst/>
                <a:latin typeface="+mn-lt"/>
                <a:ea typeface="+mn-ea"/>
                <a:cs typeface="+mn-cs"/>
              </a:rPr>
              <a:t>{m_{</a:t>
            </a:r>
            <a:r>
              <a:rPr lang="de-DE" sz="1200" kern="1200" dirty="0" err="1">
                <a:solidFill>
                  <a:schemeClr val="tx1"/>
                </a:solidFill>
                <a:effectLst/>
                <a:latin typeface="+mn-lt"/>
                <a:ea typeface="+mn-ea"/>
                <a:cs typeface="+mn-cs"/>
              </a:rPr>
              <a:t>k,y</a:t>
            </a:r>
            <a:r>
              <a:rPr lang="de-DE" sz="1200" kern="1200" dirty="0">
                <a:solidFill>
                  <a:schemeClr val="tx1"/>
                </a:solidFill>
                <a:effectLst/>
                <a:latin typeface="+mn-lt"/>
                <a:ea typeface="+mn-ea"/>
                <a:cs typeface="+mn-cs"/>
              </a:rPr>
              <a:t>} - \</a:t>
            </a:r>
            <a:r>
              <a:rPr lang="de-DE" sz="1200" kern="1200" dirty="0" err="1">
                <a:solidFill>
                  <a:schemeClr val="tx1"/>
                </a:solidFill>
                <a:effectLst/>
                <a:latin typeface="+mn-lt"/>
                <a:ea typeface="+mn-ea"/>
                <a:cs typeface="+mn-cs"/>
              </a:rPr>
              <a:t>overline</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mu</a:t>
            </a:r>
            <a:r>
              <a:rPr lang="de-DE" sz="1200" kern="1200" dirty="0">
                <a:solidFill>
                  <a:schemeClr val="tx1"/>
                </a:solidFill>
                <a:effectLst/>
                <a:latin typeface="+mn-lt"/>
                <a:ea typeface="+mn-ea"/>
                <a:cs typeface="+mn-cs"/>
              </a:rPr>
              <a:t>}_{</a:t>
            </a:r>
            <a:r>
              <a:rPr lang="de-DE" sz="1200" kern="1200" dirty="0" err="1">
                <a:solidFill>
                  <a:schemeClr val="tx1"/>
                </a:solidFill>
                <a:effectLst/>
                <a:latin typeface="+mn-lt"/>
                <a:ea typeface="+mn-ea"/>
                <a:cs typeface="+mn-cs"/>
              </a:rPr>
              <a:t>t,y</a:t>
            </a:r>
            <a:r>
              <a:rPr lang="de-DE" sz="1200" kern="1200" dirty="0">
                <a:solidFill>
                  <a:schemeClr val="tx1"/>
                </a:solidFill>
                <a:effectLst/>
                <a:latin typeface="+mn-lt"/>
                <a:ea typeface="+mn-ea"/>
                <a:cs typeface="+mn-cs"/>
              </a:rPr>
              <a:t>}}{{(m_{</a:t>
            </a:r>
            <a:r>
              <a:rPr lang="de-DE" sz="1200" kern="1200" dirty="0" err="1">
                <a:solidFill>
                  <a:schemeClr val="tx1"/>
                </a:solidFill>
                <a:effectLst/>
                <a:latin typeface="+mn-lt"/>
                <a:ea typeface="+mn-ea"/>
                <a:cs typeface="+mn-cs"/>
              </a:rPr>
              <a:t>k,x</a:t>
            </a:r>
            <a:r>
              <a:rPr lang="de-DE" sz="1200" kern="1200" dirty="0">
                <a:solidFill>
                  <a:schemeClr val="tx1"/>
                </a:solidFill>
                <a:effectLst/>
                <a:latin typeface="+mn-lt"/>
                <a:ea typeface="+mn-ea"/>
                <a:cs typeface="+mn-cs"/>
              </a:rPr>
              <a:t>} - \</a:t>
            </a:r>
            <a:r>
              <a:rPr lang="de-DE" sz="1200" kern="1200" dirty="0" err="1">
                <a:solidFill>
                  <a:schemeClr val="tx1"/>
                </a:solidFill>
                <a:effectLst/>
                <a:latin typeface="+mn-lt"/>
                <a:ea typeface="+mn-ea"/>
                <a:cs typeface="+mn-cs"/>
              </a:rPr>
              <a:t>overline</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mu</a:t>
            </a:r>
            <a:r>
              <a:rPr lang="de-DE" sz="1200" kern="1200" dirty="0">
                <a:solidFill>
                  <a:schemeClr val="tx1"/>
                </a:solidFill>
                <a:effectLst/>
                <a:latin typeface="+mn-lt"/>
                <a:ea typeface="+mn-ea"/>
                <a:cs typeface="+mn-cs"/>
              </a:rPr>
              <a:t>}_{</a:t>
            </a:r>
            <a:r>
              <a:rPr lang="de-DE" sz="1200" kern="1200" dirty="0" err="1">
                <a:solidFill>
                  <a:schemeClr val="tx1"/>
                </a:solidFill>
                <a:effectLst/>
                <a:latin typeface="+mn-lt"/>
                <a:ea typeface="+mn-ea"/>
                <a:cs typeface="+mn-cs"/>
              </a:rPr>
              <a:t>t,x</a:t>
            </a:r>
            <a:r>
              <a:rPr lang="de-DE" sz="1200" kern="1200" dirty="0">
                <a:solidFill>
                  <a:schemeClr val="tx1"/>
                </a:solidFill>
                <a:effectLst/>
                <a:latin typeface="+mn-lt"/>
                <a:ea typeface="+mn-ea"/>
                <a:cs typeface="+mn-cs"/>
              </a:rPr>
              <a:t>})^2 + (m_{</a:t>
            </a:r>
            <a:r>
              <a:rPr lang="de-DE" sz="1200" kern="1200" dirty="0" err="1">
                <a:solidFill>
                  <a:schemeClr val="tx1"/>
                </a:solidFill>
                <a:effectLst/>
                <a:latin typeface="+mn-lt"/>
                <a:ea typeface="+mn-ea"/>
                <a:cs typeface="+mn-cs"/>
              </a:rPr>
              <a:t>k,y</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overline</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mu</a:t>
            </a:r>
            <a:r>
              <a:rPr lang="de-DE" sz="1200" kern="1200" dirty="0">
                <a:solidFill>
                  <a:schemeClr val="tx1"/>
                </a:solidFill>
                <a:effectLst/>
                <a:latin typeface="+mn-lt"/>
                <a:ea typeface="+mn-ea"/>
                <a:cs typeface="+mn-cs"/>
              </a:rPr>
              <a:t>}_{</a:t>
            </a:r>
            <a:r>
              <a:rPr lang="de-DE" sz="1200" kern="1200" dirty="0" err="1">
                <a:solidFill>
                  <a:schemeClr val="tx1"/>
                </a:solidFill>
                <a:effectLst/>
                <a:latin typeface="+mn-lt"/>
                <a:ea typeface="+mn-ea"/>
                <a:cs typeface="+mn-cs"/>
              </a:rPr>
              <a:t>t,y</a:t>
            </a:r>
            <a:r>
              <a:rPr lang="de-DE" sz="1200" kern="1200" dirty="0">
                <a:solidFill>
                  <a:schemeClr val="tx1"/>
                </a:solidFill>
                <a:effectLst/>
                <a:latin typeface="+mn-lt"/>
                <a:ea typeface="+mn-ea"/>
                <a:cs typeface="+mn-cs"/>
              </a:rPr>
              <a:t>})^2}}&amp;-\</a:t>
            </a:r>
            <a:r>
              <a:rPr lang="de-DE" sz="1200" kern="1200" dirty="0" err="1">
                <a:solidFill>
                  <a:schemeClr val="tx1"/>
                </a:solidFill>
                <a:effectLst/>
                <a:latin typeface="+mn-lt"/>
                <a:ea typeface="+mn-ea"/>
                <a:cs typeface="+mn-cs"/>
              </a:rPr>
              <a:t>frac</a:t>
            </a:r>
            <a:r>
              <a:rPr lang="de-DE" sz="1200" kern="1200" dirty="0">
                <a:solidFill>
                  <a:schemeClr val="tx1"/>
                </a:solidFill>
                <a:effectLst/>
                <a:latin typeface="+mn-lt"/>
                <a:ea typeface="+mn-ea"/>
                <a:cs typeface="+mn-cs"/>
              </a:rPr>
              <a:t>{m_{</a:t>
            </a:r>
            <a:r>
              <a:rPr lang="de-DE" sz="1200" kern="1200" dirty="0" err="1">
                <a:solidFill>
                  <a:schemeClr val="tx1"/>
                </a:solidFill>
                <a:effectLst/>
                <a:latin typeface="+mn-lt"/>
                <a:ea typeface="+mn-ea"/>
                <a:cs typeface="+mn-cs"/>
              </a:rPr>
              <a:t>k,x</a:t>
            </a:r>
            <a:r>
              <a:rPr lang="de-DE" sz="1200" kern="1200" dirty="0">
                <a:solidFill>
                  <a:schemeClr val="tx1"/>
                </a:solidFill>
                <a:effectLst/>
                <a:latin typeface="+mn-lt"/>
                <a:ea typeface="+mn-ea"/>
                <a:cs typeface="+mn-cs"/>
              </a:rPr>
              <a:t>} - \</a:t>
            </a:r>
            <a:r>
              <a:rPr lang="de-DE" sz="1200" kern="1200" dirty="0" err="1">
                <a:solidFill>
                  <a:schemeClr val="tx1"/>
                </a:solidFill>
                <a:effectLst/>
                <a:latin typeface="+mn-lt"/>
                <a:ea typeface="+mn-ea"/>
                <a:cs typeface="+mn-cs"/>
              </a:rPr>
              <a:t>overline</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mu</a:t>
            </a:r>
            <a:r>
              <a:rPr lang="de-DE" sz="1200" kern="1200" dirty="0">
                <a:solidFill>
                  <a:schemeClr val="tx1"/>
                </a:solidFill>
                <a:effectLst/>
                <a:latin typeface="+mn-lt"/>
                <a:ea typeface="+mn-ea"/>
                <a:cs typeface="+mn-cs"/>
              </a:rPr>
              <a:t>}_{</a:t>
            </a:r>
            <a:r>
              <a:rPr lang="de-DE" sz="1200" kern="1200" dirty="0" err="1">
                <a:solidFill>
                  <a:schemeClr val="tx1"/>
                </a:solidFill>
                <a:effectLst/>
                <a:latin typeface="+mn-lt"/>
                <a:ea typeface="+mn-ea"/>
                <a:cs typeface="+mn-cs"/>
              </a:rPr>
              <a:t>t,x</a:t>
            </a:r>
            <a:r>
              <a:rPr lang="de-DE" sz="1200" kern="1200" dirty="0">
                <a:solidFill>
                  <a:schemeClr val="tx1"/>
                </a:solidFill>
                <a:effectLst/>
                <a:latin typeface="+mn-lt"/>
                <a:ea typeface="+mn-ea"/>
                <a:cs typeface="+mn-cs"/>
              </a:rPr>
              <a:t>}}{{(m_{</a:t>
            </a:r>
            <a:r>
              <a:rPr lang="de-DE" sz="1200" kern="1200" dirty="0" err="1">
                <a:solidFill>
                  <a:schemeClr val="tx1"/>
                </a:solidFill>
                <a:effectLst/>
                <a:latin typeface="+mn-lt"/>
                <a:ea typeface="+mn-ea"/>
                <a:cs typeface="+mn-cs"/>
              </a:rPr>
              <a:t>k,x</a:t>
            </a:r>
            <a:r>
              <a:rPr lang="de-DE" sz="1200" kern="1200" dirty="0">
                <a:solidFill>
                  <a:schemeClr val="tx1"/>
                </a:solidFill>
                <a:effectLst/>
                <a:latin typeface="+mn-lt"/>
                <a:ea typeface="+mn-ea"/>
                <a:cs typeface="+mn-cs"/>
              </a:rPr>
              <a:t>} - \</a:t>
            </a:r>
            <a:r>
              <a:rPr lang="de-DE" sz="1200" kern="1200" dirty="0" err="1">
                <a:solidFill>
                  <a:schemeClr val="tx1"/>
                </a:solidFill>
                <a:effectLst/>
                <a:latin typeface="+mn-lt"/>
                <a:ea typeface="+mn-ea"/>
                <a:cs typeface="+mn-cs"/>
              </a:rPr>
              <a:t>overline</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mu</a:t>
            </a:r>
            <a:r>
              <a:rPr lang="de-DE" sz="1200" kern="1200" dirty="0">
                <a:solidFill>
                  <a:schemeClr val="tx1"/>
                </a:solidFill>
                <a:effectLst/>
                <a:latin typeface="+mn-lt"/>
                <a:ea typeface="+mn-ea"/>
                <a:cs typeface="+mn-cs"/>
              </a:rPr>
              <a:t>}_{</a:t>
            </a:r>
            <a:r>
              <a:rPr lang="de-DE" sz="1200" kern="1200" dirty="0" err="1">
                <a:solidFill>
                  <a:schemeClr val="tx1"/>
                </a:solidFill>
                <a:effectLst/>
                <a:latin typeface="+mn-lt"/>
                <a:ea typeface="+mn-ea"/>
                <a:cs typeface="+mn-cs"/>
              </a:rPr>
              <a:t>t,x</a:t>
            </a:r>
            <a:r>
              <a:rPr lang="de-DE" sz="1200" kern="1200" dirty="0">
                <a:solidFill>
                  <a:schemeClr val="tx1"/>
                </a:solidFill>
                <a:effectLst/>
                <a:latin typeface="+mn-lt"/>
                <a:ea typeface="+mn-ea"/>
                <a:cs typeface="+mn-cs"/>
              </a:rPr>
              <a:t>})^2 + (m_{</a:t>
            </a:r>
            <a:r>
              <a:rPr lang="de-DE" sz="1200" kern="1200" dirty="0" err="1">
                <a:solidFill>
                  <a:schemeClr val="tx1"/>
                </a:solidFill>
                <a:effectLst/>
                <a:latin typeface="+mn-lt"/>
                <a:ea typeface="+mn-ea"/>
                <a:cs typeface="+mn-cs"/>
              </a:rPr>
              <a:t>k,y</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overline</a:t>
            </a:r>
            <a:r>
              <a:rPr lang="de-DE" sz="1200" kern="1200" dirty="0">
                <a:solidFill>
                  <a:schemeClr val="tx1"/>
                </a:solidFill>
                <a:effectLst/>
                <a:latin typeface="+mn-lt"/>
                <a:ea typeface="+mn-ea"/>
                <a:cs typeface="+mn-cs"/>
              </a:rPr>
              <a:t>{\</a:t>
            </a:r>
            <a:r>
              <a:rPr lang="de-DE" sz="1200" kern="1200" dirty="0" err="1">
                <a:solidFill>
                  <a:schemeClr val="tx1"/>
                </a:solidFill>
                <a:effectLst/>
                <a:latin typeface="+mn-lt"/>
                <a:ea typeface="+mn-ea"/>
                <a:cs typeface="+mn-cs"/>
              </a:rPr>
              <a:t>mu</a:t>
            </a:r>
            <a:r>
              <a:rPr lang="de-DE" sz="1200" kern="1200" dirty="0">
                <a:solidFill>
                  <a:schemeClr val="tx1"/>
                </a:solidFill>
                <a:effectLst/>
                <a:latin typeface="+mn-lt"/>
                <a:ea typeface="+mn-ea"/>
                <a:cs typeface="+mn-cs"/>
              </a:rPr>
              <a:t>}_{</a:t>
            </a:r>
            <a:r>
              <a:rPr lang="de-DE" sz="1200" kern="1200" dirty="0" err="1">
                <a:solidFill>
                  <a:schemeClr val="tx1"/>
                </a:solidFill>
                <a:effectLst/>
                <a:latin typeface="+mn-lt"/>
                <a:ea typeface="+mn-ea"/>
                <a:cs typeface="+mn-cs"/>
              </a:rPr>
              <a:t>t,y</a:t>
            </a:r>
            <a:r>
              <a:rPr lang="de-DE" sz="1200" kern="1200" dirty="0">
                <a:solidFill>
                  <a:schemeClr val="tx1"/>
                </a:solidFill>
                <a:effectLst/>
                <a:latin typeface="+mn-lt"/>
                <a:ea typeface="+mn-ea"/>
                <a:cs typeface="+mn-cs"/>
              </a:rPr>
              <a:t>})^2}} &amp; -1</a:t>
            </a:r>
          </a:p>
          <a:p>
            <a:r>
              <a:rPr lang="de-DE" sz="1200" kern="1200" dirty="0">
                <a:solidFill>
                  <a:schemeClr val="tx1"/>
                </a:solidFill>
                <a:effectLst/>
                <a:latin typeface="+mn-lt"/>
                <a:ea typeface="+mn-ea"/>
                <a:cs typeface="+mn-cs"/>
              </a:rPr>
              <a:t>\end{</a:t>
            </a:r>
            <a:r>
              <a:rPr lang="de-DE" sz="1200" kern="1200" dirty="0" err="1">
                <a:solidFill>
                  <a:schemeClr val="tx1"/>
                </a:solidFill>
                <a:effectLst/>
                <a:latin typeface="+mn-lt"/>
                <a:ea typeface="+mn-ea"/>
                <a:cs typeface="+mn-cs"/>
              </a:rPr>
              <a:t>pmatrix</a:t>
            </a:r>
            <a:r>
              <a:rPr lang="de-DE" sz="1200" kern="1200" dirty="0">
                <a:solidFill>
                  <a:schemeClr val="tx1"/>
                </a:solidFill>
                <a:effectLst/>
                <a:latin typeface="+mn-lt"/>
                <a:ea typeface="+mn-ea"/>
                <a:cs typeface="+mn-cs"/>
              </a:rPr>
              <a:t>}</a:t>
            </a:r>
          </a:p>
          <a:p>
            <a:br>
              <a:rPr lang="de-DE" sz="1200" kern="1200" dirty="0">
                <a:solidFill>
                  <a:schemeClr val="tx1"/>
                </a:solidFill>
                <a:effectLst/>
                <a:latin typeface="+mn-lt"/>
                <a:ea typeface="+mn-ea"/>
                <a:cs typeface="+mn-cs"/>
              </a:rPr>
            </a:br>
            <a:endParaRPr lang="de-DE"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\begin{algorithm}[H]</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KwData</a:t>
            </a:r>
            <a:r>
              <a:rPr lang="en-US" sz="1200" kern="1200" dirty="0">
                <a:solidFill>
                  <a:schemeClr val="tx1"/>
                </a:solidFill>
                <a:effectLst/>
                <a:latin typeface="+mn-lt"/>
                <a:ea typeface="+mn-ea"/>
                <a:cs typeface="+mn-cs"/>
              </a:rPr>
              <a:t>{$(\mu_{t-1}, \Sigma_{t-1}), </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z_t</a:t>
            </a:r>
            <a:r>
              <a:rPr lang="en-US" sz="1200" kern="1200" dirty="0">
                <a:solidFill>
                  <a:schemeClr val="tx1"/>
                </a:solidFill>
                <a:effectLst/>
                <a:latin typeface="+mn-lt"/>
                <a:ea typeface="+mn-ea"/>
                <a:cs typeface="+mn-cs"/>
              </a:rPr>
              <a:t>, {\color{red} m}$}</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KwResult</a:t>
            </a:r>
            <a:r>
              <a:rPr lang="en-US" sz="1200" kern="1200" dirty="0">
                <a:solidFill>
                  <a:schemeClr val="tx1"/>
                </a:solidFill>
                <a:effectLst/>
                <a:latin typeface="+mn-lt"/>
                <a:ea typeface="+mn-ea"/>
                <a:cs typeface="+mn-cs"/>
              </a:rPr>
              <a:t>{$(\mu_{t}, \Sigma_{t})$}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 =  { g(</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\mu_{t-1})}$ \;</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{\Sigma}_t = { </a:t>
            </a:r>
            <a:r>
              <a:rPr lang="en-US" sz="1200" kern="1200" dirty="0" err="1">
                <a:solidFill>
                  <a:schemeClr val="tx1"/>
                </a:solidFill>
                <a:effectLst/>
                <a:latin typeface="+mn-lt"/>
                <a:ea typeface="+mn-ea"/>
                <a:cs typeface="+mn-cs"/>
              </a:rPr>
              <a:t>G_t</a:t>
            </a:r>
            <a:r>
              <a:rPr lang="en-US" sz="1200" kern="1200" dirty="0">
                <a:solidFill>
                  <a:schemeClr val="tx1"/>
                </a:solidFill>
                <a:effectLst/>
                <a:latin typeface="+mn-lt"/>
                <a:ea typeface="+mn-ea"/>
                <a:cs typeface="+mn-cs"/>
              </a:rPr>
              <a:t>} \Sigma_{t-1}{ </a:t>
            </a:r>
            <a:r>
              <a:rPr lang="en-US" sz="1200" kern="1200" dirty="0" err="1">
                <a:solidFill>
                  <a:schemeClr val="tx1"/>
                </a:solidFill>
                <a:effectLst/>
                <a:latin typeface="+mn-lt"/>
                <a:ea typeface="+mn-ea"/>
                <a:cs typeface="+mn-cs"/>
              </a:rPr>
              <a:t>G_t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T+R_t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BlankLine</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ForEach</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r_t^i</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phi_t^i</a:t>
            </a:r>
            <a:r>
              <a:rPr lang="en-US" sz="1200" kern="1200" dirty="0">
                <a:solidFill>
                  <a:schemeClr val="tx1"/>
                </a:solidFill>
                <a:effectLst/>
                <a:latin typeface="+mn-lt"/>
                <a:ea typeface="+mn-ea"/>
                <a:cs typeface="+mn-cs"/>
              </a:rPr>
              <a:t>)^T$}{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ForEach</a:t>
            </a:r>
            <a:r>
              <a:rPr lang="en-US" sz="1200" kern="1200" dirty="0">
                <a:solidFill>
                  <a:schemeClr val="tx1"/>
                </a:solidFill>
                <a:effectLst/>
                <a:latin typeface="+mn-lt"/>
                <a:ea typeface="+mn-ea"/>
                <a:cs typeface="+mn-cs"/>
              </a:rPr>
              <a:t>{landmark $k$ in the map}{</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$\hat </a:t>
            </a:r>
            <a:r>
              <a:rPr lang="en-US" sz="1200" kern="1200" dirty="0" err="1">
                <a:solidFill>
                  <a:schemeClr val="tx1"/>
                </a:solidFill>
                <a:effectLst/>
                <a:latin typeface="+mn-lt"/>
                <a:ea typeface="+mn-ea"/>
                <a:cs typeface="+mn-cs"/>
              </a:rPr>
              <a:t>z_t^k</a:t>
            </a:r>
            <a:r>
              <a:rPr lang="en-US" sz="1200" kern="1200" dirty="0">
                <a:solidFill>
                  <a:schemeClr val="tx1"/>
                </a:solidFill>
                <a:effectLst/>
                <a:latin typeface="+mn-lt"/>
                <a:ea typeface="+mn-ea"/>
                <a:cs typeface="+mn-cs"/>
              </a:rPr>
              <a:t> = \begin{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sqrt</a:t>
            </a:r>
            <a:r>
              <a:rPr lang="en-US" sz="1200" kern="1200" dirty="0">
                <a:solidFill>
                  <a:schemeClr val="tx1"/>
                </a:solidFill>
                <a:effectLst/>
                <a:latin typeface="+mn-lt"/>
                <a:ea typeface="+mn-ea"/>
                <a:cs typeface="+mn-cs"/>
              </a:rPr>
              <a:t>{(m_{</a:t>
            </a:r>
            <a:r>
              <a:rPr lang="en-US" sz="1200" kern="1200" dirty="0" err="1">
                <a:solidFill>
                  <a:schemeClr val="tx1"/>
                </a:solidFill>
                <a:effectLst/>
                <a:latin typeface="+mn-lt"/>
                <a:ea typeface="+mn-ea"/>
                <a:cs typeface="+mn-cs"/>
              </a:rPr>
              <a:t>k,x</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})^2 + (m_{</a:t>
            </a:r>
            <a:r>
              <a:rPr lang="en-US" sz="1200" kern="1200" dirty="0" err="1">
                <a:solidFill>
                  <a:schemeClr val="tx1"/>
                </a:solidFill>
                <a:effectLst/>
                <a:latin typeface="+mn-lt"/>
                <a:ea typeface="+mn-ea"/>
                <a:cs typeface="+mn-cs"/>
              </a:rPr>
              <a:t>k,y</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})^2}\\</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atantwo</a:t>
            </a:r>
            <a:r>
              <a:rPr lang="en-US" sz="1200" kern="1200" dirty="0">
                <a:solidFill>
                  <a:schemeClr val="tx1"/>
                </a:solidFill>
                <a:effectLst/>
                <a:latin typeface="+mn-lt"/>
                <a:ea typeface="+mn-ea"/>
                <a:cs typeface="+mn-cs"/>
              </a:rPr>
              <a:t>(m_{</a:t>
            </a:r>
            <a:r>
              <a:rPr lang="en-US" sz="1200" kern="1200" dirty="0" err="1">
                <a:solidFill>
                  <a:schemeClr val="tx1"/>
                </a:solidFill>
                <a:effectLst/>
                <a:latin typeface="+mn-lt"/>
                <a:ea typeface="+mn-ea"/>
                <a:cs typeface="+mn-cs"/>
              </a:rPr>
              <a:t>k,y</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 m_{</a:t>
            </a:r>
            <a:r>
              <a:rPr lang="en-US" sz="1200" kern="1200" dirty="0" err="1">
                <a:solidFill>
                  <a:schemeClr val="tx1"/>
                </a:solidFill>
                <a:effectLst/>
                <a:latin typeface="+mn-lt"/>
                <a:ea typeface="+mn-ea"/>
                <a:cs typeface="+mn-cs"/>
              </a:rPr>
              <a:t>k,x</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{\mu}_{t,\theta}</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BlankLine</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S_t^k</a:t>
            </a:r>
            <a:r>
              <a:rPr lang="en-US" sz="1200" kern="1200" dirty="0">
                <a:solidFill>
                  <a:schemeClr val="tx1"/>
                </a:solidFill>
                <a:effectLst/>
                <a:latin typeface="+mn-lt"/>
                <a:ea typeface="+mn-ea"/>
                <a:cs typeface="+mn-cs"/>
              </a:rPr>
              <a:t> = { </a:t>
            </a:r>
            <a:r>
              <a:rPr lang="en-US" sz="1200" kern="1200" dirty="0" err="1">
                <a:solidFill>
                  <a:schemeClr val="tx1"/>
                </a:solidFill>
                <a:effectLst/>
                <a:latin typeface="+mn-lt"/>
                <a:ea typeface="+mn-ea"/>
                <a:cs typeface="+mn-cs"/>
              </a:rPr>
              <a:t>H_t^k</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{\Sigma}_t \, { [</a:t>
            </a:r>
            <a:r>
              <a:rPr lang="en-US" sz="1200" kern="1200" dirty="0" err="1">
                <a:solidFill>
                  <a:schemeClr val="tx1"/>
                </a:solidFill>
                <a:effectLst/>
                <a:latin typeface="+mn-lt"/>
                <a:ea typeface="+mn-ea"/>
                <a:cs typeface="+mn-cs"/>
              </a:rPr>
              <a:t>H_t^k</a:t>
            </a:r>
            <a:r>
              <a:rPr lang="en-US" sz="1200" kern="1200" dirty="0">
                <a:solidFill>
                  <a:schemeClr val="tx1"/>
                </a:solidFill>
                <a:effectLst/>
                <a:latin typeface="+mn-lt"/>
                <a:ea typeface="+mn-ea"/>
                <a:cs typeface="+mn-cs"/>
              </a:rPr>
              <a:t>]^T}+</a:t>
            </a:r>
            <a:r>
              <a:rPr lang="en-US" sz="1200" kern="1200" dirty="0" err="1">
                <a:solidFill>
                  <a:schemeClr val="tx1"/>
                </a:solidFill>
                <a:effectLst/>
                <a:latin typeface="+mn-lt"/>
                <a:ea typeface="+mn-ea"/>
                <a:cs typeface="+mn-cs"/>
              </a:rPr>
              <a:t>Q_t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$j(</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argmax_k</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mathcal</a:t>
            </a:r>
            <a:r>
              <a:rPr lang="en-US" sz="1200" kern="1200" dirty="0">
                <a:solidFill>
                  <a:schemeClr val="tx1"/>
                </a:solidFill>
                <a:effectLst/>
                <a:latin typeface="+mn-lt"/>
                <a:ea typeface="+mn-ea"/>
                <a:cs typeface="+mn-cs"/>
              </a:rPr>
              <a:t> N(\hat </a:t>
            </a:r>
            <a:r>
              <a:rPr lang="en-US" sz="1200" kern="1200" dirty="0" err="1">
                <a:solidFill>
                  <a:schemeClr val="tx1"/>
                </a:solidFill>
                <a:effectLst/>
                <a:latin typeface="+mn-lt"/>
                <a:ea typeface="+mn-ea"/>
                <a:cs typeface="+mn-cs"/>
              </a:rPr>
              <a:t>z_t^k</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S_t^k</a:t>
            </a:r>
            <a:r>
              <a:rPr lang="en-US" sz="1200" kern="1200" dirty="0">
                <a:solidFill>
                  <a:schemeClr val="tx1"/>
                </a:solidFill>
                <a:effectLst/>
                <a:latin typeface="+mn-lt"/>
                <a:ea typeface="+mn-ea"/>
                <a:cs typeface="+mn-cs"/>
              </a:rPr>
              <a:t>)$\;</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K_t^i</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{\Sigma}_t \, { [</a:t>
            </a:r>
            <a:r>
              <a:rPr lang="en-US" sz="1200" kern="1200" dirty="0" err="1">
                <a:solidFill>
                  <a:schemeClr val="tx1"/>
                </a:solidFill>
                <a:effectLst/>
                <a:latin typeface="+mn-lt"/>
                <a:ea typeface="+mn-ea"/>
                <a:cs typeface="+mn-cs"/>
              </a:rPr>
              <a:t>H_t</a:t>
            </a:r>
            <a:r>
              <a:rPr lang="en-US" sz="1200" kern="1200" dirty="0">
                <a:solidFill>
                  <a:schemeClr val="tx1"/>
                </a:solidFill>
                <a:effectLst/>
                <a:latin typeface="+mn-lt"/>
                <a:ea typeface="+mn-ea"/>
                <a:cs typeface="+mn-cs"/>
              </a:rPr>
              <a:t>^{\color{red} j(</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)}]^T} \, [</a:t>
            </a:r>
            <a:r>
              <a:rPr lang="en-US" sz="1200" kern="1200" dirty="0" err="1">
                <a:solidFill>
                  <a:schemeClr val="tx1"/>
                </a:solidFill>
                <a:effectLst/>
                <a:latin typeface="+mn-lt"/>
                <a:ea typeface="+mn-ea"/>
                <a:cs typeface="+mn-cs"/>
              </a:rPr>
              <a:t>S_t</a:t>
            </a:r>
            <a:r>
              <a:rPr lang="en-US" sz="1200" kern="1200" dirty="0">
                <a:solidFill>
                  <a:schemeClr val="tx1"/>
                </a:solidFill>
                <a:effectLst/>
                <a:latin typeface="+mn-lt"/>
                <a:ea typeface="+mn-ea"/>
                <a:cs typeface="+mn-cs"/>
              </a:rPr>
              <a:t>^{\color{red} j(</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)}]^{-1}$\;</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  + </a:t>
            </a:r>
            <a:r>
              <a:rPr lang="en-US" sz="1200" kern="1200" dirty="0" err="1">
                <a:solidFill>
                  <a:schemeClr val="tx1"/>
                </a:solidFill>
                <a:effectLst/>
                <a:latin typeface="+mn-lt"/>
                <a:ea typeface="+mn-ea"/>
                <a:cs typeface="+mn-cs"/>
              </a:rPr>
              <a:t>K_t^i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\hat{z}_t^{\color{red} j(</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{\Sigma}_t = (I - </a:t>
            </a:r>
            <a:r>
              <a:rPr lang="en-US" sz="1200" kern="1200" dirty="0" err="1">
                <a:solidFill>
                  <a:schemeClr val="tx1"/>
                </a:solidFill>
                <a:effectLst/>
                <a:latin typeface="+mn-lt"/>
                <a:ea typeface="+mn-ea"/>
                <a:cs typeface="+mn-cs"/>
              </a:rPr>
              <a:t>K_t^i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H_t</a:t>
            </a:r>
            <a:r>
              <a:rPr lang="en-US" sz="1200" kern="1200" dirty="0">
                <a:solidFill>
                  <a:schemeClr val="tx1"/>
                </a:solidFill>
                <a:effectLst/>
                <a:latin typeface="+mn-lt"/>
                <a:ea typeface="+mn-ea"/>
                <a:cs typeface="+mn-cs"/>
              </a:rPr>
              <a:t>^{\color{red} j(</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{\Sigma}_t$\;</a:t>
            </a:r>
          </a:p>
          <a:p>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mu_t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{\mu}_t$ and $\</a:t>
            </a:r>
            <a:r>
              <a:rPr lang="en-US" sz="1200" kern="1200" dirty="0" err="1">
                <a:solidFill>
                  <a:schemeClr val="tx1"/>
                </a:solidFill>
                <a:effectLst/>
                <a:latin typeface="+mn-lt"/>
                <a:ea typeface="+mn-ea"/>
                <a:cs typeface="+mn-cs"/>
              </a:rPr>
              <a:t>Sigma_t</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overline</a:t>
            </a:r>
            <a:r>
              <a:rPr lang="en-US" sz="1200" kern="1200" dirty="0">
                <a:solidFill>
                  <a:schemeClr val="tx1"/>
                </a:solidFill>
                <a:effectLst/>
                <a:latin typeface="+mn-lt"/>
                <a:ea typeface="+mn-ea"/>
                <a:cs typeface="+mn-cs"/>
              </a:rPr>
              <a:t>{\Sigma}_t$\;</a:t>
            </a:r>
          </a:p>
          <a:p>
            <a:r>
              <a:rPr lang="en-US" sz="1200" kern="1200" dirty="0">
                <a:solidFill>
                  <a:schemeClr val="tx1"/>
                </a:solidFill>
                <a:effectLst/>
                <a:latin typeface="+mn-lt"/>
                <a:ea typeface="+mn-ea"/>
                <a:cs typeface="+mn-cs"/>
              </a:rPr>
              <a:t>Return $(\</a:t>
            </a:r>
            <a:r>
              <a:rPr lang="en-US" sz="1200" kern="1200" dirty="0" err="1">
                <a:solidFill>
                  <a:schemeClr val="tx1"/>
                </a:solidFill>
                <a:effectLst/>
                <a:latin typeface="+mn-lt"/>
                <a:ea typeface="+mn-ea"/>
                <a:cs typeface="+mn-cs"/>
              </a:rPr>
              <a:t>mu_t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Sigma_t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\end{algorithm}</a:t>
            </a: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29</a:t>
            </a:fld>
            <a:endParaRPr lang="en-US"/>
          </a:p>
        </p:txBody>
      </p:sp>
    </p:spTree>
    <p:extLst>
      <p:ext uri="{BB962C8B-B14F-4D97-AF65-F5344CB8AC3E}">
        <p14:creationId xmlns:p14="http://schemas.microsoft.com/office/powerpoint/2010/main" val="7085585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r>
              <a:rPr lang="en-US"/>
              <a:t>11/9/21</a:t>
            </a:r>
            <a:endParaRPr lang="en-US" dirty="0"/>
          </a:p>
        </p:txBody>
      </p:sp>
      <p:sp>
        <p:nvSpPr>
          <p:cNvPr id="5" name="Footer Placeholder 4"/>
          <p:cNvSpPr>
            <a:spLocks noGrp="1"/>
          </p:cNvSpPr>
          <p:nvPr>
            <p:ph type="ftr" sz="quarter" idx="11"/>
          </p:nvPr>
        </p:nvSpPr>
        <p:spPr/>
        <p:txBody>
          <a:bodyPr/>
          <a:lstStyle/>
          <a:p>
            <a:r>
              <a:rPr lang="hr-HR"/>
              <a:t>AA 174A | Lecture 16</a:t>
            </a:r>
            <a:endParaRPr lang="en-US" dirty="0"/>
          </a:p>
        </p:txBody>
      </p:sp>
      <p:sp>
        <p:nvSpPr>
          <p:cNvPr id="6" name="Slide Number Placeholder 5"/>
          <p:cNvSpPr>
            <a:spLocks noGrp="1"/>
          </p:cNvSpPr>
          <p:nvPr>
            <p:ph type="sldNum" sz="quarter" idx="12"/>
          </p:nvPr>
        </p:nvSpPr>
        <p:spPr/>
        <p:txBody>
          <a:bodyPr/>
          <a:lstStyle/>
          <a:p>
            <a:fld id="{8AA1F273-EF2F-3941-BBF8-D365CB27DD6A}" type="slidenum">
              <a:rPr lang="en-US" smtClean="0"/>
              <a:t>‹#›</a:t>
            </a:fld>
            <a:endParaRPr lang="en-US" dirty="0"/>
          </a:p>
        </p:txBody>
      </p:sp>
      <p:sp>
        <p:nvSpPr>
          <p:cNvPr id="7" name="Rectangle 6"/>
          <p:cNvSpPr/>
          <p:nvPr userDrawn="1"/>
        </p:nvSpPr>
        <p:spPr>
          <a:xfrm>
            <a:off x="0" y="0"/>
            <a:ext cx="12192000" cy="274320"/>
          </a:xfrm>
          <a:prstGeom prst="rect">
            <a:avLst/>
          </a:prstGeom>
          <a:solidFill>
            <a:srgbClr val="96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069013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542090"/>
            <a:ext cx="2743200" cy="365125"/>
          </a:xfrm>
        </p:spPr>
        <p:txBody>
          <a:bodyPr/>
          <a:lstStyle/>
          <a:p>
            <a:r>
              <a:rPr lang="en-US"/>
              <a:t>11/9/21</a:t>
            </a:r>
          </a:p>
        </p:txBody>
      </p:sp>
      <p:sp>
        <p:nvSpPr>
          <p:cNvPr id="5" name="Footer Placeholder 4"/>
          <p:cNvSpPr>
            <a:spLocks noGrp="1"/>
          </p:cNvSpPr>
          <p:nvPr>
            <p:ph type="ftr" sz="quarter" idx="11"/>
          </p:nvPr>
        </p:nvSpPr>
        <p:spPr>
          <a:xfrm>
            <a:off x="4038600" y="6542090"/>
            <a:ext cx="4114800" cy="365125"/>
          </a:xfrm>
        </p:spPr>
        <p:txBody>
          <a:bodyPr/>
          <a:lstStyle/>
          <a:p>
            <a:r>
              <a:rPr lang="hr-HR"/>
              <a:t>AA 174A | Lecture 16</a:t>
            </a:r>
            <a:endParaRPr lang="en-US" dirty="0"/>
          </a:p>
        </p:txBody>
      </p:sp>
      <p:sp>
        <p:nvSpPr>
          <p:cNvPr id="6" name="Slide Number Placeholder 5"/>
          <p:cNvSpPr>
            <a:spLocks noGrp="1"/>
          </p:cNvSpPr>
          <p:nvPr>
            <p:ph type="sldNum" sz="quarter" idx="12"/>
          </p:nvPr>
        </p:nvSpPr>
        <p:spPr>
          <a:xfrm>
            <a:off x="8610600" y="6542090"/>
            <a:ext cx="2743200" cy="365125"/>
          </a:xfrm>
        </p:spPr>
        <p:txBody>
          <a:bodyPr/>
          <a:lstStyle/>
          <a:p>
            <a:fld id="{8AA1F273-EF2F-3941-BBF8-D365CB27DD6A}" type="slidenum">
              <a:rPr lang="en-US" smtClean="0"/>
              <a:t>‹#›</a:t>
            </a:fld>
            <a:endParaRPr lang="en-US"/>
          </a:p>
        </p:txBody>
      </p:sp>
      <p:sp>
        <p:nvSpPr>
          <p:cNvPr id="7" name="Rectangle 6"/>
          <p:cNvSpPr/>
          <p:nvPr userDrawn="1"/>
        </p:nvSpPr>
        <p:spPr>
          <a:xfrm>
            <a:off x="0" y="0"/>
            <a:ext cx="12192000" cy="274320"/>
          </a:xfrm>
          <a:prstGeom prst="rect">
            <a:avLst/>
          </a:prstGeom>
          <a:solidFill>
            <a:srgbClr val="96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05980450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11/9/21</a:t>
            </a: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hr-HR"/>
              <a:t>AA 174A | Lecture 16</a:t>
            </a: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A1F273-EF2F-3941-BBF8-D365CB27DD6A}" type="slidenum">
              <a:rPr lang="en-US" smtClean="0"/>
              <a:t>‹#›</a:t>
            </a:fld>
            <a:endParaRPr lang="en-US"/>
          </a:p>
        </p:txBody>
      </p:sp>
    </p:spTree>
    <p:extLst>
      <p:ext uri="{BB962C8B-B14F-4D97-AF65-F5344CB8AC3E}">
        <p14:creationId xmlns:p14="http://schemas.microsoft.com/office/powerpoint/2010/main" val="1371964118"/>
      </p:ext>
    </p:extLst>
  </p:cSld>
  <p:clrMap bg1="lt1" tx1="dk1" bg2="lt2" tx2="dk2" accent1="accent1" accent2="accent2" accent3="accent3" accent4="accent4" accent5="accent5" accent6="accent6" hlink="hlink" folHlink="folHlink"/>
  <p:sldLayoutIdLst>
    <p:sldLayoutId id="2147483649" r:id="rId1"/>
    <p:sldLayoutId id="2147483650"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6.tiff"/><Relationship Id="rId5" Type="http://schemas.openxmlformats.org/officeDocument/2006/relationships/image" Target="../media/image5.tiff"/><Relationship Id="rId4" Type="http://schemas.openxmlformats.org/officeDocument/2006/relationships/image" Target="../media/image4.tiff"/></Relationships>
</file>

<file path=ppt/slides/_rels/slide1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tiff"/></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tiff"/><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tiff"/><Relationship Id="rId11" Type="http://schemas.openxmlformats.org/officeDocument/2006/relationships/image" Target="../media/image19.png"/><Relationship Id="rId5" Type="http://schemas.openxmlformats.org/officeDocument/2006/relationships/image" Target="../media/image15.tiff"/><Relationship Id="rId10" Type="http://schemas.openxmlformats.org/officeDocument/2006/relationships/image" Target="../media/image18.tiff"/><Relationship Id="rId4" Type="http://schemas.openxmlformats.org/officeDocument/2006/relationships/image" Target="../media/image14.tiff"/><Relationship Id="rId9" Type="http://schemas.openxmlformats.org/officeDocument/2006/relationships/image" Target="../media/image54.png"/></Relationships>
</file>

<file path=ppt/slides/_rels/slide14.xml.rels><?xml version="1.0" encoding="UTF-8" standalone="yes"?>
<Relationships xmlns="http://schemas.openxmlformats.org/package/2006/relationships"><Relationship Id="rId3" Type="http://schemas.openxmlformats.org/officeDocument/2006/relationships/image" Target="../media/image20.tiff"/><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2.tiff"/><Relationship Id="rId4" Type="http://schemas.openxmlformats.org/officeDocument/2006/relationships/image" Target="../media/image21.tiff"/></Relationships>
</file>

<file path=ppt/slides/_rels/slide15.xml.rels><?xml version="1.0" encoding="UTF-8" standalone="yes"?>
<Relationships xmlns="http://schemas.openxmlformats.org/package/2006/relationships"><Relationship Id="rId3" Type="http://schemas.openxmlformats.org/officeDocument/2006/relationships/image" Target="../media/image23.tif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00.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6.tiff"/><Relationship Id="rId5" Type="http://schemas.openxmlformats.org/officeDocument/2006/relationships/image" Target="../media/image25.tiff"/><Relationship Id="rId4" Type="http://schemas.openxmlformats.org/officeDocument/2006/relationships/image" Target="../media/image24.tiff"/></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1.tiff"/><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0.tiff"/><Relationship Id="rId5" Type="http://schemas.openxmlformats.org/officeDocument/2006/relationships/image" Target="../media/image29.tiff"/><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1.tiff"/><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0.tiff"/><Relationship Id="rId5" Type="http://schemas.openxmlformats.org/officeDocument/2006/relationships/image" Target="../media/image29.tiff"/><Relationship Id="rId4" Type="http://schemas.openxmlformats.org/officeDocument/2006/relationships/image" Target="../media/image33.png"/></Relationships>
</file>

<file path=ppt/slides/_rels/slide19.xml.rels><?xml version="1.0" encoding="UTF-8" standalone="yes"?>
<Relationships xmlns="http://schemas.openxmlformats.org/package/2006/relationships"><Relationship Id="rId3" Type="http://schemas.openxmlformats.org/officeDocument/2006/relationships/image" Target="../media/image29.tiff"/><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0.tiff"/></Relationships>
</file>

<file path=ppt/slides/_rels/slide20.xml.rels><?xml version="1.0" encoding="UTF-8" standalone="yes"?>
<Relationships xmlns="http://schemas.openxmlformats.org/package/2006/relationships"><Relationship Id="rId3" Type="http://schemas.openxmlformats.org/officeDocument/2006/relationships/image" Target="../media/image34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5.tiff"/></Relationships>
</file>

<file path=ppt/slides/_rels/slide22.xml.rels><?xml version="1.0" encoding="UTF-8" standalone="yes"?>
<Relationships xmlns="http://schemas.openxmlformats.org/package/2006/relationships"><Relationship Id="rId3" Type="http://schemas.openxmlformats.org/officeDocument/2006/relationships/image" Target="../media/image36.tiff"/><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7.tiff"/><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40.tiff"/><Relationship Id="rId5" Type="http://schemas.openxmlformats.org/officeDocument/2006/relationships/image" Target="../media/image39.tiff"/><Relationship Id="rId4" Type="http://schemas.openxmlformats.org/officeDocument/2006/relationships/image" Target="../media/image38.tiff"/></Relationships>
</file>

<file path=ppt/slides/_rels/slide24.xml.rels><?xml version="1.0" encoding="UTF-8" standalone="yes"?>
<Relationships xmlns="http://schemas.openxmlformats.org/package/2006/relationships"><Relationship Id="rId3" Type="http://schemas.openxmlformats.org/officeDocument/2006/relationships/image" Target="../media/image41.tiff"/><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44.emf"/><Relationship Id="rId5" Type="http://schemas.openxmlformats.org/officeDocument/2006/relationships/image" Target="../media/image43.tiff"/><Relationship Id="rId4" Type="http://schemas.openxmlformats.org/officeDocument/2006/relationships/image" Target="../media/image42.tiff"/></Relationships>
</file>

<file path=ppt/slides/_rels/slide25.xml.rels><?xml version="1.0" encoding="UTF-8" standalone="yes"?>
<Relationships xmlns="http://schemas.openxmlformats.org/package/2006/relationships"><Relationship Id="rId3" Type="http://schemas.openxmlformats.org/officeDocument/2006/relationships/image" Target="../media/image45.tiff"/><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46.tiff"/></Relationships>
</file>

<file path=ppt/slides/_rels/slide2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47.tiff"/></Relationships>
</file>

<file path=ppt/slides/_rels/slide27.xml.rels><?xml version="1.0" encoding="UTF-8" standalone="yes"?>
<Relationships xmlns="http://schemas.openxmlformats.org/package/2006/relationships"><Relationship Id="rId3" Type="http://schemas.openxmlformats.org/officeDocument/2006/relationships/image" Target="../media/image48.tiff"/><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51.tiff"/><Relationship Id="rId5" Type="http://schemas.openxmlformats.org/officeDocument/2006/relationships/image" Target="../media/image50.tiff"/><Relationship Id="rId4" Type="http://schemas.openxmlformats.org/officeDocument/2006/relationships/image" Target="../media/image49.tiff"/></Relationships>
</file>

<file path=ppt/slides/_rels/slide28.xml.rels><?xml version="1.0" encoding="UTF-8" standalone="yes"?>
<Relationships xmlns="http://schemas.openxmlformats.org/package/2006/relationships"><Relationship Id="rId3" Type="http://schemas.openxmlformats.org/officeDocument/2006/relationships/image" Target="../media/image52.tiff"/><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53.tiff"/></Relationships>
</file>

<file path=ppt/slides/_rels/slide29.xml.rels><?xml version="1.0" encoding="UTF-8" standalone="yes"?>
<Relationships xmlns="http://schemas.openxmlformats.org/package/2006/relationships"><Relationship Id="rId3" Type="http://schemas.openxmlformats.org/officeDocument/2006/relationships/image" Target="../media/image54.tiff"/><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55.tiff"/></Relationships>
</file>

<file path=ppt/slides/_rels/slide30.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sz="5400" dirty="0">
                <a:latin typeface="Calibri Light" panose="020F0302020204030204" pitchFamily="34" charset="0"/>
                <a:cs typeface="Calibri Light" panose="020F0302020204030204" pitchFamily="34" charset="0"/>
              </a:rPr>
              <a:t>Principles of Robot Autonomy I</a:t>
            </a:r>
            <a:endParaRPr lang="en-US" sz="5400" dirty="0"/>
          </a:p>
        </p:txBody>
      </p:sp>
      <p:sp>
        <p:nvSpPr>
          <p:cNvPr id="3" name="Subtitle 2"/>
          <p:cNvSpPr>
            <a:spLocks noGrp="1"/>
          </p:cNvSpPr>
          <p:nvPr>
            <p:ph type="subTitle" idx="1"/>
          </p:nvPr>
        </p:nvSpPr>
        <p:spPr/>
        <p:txBody>
          <a:bodyPr/>
          <a:lstStyle/>
          <a:p>
            <a:r>
              <a:rPr lang="en-US" dirty="0"/>
              <a:t>Markov localization and EKF-localization</a:t>
            </a:r>
          </a:p>
        </p:txBody>
      </p:sp>
      <p:pic>
        <p:nvPicPr>
          <p:cNvPr id="4" name="Picture 3"/>
          <p:cNvPicPr>
            <a:picLocks noChangeAspect="1"/>
          </p:cNvPicPr>
          <p:nvPr/>
        </p:nvPicPr>
        <p:blipFill>
          <a:blip r:embed="rId3"/>
          <a:stretch>
            <a:fillRect/>
          </a:stretch>
        </p:blipFill>
        <p:spPr>
          <a:xfrm>
            <a:off x="0" y="5687942"/>
            <a:ext cx="12192000" cy="1170058"/>
          </a:xfrm>
          <a:prstGeom prst="rect">
            <a:avLst/>
          </a:prstGeom>
        </p:spPr>
      </p:pic>
    </p:spTree>
    <p:extLst>
      <p:ext uri="{BB962C8B-B14F-4D97-AF65-F5344CB8AC3E}">
        <p14:creationId xmlns:p14="http://schemas.microsoft.com/office/powerpoint/2010/main" val="16728277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290B0-EB37-BE5C-04E7-4EA8696DA5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C9C11F-9CF3-5417-5DC4-4E4B8E153C8A}"/>
              </a:ext>
            </a:extLst>
          </p:cNvPr>
          <p:cNvSpPr>
            <a:spLocks noGrp="1"/>
          </p:cNvSpPr>
          <p:nvPr>
            <p:ph type="title"/>
          </p:nvPr>
        </p:nvSpPr>
        <p:spPr/>
        <p:txBody>
          <a:bodyPr/>
          <a:lstStyle/>
          <a:p>
            <a:r>
              <a:rPr lang="en-US">
                <a:ea typeface="Calibri Light"/>
                <a:cs typeface="Calibri Light"/>
              </a:rPr>
              <a:t>Attendance Form</a:t>
            </a:r>
            <a:endParaRPr lang="en-US"/>
          </a:p>
        </p:txBody>
      </p:sp>
      <p:pic>
        <p:nvPicPr>
          <p:cNvPr id="7" name="Content Placeholder 6" descr="A qr code with black squares&#10;&#10;AI-generated content may be incorrect.">
            <a:extLst>
              <a:ext uri="{FF2B5EF4-FFF2-40B4-BE49-F238E27FC236}">
                <a16:creationId xmlns:a16="http://schemas.microsoft.com/office/drawing/2014/main" id="{6FC79A78-5555-5B36-D187-31F9DBD9AC04}"/>
              </a:ext>
            </a:extLst>
          </p:cNvPr>
          <p:cNvPicPr>
            <a:picLocks noGrp="1" noChangeAspect="1"/>
          </p:cNvPicPr>
          <p:nvPr>
            <p:ph idx="1"/>
          </p:nvPr>
        </p:nvPicPr>
        <p:blipFill>
          <a:blip r:embed="rId2"/>
          <a:stretch>
            <a:fillRect/>
          </a:stretch>
        </p:blipFill>
        <p:spPr>
          <a:xfrm>
            <a:off x="4038600" y="1943894"/>
            <a:ext cx="4114800" cy="4114800"/>
          </a:xfrm>
          <a:prstGeom prst="rect">
            <a:avLst/>
          </a:prstGeom>
        </p:spPr>
      </p:pic>
      <p:sp>
        <p:nvSpPr>
          <p:cNvPr id="4" name="Date Placeholder 3">
            <a:extLst>
              <a:ext uri="{FF2B5EF4-FFF2-40B4-BE49-F238E27FC236}">
                <a16:creationId xmlns:a16="http://schemas.microsoft.com/office/drawing/2014/main" id="{25403DC6-C8A8-2ACD-BAD1-55817AEB56A5}"/>
              </a:ext>
            </a:extLst>
          </p:cNvPr>
          <p:cNvSpPr>
            <a:spLocks noGrp="1"/>
          </p:cNvSpPr>
          <p:nvPr>
            <p:ph type="dt" sz="half" idx="10"/>
          </p:nvPr>
        </p:nvSpPr>
        <p:spPr/>
        <p:txBody>
          <a:bodyPr/>
          <a:lstStyle/>
          <a:p>
            <a:r>
              <a:rPr lang="en-US"/>
              <a:t>11/9/21</a:t>
            </a:r>
          </a:p>
        </p:txBody>
      </p:sp>
      <p:sp>
        <p:nvSpPr>
          <p:cNvPr id="5" name="Footer Placeholder 4">
            <a:extLst>
              <a:ext uri="{FF2B5EF4-FFF2-40B4-BE49-F238E27FC236}">
                <a16:creationId xmlns:a16="http://schemas.microsoft.com/office/drawing/2014/main" id="{05195E3F-D2F3-70F1-92FC-D72CF33D9AF4}"/>
              </a:ext>
            </a:extLst>
          </p:cNvPr>
          <p:cNvSpPr>
            <a:spLocks noGrp="1"/>
          </p:cNvSpPr>
          <p:nvPr>
            <p:ph type="ftr" sz="quarter" idx="11"/>
          </p:nvPr>
        </p:nvSpPr>
        <p:spPr/>
        <p:txBody>
          <a:bodyPr/>
          <a:lstStyle/>
          <a:p>
            <a:r>
              <a:rPr lang="hr-HR"/>
              <a:t>AA 174A | Lecture 16</a:t>
            </a:r>
            <a:endParaRPr lang="en-US"/>
          </a:p>
        </p:txBody>
      </p:sp>
      <p:sp>
        <p:nvSpPr>
          <p:cNvPr id="3" name="Slide Number Placeholder 2">
            <a:extLst>
              <a:ext uri="{FF2B5EF4-FFF2-40B4-BE49-F238E27FC236}">
                <a16:creationId xmlns:a16="http://schemas.microsoft.com/office/drawing/2014/main" id="{50024CE0-A3AD-110B-E6C1-9F11DABFCED2}"/>
              </a:ext>
            </a:extLst>
          </p:cNvPr>
          <p:cNvSpPr>
            <a:spLocks noGrp="1"/>
          </p:cNvSpPr>
          <p:nvPr>
            <p:ph type="sldNum" sz="quarter" idx="12"/>
          </p:nvPr>
        </p:nvSpPr>
        <p:spPr/>
        <p:txBody>
          <a:bodyPr/>
          <a:lstStyle/>
          <a:p>
            <a:fld id="{8AA1F273-EF2F-3941-BBF8-D365CB27DD6A}" type="slidenum">
              <a:rPr lang="en-US" smtClean="0"/>
              <a:t>2</a:t>
            </a:fld>
            <a:endParaRPr lang="en-US"/>
          </a:p>
        </p:txBody>
      </p:sp>
    </p:spTree>
    <p:extLst>
      <p:ext uri="{BB962C8B-B14F-4D97-AF65-F5344CB8AC3E}">
        <p14:creationId xmlns:p14="http://schemas.microsoft.com/office/powerpoint/2010/main" val="33745917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4" name="Date Placeholder 3"/>
          <p:cNvSpPr>
            <a:spLocks noGrp="1"/>
          </p:cNvSpPr>
          <p:nvPr>
            <p:ph type="dt" sz="half" idx="10"/>
          </p:nvPr>
        </p:nvSpPr>
        <p:spPr/>
        <p:txBody>
          <a:bodyPr/>
          <a:lstStyle/>
          <a:p>
            <a:r>
              <a:rPr lang="en-US"/>
              <a:t>11/9/21</a:t>
            </a:r>
          </a:p>
        </p:txBody>
      </p:sp>
      <p:sp>
        <p:nvSpPr>
          <p:cNvPr id="13" name="Content Placeholder 2"/>
          <p:cNvSpPr>
            <a:spLocks noGrp="1"/>
          </p:cNvSpPr>
          <p:nvPr>
            <p:ph idx="1"/>
          </p:nvPr>
        </p:nvSpPr>
        <p:spPr>
          <a:xfrm>
            <a:off x="838200" y="1530204"/>
            <a:ext cx="10515600" cy="4770584"/>
          </a:xfrm>
        </p:spPr>
        <p:txBody>
          <a:bodyPr>
            <a:normAutofit/>
          </a:bodyPr>
          <a:lstStyle/>
          <a:p>
            <a:r>
              <a:rPr lang="en-US" dirty="0"/>
              <a:t>Aim</a:t>
            </a:r>
          </a:p>
          <a:p>
            <a:pPr lvl="1"/>
            <a:r>
              <a:rPr lang="en-US" dirty="0"/>
              <a:t>Markov localization, with an emphasis on EKF localization</a:t>
            </a:r>
          </a:p>
          <a:p>
            <a:pPr lvl="1"/>
            <a:endParaRPr lang="en-US" dirty="0"/>
          </a:p>
          <a:p>
            <a:r>
              <a:rPr lang="en-US" dirty="0"/>
              <a:t>Readings</a:t>
            </a:r>
          </a:p>
          <a:p>
            <a:pPr lvl="1"/>
            <a:r>
              <a:rPr lang="en-US" dirty="0"/>
              <a:t>Chapter 15, sections 15.1 – 15.4 in D. </a:t>
            </a:r>
            <a:r>
              <a:rPr lang="en-US" dirty="0" err="1"/>
              <a:t>Gammelli</a:t>
            </a:r>
            <a:r>
              <a:rPr lang="en-US" dirty="0"/>
              <a:t>, J. Lorenzetti, K. Luo, G. </a:t>
            </a:r>
            <a:r>
              <a:rPr lang="en-US" dirty="0" err="1"/>
              <a:t>Zardini</a:t>
            </a:r>
            <a:r>
              <a:rPr lang="en-US" dirty="0"/>
              <a:t>, M. Pavone. </a:t>
            </a:r>
            <a:r>
              <a:rPr lang="en-US" i="1" dirty="0"/>
              <a:t>Principles of Robot Autonomy</a:t>
            </a:r>
            <a:r>
              <a:rPr lang="en-US" dirty="0"/>
              <a:t>. 2026.</a:t>
            </a:r>
          </a:p>
          <a:p>
            <a:pPr lvl="1"/>
            <a:endParaRPr lang="en-US" dirty="0"/>
          </a:p>
        </p:txBody>
      </p:sp>
      <p:sp>
        <p:nvSpPr>
          <p:cNvPr id="3" name="Footer Placeholder 2"/>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D89CF61C-DBF7-35BA-254C-D0A72B119A1F}"/>
              </a:ext>
            </a:extLst>
          </p:cNvPr>
          <p:cNvSpPr>
            <a:spLocks noGrp="1"/>
          </p:cNvSpPr>
          <p:nvPr>
            <p:ph type="sldNum" sz="quarter" idx="12"/>
          </p:nvPr>
        </p:nvSpPr>
        <p:spPr/>
        <p:txBody>
          <a:bodyPr/>
          <a:lstStyle/>
          <a:p>
            <a:fld id="{8AA1F273-EF2F-3941-BBF8-D365CB27DD6A}" type="slidenum">
              <a:rPr lang="en-US" smtClean="0"/>
              <a:t>3</a:t>
            </a:fld>
            <a:endParaRPr lang="en-US"/>
          </a:p>
        </p:txBody>
      </p:sp>
    </p:spTree>
    <p:extLst>
      <p:ext uri="{BB962C8B-B14F-4D97-AF65-F5344CB8AC3E}">
        <p14:creationId xmlns:p14="http://schemas.microsoft.com/office/powerpoint/2010/main" val="11991017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Mobile robot localization</a:t>
            </a:r>
          </a:p>
        </p:txBody>
      </p:sp>
      <p:sp>
        <p:nvSpPr>
          <p:cNvPr id="3" name="Content Placeholder 2"/>
          <p:cNvSpPr>
            <a:spLocks noGrp="1"/>
          </p:cNvSpPr>
          <p:nvPr>
            <p:ph idx="1"/>
          </p:nvPr>
        </p:nvSpPr>
        <p:spPr/>
        <p:txBody>
          <a:bodyPr/>
          <a:lstStyle/>
          <a:p>
            <a:r>
              <a:rPr lang="en-US" dirty="0">
                <a:solidFill>
                  <a:srgbClr val="C00000"/>
                </a:solidFill>
              </a:rPr>
              <a:t>Problem</a:t>
            </a:r>
            <a:r>
              <a:rPr lang="en-US" dirty="0"/>
              <a:t>: determine pose of a robot relative to a </a:t>
            </a:r>
            <a:r>
              <a:rPr lang="en-US" i="1" dirty="0"/>
              <a:t>given</a:t>
            </a:r>
            <a:r>
              <a:rPr lang="en-US" dirty="0"/>
              <a:t> map</a:t>
            </a:r>
          </a:p>
        </p:txBody>
      </p:sp>
      <p:pic>
        <p:nvPicPr>
          <p:cNvPr id="7" name="Picture 6"/>
          <p:cNvPicPr>
            <a:picLocks noChangeAspect="1"/>
          </p:cNvPicPr>
          <p:nvPr/>
        </p:nvPicPr>
        <p:blipFill>
          <a:blip r:embed="rId3"/>
          <a:stretch>
            <a:fillRect/>
          </a:stretch>
        </p:blipFill>
        <p:spPr>
          <a:xfrm>
            <a:off x="6983805" y="2565400"/>
            <a:ext cx="4598595" cy="3976690"/>
          </a:xfrm>
          <a:prstGeom prst="rect">
            <a:avLst/>
          </a:prstGeom>
        </p:spPr>
      </p:pic>
      <p:sp>
        <p:nvSpPr>
          <p:cNvPr id="8" name="Content Placeholder 2"/>
          <p:cNvSpPr txBox="1">
            <a:spLocks/>
          </p:cNvSpPr>
          <p:nvPr/>
        </p:nvSpPr>
        <p:spPr>
          <a:xfrm>
            <a:off x="838200" y="2578100"/>
            <a:ext cx="5397500" cy="37639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dirty="0"/>
              <a:t>Localization can be interpreted as the problem of establishing correspondence between the map coordinate system and the robot’s local coordinate frame</a:t>
            </a:r>
          </a:p>
          <a:p>
            <a:r>
              <a:rPr lang="en-US" dirty="0"/>
              <a:t>This process requires integration of data over time</a:t>
            </a:r>
          </a:p>
        </p:txBody>
      </p:sp>
      <p:sp>
        <p:nvSpPr>
          <p:cNvPr id="9" name="Date Placeholder 8"/>
          <p:cNvSpPr>
            <a:spLocks noGrp="1"/>
          </p:cNvSpPr>
          <p:nvPr>
            <p:ph type="dt" sz="half" idx="10"/>
          </p:nvPr>
        </p:nvSpPr>
        <p:spPr/>
        <p:txBody>
          <a:bodyPr/>
          <a:lstStyle/>
          <a:p>
            <a:r>
              <a:rPr lang="en-US"/>
              <a:t>11/9/21</a:t>
            </a:r>
          </a:p>
        </p:txBody>
      </p:sp>
      <p:sp>
        <p:nvSpPr>
          <p:cNvPr id="10" name="Footer Placeholder 9"/>
          <p:cNvSpPr>
            <a:spLocks noGrp="1"/>
          </p:cNvSpPr>
          <p:nvPr>
            <p:ph type="ftr" sz="quarter" idx="11"/>
          </p:nvPr>
        </p:nvSpPr>
        <p:spPr/>
        <p:txBody>
          <a:bodyPr/>
          <a:lstStyle/>
          <a:p>
            <a:r>
              <a:rPr lang="hr-HR"/>
              <a:t>AA 174A | Lecture 16</a:t>
            </a:r>
            <a:endParaRPr lang="en-US" dirty="0"/>
          </a:p>
        </p:txBody>
      </p:sp>
      <p:sp>
        <p:nvSpPr>
          <p:cNvPr id="4" name="Slide Number Placeholder 3">
            <a:extLst>
              <a:ext uri="{FF2B5EF4-FFF2-40B4-BE49-F238E27FC236}">
                <a16:creationId xmlns:a16="http://schemas.microsoft.com/office/drawing/2014/main" id="{FC8ED8AD-F041-8BA0-6EB2-EA4B306511FB}"/>
              </a:ext>
            </a:extLst>
          </p:cNvPr>
          <p:cNvSpPr>
            <a:spLocks noGrp="1"/>
          </p:cNvSpPr>
          <p:nvPr>
            <p:ph type="sldNum" sz="quarter" idx="12"/>
          </p:nvPr>
        </p:nvSpPr>
        <p:spPr/>
        <p:txBody>
          <a:bodyPr/>
          <a:lstStyle/>
          <a:p>
            <a:fld id="{8AA1F273-EF2F-3941-BBF8-D365CB27DD6A}" type="slidenum">
              <a:rPr lang="en-US" smtClean="0"/>
              <a:t>4</a:t>
            </a:fld>
            <a:endParaRPr lang="en-US"/>
          </a:p>
        </p:txBody>
      </p:sp>
    </p:spTree>
    <p:extLst>
      <p:ext uri="{BB962C8B-B14F-4D97-AF65-F5344CB8AC3E}">
        <p14:creationId xmlns:p14="http://schemas.microsoft.com/office/powerpoint/2010/main" val="33991953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Local versus global localization</a:t>
            </a:r>
          </a:p>
        </p:txBody>
      </p:sp>
      <p:sp>
        <p:nvSpPr>
          <p:cNvPr id="3" name="Content Placeholder 2"/>
          <p:cNvSpPr>
            <a:spLocks noGrp="1"/>
          </p:cNvSpPr>
          <p:nvPr>
            <p:ph idx="1"/>
          </p:nvPr>
        </p:nvSpPr>
        <p:spPr/>
        <p:txBody>
          <a:bodyPr/>
          <a:lstStyle/>
          <a:p>
            <a:r>
              <a:rPr lang="en-US" dirty="0">
                <a:solidFill>
                  <a:srgbClr val="C00000"/>
                </a:solidFill>
              </a:rPr>
              <a:t>Position tracking</a:t>
            </a:r>
            <a:r>
              <a:rPr lang="en-US" dirty="0"/>
              <a:t> assumes that the initial pose is known -&gt; </a:t>
            </a:r>
            <a:r>
              <a:rPr lang="en-US" i="1" dirty="0"/>
              <a:t>local </a:t>
            </a:r>
            <a:r>
              <a:rPr lang="en-US" dirty="0"/>
              <a:t>problem well-addressed via Gaussian filters</a:t>
            </a:r>
          </a:p>
          <a:p>
            <a:r>
              <a:rPr lang="en-US" dirty="0"/>
              <a:t>In </a:t>
            </a:r>
            <a:r>
              <a:rPr lang="en-US" dirty="0">
                <a:solidFill>
                  <a:srgbClr val="C00000"/>
                </a:solidFill>
              </a:rPr>
              <a:t>global localization</a:t>
            </a:r>
            <a:r>
              <a:rPr lang="en-US" dirty="0"/>
              <a:t>, the initial pose is unknown -&gt; </a:t>
            </a:r>
            <a:r>
              <a:rPr lang="en-US" i="1" dirty="0"/>
              <a:t>global</a:t>
            </a:r>
            <a:r>
              <a:rPr lang="en-US" dirty="0"/>
              <a:t> problem best addressed via non-parametric, multi-hypothesis filters</a:t>
            </a:r>
          </a:p>
          <a:p>
            <a:r>
              <a:rPr lang="en-US" dirty="0"/>
              <a:t>In </a:t>
            </a:r>
            <a:r>
              <a:rPr lang="en-US" dirty="0">
                <a:solidFill>
                  <a:srgbClr val="C00000"/>
                </a:solidFill>
              </a:rPr>
              <a:t>kidnapped robot </a:t>
            </a:r>
            <a:r>
              <a:rPr lang="en-US" dirty="0"/>
              <a:t>localization, initial pose is unknown and during operation robot can be “kidnapped” and “teleported” to some other location -&gt; </a:t>
            </a:r>
            <a:r>
              <a:rPr lang="en-US" i="1" dirty="0"/>
              <a:t>global</a:t>
            </a:r>
            <a:r>
              <a:rPr lang="en-US" dirty="0"/>
              <a:t> problem best addressed via non-parametric, multi-hypothesis filters</a:t>
            </a:r>
          </a:p>
          <a:p>
            <a:endParaRPr lang="en-US" dirty="0"/>
          </a:p>
        </p:txBody>
      </p:sp>
      <p:sp>
        <p:nvSpPr>
          <p:cNvPr id="7" name="Date Placeholder 6"/>
          <p:cNvSpPr>
            <a:spLocks noGrp="1"/>
          </p:cNvSpPr>
          <p:nvPr>
            <p:ph type="dt" sz="half" idx="10"/>
          </p:nvPr>
        </p:nvSpPr>
        <p:spPr/>
        <p:txBody>
          <a:bodyPr/>
          <a:lstStyle/>
          <a:p>
            <a:r>
              <a:rPr lang="en-US"/>
              <a:t>11/9/21</a:t>
            </a:r>
          </a:p>
        </p:txBody>
      </p:sp>
      <p:sp>
        <p:nvSpPr>
          <p:cNvPr id="8" name="Footer Placeholder 7"/>
          <p:cNvSpPr>
            <a:spLocks noGrp="1"/>
          </p:cNvSpPr>
          <p:nvPr>
            <p:ph type="ftr" sz="quarter" idx="11"/>
          </p:nvPr>
        </p:nvSpPr>
        <p:spPr/>
        <p:txBody>
          <a:bodyPr/>
          <a:lstStyle/>
          <a:p>
            <a:r>
              <a:rPr lang="hr-HR"/>
              <a:t>AA 174A | Lecture 16</a:t>
            </a:r>
            <a:endParaRPr lang="en-US" dirty="0"/>
          </a:p>
        </p:txBody>
      </p:sp>
      <p:sp>
        <p:nvSpPr>
          <p:cNvPr id="4" name="Slide Number Placeholder 3">
            <a:extLst>
              <a:ext uri="{FF2B5EF4-FFF2-40B4-BE49-F238E27FC236}">
                <a16:creationId xmlns:a16="http://schemas.microsoft.com/office/drawing/2014/main" id="{61460F0D-A804-7C5F-D6DD-2823BDF45ACA}"/>
              </a:ext>
            </a:extLst>
          </p:cNvPr>
          <p:cNvSpPr>
            <a:spLocks noGrp="1"/>
          </p:cNvSpPr>
          <p:nvPr>
            <p:ph type="sldNum" sz="quarter" idx="12"/>
          </p:nvPr>
        </p:nvSpPr>
        <p:spPr/>
        <p:txBody>
          <a:bodyPr/>
          <a:lstStyle/>
          <a:p>
            <a:fld id="{8AA1F273-EF2F-3941-BBF8-D365CB27DD6A}" type="slidenum">
              <a:rPr lang="en-US" smtClean="0"/>
              <a:t>5</a:t>
            </a:fld>
            <a:endParaRPr lang="en-US"/>
          </a:p>
        </p:txBody>
      </p:sp>
    </p:spTree>
    <p:extLst>
      <p:ext uri="{BB962C8B-B14F-4D97-AF65-F5344CB8AC3E}">
        <p14:creationId xmlns:p14="http://schemas.microsoft.com/office/powerpoint/2010/main" val="22242211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Static versus dynamic environments</a:t>
            </a:r>
          </a:p>
        </p:txBody>
      </p:sp>
      <p:sp>
        <p:nvSpPr>
          <p:cNvPr id="3" name="Content Placeholder 2"/>
          <p:cNvSpPr>
            <a:spLocks noGrp="1"/>
          </p:cNvSpPr>
          <p:nvPr>
            <p:ph idx="1"/>
          </p:nvPr>
        </p:nvSpPr>
        <p:spPr/>
        <p:txBody>
          <a:bodyPr/>
          <a:lstStyle/>
          <a:p>
            <a:r>
              <a:rPr lang="en-US" dirty="0">
                <a:solidFill>
                  <a:srgbClr val="C00000"/>
                </a:solidFill>
              </a:rPr>
              <a:t>Static environments </a:t>
            </a:r>
            <a:r>
              <a:rPr lang="en-US" dirty="0"/>
              <a:t>are environments where the only variable quantity is the pose of the robot</a:t>
            </a:r>
          </a:p>
          <a:p>
            <a:r>
              <a:rPr lang="en-US" dirty="0">
                <a:solidFill>
                  <a:srgbClr val="C00000"/>
                </a:solidFill>
              </a:rPr>
              <a:t>Dynamic environments </a:t>
            </a:r>
            <a:r>
              <a:rPr lang="en-US" dirty="0"/>
              <a:t>possess objects (e.g., people) other than the robot whose locations change over time -&gt; addressed via either state augmentation or outlier rejection </a:t>
            </a:r>
          </a:p>
          <a:p>
            <a:endParaRPr lang="en-US" dirty="0"/>
          </a:p>
          <a:p>
            <a:endParaRPr lang="en-US" dirty="0"/>
          </a:p>
        </p:txBody>
      </p:sp>
      <p:sp>
        <p:nvSpPr>
          <p:cNvPr id="7" name="Date Placeholder 6"/>
          <p:cNvSpPr>
            <a:spLocks noGrp="1"/>
          </p:cNvSpPr>
          <p:nvPr>
            <p:ph type="dt" sz="half" idx="10"/>
          </p:nvPr>
        </p:nvSpPr>
        <p:spPr/>
        <p:txBody>
          <a:bodyPr/>
          <a:lstStyle/>
          <a:p>
            <a:r>
              <a:rPr lang="en-US"/>
              <a:t>11/9/21</a:t>
            </a:r>
          </a:p>
        </p:txBody>
      </p:sp>
      <p:sp>
        <p:nvSpPr>
          <p:cNvPr id="8" name="Footer Placeholder 7"/>
          <p:cNvSpPr>
            <a:spLocks noGrp="1"/>
          </p:cNvSpPr>
          <p:nvPr>
            <p:ph type="ftr" sz="quarter" idx="11"/>
          </p:nvPr>
        </p:nvSpPr>
        <p:spPr/>
        <p:txBody>
          <a:bodyPr/>
          <a:lstStyle/>
          <a:p>
            <a:r>
              <a:rPr lang="hr-HR"/>
              <a:t>AA 174A | Lecture 16</a:t>
            </a:r>
            <a:endParaRPr lang="en-US" dirty="0"/>
          </a:p>
        </p:txBody>
      </p:sp>
      <p:sp>
        <p:nvSpPr>
          <p:cNvPr id="4" name="Slide Number Placeholder 3">
            <a:extLst>
              <a:ext uri="{FF2B5EF4-FFF2-40B4-BE49-F238E27FC236}">
                <a16:creationId xmlns:a16="http://schemas.microsoft.com/office/drawing/2014/main" id="{B192FA7A-8DF4-BAE2-3CDC-072635B28870}"/>
              </a:ext>
            </a:extLst>
          </p:cNvPr>
          <p:cNvSpPr>
            <a:spLocks noGrp="1"/>
          </p:cNvSpPr>
          <p:nvPr>
            <p:ph type="sldNum" sz="quarter" idx="12"/>
          </p:nvPr>
        </p:nvSpPr>
        <p:spPr/>
        <p:txBody>
          <a:bodyPr/>
          <a:lstStyle/>
          <a:p>
            <a:fld id="{8AA1F273-EF2F-3941-BBF8-D365CB27DD6A}" type="slidenum">
              <a:rPr lang="en-US" smtClean="0"/>
              <a:t>6</a:t>
            </a:fld>
            <a:endParaRPr lang="en-US"/>
          </a:p>
        </p:txBody>
      </p:sp>
    </p:spTree>
    <p:extLst>
      <p:ext uri="{BB962C8B-B14F-4D97-AF65-F5344CB8AC3E}">
        <p14:creationId xmlns:p14="http://schemas.microsoft.com/office/powerpoint/2010/main" val="13070444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Passive versus active localization</a:t>
            </a:r>
          </a:p>
        </p:txBody>
      </p:sp>
      <p:sp>
        <p:nvSpPr>
          <p:cNvPr id="3" name="Content Placeholder 2"/>
          <p:cNvSpPr>
            <a:spLocks noGrp="1"/>
          </p:cNvSpPr>
          <p:nvPr>
            <p:ph idx="1"/>
          </p:nvPr>
        </p:nvSpPr>
        <p:spPr/>
        <p:txBody>
          <a:bodyPr/>
          <a:lstStyle/>
          <a:p>
            <a:r>
              <a:rPr lang="en-US" dirty="0"/>
              <a:t>In </a:t>
            </a:r>
            <a:r>
              <a:rPr lang="en-US" dirty="0">
                <a:solidFill>
                  <a:srgbClr val="C00000"/>
                </a:solidFill>
              </a:rPr>
              <a:t>passive localization</a:t>
            </a:r>
            <a:r>
              <a:rPr lang="en-US" dirty="0"/>
              <a:t>, localization module only </a:t>
            </a:r>
            <a:r>
              <a:rPr lang="en-US" i="1" dirty="0"/>
              <a:t>observes</a:t>
            </a:r>
            <a:r>
              <a:rPr lang="en-US" dirty="0"/>
              <a:t> the robot; i.e., robot’s motion is not aimed at facilitating localization</a:t>
            </a:r>
          </a:p>
          <a:p>
            <a:r>
              <a:rPr lang="en-US" dirty="0"/>
              <a:t>In </a:t>
            </a:r>
            <a:r>
              <a:rPr lang="en-US" dirty="0">
                <a:solidFill>
                  <a:srgbClr val="C00000"/>
                </a:solidFill>
              </a:rPr>
              <a:t>active localization</a:t>
            </a:r>
            <a:r>
              <a:rPr lang="en-US" dirty="0"/>
              <a:t>, robot’s actions are aimed at minimizing the localization error</a:t>
            </a:r>
          </a:p>
          <a:p>
            <a:r>
              <a:rPr lang="en-US" dirty="0"/>
              <a:t>Hybrid approaches are possible</a:t>
            </a:r>
          </a:p>
        </p:txBody>
      </p:sp>
      <p:sp>
        <p:nvSpPr>
          <p:cNvPr id="7" name="Date Placeholder 6"/>
          <p:cNvSpPr>
            <a:spLocks noGrp="1"/>
          </p:cNvSpPr>
          <p:nvPr>
            <p:ph type="dt" sz="half" idx="10"/>
          </p:nvPr>
        </p:nvSpPr>
        <p:spPr/>
        <p:txBody>
          <a:bodyPr/>
          <a:lstStyle/>
          <a:p>
            <a:r>
              <a:rPr lang="en-US"/>
              <a:t>11/9/21</a:t>
            </a:r>
          </a:p>
        </p:txBody>
      </p:sp>
      <p:sp>
        <p:nvSpPr>
          <p:cNvPr id="8" name="Footer Placeholder 7"/>
          <p:cNvSpPr>
            <a:spLocks noGrp="1"/>
          </p:cNvSpPr>
          <p:nvPr>
            <p:ph type="ftr" sz="quarter" idx="11"/>
          </p:nvPr>
        </p:nvSpPr>
        <p:spPr/>
        <p:txBody>
          <a:bodyPr/>
          <a:lstStyle/>
          <a:p>
            <a:r>
              <a:rPr lang="hr-HR"/>
              <a:t>AA 174A | Lecture 16</a:t>
            </a:r>
            <a:endParaRPr lang="en-US" dirty="0"/>
          </a:p>
        </p:txBody>
      </p:sp>
      <p:sp>
        <p:nvSpPr>
          <p:cNvPr id="4" name="Slide Number Placeholder 3">
            <a:extLst>
              <a:ext uri="{FF2B5EF4-FFF2-40B4-BE49-F238E27FC236}">
                <a16:creationId xmlns:a16="http://schemas.microsoft.com/office/drawing/2014/main" id="{4FA9373A-25D9-684B-8C63-54864652BA29}"/>
              </a:ext>
            </a:extLst>
          </p:cNvPr>
          <p:cNvSpPr>
            <a:spLocks noGrp="1"/>
          </p:cNvSpPr>
          <p:nvPr>
            <p:ph type="sldNum" sz="quarter" idx="12"/>
          </p:nvPr>
        </p:nvSpPr>
        <p:spPr/>
        <p:txBody>
          <a:bodyPr/>
          <a:lstStyle/>
          <a:p>
            <a:fld id="{8AA1F273-EF2F-3941-BBF8-D365CB27DD6A}" type="slidenum">
              <a:rPr lang="en-US" smtClean="0"/>
              <a:t>7</a:t>
            </a:fld>
            <a:endParaRPr lang="en-US"/>
          </a:p>
        </p:txBody>
      </p:sp>
    </p:spTree>
    <p:extLst>
      <p:ext uri="{BB962C8B-B14F-4D97-AF65-F5344CB8AC3E}">
        <p14:creationId xmlns:p14="http://schemas.microsoft.com/office/powerpoint/2010/main" val="2162725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Single-robot versus multi-robot</a:t>
            </a:r>
          </a:p>
        </p:txBody>
      </p:sp>
      <p:sp>
        <p:nvSpPr>
          <p:cNvPr id="3" name="Content Placeholder 2"/>
          <p:cNvSpPr>
            <a:spLocks noGrp="1"/>
          </p:cNvSpPr>
          <p:nvPr>
            <p:ph idx="1"/>
          </p:nvPr>
        </p:nvSpPr>
        <p:spPr/>
        <p:txBody>
          <a:bodyPr/>
          <a:lstStyle/>
          <a:p>
            <a:r>
              <a:rPr lang="en-US" dirty="0"/>
              <a:t>In</a:t>
            </a:r>
            <a:r>
              <a:rPr lang="en-US" dirty="0">
                <a:solidFill>
                  <a:srgbClr val="C00000"/>
                </a:solidFill>
              </a:rPr>
              <a:t> single-robot localization</a:t>
            </a:r>
            <a:r>
              <a:rPr lang="en-US" dirty="0"/>
              <a:t>, a single, individual robot is involved in the localization process</a:t>
            </a:r>
          </a:p>
          <a:p>
            <a:r>
              <a:rPr lang="en-US" dirty="0"/>
              <a:t>In</a:t>
            </a:r>
            <a:r>
              <a:rPr lang="en-US" dirty="0">
                <a:solidFill>
                  <a:srgbClr val="C00000"/>
                </a:solidFill>
              </a:rPr>
              <a:t> multi-robot localization</a:t>
            </a:r>
            <a:r>
              <a:rPr lang="en-US" dirty="0"/>
              <a:t>, a team of robots is engaged with localization, possibly cooperatively</a:t>
            </a:r>
          </a:p>
          <a:p>
            <a:endParaRPr lang="en-US" dirty="0"/>
          </a:p>
          <a:p>
            <a:pPr marL="0" indent="0" algn="ctr">
              <a:buNone/>
            </a:pPr>
            <a:r>
              <a:rPr lang="en-US" dirty="0"/>
              <a:t>In this class we will focus on </a:t>
            </a:r>
            <a:r>
              <a:rPr lang="en-US" dirty="0">
                <a:solidFill>
                  <a:srgbClr val="C00000"/>
                </a:solidFill>
              </a:rPr>
              <a:t>local</a:t>
            </a:r>
            <a:r>
              <a:rPr lang="en-US" dirty="0"/>
              <a:t>, </a:t>
            </a:r>
            <a:r>
              <a:rPr lang="en-US" dirty="0">
                <a:solidFill>
                  <a:srgbClr val="C00000"/>
                </a:solidFill>
              </a:rPr>
              <a:t>static</a:t>
            </a:r>
            <a:r>
              <a:rPr lang="en-US" dirty="0"/>
              <a:t> (or quasi-static), </a:t>
            </a:r>
            <a:r>
              <a:rPr lang="en-US" dirty="0">
                <a:solidFill>
                  <a:srgbClr val="C00000"/>
                </a:solidFill>
              </a:rPr>
              <a:t>passive</a:t>
            </a:r>
            <a:r>
              <a:rPr lang="en-US" dirty="0"/>
              <a:t>, </a:t>
            </a:r>
            <a:r>
              <a:rPr lang="en-US" dirty="0">
                <a:solidFill>
                  <a:srgbClr val="C00000"/>
                </a:solidFill>
              </a:rPr>
              <a:t>single-robot</a:t>
            </a:r>
            <a:r>
              <a:rPr lang="en-US" dirty="0"/>
              <a:t> localization problems </a:t>
            </a:r>
          </a:p>
          <a:p>
            <a:endParaRPr lang="en-US" dirty="0"/>
          </a:p>
        </p:txBody>
      </p:sp>
      <p:sp>
        <p:nvSpPr>
          <p:cNvPr id="7" name="Date Placeholder 6"/>
          <p:cNvSpPr>
            <a:spLocks noGrp="1"/>
          </p:cNvSpPr>
          <p:nvPr>
            <p:ph type="dt" sz="half" idx="10"/>
          </p:nvPr>
        </p:nvSpPr>
        <p:spPr/>
        <p:txBody>
          <a:bodyPr/>
          <a:lstStyle/>
          <a:p>
            <a:r>
              <a:rPr lang="en-US"/>
              <a:t>11/9/21</a:t>
            </a:r>
          </a:p>
        </p:txBody>
      </p:sp>
      <p:sp>
        <p:nvSpPr>
          <p:cNvPr id="8" name="Footer Placeholder 7"/>
          <p:cNvSpPr>
            <a:spLocks noGrp="1"/>
          </p:cNvSpPr>
          <p:nvPr>
            <p:ph type="ftr" sz="quarter" idx="11"/>
          </p:nvPr>
        </p:nvSpPr>
        <p:spPr/>
        <p:txBody>
          <a:bodyPr/>
          <a:lstStyle/>
          <a:p>
            <a:r>
              <a:rPr lang="hr-HR"/>
              <a:t>AA 174A | Lecture 16</a:t>
            </a:r>
            <a:endParaRPr lang="en-US" dirty="0"/>
          </a:p>
        </p:txBody>
      </p:sp>
      <p:sp>
        <p:nvSpPr>
          <p:cNvPr id="4" name="Slide Number Placeholder 3">
            <a:extLst>
              <a:ext uri="{FF2B5EF4-FFF2-40B4-BE49-F238E27FC236}">
                <a16:creationId xmlns:a16="http://schemas.microsoft.com/office/drawing/2014/main" id="{62F11855-C222-F2D2-1ECE-B8CFC936CD7A}"/>
              </a:ext>
            </a:extLst>
          </p:cNvPr>
          <p:cNvSpPr>
            <a:spLocks noGrp="1"/>
          </p:cNvSpPr>
          <p:nvPr>
            <p:ph type="sldNum" sz="quarter" idx="12"/>
          </p:nvPr>
        </p:nvSpPr>
        <p:spPr/>
        <p:txBody>
          <a:bodyPr/>
          <a:lstStyle/>
          <a:p>
            <a:fld id="{8AA1F273-EF2F-3941-BBF8-D365CB27DD6A}" type="slidenum">
              <a:rPr lang="en-US" smtClean="0"/>
              <a:t>8</a:t>
            </a:fld>
            <a:endParaRPr lang="en-US"/>
          </a:p>
        </p:txBody>
      </p:sp>
    </p:spTree>
    <p:extLst>
      <p:ext uri="{BB962C8B-B14F-4D97-AF65-F5344CB8AC3E}">
        <p14:creationId xmlns:p14="http://schemas.microsoft.com/office/powerpoint/2010/main" val="13733285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Casting the localization problem within a Bayesian filtering framework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dirty="0"/>
                  <a:t>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𝑡</m:t>
                        </m:r>
                      </m:sub>
                    </m:sSub>
                    <m:r>
                      <a:rPr lang="en-US" b="0" i="1" smtClean="0">
                        <a:latin typeface="Cambria Math" charset="0"/>
                      </a:rPr>
                      <m:t>, </m:t>
                    </m:r>
                  </m:oMath>
                </a14:m>
                <a:r>
                  <a:rPr lang="en-US" dirty="0"/>
                  <a:t>control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𝑢</m:t>
                        </m:r>
                      </m:e>
                      <m:sub>
                        <m:r>
                          <a:rPr lang="en-US" b="0" i="1" smtClean="0">
                            <a:latin typeface="Cambria Math" charset="0"/>
                          </a:rPr>
                          <m:t>𝑡</m:t>
                        </m:r>
                      </m:sub>
                    </m:sSub>
                  </m:oMath>
                </a14:m>
                <a:r>
                  <a:rPr lang="en-US" dirty="0"/>
                  <a:t> and measurements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𝑧</m:t>
                        </m:r>
                      </m:e>
                      <m:sub>
                        <m:r>
                          <a:rPr lang="en-US" b="0" i="1" smtClean="0">
                            <a:latin typeface="Cambria Math" charset="0"/>
                          </a:rPr>
                          <m:t>𝑡</m:t>
                        </m:r>
                      </m:sub>
                    </m:sSub>
                  </m:oMath>
                </a14:m>
                <a:r>
                  <a:rPr lang="en-US" dirty="0"/>
                  <a:t> have the same meaning as in the general filtering context</a:t>
                </a:r>
              </a:p>
              <a:p>
                <a:r>
                  <a:rPr lang="en-US" dirty="0"/>
                  <a:t>For a differential drive robot equipped with a laser range-finder (returning a set of range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𝑟</m:t>
                        </m:r>
                      </m:e>
                      <m:sub>
                        <m:r>
                          <a:rPr lang="en-US" b="0" i="1" smtClean="0">
                            <a:latin typeface="Cambria Math" charset="0"/>
                          </a:rPr>
                          <m:t>𝑖</m:t>
                        </m:r>
                      </m:sub>
                    </m:sSub>
                  </m:oMath>
                </a14:m>
                <a:r>
                  <a:rPr lang="en-US" dirty="0"/>
                  <a:t> and bearing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𝜙</m:t>
                        </m:r>
                      </m:e>
                      <m:sub>
                        <m:r>
                          <a:rPr lang="en-US" b="0" i="1" smtClean="0">
                            <a:latin typeface="Cambria Math" charset="0"/>
                          </a:rPr>
                          <m:t>𝑖</m:t>
                        </m:r>
                      </m:sub>
                    </m:sSub>
                  </m:oMath>
                </a14:m>
                <a:r>
                  <a:rPr lang="en-US" dirty="0"/>
                  <a:t> measurements)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3"/>
                <a:stretch>
                  <a:fillRect l="-1043" t="-224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a:t>11/9/21</a:t>
            </a:r>
          </a:p>
        </p:txBody>
      </p:sp>
      <p:pic>
        <p:nvPicPr>
          <p:cNvPr id="7" name="Picture 6"/>
          <p:cNvPicPr>
            <a:picLocks noChangeAspect="1"/>
          </p:cNvPicPr>
          <p:nvPr/>
        </p:nvPicPr>
        <p:blipFill>
          <a:blip r:embed="rId4"/>
          <a:stretch>
            <a:fillRect/>
          </a:stretch>
        </p:blipFill>
        <p:spPr>
          <a:xfrm>
            <a:off x="1649338" y="4143377"/>
            <a:ext cx="1436761" cy="1212850"/>
          </a:xfrm>
          <a:prstGeom prst="rect">
            <a:avLst/>
          </a:prstGeom>
        </p:spPr>
      </p:pic>
      <p:pic>
        <p:nvPicPr>
          <p:cNvPr id="9" name="Picture 8"/>
          <p:cNvPicPr>
            <a:picLocks noChangeAspect="1"/>
          </p:cNvPicPr>
          <p:nvPr/>
        </p:nvPicPr>
        <p:blipFill>
          <a:blip r:embed="rId5"/>
          <a:stretch>
            <a:fillRect/>
          </a:stretch>
        </p:blipFill>
        <p:spPr>
          <a:xfrm>
            <a:off x="4901153" y="4296860"/>
            <a:ext cx="1625852" cy="949323"/>
          </a:xfrm>
          <a:prstGeom prst="rect">
            <a:avLst/>
          </a:prstGeom>
        </p:spPr>
      </p:pic>
      <p:pic>
        <p:nvPicPr>
          <p:cNvPr id="10" name="Picture 9"/>
          <p:cNvPicPr>
            <a:picLocks noChangeAspect="1"/>
          </p:cNvPicPr>
          <p:nvPr/>
        </p:nvPicPr>
        <p:blipFill>
          <a:blip r:embed="rId6"/>
          <a:stretch>
            <a:fillRect/>
          </a:stretch>
        </p:blipFill>
        <p:spPr>
          <a:xfrm>
            <a:off x="8153400" y="4253420"/>
            <a:ext cx="2520950" cy="992763"/>
          </a:xfrm>
          <a:prstGeom prst="rect">
            <a:avLst/>
          </a:prstGeom>
        </p:spPr>
      </p:pic>
      <p:sp>
        <p:nvSpPr>
          <p:cNvPr id="8" name="Footer Placeholder 7"/>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50F71EDB-AF2B-AB1B-8DF5-0162076B7CF9}"/>
              </a:ext>
            </a:extLst>
          </p:cNvPr>
          <p:cNvSpPr>
            <a:spLocks noGrp="1"/>
          </p:cNvSpPr>
          <p:nvPr>
            <p:ph type="sldNum" sz="quarter" idx="12"/>
          </p:nvPr>
        </p:nvSpPr>
        <p:spPr/>
        <p:txBody>
          <a:bodyPr/>
          <a:lstStyle/>
          <a:p>
            <a:fld id="{8AA1F273-EF2F-3941-BBF8-D365CB27DD6A}" type="slidenum">
              <a:rPr lang="en-US" smtClean="0"/>
              <a:t>9</a:t>
            </a:fld>
            <a:endParaRPr lang="en-US"/>
          </a:p>
        </p:txBody>
      </p:sp>
    </p:spTree>
    <p:extLst>
      <p:ext uri="{BB962C8B-B14F-4D97-AF65-F5344CB8AC3E}">
        <p14:creationId xmlns:p14="http://schemas.microsoft.com/office/powerpoint/2010/main" val="86903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Casting the localization problem within a Bayesian filtering framework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dirty="0"/>
                  <a:t>A map </a:t>
                </a:r>
                <a:r>
                  <a:rPr lang="en-US" i="1" dirty="0"/>
                  <a:t>m</a:t>
                </a:r>
                <a:r>
                  <a:rPr lang="en-US" dirty="0"/>
                  <a:t> is a list of objects in the environment along with their properties </a:t>
                </a:r>
              </a:p>
              <a:p>
                <a:endParaRPr lang="en-US" dirty="0"/>
              </a:p>
              <a:p>
                <a:r>
                  <a:rPr lang="en-US" dirty="0"/>
                  <a:t>Maps can be</a:t>
                </a:r>
              </a:p>
              <a:p>
                <a:pPr lvl="1"/>
                <a:r>
                  <a:rPr lang="en-US" i="1" dirty="0"/>
                  <a:t>Location-based</a:t>
                </a:r>
                <a:r>
                  <a:rPr lang="en-US" dirty="0"/>
                  <a:t>: index </a:t>
                </a:r>
                <a14:m>
                  <m:oMath xmlns:m="http://schemas.openxmlformats.org/officeDocument/2006/math">
                    <m:r>
                      <a:rPr lang="en-US" i="1">
                        <a:latin typeface="Cambria Math" charset="0"/>
                      </a:rPr>
                      <m:t>𝑖</m:t>
                    </m:r>
                  </m:oMath>
                </a14:m>
                <a:r>
                  <a:rPr lang="en-US" dirty="0"/>
                  <a:t> corresponds to a specific location (hence, they are volumetric)</a:t>
                </a:r>
              </a:p>
              <a:p>
                <a:pPr lvl="1"/>
                <a:r>
                  <a:rPr lang="en-US" i="1" dirty="0"/>
                  <a:t>Feature-based</a:t>
                </a:r>
                <a:r>
                  <a:rPr lang="en-US" dirty="0"/>
                  <a:t>: index </a:t>
                </a:r>
                <a14:m>
                  <m:oMath xmlns:m="http://schemas.openxmlformats.org/officeDocument/2006/math">
                    <m:r>
                      <a:rPr lang="en-US" b="0" i="1" smtClean="0">
                        <a:latin typeface="Cambria Math" charset="0"/>
                      </a:rPr>
                      <m:t>𝑖</m:t>
                    </m:r>
                  </m:oMath>
                </a14:m>
                <a:r>
                  <a:rPr lang="en-US" dirty="0"/>
                  <a:t> is a feature index,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𝑚</m:t>
                        </m:r>
                      </m:e>
                      <m:sub>
                        <m:r>
                          <a:rPr lang="en-US" b="0" i="1" smtClean="0">
                            <a:latin typeface="Cambria Math" charset="0"/>
                          </a:rPr>
                          <m:t>𝑖</m:t>
                        </m:r>
                      </m:sub>
                    </m:sSub>
                  </m:oMath>
                </a14:m>
                <a:r>
                  <a:rPr lang="en-US" dirty="0"/>
                  <a:t> contains, next to the properties of a feature, the Cartesian location of that feature </a:t>
                </a:r>
              </a:p>
              <a:p>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3"/>
                <a:stretch>
                  <a:fillRect l="-1043" t="-224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a:t>11/9/21</a:t>
            </a:r>
          </a:p>
        </p:txBody>
      </p:sp>
      <p:pic>
        <p:nvPicPr>
          <p:cNvPr id="7" name="Picture 6"/>
          <p:cNvPicPr>
            <a:picLocks noChangeAspect="1"/>
          </p:cNvPicPr>
          <p:nvPr/>
        </p:nvPicPr>
        <p:blipFill>
          <a:blip r:embed="rId4"/>
          <a:stretch>
            <a:fillRect/>
          </a:stretch>
        </p:blipFill>
        <p:spPr>
          <a:xfrm>
            <a:off x="3937000" y="2676604"/>
            <a:ext cx="3924300" cy="401102"/>
          </a:xfrm>
          <a:prstGeom prst="rect">
            <a:avLst/>
          </a:prstGeom>
        </p:spPr>
      </p:pic>
      <p:sp>
        <p:nvSpPr>
          <p:cNvPr id="8" name="Footer Placeholder 7"/>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257E1F2E-E9AD-0955-4107-1B37CD0BD893}"/>
              </a:ext>
            </a:extLst>
          </p:cNvPr>
          <p:cNvSpPr>
            <a:spLocks noGrp="1"/>
          </p:cNvSpPr>
          <p:nvPr>
            <p:ph type="sldNum" sz="quarter" idx="12"/>
          </p:nvPr>
        </p:nvSpPr>
        <p:spPr/>
        <p:txBody>
          <a:bodyPr/>
          <a:lstStyle/>
          <a:p>
            <a:fld id="{8AA1F273-EF2F-3941-BBF8-D365CB27DD6A}" type="slidenum">
              <a:rPr lang="en-US" smtClean="0"/>
              <a:t>10</a:t>
            </a:fld>
            <a:endParaRPr lang="en-US"/>
          </a:p>
        </p:txBody>
      </p:sp>
    </p:spTree>
    <p:extLst>
      <p:ext uri="{BB962C8B-B14F-4D97-AF65-F5344CB8AC3E}">
        <p14:creationId xmlns:p14="http://schemas.microsoft.com/office/powerpoint/2010/main" val="11817426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Location-based maps</a:t>
            </a:r>
          </a:p>
        </p:txBody>
      </p:sp>
      <p:pic>
        <p:nvPicPr>
          <p:cNvPr id="7" name="Content Placeholder 6"/>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59457" y="2378080"/>
            <a:ext cx="4911026" cy="3562110"/>
          </a:xfrm>
        </p:spPr>
      </p:pic>
      <p:sp>
        <p:nvSpPr>
          <p:cNvPr id="4" name="Date Placeholder 3"/>
          <p:cNvSpPr>
            <a:spLocks noGrp="1"/>
          </p:cNvSpPr>
          <p:nvPr>
            <p:ph type="dt" sz="half" idx="10"/>
          </p:nvPr>
        </p:nvSpPr>
        <p:spPr/>
        <p:txBody>
          <a:bodyPr/>
          <a:lstStyle/>
          <a:p>
            <a:r>
              <a:rPr lang="en-US"/>
              <a:t>11/9/21</a:t>
            </a:r>
          </a:p>
        </p:txBody>
      </p:sp>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91554" y="2378080"/>
            <a:ext cx="4962246" cy="3562110"/>
          </a:xfrm>
          <a:prstGeom prst="rect">
            <a:avLst/>
          </a:prstGeom>
        </p:spPr>
      </p:pic>
      <p:sp>
        <p:nvSpPr>
          <p:cNvPr id="9" name="TextBox 8"/>
          <p:cNvSpPr txBox="1"/>
          <p:nvPr/>
        </p:nvSpPr>
        <p:spPr>
          <a:xfrm>
            <a:off x="460930" y="1950909"/>
            <a:ext cx="3330655" cy="430887"/>
          </a:xfrm>
          <a:prstGeom prst="rect">
            <a:avLst/>
          </a:prstGeom>
          <a:noFill/>
        </p:spPr>
        <p:txBody>
          <a:bodyPr wrap="none" rtlCol="0">
            <a:spAutoFit/>
          </a:bodyPr>
          <a:lstStyle/>
          <a:p>
            <a:r>
              <a:rPr lang="en-US" sz="2200" dirty="0">
                <a:solidFill>
                  <a:srgbClr val="C00000"/>
                </a:solidFill>
              </a:rPr>
              <a:t>Vertical cell decomposition</a:t>
            </a:r>
          </a:p>
        </p:txBody>
      </p:sp>
      <p:sp>
        <p:nvSpPr>
          <p:cNvPr id="10" name="TextBox 9"/>
          <p:cNvSpPr txBox="1"/>
          <p:nvPr/>
        </p:nvSpPr>
        <p:spPr>
          <a:xfrm>
            <a:off x="6096000" y="1947193"/>
            <a:ext cx="5065874" cy="430887"/>
          </a:xfrm>
          <a:prstGeom prst="rect">
            <a:avLst/>
          </a:prstGeom>
          <a:noFill/>
        </p:spPr>
        <p:txBody>
          <a:bodyPr wrap="none" rtlCol="0">
            <a:spAutoFit/>
          </a:bodyPr>
          <a:lstStyle/>
          <a:p>
            <a:r>
              <a:rPr lang="en-US" sz="2200" dirty="0">
                <a:solidFill>
                  <a:srgbClr val="C00000"/>
                </a:solidFill>
              </a:rPr>
              <a:t>Fixed cell decomposition (occupancy grid)</a:t>
            </a:r>
          </a:p>
        </p:txBody>
      </p:sp>
      <p:sp>
        <p:nvSpPr>
          <p:cNvPr id="3" name="Footer Placeholder 2"/>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1C4D9D62-AC29-EDD1-0911-0FF03F7ADB22}"/>
              </a:ext>
            </a:extLst>
          </p:cNvPr>
          <p:cNvSpPr>
            <a:spLocks noGrp="1"/>
          </p:cNvSpPr>
          <p:nvPr>
            <p:ph type="sldNum" sz="quarter" idx="12"/>
          </p:nvPr>
        </p:nvSpPr>
        <p:spPr/>
        <p:txBody>
          <a:bodyPr/>
          <a:lstStyle/>
          <a:p>
            <a:fld id="{8AA1F273-EF2F-3941-BBF8-D365CB27DD6A}" type="slidenum">
              <a:rPr lang="en-US" smtClean="0"/>
              <a:t>11</a:t>
            </a:fld>
            <a:endParaRPr lang="en-US"/>
          </a:p>
        </p:txBody>
      </p:sp>
    </p:spTree>
    <p:extLst>
      <p:ext uri="{BB962C8B-B14F-4D97-AF65-F5344CB8AC3E}">
        <p14:creationId xmlns:p14="http://schemas.microsoft.com/office/powerpoint/2010/main" val="7149252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Feature-based maps</a:t>
            </a:r>
          </a:p>
        </p:txBody>
      </p:sp>
      <p:pic>
        <p:nvPicPr>
          <p:cNvPr id="7" name="Content Placeholder 6"/>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7113117" y="1310227"/>
            <a:ext cx="5078883" cy="5231863"/>
          </a:xfrm>
        </p:spPr>
      </p:pic>
      <p:sp>
        <p:nvSpPr>
          <p:cNvPr id="4" name="Date Placeholder 3"/>
          <p:cNvSpPr>
            <a:spLocks noGrp="1"/>
          </p:cNvSpPr>
          <p:nvPr>
            <p:ph type="dt" sz="half" idx="10"/>
          </p:nvPr>
        </p:nvSpPr>
        <p:spPr/>
        <p:txBody>
          <a:bodyPr/>
          <a:lstStyle/>
          <a:p>
            <a:r>
              <a:rPr lang="en-US"/>
              <a:t>11/9/21</a:t>
            </a:r>
          </a:p>
        </p:txBody>
      </p:sp>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31474" y="3000378"/>
            <a:ext cx="3168357" cy="2339426"/>
          </a:xfrm>
          <a:prstGeom prst="rect">
            <a:avLst/>
          </a:prstGeom>
        </p:spPr>
      </p:pic>
      <p:pic>
        <p:nvPicPr>
          <p:cNvPr id="10" name="Picture 9"/>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1039" y="3000378"/>
            <a:ext cx="3025331" cy="2339426"/>
          </a:xfrm>
          <a:prstGeom prst="rect">
            <a:avLst/>
          </a:prstGeom>
        </p:spPr>
      </p:pic>
      <p:sp>
        <p:nvSpPr>
          <p:cNvPr id="12" name="TextBox 11"/>
          <p:cNvSpPr txBox="1"/>
          <p:nvPr/>
        </p:nvSpPr>
        <p:spPr>
          <a:xfrm>
            <a:off x="7113117" y="2390962"/>
            <a:ext cx="2041136" cy="430887"/>
          </a:xfrm>
          <a:prstGeom prst="rect">
            <a:avLst/>
          </a:prstGeom>
          <a:noFill/>
        </p:spPr>
        <p:txBody>
          <a:bodyPr wrap="none" rtlCol="0">
            <a:spAutoFit/>
          </a:bodyPr>
          <a:lstStyle/>
          <a:p>
            <a:r>
              <a:rPr lang="en-US" sz="2200" dirty="0">
                <a:solidFill>
                  <a:srgbClr val="C00000"/>
                </a:solidFill>
              </a:rPr>
              <a:t>Topological map</a:t>
            </a:r>
          </a:p>
        </p:txBody>
      </p:sp>
      <p:sp>
        <p:nvSpPr>
          <p:cNvPr id="13" name="TextBox 12"/>
          <p:cNvSpPr txBox="1"/>
          <p:nvPr/>
        </p:nvSpPr>
        <p:spPr>
          <a:xfrm>
            <a:off x="0" y="2390961"/>
            <a:ext cx="2060179" cy="430887"/>
          </a:xfrm>
          <a:prstGeom prst="rect">
            <a:avLst/>
          </a:prstGeom>
          <a:noFill/>
        </p:spPr>
        <p:txBody>
          <a:bodyPr wrap="none" rtlCol="0">
            <a:spAutoFit/>
          </a:bodyPr>
          <a:lstStyle/>
          <a:p>
            <a:r>
              <a:rPr lang="en-US" sz="2200" dirty="0">
                <a:solidFill>
                  <a:srgbClr val="C00000"/>
                </a:solidFill>
              </a:rPr>
              <a:t>Line-based map</a:t>
            </a:r>
          </a:p>
        </p:txBody>
      </p:sp>
      <p:sp>
        <p:nvSpPr>
          <p:cNvPr id="14" name="TextBox 13"/>
          <p:cNvSpPr txBox="1"/>
          <p:nvPr/>
        </p:nvSpPr>
        <p:spPr>
          <a:xfrm>
            <a:off x="6780333" y="3907864"/>
            <a:ext cx="665567" cy="369332"/>
          </a:xfrm>
          <a:prstGeom prst="rect">
            <a:avLst/>
          </a:prstGeom>
          <a:noFill/>
        </p:spPr>
        <p:txBody>
          <a:bodyPr wrap="none" rtlCol="0">
            <a:spAutoFit/>
          </a:bodyPr>
          <a:lstStyle/>
          <a:p>
            <a:r>
              <a:rPr lang="en-US"/>
              <a:t>node</a:t>
            </a:r>
          </a:p>
        </p:txBody>
      </p:sp>
      <p:sp>
        <p:nvSpPr>
          <p:cNvPr id="15" name="TextBox 14"/>
          <p:cNvSpPr txBox="1"/>
          <p:nvPr/>
        </p:nvSpPr>
        <p:spPr>
          <a:xfrm>
            <a:off x="6954935" y="4527387"/>
            <a:ext cx="644472" cy="369332"/>
          </a:xfrm>
          <a:prstGeom prst="rect">
            <a:avLst/>
          </a:prstGeom>
          <a:noFill/>
        </p:spPr>
        <p:txBody>
          <a:bodyPr wrap="none" rtlCol="0">
            <a:spAutoFit/>
          </a:bodyPr>
          <a:lstStyle/>
          <a:p>
            <a:r>
              <a:rPr lang="en-US" dirty="0"/>
              <a:t>edge</a:t>
            </a:r>
          </a:p>
        </p:txBody>
      </p:sp>
      <p:sp>
        <p:nvSpPr>
          <p:cNvPr id="3" name="Footer Placeholder 2"/>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A7F1562C-FA9D-64F1-193C-5EEB90AF68AB}"/>
              </a:ext>
            </a:extLst>
          </p:cNvPr>
          <p:cNvSpPr>
            <a:spLocks noGrp="1"/>
          </p:cNvSpPr>
          <p:nvPr>
            <p:ph type="sldNum" sz="quarter" idx="12"/>
          </p:nvPr>
        </p:nvSpPr>
        <p:spPr/>
        <p:txBody>
          <a:bodyPr/>
          <a:lstStyle/>
          <a:p>
            <a:fld id="{8AA1F273-EF2F-3941-BBF8-D365CB27DD6A}" type="slidenum">
              <a:rPr lang="en-US" smtClean="0"/>
              <a:t>12</a:t>
            </a:fld>
            <a:endParaRPr lang="en-US"/>
          </a:p>
        </p:txBody>
      </p:sp>
    </p:spTree>
    <p:extLst>
      <p:ext uri="{BB962C8B-B14F-4D97-AF65-F5344CB8AC3E}">
        <p14:creationId xmlns:p14="http://schemas.microsoft.com/office/powerpoint/2010/main" val="5013460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Casting the localization problem within a Bayesian filtering framework</a:t>
            </a:r>
          </a:p>
        </p:txBody>
      </p:sp>
      <p:sp>
        <p:nvSpPr>
          <p:cNvPr id="3" name="Content Placeholder 2"/>
          <p:cNvSpPr>
            <a:spLocks noGrp="1"/>
          </p:cNvSpPr>
          <p:nvPr>
            <p:ph idx="1"/>
          </p:nvPr>
        </p:nvSpPr>
        <p:spPr>
          <a:xfrm>
            <a:off x="838200" y="1698624"/>
            <a:ext cx="10515600" cy="4716465"/>
          </a:xfrm>
        </p:spPr>
        <p:txBody>
          <a:bodyPr/>
          <a:lstStyle/>
          <a:p>
            <a:r>
              <a:rPr lang="en-US" dirty="0"/>
              <a:t>Motion model is probabilistic</a:t>
            </a:r>
          </a:p>
          <a:p>
            <a:endParaRPr lang="en-US" dirty="0"/>
          </a:p>
          <a:p>
            <a:endParaRPr lang="en-US" dirty="0"/>
          </a:p>
          <a:p>
            <a:endParaRPr lang="en-US" dirty="0"/>
          </a:p>
          <a:p>
            <a:endParaRPr lang="en-US" dirty="0"/>
          </a:p>
          <a:p>
            <a:endParaRPr lang="en-US" dirty="0"/>
          </a:p>
          <a:p>
            <a:r>
              <a:rPr lang="en-US" dirty="0"/>
              <a:t>Key fact:</a:t>
            </a:r>
          </a:p>
          <a:p>
            <a:r>
              <a:rPr lang="en-US" dirty="0"/>
              <a:t>Useful approximation (tight at high update rates) </a:t>
            </a:r>
          </a:p>
        </p:txBody>
      </p:sp>
      <p:sp>
        <p:nvSpPr>
          <p:cNvPr id="4" name="Date Placeholder 3"/>
          <p:cNvSpPr>
            <a:spLocks noGrp="1"/>
          </p:cNvSpPr>
          <p:nvPr>
            <p:ph type="dt" sz="half" idx="10"/>
          </p:nvPr>
        </p:nvSpPr>
        <p:spPr/>
        <p:txBody>
          <a:bodyPr/>
          <a:lstStyle/>
          <a:p>
            <a:r>
              <a:rPr lang="en-US"/>
              <a:t>11/9/21</a:t>
            </a:r>
            <a:endParaRPr lang="en-US" dirty="0"/>
          </a:p>
        </p:txBody>
      </p:sp>
      <p:grpSp>
        <p:nvGrpSpPr>
          <p:cNvPr id="8" name="Group 7"/>
          <p:cNvGrpSpPr/>
          <p:nvPr/>
        </p:nvGrpSpPr>
        <p:grpSpPr>
          <a:xfrm>
            <a:off x="1222150" y="2357752"/>
            <a:ext cx="4870537" cy="2332037"/>
            <a:chOff x="1222150" y="2357752"/>
            <a:chExt cx="4870537" cy="2332037"/>
          </a:xfrm>
        </p:grpSpPr>
        <p:pic>
          <p:nvPicPr>
            <p:cNvPr id="7" name="Picture 9" descr="banana1"/>
            <p:cNvPicPr>
              <a:picLocks noChangeAspect="1" noChangeArrowheads="1"/>
            </p:cNvPicPr>
            <p:nvPr/>
          </p:nvPicPr>
          <p:blipFill>
            <a:blip r:embed="rId3"/>
            <a:srcRect/>
            <a:stretch>
              <a:fillRect/>
            </a:stretch>
          </p:blipFill>
          <p:spPr bwMode="auto">
            <a:xfrm>
              <a:off x="1960425" y="2357752"/>
              <a:ext cx="2243137" cy="2332037"/>
            </a:xfrm>
            <a:prstGeom prst="rect">
              <a:avLst/>
            </a:prstGeom>
            <a:solidFill>
              <a:schemeClr val="accent1"/>
            </a:solidFill>
            <a:ln w="9525">
              <a:noFill/>
              <a:miter lim="800000"/>
              <a:headEnd/>
              <a:tailEnd/>
            </a:ln>
          </p:spPr>
        </p:pic>
        <p:pic>
          <p:nvPicPr>
            <p:cNvPr id="9" name="Picture 8"/>
            <p:cNvPicPr>
              <a:picLocks noChangeAspect="1"/>
            </p:cNvPicPr>
            <p:nvPr/>
          </p:nvPicPr>
          <p:blipFill>
            <a:blip r:embed="rId4"/>
            <a:stretch>
              <a:fillRect/>
            </a:stretch>
          </p:blipFill>
          <p:spPr>
            <a:xfrm>
              <a:off x="1222150" y="3411557"/>
              <a:ext cx="597074" cy="199025"/>
            </a:xfrm>
            <a:prstGeom prst="rect">
              <a:avLst/>
            </a:prstGeom>
          </p:spPr>
        </p:pic>
        <p:pic>
          <p:nvPicPr>
            <p:cNvPr id="10" name="Picture 9"/>
            <p:cNvPicPr>
              <a:picLocks noChangeAspect="1"/>
            </p:cNvPicPr>
            <p:nvPr/>
          </p:nvPicPr>
          <p:blipFill>
            <a:blip r:embed="rId5"/>
            <a:stretch>
              <a:fillRect/>
            </a:stretch>
          </p:blipFill>
          <p:spPr>
            <a:xfrm>
              <a:off x="2628088" y="3212533"/>
              <a:ext cx="271397" cy="199024"/>
            </a:xfrm>
            <a:prstGeom prst="rect">
              <a:avLst/>
            </a:prstGeom>
          </p:spPr>
        </p:pic>
        <p:pic>
          <p:nvPicPr>
            <p:cNvPr id="11" name="Picture 10"/>
            <p:cNvPicPr>
              <a:picLocks noChangeAspect="1"/>
            </p:cNvPicPr>
            <p:nvPr/>
          </p:nvPicPr>
          <p:blipFill>
            <a:blip r:embed="rId6"/>
            <a:stretch>
              <a:fillRect/>
            </a:stretch>
          </p:blipFill>
          <p:spPr>
            <a:xfrm>
              <a:off x="4111487" y="2357752"/>
              <a:ext cx="1981200" cy="334723"/>
            </a:xfrm>
            <a:prstGeom prst="rect">
              <a:avLst/>
            </a:prstGeom>
          </p:spPr>
        </p:pic>
      </p:grpSp>
      <p:pic>
        <p:nvPicPr>
          <p:cNvPr id="12" name="Picture 11"/>
          <p:cNvPicPr>
            <a:picLocks noChangeAspect="1"/>
          </p:cNvPicPr>
          <p:nvPr/>
        </p:nvPicPr>
        <p:blipFill>
          <a:blip r:embed="rId7"/>
          <a:stretch>
            <a:fillRect/>
          </a:stretch>
        </p:blipFill>
        <p:spPr>
          <a:xfrm>
            <a:off x="2451100" y="4795460"/>
            <a:ext cx="5168900" cy="358145"/>
          </a:xfrm>
          <a:prstGeom prst="rect">
            <a:avLst/>
          </a:prstGeom>
        </p:spPr>
      </p:pic>
      <mc:AlternateContent xmlns:mc="http://schemas.openxmlformats.org/markup-compatibility/2006" xmlns:a14="http://schemas.microsoft.com/office/drawing/2010/main">
        <mc:Choice Requires="a14">
          <p:sp>
            <p:nvSpPr>
              <p:cNvPr id="14" name="TextBox 13"/>
              <p:cNvSpPr txBox="1"/>
              <p:nvPr/>
            </p:nvSpPr>
            <p:spPr>
              <a:xfrm>
                <a:off x="8809383" y="4970130"/>
                <a:ext cx="2120900" cy="646331"/>
              </a:xfrm>
              <a:prstGeom prst="rect">
                <a:avLst/>
              </a:prstGeom>
              <a:noFill/>
            </p:spPr>
            <p:txBody>
              <a:bodyPr wrap="square" rtlCol="0">
                <a:spAutoFit/>
              </a:bodyPr>
              <a:lstStyle/>
              <a:p>
                <a:r>
                  <a:rPr lang="en-US" dirty="0"/>
                  <a:t>Consistency of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𝑡</m:t>
                        </m:r>
                      </m:sub>
                    </m:sSub>
                  </m:oMath>
                </a14:m>
                <a:r>
                  <a:rPr lang="en-US" dirty="0"/>
                  <a:t> with map </a:t>
                </a:r>
                <a14:m>
                  <m:oMath xmlns:m="http://schemas.openxmlformats.org/officeDocument/2006/math">
                    <m:r>
                      <a:rPr lang="en-US" b="0" i="1" smtClean="0">
                        <a:latin typeface="Cambria Math" charset="0"/>
                      </a:rPr>
                      <m:t>𝑚</m:t>
                    </m:r>
                  </m:oMath>
                </a14:m>
                <a:endParaRPr lang="en-US" dirty="0"/>
              </a:p>
            </p:txBody>
          </p:sp>
        </mc:Choice>
        <mc:Fallback xmlns="">
          <p:sp>
            <p:nvSpPr>
              <p:cNvPr id="14" name="TextBox 13"/>
              <p:cNvSpPr txBox="1">
                <a:spLocks noRot="1" noChangeAspect="1" noMove="1" noResize="1" noEditPoints="1" noAdjustHandles="1" noChangeArrowheads="1" noChangeShapeType="1" noTextEdit="1"/>
              </p:cNvSpPr>
              <p:nvPr/>
            </p:nvSpPr>
            <p:spPr>
              <a:xfrm>
                <a:off x="8809383" y="4970130"/>
                <a:ext cx="2120900" cy="646331"/>
              </a:xfrm>
              <a:prstGeom prst="rect">
                <a:avLst/>
              </a:prstGeom>
              <a:blipFill rotWithShape="0">
                <a:blip r:embed="rId9"/>
                <a:stretch>
                  <a:fillRect l="-2299" t="-4717" r="-862" b="-14151"/>
                </a:stretch>
              </a:blipFill>
            </p:spPr>
            <p:txBody>
              <a:bodyPr/>
              <a:lstStyle/>
              <a:p>
                <a:r>
                  <a:rPr lang="en-US">
                    <a:noFill/>
                  </a:rPr>
                  <a:t> </a:t>
                </a:r>
              </a:p>
            </p:txBody>
          </p:sp>
        </mc:Fallback>
      </mc:AlternateContent>
      <p:cxnSp>
        <p:nvCxnSpPr>
          <p:cNvPr id="16" name="Straight Arrow Connector 15"/>
          <p:cNvCxnSpPr/>
          <p:nvPr/>
        </p:nvCxnSpPr>
        <p:spPr>
          <a:xfrm flipH="1">
            <a:off x="7653126" y="5616461"/>
            <a:ext cx="1156257" cy="431218"/>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9149279" y="5863013"/>
            <a:ext cx="2046842" cy="369332"/>
          </a:xfrm>
          <a:prstGeom prst="rect">
            <a:avLst/>
          </a:prstGeom>
          <a:noFill/>
        </p:spPr>
        <p:txBody>
          <a:bodyPr wrap="none" rtlCol="0">
            <a:spAutoFit/>
          </a:bodyPr>
          <a:lstStyle/>
          <a:p>
            <a:r>
              <a:rPr lang="en-US"/>
              <a:t>Uses approximation</a:t>
            </a:r>
          </a:p>
        </p:txBody>
      </p:sp>
      <p:pic>
        <p:nvPicPr>
          <p:cNvPr id="19" name="Picture 18"/>
          <p:cNvPicPr>
            <a:picLocks noChangeAspect="1"/>
          </p:cNvPicPr>
          <p:nvPr/>
        </p:nvPicPr>
        <p:blipFill>
          <a:blip r:embed="rId10"/>
          <a:stretch>
            <a:fillRect/>
          </a:stretch>
        </p:blipFill>
        <p:spPr>
          <a:xfrm>
            <a:off x="8417349" y="6269627"/>
            <a:ext cx="3510702" cy="291247"/>
          </a:xfrm>
          <a:prstGeom prst="rect">
            <a:avLst/>
          </a:prstGeom>
        </p:spPr>
      </p:pic>
      <p:sp>
        <p:nvSpPr>
          <p:cNvPr id="17" name="Footer Placeholder 16"/>
          <p:cNvSpPr>
            <a:spLocks noGrp="1"/>
          </p:cNvSpPr>
          <p:nvPr>
            <p:ph type="ftr" sz="quarter" idx="11"/>
          </p:nvPr>
        </p:nvSpPr>
        <p:spPr/>
        <p:txBody>
          <a:bodyPr/>
          <a:lstStyle/>
          <a:p>
            <a:r>
              <a:rPr lang="hr-HR"/>
              <a:t>AA 174A | Lecture 16</a:t>
            </a:r>
            <a:endParaRPr lang="en-US" dirty="0"/>
          </a:p>
        </p:txBody>
      </p:sp>
      <p:pic>
        <p:nvPicPr>
          <p:cNvPr id="20" name="Picture 19">
            <a:extLst>
              <a:ext uri="{FF2B5EF4-FFF2-40B4-BE49-F238E27FC236}">
                <a16:creationId xmlns:a16="http://schemas.microsoft.com/office/drawing/2014/main" id="{FE82D051-7AF7-164D-B3F4-D271930A9B5F}"/>
              </a:ext>
            </a:extLst>
          </p:cNvPr>
          <p:cNvPicPr>
            <a:picLocks noChangeAspect="1"/>
          </p:cNvPicPr>
          <p:nvPr/>
        </p:nvPicPr>
        <p:blipFill>
          <a:blip r:embed="rId11"/>
          <a:stretch>
            <a:fillRect/>
          </a:stretch>
        </p:blipFill>
        <p:spPr>
          <a:xfrm>
            <a:off x="1222150" y="5793409"/>
            <a:ext cx="6288493" cy="767107"/>
          </a:xfrm>
          <a:prstGeom prst="rect">
            <a:avLst/>
          </a:prstGeom>
        </p:spPr>
      </p:pic>
      <p:sp>
        <p:nvSpPr>
          <p:cNvPr id="5" name="Slide Number Placeholder 4">
            <a:extLst>
              <a:ext uri="{FF2B5EF4-FFF2-40B4-BE49-F238E27FC236}">
                <a16:creationId xmlns:a16="http://schemas.microsoft.com/office/drawing/2014/main" id="{167979EC-4EBC-63E7-17EA-70B2CFE942B6}"/>
              </a:ext>
            </a:extLst>
          </p:cNvPr>
          <p:cNvSpPr>
            <a:spLocks noGrp="1"/>
          </p:cNvSpPr>
          <p:nvPr>
            <p:ph type="sldNum" sz="quarter" idx="12"/>
          </p:nvPr>
        </p:nvSpPr>
        <p:spPr/>
        <p:txBody>
          <a:bodyPr/>
          <a:lstStyle/>
          <a:p>
            <a:fld id="{8AA1F273-EF2F-3941-BBF8-D365CB27DD6A}" type="slidenum">
              <a:rPr lang="en-US" smtClean="0"/>
              <a:t>13</a:t>
            </a:fld>
            <a:endParaRPr lang="en-US"/>
          </a:p>
        </p:txBody>
      </p:sp>
    </p:spTree>
    <p:extLst>
      <p:ext uri="{BB962C8B-B14F-4D97-AF65-F5344CB8AC3E}">
        <p14:creationId xmlns:p14="http://schemas.microsoft.com/office/powerpoint/2010/main" val="16199342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Casting the localization problem within a Bayesian filtering framework</a:t>
            </a:r>
          </a:p>
        </p:txBody>
      </p:sp>
      <p:sp>
        <p:nvSpPr>
          <p:cNvPr id="3" name="Content Placeholder 2"/>
          <p:cNvSpPr>
            <a:spLocks noGrp="1"/>
          </p:cNvSpPr>
          <p:nvPr>
            <p:ph idx="1"/>
          </p:nvPr>
        </p:nvSpPr>
        <p:spPr/>
        <p:txBody>
          <a:bodyPr/>
          <a:lstStyle/>
          <a:p>
            <a:r>
              <a:rPr lang="en-US" dirty="0"/>
              <a:t>Measurement model is probabilistic</a:t>
            </a:r>
          </a:p>
          <a:p>
            <a:endParaRPr lang="en-US" dirty="0"/>
          </a:p>
          <a:p>
            <a:r>
              <a:rPr lang="en-US" dirty="0"/>
              <a:t>Sensors usually generate more than one measurement when queried</a:t>
            </a:r>
          </a:p>
          <a:p>
            <a:endParaRPr lang="en-US" dirty="0"/>
          </a:p>
          <a:p>
            <a:r>
              <a:rPr lang="en-US" dirty="0"/>
              <a:t>Typically, independence assumption is made </a:t>
            </a:r>
          </a:p>
        </p:txBody>
      </p:sp>
      <p:sp>
        <p:nvSpPr>
          <p:cNvPr id="4" name="Date Placeholder 3"/>
          <p:cNvSpPr>
            <a:spLocks noGrp="1"/>
          </p:cNvSpPr>
          <p:nvPr>
            <p:ph type="dt" sz="half" idx="10"/>
          </p:nvPr>
        </p:nvSpPr>
        <p:spPr/>
        <p:txBody>
          <a:bodyPr/>
          <a:lstStyle/>
          <a:p>
            <a:r>
              <a:rPr lang="en-US"/>
              <a:t>11/9/21</a:t>
            </a:r>
          </a:p>
        </p:txBody>
      </p:sp>
      <p:pic>
        <p:nvPicPr>
          <p:cNvPr id="7" name="Picture 6"/>
          <p:cNvPicPr>
            <a:picLocks noChangeAspect="1"/>
          </p:cNvPicPr>
          <p:nvPr/>
        </p:nvPicPr>
        <p:blipFill>
          <a:blip r:embed="rId3"/>
          <a:stretch>
            <a:fillRect/>
          </a:stretch>
        </p:blipFill>
        <p:spPr>
          <a:xfrm>
            <a:off x="5118100" y="2344736"/>
            <a:ext cx="1955800" cy="411163"/>
          </a:xfrm>
          <a:prstGeom prst="rect">
            <a:avLst/>
          </a:prstGeom>
        </p:spPr>
      </p:pic>
      <p:pic>
        <p:nvPicPr>
          <p:cNvPr id="8" name="Picture 7"/>
          <p:cNvPicPr>
            <a:picLocks noChangeAspect="1"/>
          </p:cNvPicPr>
          <p:nvPr/>
        </p:nvPicPr>
        <p:blipFill>
          <a:blip r:embed="rId4"/>
          <a:stretch>
            <a:fillRect/>
          </a:stretch>
        </p:blipFill>
        <p:spPr>
          <a:xfrm>
            <a:off x="4737764" y="3351210"/>
            <a:ext cx="2704436" cy="420690"/>
          </a:xfrm>
          <a:prstGeom prst="rect">
            <a:avLst/>
          </a:prstGeom>
        </p:spPr>
      </p:pic>
      <p:pic>
        <p:nvPicPr>
          <p:cNvPr id="9" name="Picture 8"/>
          <p:cNvPicPr>
            <a:picLocks noChangeAspect="1"/>
          </p:cNvPicPr>
          <p:nvPr/>
        </p:nvPicPr>
        <p:blipFill>
          <a:blip r:embed="rId5"/>
          <a:stretch>
            <a:fillRect/>
          </a:stretch>
        </p:blipFill>
        <p:spPr>
          <a:xfrm>
            <a:off x="4216400" y="4367211"/>
            <a:ext cx="4216400" cy="944901"/>
          </a:xfrm>
          <a:prstGeom prst="rect">
            <a:avLst/>
          </a:prstGeom>
        </p:spPr>
      </p:pic>
      <p:sp>
        <p:nvSpPr>
          <p:cNvPr id="10" name="Footer Placeholder 9"/>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698A038A-57B0-D2C3-81CF-0B08C5C06615}"/>
              </a:ext>
            </a:extLst>
          </p:cNvPr>
          <p:cNvSpPr>
            <a:spLocks noGrp="1"/>
          </p:cNvSpPr>
          <p:nvPr>
            <p:ph type="sldNum" sz="quarter" idx="12"/>
          </p:nvPr>
        </p:nvSpPr>
        <p:spPr/>
        <p:txBody>
          <a:bodyPr/>
          <a:lstStyle/>
          <a:p>
            <a:fld id="{8AA1F273-EF2F-3941-BBF8-D365CB27DD6A}" type="slidenum">
              <a:rPr lang="en-US" smtClean="0"/>
              <a:t>14</a:t>
            </a:fld>
            <a:endParaRPr lang="en-US"/>
          </a:p>
        </p:txBody>
      </p:sp>
    </p:spTree>
    <p:extLst>
      <p:ext uri="{BB962C8B-B14F-4D97-AF65-F5344CB8AC3E}">
        <p14:creationId xmlns:p14="http://schemas.microsoft.com/office/powerpoint/2010/main" val="1057787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Markov localization</a:t>
            </a:r>
          </a:p>
        </p:txBody>
      </p:sp>
      <p:sp>
        <p:nvSpPr>
          <p:cNvPr id="3" name="Content Placeholder 2"/>
          <p:cNvSpPr>
            <a:spLocks noGrp="1"/>
          </p:cNvSpPr>
          <p:nvPr>
            <p:ph idx="1"/>
          </p:nvPr>
        </p:nvSpPr>
        <p:spPr>
          <a:xfrm>
            <a:off x="838200" y="2222500"/>
            <a:ext cx="4406900" cy="3975099"/>
          </a:xfrm>
        </p:spPr>
        <p:txBody>
          <a:bodyPr/>
          <a:lstStyle/>
          <a:p>
            <a:r>
              <a:rPr lang="en-US" dirty="0"/>
              <a:t>Straightforward application of Bayes filter</a:t>
            </a:r>
          </a:p>
          <a:p>
            <a:r>
              <a:rPr lang="en-US" dirty="0"/>
              <a:t>Requires a map </a:t>
            </a:r>
            <a:r>
              <a:rPr lang="en-US" i="1" dirty="0"/>
              <a:t>m</a:t>
            </a:r>
            <a:r>
              <a:rPr lang="en-US" dirty="0"/>
              <a:t> as input</a:t>
            </a:r>
          </a:p>
          <a:p>
            <a:r>
              <a:rPr lang="en-US" dirty="0"/>
              <a:t>Addresses:</a:t>
            </a:r>
          </a:p>
          <a:p>
            <a:pPr lvl="1"/>
            <a:r>
              <a:rPr lang="en-US" dirty="0"/>
              <a:t>Position tracking</a:t>
            </a:r>
          </a:p>
          <a:p>
            <a:pPr lvl="1"/>
            <a:r>
              <a:rPr lang="en-US" dirty="0"/>
              <a:t>Global localization</a:t>
            </a:r>
          </a:p>
          <a:p>
            <a:pPr lvl="1"/>
            <a:r>
              <a:rPr lang="en-US" dirty="0"/>
              <a:t>Kidnapped robot problem</a:t>
            </a:r>
          </a:p>
        </p:txBody>
      </p:sp>
      <p:sp>
        <p:nvSpPr>
          <p:cNvPr id="4" name="Date Placeholder 3"/>
          <p:cNvSpPr>
            <a:spLocks noGrp="1"/>
          </p:cNvSpPr>
          <p:nvPr>
            <p:ph type="dt" sz="half" idx="10"/>
          </p:nvPr>
        </p:nvSpPr>
        <p:spPr/>
        <p:txBody>
          <a:bodyPr/>
          <a:lstStyle/>
          <a:p>
            <a:r>
              <a:rPr lang="en-US"/>
              <a:t>11/9/21</a:t>
            </a:r>
          </a:p>
        </p:txBody>
      </p:sp>
      <p:pic>
        <p:nvPicPr>
          <p:cNvPr id="7" name="Picture 6"/>
          <p:cNvPicPr>
            <a:picLocks noChangeAspect="1"/>
          </p:cNvPicPr>
          <p:nvPr/>
        </p:nvPicPr>
        <p:blipFill>
          <a:blip r:embed="rId3"/>
          <a:stretch>
            <a:fillRect/>
          </a:stretch>
        </p:blipFill>
        <p:spPr>
          <a:xfrm>
            <a:off x="5633893" y="2530079"/>
            <a:ext cx="6278706" cy="2559844"/>
          </a:xfrm>
          <a:prstGeom prst="rect">
            <a:avLst/>
          </a:prstGeom>
        </p:spPr>
      </p:pic>
      <p:sp>
        <p:nvSpPr>
          <p:cNvPr id="8" name="Footer Placeholder 7"/>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40FA6E6D-7A09-0417-8B5F-EC6CDBBBD268}"/>
              </a:ext>
            </a:extLst>
          </p:cNvPr>
          <p:cNvSpPr>
            <a:spLocks noGrp="1"/>
          </p:cNvSpPr>
          <p:nvPr>
            <p:ph type="sldNum" sz="quarter" idx="12"/>
          </p:nvPr>
        </p:nvSpPr>
        <p:spPr/>
        <p:txBody>
          <a:bodyPr/>
          <a:lstStyle/>
          <a:p>
            <a:fld id="{8AA1F273-EF2F-3941-BBF8-D365CB27DD6A}" type="slidenum">
              <a:rPr lang="en-US" smtClean="0"/>
              <a:t>15</a:t>
            </a:fld>
            <a:endParaRPr lang="en-US"/>
          </a:p>
        </p:txBody>
      </p:sp>
    </p:spTree>
    <p:extLst>
      <p:ext uri="{BB962C8B-B14F-4D97-AF65-F5344CB8AC3E}">
        <p14:creationId xmlns:p14="http://schemas.microsoft.com/office/powerpoint/2010/main" val="6496185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Markov localization: typical choices </a:t>
            </a:r>
            <a:br>
              <a:rPr lang="en-US" dirty="0"/>
            </a:br>
            <a:r>
              <a:rPr lang="en-US" dirty="0"/>
              <a:t>for initial belief</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r>
                  <a:rPr lang="en-US" dirty="0"/>
                  <a:t>Initial belief, </a:t>
                </a:r>
                <a14:m>
                  <m:oMath xmlns:m="http://schemas.openxmlformats.org/officeDocument/2006/math">
                    <m:r>
                      <a:rPr lang="en-US" b="0" i="1" smtClean="0">
                        <a:latin typeface="Cambria Math" charset="0"/>
                      </a:rPr>
                      <m:t>𝑏𝑒𝑙</m:t>
                    </m:r>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0</m:t>
                        </m:r>
                      </m:sub>
                    </m:sSub>
                    <m:r>
                      <a:rPr lang="en-US" b="0" i="1" smtClean="0">
                        <a:latin typeface="Cambria Math" charset="0"/>
                      </a:rPr>
                      <m:t>)</m:t>
                    </m:r>
                  </m:oMath>
                </a14:m>
                <a:r>
                  <a:rPr lang="en-US" dirty="0"/>
                  <a:t> reflects initial knowledge of robot pose</a:t>
                </a:r>
              </a:p>
              <a:p>
                <a:r>
                  <a:rPr lang="en-US" dirty="0"/>
                  <a:t>For position tracking</a:t>
                </a:r>
              </a:p>
              <a:p>
                <a:pPr lvl="1"/>
                <a:endParaRPr lang="en-US" dirty="0"/>
              </a:p>
              <a:p>
                <a:pPr lvl="1"/>
                <a:r>
                  <a:rPr lang="en-US" dirty="0"/>
                  <a:t>If initial pose is known,</a:t>
                </a:r>
              </a:p>
              <a:p>
                <a:pPr lvl="1"/>
                <a:endParaRPr lang="en-US" dirty="0"/>
              </a:p>
              <a:p>
                <a:pPr lvl="1"/>
                <a:r>
                  <a:rPr lang="en-US" dirty="0"/>
                  <a:t>If partially known,</a:t>
                </a:r>
              </a:p>
              <a:p>
                <a:r>
                  <a:rPr lang="en-US" dirty="0"/>
                  <a:t>For global localization </a:t>
                </a:r>
              </a:p>
              <a:p>
                <a:pPr lvl="1"/>
                <a:r>
                  <a:rPr lang="en-US" dirty="0"/>
                  <a:t>If initial pose is unknown,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3"/>
                <a:stretch>
                  <a:fillRect l="-1043" t="-224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a:t>11/9/21</a:t>
            </a:r>
          </a:p>
        </p:txBody>
      </p:sp>
      <p:pic>
        <p:nvPicPr>
          <p:cNvPr id="7" name="Picture 6"/>
          <p:cNvPicPr>
            <a:picLocks noChangeAspect="1"/>
          </p:cNvPicPr>
          <p:nvPr/>
        </p:nvPicPr>
        <p:blipFill>
          <a:blip r:embed="rId4"/>
          <a:stretch>
            <a:fillRect/>
          </a:stretch>
        </p:blipFill>
        <p:spPr>
          <a:xfrm>
            <a:off x="4532850" y="2967831"/>
            <a:ext cx="2883949" cy="863600"/>
          </a:xfrm>
          <a:prstGeom prst="rect">
            <a:avLst/>
          </a:prstGeom>
        </p:spPr>
      </p:pic>
      <p:pic>
        <p:nvPicPr>
          <p:cNvPr id="8" name="Picture 7"/>
          <p:cNvPicPr>
            <a:picLocks noChangeAspect="1"/>
          </p:cNvPicPr>
          <p:nvPr/>
        </p:nvPicPr>
        <p:blipFill>
          <a:blip r:embed="rId5"/>
          <a:stretch>
            <a:fillRect/>
          </a:stretch>
        </p:blipFill>
        <p:spPr>
          <a:xfrm>
            <a:off x="3949700" y="4037519"/>
            <a:ext cx="2578100" cy="318077"/>
          </a:xfrm>
          <a:prstGeom prst="rect">
            <a:avLst/>
          </a:prstGeom>
        </p:spPr>
      </p:pic>
      <p:pic>
        <p:nvPicPr>
          <p:cNvPr id="9" name="Picture 8"/>
          <p:cNvPicPr>
            <a:picLocks noChangeAspect="1"/>
          </p:cNvPicPr>
          <p:nvPr/>
        </p:nvPicPr>
        <p:blipFill>
          <a:blip r:embed="rId6"/>
          <a:stretch>
            <a:fillRect/>
          </a:stretch>
        </p:blipFill>
        <p:spPr>
          <a:xfrm>
            <a:off x="4806424" y="4931137"/>
            <a:ext cx="2082800" cy="322442"/>
          </a:xfrm>
          <a:prstGeom prst="rect">
            <a:avLst/>
          </a:prstGeom>
        </p:spPr>
      </p:pic>
      <p:sp>
        <p:nvSpPr>
          <p:cNvPr id="10" name="Footer Placeholder 9"/>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22D8A59D-7217-E78C-453B-3C9A204E9EA8}"/>
              </a:ext>
            </a:extLst>
          </p:cNvPr>
          <p:cNvSpPr>
            <a:spLocks noGrp="1"/>
          </p:cNvSpPr>
          <p:nvPr>
            <p:ph type="sldNum" sz="quarter" idx="12"/>
          </p:nvPr>
        </p:nvSpPr>
        <p:spPr/>
        <p:txBody>
          <a:bodyPr/>
          <a:lstStyle/>
          <a:p>
            <a:fld id="{8AA1F273-EF2F-3941-BBF8-D365CB27DD6A}" type="slidenum">
              <a:rPr lang="en-US" smtClean="0"/>
              <a:t>16</a:t>
            </a:fld>
            <a:endParaRPr lang="en-US"/>
          </a:p>
        </p:txBody>
      </p:sp>
    </p:spTree>
    <p:extLst>
      <p:ext uri="{BB962C8B-B14F-4D97-AF65-F5344CB8AC3E}">
        <p14:creationId xmlns:p14="http://schemas.microsoft.com/office/powerpoint/2010/main" val="16697007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Markov localization: example</a:t>
            </a:r>
          </a:p>
        </p:txBody>
      </p:sp>
      <p:sp>
        <p:nvSpPr>
          <p:cNvPr id="4" name="Date Placeholder 3"/>
          <p:cNvSpPr>
            <a:spLocks noGrp="1"/>
          </p:cNvSpPr>
          <p:nvPr>
            <p:ph type="dt" sz="half" idx="10"/>
          </p:nvPr>
        </p:nvSpPr>
        <p:spPr/>
        <p:txBody>
          <a:bodyPr/>
          <a:lstStyle/>
          <a:p>
            <a:r>
              <a:rPr lang="en-US"/>
              <a:t>11/9/21</a:t>
            </a:r>
          </a:p>
        </p:txBody>
      </p:sp>
      <p:pic>
        <p:nvPicPr>
          <p:cNvPr id="7" name="Picture 2" descr="unifor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24050" y="1623698"/>
            <a:ext cx="8343900" cy="17693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3" descr="pGivenO"/>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24050" y="3758189"/>
            <a:ext cx="8343900" cy="27839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8"/>
          <p:cNvPicPr>
            <a:picLocks noChangeAspect="1"/>
          </p:cNvPicPr>
          <p:nvPr/>
        </p:nvPicPr>
        <p:blipFill>
          <a:blip r:embed="rId5"/>
          <a:stretch>
            <a:fillRect/>
          </a:stretch>
        </p:blipFill>
        <p:spPr>
          <a:xfrm>
            <a:off x="2209800" y="2382493"/>
            <a:ext cx="812800" cy="358019"/>
          </a:xfrm>
          <a:prstGeom prst="rect">
            <a:avLst/>
          </a:prstGeom>
        </p:spPr>
      </p:pic>
      <p:pic>
        <p:nvPicPr>
          <p:cNvPr id="10" name="Picture 9"/>
          <p:cNvPicPr>
            <a:picLocks noChangeAspect="1"/>
          </p:cNvPicPr>
          <p:nvPr/>
        </p:nvPicPr>
        <p:blipFill>
          <a:blip r:embed="rId6"/>
          <a:stretch>
            <a:fillRect/>
          </a:stretch>
        </p:blipFill>
        <p:spPr>
          <a:xfrm>
            <a:off x="9804400" y="2936561"/>
            <a:ext cx="139700" cy="158327"/>
          </a:xfrm>
          <a:prstGeom prst="rect">
            <a:avLst/>
          </a:prstGeom>
        </p:spPr>
      </p:pic>
      <p:pic>
        <p:nvPicPr>
          <p:cNvPr id="11" name="Picture 10"/>
          <p:cNvPicPr>
            <a:picLocks noChangeAspect="1"/>
          </p:cNvPicPr>
          <p:nvPr/>
        </p:nvPicPr>
        <p:blipFill>
          <a:blip r:embed="rId5"/>
          <a:stretch>
            <a:fillRect/>
          </a:stretch>
        </p:blipFill>
        <p:spPr>
          <a:xfrm>
            <a:off x="2219325" y="5531519"/>
            <a:ext cx="812800" cy="358019"/>
          </a:xfrm>
          <a:prstGeom prst="rect">
            <a:avLst/>
          </a:prstGeom>
        </p:spPr>
      </p:pic>
      <p:pic>
        <p:nvPicPr>
          <p:cNvPr id="12" name="Picture 11"/>
          <p:cNvPicPr>
            <a:picLocks noChangeAspect="1"/>
          </p:cNvPicPr>
          <p:nvPr/>
        </p:nvPicPr>
        <p:blipFill>
          <a:blip r:embed="rId6"/>
          <a:stretch>
            <a:fillRect/>
          </a:stretch>
        </p:blipFill>
        <p:spPr>
          <a:xfrm>
            <a:off x="9813925" y="6085587"/>
            <a:ext cx="139700" cy="158327"/>
          </a:xfrm>
          <a:prstGeom prst="rect">
            <a:avLst/>
          </a:prstGeom>
        </p:spPr>
      </p:pic>
      <p:pic>
        <p:nvPicPr>
          <p:cNvPr id="13" name="Picture 12"/>
          <p:cNvPicPr>
            <a:picLocks noChangeAspect="1"/>
          </p:cNvPicPr>
          <p:nvPr/>
        </p:nvPicPr>
        <p:blipFill>
          <a:blip r:embed="rId7"/>
          <a:stretch>
            <a:fillRect/>
          </a:stretch>
        </p:blipFill>
        <p:spPr>
          <a:xfrm>
            <a:off x="2209800" y="4558795"/>
            <a:ext cx="838200" cy="304053"/>
          </a:xfrm>
          <a:prstGeom prst="rect">
            <a:avLst/>
          </a:prstGeom>
        </p:spPr>
      </p:pic>
      <p:pic>
        <p:nvPicPr>
          <p:cNvPr id="14" name="Picture 13"/>
          <p:cNvPicPr>
            <a:picLocks noChangeAspect="1"/>
          </p:cNvPicPr>
          <p:nvPr/>
        </p:nvPicPr>
        <p:blipFill>
          <a:blip r:embed="rId6"/>
          <a:stretch>
            <a:fillRect/>
          </a:stretch>
        </p:blipFill>
        <p:spPr>
          <a:xfrm>
            <a:off x="9795845" y="5075612"/>
            <a:ext cx="139700" cy="158327"/>
          </a:xfrm>
          <a:prstGeom prst="rect">
            <a:avLst/>
          </a:prstGeom>
        </p:spPr>
      </p:pic>
      <p:sp>
        <p:nvSpPr>
          <p:cNvPr id="3" name="Footer Placeholder 2"/>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343C5FA0-2E31-372C-03E4-675D8061E8AB}"/>
              </a:ext>
            </a:extLst>
          </p:cNvPr>
          <p:cNvSpPr>
            <a:spLocks noGrp="1"/>
          </p:cNvSpPr>
          <p:nvPr>
            <p:ph type="sldNum" sz="quarter" idx="12"/>
          </p:nvPr>
        </p:nvSpPr>
        <p:spPr/>
        <p:txBody>
          <a:bodyPr/>
          <a:lstStyle/>
          <a:p>
            <a:fld id="{8AA1F273-EF2F-3941-BBF8-D365CB27DD6A}" type="slidenum">
              <a:rPr lang="en-US" smtClean="0"/>
              <a:t>17</a:t>
            </a:fld>
            <a:endParaRPr lang="en-US"/>
          </a:p>
        </p:txBody>
      </p:sp>
    </p:spTree>
    <p:extLst>
      <p:ext uri="{BB962C8B-B14F-4D97-AF65-F5344CB8AC3E}">
        <p14:creationId xmlns:p14="http://schemas.microsoft.com/office/powerpoint/2010/main" val="4804614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Markov localization: example</a:t>
            </a:r>
          </a:p>
        </p:txBody>
      </p:sp>
      <p:sp>
        <p:nvSpPr>
          <p:cNvPr id="4" name="Date Placeholder 3"/>
          <p:cNvSpPr>
            <a:spLocks noGrp="1"/>
          </p:cNvSpPr>
          <p:nvPr>
            <p:ph type="dt" sz="half" idx="10"/>
          </p:nvPr>
        </p:nvSpPr>
        <p:spPr/>
        <p:txBody>
          <a:bodyPr/>
          <a:lstStyle/>
          <a:p>
            <a:r>
              <a:rPr lang="en-US"/>
              <a:t>11/9/21</a:t>
            </a:r>
          </a:p>
        </p:txBody>
      </p:sp>
      <p:pic>
        <p:nvPicPr>
          <p:cNvPr id="8" name="Picture 5" descr="pGivenOAO"/>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24050" y="3708973"/>
            <a:ext cx="8343900" cy="278390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descr="pGivenOA"/>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24050" y="1630965"/>
            <a:ext cx="8343900" cy="176936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p:nvPicPr>
        <p:blipFill>
          <a:blip r:embed="rId5"/>
          <a:stretch>
            <a:fillRect/>
          </a:stretch>
        </p:blipFill>
        <p:spPr>
          <a:xfrm>
            <a:off x="2209800" y="2382493"/>
            <a:ext cx="812800" cy="358019"/>
          </a:xfrm>
          <a:prstGeom prst="rect">
            <a:avLst/>
          </a:prstGeom>
        </p:spPr>
      </p:pic>
      <p:pic>
        <p:nvPicPr>
          <p:cNvPr id="11" name="Picture 10"/>
          <p:cNvPicPr>
            <a:picLocks noChangeAspect="1"/>
          </p:cNvPicPr>
          <p:nvPr/>
        </p:nvPicPr>
        <p:blipFill>
          <a:blip r:embed="rId6"/>
          <a:stretch>
            <a:fillRect/>
          </a:stretch>
        </p:blipFill>
        <p:spPr>
          <a:xfrm>
            <a:off x="9804400" y="2936561"/>
            <a:ext cx="139700" cy="158327"/>
          </a:xfrm>
          <a:prstGeom prst="rect">
            <a:avLst/>
          </a:prstGeom>
        </p:spPr>
      </p:pic>
      <p:pic>
        <p:nvPicPr>
          <p:cNvPr id="12" name="Picture 11"/>
          <p:cNvPicPr>
            <a:picLocks noChangeAspect="1"/>
          </p:cNvPicPr>
          <p:nvPr/>
        </p:nvPicPr>
        <p:blipFill>
          <a:blip r:embed="rId5"/>
          <a:stretch>
            <a:fillRect/>
          </a:stretch>
        </p:blipFill>
        <p:spPr>
          <a:xfrm>
            <a:off x="2209800" y="5498852"/>
            <a:ext cx="812800" cy="358019"/>
          </a:xfrm>
          <a:prstGeom prst="rect">
            <a:avLst/>
          </a:prstGeom>
        </p:spPr>
      </p:pic>
      <p:pic>
        <p:nvPicPr>
          <p:cNvPr id="13" name="Picture 12"/>
          <p:cNvPicPr>
            <a:picLocks noChangeAspect="1"/>
          </p:cNvPicPr>
          <p:nvPr/>
        </p:nvPicPr>
        <p:blipFill>
          <a:blip r:embed="rId6"/>
          <a:stretch>
            <a:fillRect/>
          </a:stretch>
        </p:blipFill>
        <p:spPr>
          <a:xfrm>
            <a:off x="9804400" y="6052920"/>
            <a:ext cx="139700" cy="158327"/>
          </a:xfrm>
          <a:prstGeom prst="rect">
            <a:avLst/>
          </a:prstGeom>
        </p:spPr>
      </p:pic>
      <p:pic>
        <p:nvPicPr>
          <p:cNvPr id="14" name="Picture 13"/>
          <p:cNvPicPr>
            <a:picLocks noChangeAspect="1"/>
          </p:cNvPicPr>
          <p:nvPr/>
        </p:nvPicPr>
        <p:blipFill>
          <a:blip r:embed="rId6"/>
          <a:stretch>
            <a:fillRect/>
          </a:stretch>
        </p:blipFill>
        <p:spPr>
          <a:xfrm>
            <a:off x="9804400" y="5021760"/>
            <a:ext cx="139700" cy="158327"/>
          </a:xfrm>
          <a:prstGeom prst="rect">
            <a:avLst/>
          </a:prstGeom>
        </p:spPr>
      </p:pic>
      <p:pic>
        <p:nvPicPr>
          <p:cNvPr id="3" name="Picture 2"/>
          <p:cNvPicPr>
            <a:picLocks noChangeAspect="1"/>
          </p:cNvPicPr>
          <p:nvPr/>
        </p:nvPicPr>
        <p:blipFill>
          <a:blip r:embed="rId7"/>
          <a:stretch>
            <a:fillRect/>
          </a:stretch>
        </p:blipFill>
        <p:spPr>
          <a:xfrm>
            <a:off x="2209800" y="4558795"/>
            <a:ext cx="838200" cy="304053"/>
          </a:xfrm>
          <a:prstGeom prst="rect">
            <a:avLst/>
          </a:prstGeom>
        </p:spPr>
      </p:pic>
      <p:sp>
        <p:nvSpPr>
          <p:cNvPr id="7" name="Footer Placeholder 6"/>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FCE8E683-909B-1BE6-1CBF-9DDC139D6C27}"/>
              </a:ext>
            </a:extLst>
          </p:cNvPr>
          <p:cNvSpPr>
            <a:spLocks noGrp="1"/>
          </p:cNvSpPr>
          <p:nvPr>
            <p:ph type="sldNum" sz="quarter" idx="12"/>
          </p:nvPr>
        </p:nvSpPr>
        <p:spPr/>
        <p:txBody>
          <a:bodyPr/>
          <a:lstStyle/>
          <a:p>
            <a:fld id="{8AA1F273-EF2F-3941-BBF8-D365CB27DD6A}" type="slidenum">
              <a:rPr lang="en-US" smtClean="0"/>
              <a:t>18</a:t>
            </a:fld>
            <a:endParaRPr lang="en-US"/>
          </a:p>
        </p:txBody>
      </p:sp>
    </p:spTree>
    <p:extLst>
      <p:ext uri="{BB962C8B-B14F-4D97-AF65-F5344CB8AC3E}">
        <p14:creationId xmlns:p14="http://schemas.microsoft.com/office/powerpoint/2010/main" val="5766404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Markov localization: example</a:t>
            </a:r>
          </a:p>
        </p:txBody>
      </p:sp>
      <p:sp>
        <p:nvSpPr>
          <p:cNvPr id="4" name="Date Placeholder 3"/>
          <p:cNvSpPr>
            <a:spLocks noGrp="1"/>
          </p:cNvSpPr>
          <p:nvPr>
            <p:ph type="dt" sz="half" idx="10"/>
          </p:nvPr>
        </p:nvSpPr>
        <p:spPr/>
        <p:txBody>
          <a:bodyPr/>
          <a:lstStyle/>
          <a:p>
            <a:r>
              <a:rPr lang="en-US"/>
              <a:t>11/9/21</a:t>
            </a:r>
          </a:p>
        </p:txBody>
      </p:sp>
      <p:pic>
        <p:nvPicPr>
          <p:cNvPr id="7" name="Picture 6" descr="pGivenOAO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24050" y="2067625"/>
            <a:ext cx="8343900" cy="176936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p:nvPicPr>
        <p:blipFill>
          <a:blip r:embed="rId3"/>
          <a:stretch>
            <a:fillRect/>
          </a:stretch>
        </p:blipFill>
        <p:spPr>
          <a:xfrm>
            <a:off x="2209800" y="2763493"/>
            <a:ext cx="812800" cy="358019"/>
          </a:xfrm>
          <a:prstGeom prst="rect">
            <a:avLst/>
          </a:prstGeom>
        </p:spPr>
      </p:pic>
      <p:pic>
        <p:nvPicPr>
          <p:cNvPr id="10" name="Picture 9"/>
          <p:cNvPicPr>
            <a:picLocks noChangeAspect="1"/>
          </p:cNvPicPr>
          <p:nvPr/>
        </p:nvPicPr>
        <p:blipFill>
          <a:blip r:embed="rId4"/>
          <a:stretch>
            <a:fillRect/>
          </a:stretch>
        </p:blipFill>
        <p:spPr>
          <a:xfrm>
            <a:off x="9804400" y="3317561"/>
            <a:ext cx="139700" cy="158327"/>
          </a:xfrm>
          <a:prstGeom prst="rect">
            <a:avLst/>
          </a:prstGeom>
        </p:spPr>
      </p:pic>
      <p:sp>
        <p:nvSpPr>
          <p:cNvPr id="3" name="Footer Placeholder 2"/>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00DE094B-2726-DC03-9F72-9E212C1F3DB5}"/>
              </a:ext>
            </a:extLst>
          </p:cNvPr>
          <p:cNvSpPr>
            <a:spLocks noGrp="1"/>
          </p:cNvSpPr>
          <p:nvPr>
            <p:ph type="sldNum" sz="quarter" idx="12"/>
          </p:nvPr>
        </p:nvSpPr>
        <p:spPr/>
        <p:txBody>
          <a:bodyPr/>
          <a:lstStyle/>
          <a:p>
            <a:fld id="{8AA1F273-EF2F-3941-BBF8-D365CB27DD6A}" type="slidenum">
              <a:rPr lang="en-US" smtClean="0"/>
              <a:t>19</a:t>
            </a:fld>
            <a:endParaRPr lang="en-US"/>
          </a:p>
        </p:txBody>
      </p:sp>
    </p:spTree>
    <p:extLst>
      <p:ext uri="{BB962C8B-B14F-4D97-AF65-F5344CB8AC3E}">
        <p14:creationId xmlns:p14="http://schemas.microsoft.com/office/powerpoint/2010/main" val="23106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Instantiation of Markov localization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dirty="0"/>
                  <a:t>To make algorithm tractable, we need to add some structure to the representation of </a:t>
                </a:r>
                <a14:m>
                  <m:oMath xmlns:m="http://schemas.openxmlformats.org/officeDocument/2006/math">
                    <m:r>
                      <a:rPr lang="en-US" b="0" i="1" smtClean="0">
                        <a:latin typeface="Cambria Math" charset="0"/>
                      </a:rPr>
                      <m:t>𝑏𝑒𝑙</m:t>
                    </m:r>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𝑡</m:t>
                        </m:r>
                      </m:sub>
                    </m:sSub>
                    <m:r>
                      <a:rPr lang="en-US" b="0" i="1" smtClean="0">
                        <a:latin typeface="Cambria Math" charset="0"/>
                      </a:rPr>
                      <m:t>)</m:t>
                    </m:r>
                  </m:oMath>
                </a14:m>
                <a:r>
                  <a:rPr lang="en-US" dirty="0"/>
                  <a:t>; examples:</a:t>
                </a:r>
              </a:p>
              <a:p>
                <a:pPr marL="971550" lvl="1" indent="-514350">
                  <a:buFont typeface="+mj-lt"/>
                  <a:buAutoNum type="arabicPeriod"/>
                </a:pPr>
                <a:r>
                  <a:rPr lang="en-US" dirty="0"/>
                  <a:t>Gaussian representation   &lt;- focus of the rest of this lecture </a:t>
                </a:r>
              </a:p>
              <a:p>
                <a:pPr marL="971550" lvl="1" indent="-514350">
                  <a:buFont typeface="+mj-lt"/>
                  <a:buAutoNum type="arabicPeriod"/>
                </a:pPr>
                <a:r>
                  <a:rPr lang="en-US" dirty="0"/>
                  <a:t>Particle filter representation</a:t>
                </a:r>
              </a:p>
              <a:p>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3"/>
                <a:stretch>
                  <a:fillRect l="-1086" t="-2326"/>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a:t>11/9/21</a:t>
            </a:r>
          </a:p>
        </p:txBody>
      </p:sp>
      <p:sp>
        <p:nvSpPr>
          <p:cNvPr id="7" name="Footer Placeholder 6"/>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7F6D65A5-43D6-773A-C800-F5EBD58732C9}"/>
              </a:ext>
            </a:extLst>
          </p:cNvPr>
          <p:cNvSpPr>
            <a:spLocks noGrp="1"/>
          </p:cNvSpPr>
          <p:nvPr>
            <p:ph type="sldNum" sz="quarter" idx="12"/>
          </p:nvPr>
        </p:nvSpPr>
        <p:spPr/>
        <p:txBody>
          <a:bodyPr/>
          <a:lstStyle/>
          <a:p>
            <a:fld id="{8AA1F273-EF2F-3941-BBF8-D365CB27DD6A}" type="slidenum">
              <a:rPr lang="en-US" smtClean="0"/>
              <a:t>20</a:t>
            </a:fld>
            <a:endParaRPr lang="en-US"/>
          </a:p>
        </p:txBody>
      </p:sp>
    </p:spTree>
    <p:extLst>
      <p:ext uri="{BB962C8B-B14F-4D97-AF65-F5344CB8AC3E}">
        <p14:creationId xmlns:p14="http://schemas.microsoft.com/office/powerpoint/2010/main" val="15338324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Extended </a:t>
            </a:r>
            <a:r>
              <a:rPr lang="en-US" dirty="0" err="1"/>
              <a:t>Kalman</a:t>
            </a:r>
            <a:r>
              <a:rPr lang="en-US" dirty="0"/>
              <a:t> filter (EKF) localization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dirty="0">
                    <a:solidFill>
                      <a:srgbClr val="C00000"/>
                    </a:solidFill>
                  </a:rPr>
                  <a:t>Key idea</a:t>
                </a:r>
                <a:r>
                  <a:rPr lang="en-US" dirty="0"/>
                  <a:t>: represent belief </a:t>
                </a:r>
                <a14:m>
                  <m:oMath xmlns:m="http://schemas.openxmlformats.org/officeDocument/2006/math">
                    <m:r>
                      <a:rPr lang="en-US" b="0" i="1" smtClean="0">
                        <a:latin typeface="Cambria Math" charset="0"/>
                      </a:rPr>
                      <m:t>𝑏𝑒𝑙</m:t>
                    </m:r>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𝑡</m:t>
                        </m:r>
                      </m:sub>
                    </m:sSub>
                    <m:r>
                      <a:rPr lang="en-US" b="0" i="1" smtClean="0">
                        <a:latin typeface="Cambria Math" charset="0"/>
                      </a:rPr>
                      <m:t>)</m:t>
                    </m:r>
                  </m:oMath>
                </a14:m>
                <a:r>
                  <a:rPr lang="en-US" dirty="0"/>
                  <a:t> by its first and second moment, i.e.,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𝜇</m:t>
                        </m:r>
                      </m:e>
                      <m:sub>
                        <m:r>
                          <a:rPr lang="en-US" b="0" i="1" smtClean="0">
                            <a:latin typeface="Cambria Math" charset="0"/>
                          </a:rPr>
                          <m:t>𝑡</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m:rPr>
                            <m:sty m:val="p"/>
                          </m:rPr>
                          <a:rPr lang="en-US" b="0" i="0" smtClean="0">
                            <a:latin typeface="Cambria Math" charset="0"/>
                          </a:rPr>
                          <m:t>Σ</m:t>
                        </m:r>
                      </m:e>
                      <m:sub>
                        <m:r>
                          <a:rPr lang="en-US" b="0" i="1" smtClean="0">
                            <a:latin typeface="Cambria Math" charset="0"/>
                          </a:rPr>
                          <m:t>𝑡</m:t>
                        </m:r>
                      </m:sub>
                    </m:sSub>
                  </m:oMath>
                </a14:m>
                <a:endParaRPr lang="en-US" dirty="0"/>
              </a:p>
              <a:p>
                <a:r>
                  <a:rPr lang="en-US" dirty="0"/>
                  <a:t>We will develop the EKF localization algorithm under the assumptions that:</a:t>
                </a:r>
              </a:p>
              <a:p>
                <a:pPr marL="971550" lvl="1" indent="-514350">
                  <a:buFont typeface="+mj-lt"/>
                  <a:buAutoNum type="arabicPeriod"/>
                </a:pPr>
                <a:r>
                  <a:rPr lang="en-US" dirty="0"/>
                  <a:t>A </a:t>
                </a:r>
                <a:r>
                  <a:rPr lang="en-US" dirty="0">
                    <a:solidFill>
                      <a:srgbClr val="C00000"/>
                    </a:solidFill>
                  </a:rPr>
                  <a:t>feature-based map </a:t>
                </a:r>
                <a:r>
                  <a:rPr lang="en-US" dirty="0"/>
                  <a:t>is available, consisting of point landmarks</a:t>
                </a:r>
              </a:p>
              <a:p>
                <a:pPr marL="971550" lvl="1" indent="-514350">
                  <a:buFont typeface="+mj-lt"/>
                  <a:buAutoNum type="arabicPeriod"/>
                </a:pPr>
                <a:endParaRPr lang="en-US" dirty="0"/>
              </a:p>
              <a:p>
                <a:pPr marL="971550" lvl="1" indent="-514350">
                  <a:buFont typeface="+mj-lt"/>
                  <a:buAutoNum type="arabicPeriod"/>
                </a:pPr>
                <a:endParaRPr lang="en-US" dirty="0"/>
              </a:p>
              <a:p>
                <a:pPr marL="971550" lvl="1" indent="-514350">
                  <a:buFont typeface="+mj-lt"/>
                  <a:buAutoNum type="arabicPeriod"/>
                </a:pPr>
                <a:r>
                  <a:rPr lang="en-US" dirty="0"/>
                  <a:t>There is a sensor that can measure </a:t>
                </a:r>
                <a:r>
                  <a:rPr lang="en-US" dirty="0">
                    <a:solidFill>
                      <a:srgbClr val="C00000"/>
                    </a:solidFill>
                  </a:rPr>
                  <a:t>the range </a:t>
                </a:r>
                <a14:m>
                  <m:oMath xmlns:m="http://schemas.openxmlformats.org/officeDocument/2006/math">
                    <m:r>
                      <a:rPr lang="en-US" i="1">
                        <a:solidFill>
                          <a:srgbClr val="C00000"/>
                        </a:solidFill>
                        <a:latin typeface="Cambria Math" charset="0"/>
                      </a:rPr>
                      <m:t>𝑟</m:t>
                    </m:r>
                  </m:oMath>
                </a14:m>
                <a:r>
                  <a:rPr lang="en-US" i="1" dirty="0">
                    <a:solidFill>
                      <a:srgbClr val="C00000"/>
                    </a:solidFill>
                  </a:rPr>
                  <a:t> </a:t>
                </a:r>
                <a:r>
                  <a:rPr lang="en-US" dirty="0">
                    <a:solidFill>
                      <a:srgbClr val="C00000"/>
                    </a:solidFill>
                  </a:rPr>
                  <a:t>and the bearing </a:t>
                </a:r>
                <a14:m>
                  <m:oMath xmlns:m="http://schemas.openxmlformats.org/officeDocument/2006/math">
                    <m:r>
                      <a:rPr lang="en-US" i="1">
                        <a:solidFill>
                          <a:srgbClr val="C00000"/>
                        </a:solidFill>
                        <a:latin typeface="Cambria Math" charset="0"/>
                      </a:rPr>
                      <m:t>𝜙</m:t>
                    </m:r>
                  </m:oMath>
                </a14:m>
                <a:r>
                  <a:rPr lang="en-US" dirty="0">
                    <a:solidFill>
                      <a:srgbClr val="C00000"/>
                    </a:solidFill>
                  </a:rPr>
                  <a:t> </a:t>
                </a:r>
                <a:r>
                  <a:rPr lang="en-US" dirty="0"/>
                  <a:t>of the landmarks relative to the robot’s local coordinate frame</a:t>
                </a:r>
              </a:p>
              <a:p>
                <a:r>
                  <a:rPr lang="en-US" dirty="0"/>
                  <a:t>Key concepts carry forward to other map / sensing models</a:t>
                </a:r>
              </a:p>
              <a:p>
                <a:pPr marL="971550" lvl="1" indent="-514350">
                  <a:buFont typeface="+mj-lt"/>
                  <a:buAutoNum type="arabicPeriod"/>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3"/>
                <a:stretch>
                  <a:fillRect l="-1043" t="-2241" r="-1855"/>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a:t>11/9/21</a:t>
            </a:r>
          </a:p>
        </p:txBody>
      </p:sp>
      <p:pic>
        <p:nvPicPr>
          <p:cNvPr id="8" name="Picture 7"/>
          <p:cNvPicPr>
            <a:picLocks noChangeAspect="1"/>
          </p:cNvPicPr>
          <p:nvPr/>
        </p:nvPicPr>
        <p:blipFill>
          <a:blip r:embed="rId4"/>
          <a:stretch>
            <a:fillRect/>
          </a:stretch>
        </p:blipFill>
        <p:spPr>
          <a:xfrm>
            <a:off x="2877654" y="4148914"/>
            <a:ext cx="6436691" cy="382777"/>
          </a:xfrm>
          <a:prstGeom prst="rect">
            <a:avLst/>
          </a:prstGeom>
        </p:spPr>
      </p:pic>
      <p:cxnSp>
        <p:nvCxnSpPr>
          <p:cNvPr id="10" name="Straight Arrow Connector 9"/>
          <p:cNvCxnSpPr/>
          <p:nvPr/>
        </p:nvCxnSpPr>
        <p:spPr>
          <a:xfrm flipH="1" flipV="1">
            <a:off x="9365722" y="4340302"/>
            <a:ext cx="449243" cy="2971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866342" y="3799556"/>
            <a:ext cx="2271870" cy="923330"/>
          </a:xfrm>
          <a:prstGeom prst="rect">
            <a:avLst/>
          </a:prstGeom>
          <a:noFill/>
        </p:spPr>
        <p:txBody>
          <a:bodyPr wrap="square" rtlCol="0">
            <a:spAutoFit/>
          </a:bodyPr>
          <a:lstStyle/>
          <a:p>
            <a:r>
              <a:rPr lang="en-US" dirty="0"/>
              <a:t>Location of the landmark in the global coordinate frame</a:t>
            </a:r>
          </a:p>
        </p:txBody>
      </p:sp>
      <p:sp>
        <p:nvSpPr>
          <p:cNvPr id="7" name="Footer Placeholder 6"/>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59A87E28-FB69-6A4C-9B64-1D0EDA5386CC}"/>
              </a:ext>
            </a:extLst>
          </p:cNvPr>
          <p:cNvSpPr>
            <a:spLocks noGrp="1"/>
          </p:cNvSpPr>
          <p:nvPr>
            <p:ph type="sldNum" sz="quarter" idx="12"/>
          </p:nvPr>
        </p:nvSpPr>
        <p:spPr/>
        <p:txBody>
          <a:bodyPr/>
          <a:lstStyle/>
          <a:p>
            <a:fld id="{8AA1F273-EF2F-3941-BBF8-D365CB27DD6A}" type="slidenum">
              <a:rPr lang="en-US" smtClean="0"/>
              <a:t>21</a:t>
            </a:fld>
            <a:endParaRPr lang="en-US"/>
          </a:p>
        </p:txBody>
      </p:sp>
    </p:spTree>
    <p:extLst>
      <p:ext uri="{BB962C8B-B14F-4D97-AF65-F5344CB8AC3E}">
        <p14:creationId xmlns:p14="http://schemas.microsoft.com/office/powerpoint/2010/main" val="17496595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p:cNvPicPr>
            <a:picLocks noChangeAspect="1"/>
          </p:cNvPicPr>
          <p:nvPr/>
        </p:nvPicPr>
        <p:blipFill>
          <a:blip r:embed="rId3"/>
          <a:stretch>
            <a:fillRect/>
          </a:stretch>
        </p:blipFill>
        <p:spPr>
          <a:xfrm>
            <a:off x="2364408" y="4968506"/>
            <a:ext cx="7463183" cy="1348545"/>
          </a:xfrm>
          <a:prstGeom prst="rect">
            <a:avLst/>
          </a:prstGeom>
        </p:spPr>
      </p:pic>
      <p:sp>
        <p:nvSpPr>
          <p:cNvPr id="2" name="Title 1"/>
          <p:cNvSpPr>
            <a:spLocks noGrp="1"/>
          </p:cNvSpPr>
          <p:nvPr>
            <p:ph type="title"/>
          </p:nvPr>
        </p:nvSpPr>
        <p:spPr/>
        <p:txBody>
          <a:bodyPr/>
          <a:lstStyle/>
          <a:p>
            <a:r>
              <a:rPr lang="en-US" dirty="0"/>
              <a:t>Range and bearing sensors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785869"/>
                <a:ext cx="10515600" cy="4351338"/>
              </a:xfrm>
            </p:spPr>
            <p:txBody>
              <a:bodyPr/>
              <a:lstStyle/>
              <a:p>
                <a:r>
                  <a:rPr lang="en-US" dirty="0"/>
                  <a:t>Range &amp; bearing sensors are common: features extracted from range scans and stereo vision come with range </a:t>
                </a:r>
                <a14:m>
                  <m:oMath xmlns:m="http://schemas.openxmlformats.org/officeDocument/2006/math">
                    <m:r>
                      <a:rPr lang="en-US" b="0" i="1" smtClean="0">
                        <a:latin typeface="Cambria Math" charset="0"/>
                      </a:rPr>
                      <m:t>𝑟</m:t>
                    </m:r>
                  </m:oMath>
                </a14:m>
                <a:r>
                  <a:rPr lang="en-US" dirty="0"/>
                  <a:t> and bearing </a:t>
                </a:r>
                <a14:m>
                  <m:oMath xmlns:m="http://schemas.openxmlformats.org/officeDocument/2006/math">
                    <m:r>
                      <a:rPr lang="en-US" b="0" i="1" smtClean="0">
                        <a:latin typeface="Cambria Math" charset="0"/>
                      </a:rPr>
                      <m:t>𝜙</m:t>
                    </m:r>
                  </m:oMath>
                </a14:m>
                <a:r>
                  <a:rPr lang="en-US" dirty="0"/>
                  <a:t> information </a:t>
                </a:r>
              </a:p>
              <a:p>
                <a:r>
                  <a:rPr lang="en-US" dirty="0"/>
                  <a:t>At time </a:t>
                </a:r>
                <a:r>
                  <a:rPr lang="en-US" i="1" dirty="0"/>
                  <a:t>t</a:t>
                </a:r>
                <a:r>
                  <a:rPr lang="en-US" dirty="0"/>
                  <a:t>, a </a:t>
                </a:r>
                <a:r>
                  <a:rPr lang="en-US" dirty="0">
                    <a:solidFill>
                      <a:srgbClr val="C00000"/>
                    </a:solidFill>
                  </a:rPr>
                  <a:t>set </a:t>
                </a:r>
                <a:r>
                  <a:rPr lang="en-US" dirty="0"/>
                  <a:t>of features is measured (assumed independent) </a:t>
                </a:r>
              </a:p>
              <a:p>
                <a:endParaRPr lang="en-US" i="1" dirty="0"/>
              </a:p>
              <a:p>
                <a:endParaRPr lang="en-US" sz="1000" i="1" dirty="0"/>
              </a:p>
              <a:p>
                <a:r>
                  <a:rPr lang="en-US" dirty="0"/>
                  <a:t>Assuming that the </a:t>
                </a:r>
                <a:r>
                  <a:rPr lang="en-US" i="1" dirty="0" err="1"/>
                  <a:t>i</a:t>
                </a:r>
                <a:r>
                  <a:rPr lang="en-US" dirty="0" err="1"/>
                  <a:t>-th</a:t>
                </a:r>
                <a:r>
                  <a:rPr lang="en-US" dirty="0"/>
                  <a:t> measurement at time </a:t>
                </a:r>
                <a:r>
                  <a:rPr lang="en-US" i="1" dirty="0"/>
                  <a:t>t</a:t>
                </a:r>
                <a:r>
                  <a:rPr lang="en-US" dirty="0"/>
                  <a:t> corresponds to the </a:t>
                </a:r>
                <a:r>
                  <a:rPr lang="en-US" i="1" dirty="0"/>
                  <a:t>j</a:t>
                </a:r>
                <a:r>
                  <a:rPr lang="en-US" dirty="0"/>
                  <a:t>-</a:t>
                </a:r>
                <a:r>
                  <a:rPr lang="en-US" dirty="0" err="1"/>
                  <a:t>th</a:t>
                </a:r>
                <a:r>
                  <a:rPr lang="en-US" dirty="0"/>
                  <a:t> landmark in the map, the measurement model is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785869"/>
                <a:ext cx="10515600" cy="4351338"/>
              </a:xfrm>
              <a:blipFill rotWithShape="0">
                <a:blip r:embed="rId4"/>
                <a:stretch>
                  <a:fillRect l="-1043" t="-2381" r="-81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a:t>11/9/21</a:t>
            </a:r>
          </a:p>
        </p:txBody>
      </p:sp>
      <p:pic>
        <p:nvPicPr>
          <p:cNvPr id="7" name="Picture 6"/>
          <p:cNvPicPr>
            <a:picLocks noChangeAspect="1"/>
          </p:cNvPicPr>
          <p:nvPr/>
        </p:nvPicPr>
        <p:blipFill>
          <a:blip r:embed="rId5"/>
          <a:stretch>
            <a:fillRect/>
          </a:stretch>
        </p:blipFill>
        <p:spPr>
          <a:xfrm>
            <a:off x="3021496" y="3244848"/>
            <a:ext cx="6502952" cy="417902"/>
          </a:xfrm>
          <a:prstGeom prst="rect">
            <a:avLst/>
          </a:prstGeom>
        </p:spPr>
      </p:pic>
      <p:cxnSp>
        <p:nvCxnSpPr>
          <p:cNvPr id="10" name="Straight Arrow Connector 9"/>
          <p:cNvCxnSpPr/>
          <p:nvPr/>
        </p:nvCxnSpPr>
        <p:spPr>
          <a:xfrm flipH="1" flipV="1">
            <a:off x="9466397" y="5625767"/>
            <a:ext cx="515803" cy="371278"/>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982200" y="5992082"/>
            <a:ext cx="1751220" cy="369332"/>
          </a:xfrm>
          <a:prstGeom prst="rect">
            <a:avLst/>
          </a:prstGeom>
          <a:noFill/>
        </p:spPr>
        <p:txBody>
          <a:bodyPr wrap="square" rtlCol="0">
            <a:spAutoFit/>
          </a:bodyPr>
          <a:lstStyle/>
          <a:p>
            <a:r>
              <a:rPr lang="en-US"/>
              <a:t>Gaussian noise</a:t>
            </a:r>
            <a:endParaRPr lang="en-US" dirty="0"/>
          </a:p>
        </p:txBody>
      </p:sp>
      <p:sp>
        <p:nvSpPr>
          <p:cNvPr id="8" name="Footer Placeholder 7"/>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F556C532-7FF1-888D-BC79-62630D20AE2E}"/>
              </a:ext>
            </a:extLst>
          </p:cNvPr>
          <p:cNvSpPr>
            <a:spLocks noGrp="1"/>
          </p:cNvSpPr>
          <p:nvPr>
            <p:ph type="sldNum" sz="quarter" idx="12"/>
          </p:nvPr>
        </p:nvSpPr>
        <p:spPr/>
        <p:txBody>
          <a:bodyPr/>
          <a:lstStyle/>
          <a:p>
            <a:fld id="{8AA1F273-EF2F-3941-BBF8-D365CB27DD6A}" type="slidenum">
              <a:rPr lang="en-US" smtClean="0"/>
              <a:t>22</a:t>
            </a:fld>
            <a:endParaRPr lang="en-US"/>
          </a:p>
        </p:txBody>
      </p:sp>
    </p:spTree>
    <p:extLst>
      <p:ext uri="{BB962C8B-B14F-4D97-AF65-F5344CB8AC3E}">
        <p14:creationId xmlns:p14="http://schemas.microsoft.com/office/powerpoint/2010/main" val="351139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issue of data association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0638183" cy="4716465"/>
              </a:xfrm>
            </p:spPr>
            <p:txBody>
              <a:bodyPr>
                <a:normAutofit/>
              </a:bodyPr>
              <a:lstStyle/>
              <a:p>
                <a:r>
                  <a:rPr lang="en-US" dirty="0">
                    <a:solidFill>
                      <a:srgbClr val="C00000"/>
                    </a:solidFill>
                  </a:rPr>
                  <a:t>Data association problem</a:t>
                </a:r>
                <a:r>
                  <a:rPr lang="en-US" dirty="0"/>
                  <a:t>: uncertainty may exists regarding the identity of a landmark</a:t>
                </a:r>
              </a:p>
              <a:p>
                <a:r>
                  <a:rPr lang="en-US" dirty="0"/>
                  <a:t>Formally, we define a </a:t>
                </a:r>
                <a:r>
                  <a:rPr lang="en-US" i="1" dirty="0"/>
                  <a:t>correspondence variable </a:t>
                </a:r>
                <a:r>
                  <a:rPr lang="en-US" dirty="0"/>
                  <a:t>between measurement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charset="0"/>
                          </a:rPr>
                          <m:t>𝑧</m:t>
                        </m:r>
                      </m:e>
                      <m:sub>
                        <m:r>
                          <a:rPr lang="en-US" b="0" i="1" smtClean="0">
                            <a:latin typeface="Cambria Math" charset="0"/>
                          </a:rPr>
                          <m:t>𝑡</m:t>
                        </m:r>
                      </m:sub>
                      <m:sup>
                        <m:r>
                          <a:rPr lang="en-US" b="0" i="1" smtClean="0">
                            <a:latin typeface="Cambria Math" charset="0"/>
                          </a:rPr>
                          <m:t>𝑖</m:t>
                        </m:r>
                      </m:sup>
                    </m:sSubSup>
                  </m:oMath>
                </a14:m>
                <a:r>
                  <a:rPr lang="en-US" dirty="0"/>
                  <a:t> and landmark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𝑚</m:t>
                        </m:r>
                      </m:e>
                      <m:sub>
                        <m:r>
                          <a:rPr lang="en-US" b="0" i="1" smtClean="0">
                            <a:latin typeface="Cambria Math" charset="0"/>
                          </a:rPr>
                          <m:t>𝑗</m:t>
                        </m:r>
                      </m:sub>
                    </m:sSub>
                  </m:oMath>
                </a14:m>
                <a:r>
                  <a:rPr lang="en-US" dirty="0"/>
                  <a:t> in the map as (assume </a:t>
                </a:r>
                <a14:m>
                  <m:oMath xmlns:m="http://schemas.openxmlformats.org/officeDocument/2006/math">
                    <m:r>
                      <a:rPr lang="en-US" i="1">
                        <a:latin typeface="Cambria Math" charset="0"/>
                      </a:rPr>
                      <m:t>𝑁</m:t>
                    </m:r>
                    <m:r>
                      <a:rPr lang="en-US" i="1">
                        <a:latin typeface="Cambria Math" charset="0"/>
                      </a:rPr>
                      <m:t> </m:t>
                    </m:r>
                  </m:oMath>
                </a14:m>
                <a:r>
                  <a:rPr lang="en-US" dirty="0"/>
                  <a:t>landmarks) </a:t>
                </a:r>
              </a:p>
              <a:p>
                <a:endParaRPr lang="en-US" dirty="0"/>
              </a:p>
              <a:p>
                <a:pPr lvl="1"/>
                <a:r>
                  <a:rPr lang="en-US" dirty="0"/>
                  <a:t>             I           if </a:t>
                </a:r>
                <a:r>
                  <a:rPr lang="en-US" i="1" dirty="0" err="1"/>
                  <a:t>i</a:t>
                </a:r>
                <a:r>
                  <a:rPr lang="en-US" dirty="0" err="1"/>
                  <a:t>-th</a:t>
                </a:r>
                <a:r>
                  <a:rPr lang="en-US" dirty="0"/>
                  <a:t> measurement at time </a:t>
                </a:r>
                <a:r>
                  <a:rPr lang="en-US" i="1" dirty="0"/>
                  <a:t>t</a:t>
                </a:r>
                <a:r>
                  <a:rPr lang="en-US" dirty="0"/>
                  <a:t> corresponds to </a:t>
                </a:r>
                <a:r>
                  <a:rPr lang="en-US" i="1" dirty="0"/>
                  <a:t>j</a:t>
                </a:r>
                <a:r>
                  <a:rPr lang="en-US" dirty="0"/>
                  <a:t>-</a:t>
                </a:r>
                <a:r>
                  <a:rPr lang="en-US" dirty="0" err="1"/>
                  <a:t>th</a:t>
                </a:r>
                <a:r>
                  <a:rPr lang="en-US" dirty="0"/>
                  <a:t> landmark</a:t>
                </a:r>
              </a:p>
              <a:p>
                <a:pPr lvl="1"/>
                <a:endParaRPr lang="en-US" sz="1000" dirty="0"/>
              </a:p>
              <a:p>
                <a:pPr lvl="1"/>
                <a:r>
                  <a:rPr lang="en-US" dirty="0"/>
                  <a:t>                         if a measurement does not correspond to any landmark </a:t>
                </a:r>
              </a:p>
              <a:p>
                <a:r>
                  <a:rPr lang="en-US" dirty="0"/>
                  <a:t>Two versions of the localization problem</a:t>
                </a:r>
              </a:p>
              <a:p>
                <a:pPr marL="971550" lvl="1" indent="-514350">
                  <a:buFont typeface="+mj-lt"/>
                  <a:buAutoNum type="arabicPeriod"/>
                </a:pPr>
                <a:r>
                  <a:rPr lang="en-US" dirty="0"/>
                  <a:t>Correspondence variables are known</a:t>
                </a:r>
              </a:p>
              <a:p>
                <a:pPr marL="971550" lvl="1" indent="-514350">
                  <a:buFont typeface="+mj-lt"/>
                  <a:buAutoNum type="arabicPeriod"/>
                </a:pPr>
                <a:r>
                  <a:rPr lang="en-US" dirty="0"/>
                  <a:t>Correspondence variables are not known (usual case)</a:t>
                </a:r>
              </a:p>
              <a:p>
                <a:endParaRPr lang="en-US" dirty="0"/>
              </a:p>
              <a:p>
                <a:pPr lvl="1"/>
                <a:endParaRPr lang="en-US" dirty="0"/>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0638183" cy="4716465"/>
              </a:xfrm>
              <a:blipFill rotWithShape="0">
                <a:blip r:embed="rId3"/>
                <a:stretch>
                  <a:fillRect l="-974" t="-2067" r="-859" b="-129"/>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a:t>11/9/21</a:t>
            </a:r>
          </a:p>
        </p:txBody>
      </p:sp>
      <p:pic>
        <p:nvPicPr>
          <p:cNvPr id="7" name="Picture 6"/>
          <p:cNvPicPr>
            <a:picLocks noChangeAspect="1"/>
          </p:cNvPicPr>
          <p:nvPr/>
        </p:nvPicPr>
        <p:blipFill>
          <a:blip r:embed="rId4"/>
          <a:stretch>
            <a:fillRect/>
          </a:stretch>
        </p:blipFill>
        <p:spPr>
          <a:xfrm>
            <a:off x="4603323" y="3626604"/>
            <a:ext cx="2975933" cy="410819"/>
          </a:xfrm>
          <a:prstGeom prst="rect">
            <a:avLst/>
          </a:prstGeom>
        </p:spPr>
      </p:pic>
      <p:pic>
        <p:nvPicPr>
          <p:cNvPr id="8" name="Picture 7"/>
          <p:cNvPicPr>
            <a:picLocks noChangeAspect="1"/>
          </p:cNvPicPr>
          <p:nvPr/>
        </p:nvPicPr>
        <p:blipFill>
          <a:blip r:embed="rId5"/>
          <a:stretch>
            <a:fillRect/>
          </a:stretch>
        </p:blipFill>
        <p:spPr>
          <a:xfrm>
            <a:off x="1662171" y="4085939"/>
            <a:ext cx="1461677" cy="348423"/>
          </a:xfrm>
          <a:prstGeom prst="rect">
            <a:avLst/>
          </a:prstGeom>
        </p:spPr>
      </p:pic>
      <p:pic>
        <p:nvPicPr>
          <p:cNvPr id="9" name="Picture 8"/>
          <p:cNvPicPr>
            <a:picLocks noChangeAspect="1"/>
          </p:cNvPicPr>
          <p:nvPr/>
        </p:nvPicPr>
        <p:blipFill>
          <a:blip r:embed="rId6"/>
          <a:stretch>
            <a:fillRect/>
          </a:stretch>
        </p:blipFill>
        <p:spPr>
          <a:xfrm>
            <a:off x="1662171" y="4719762"/>
            <a:ext cx="1406991" cy="345429"/>
          </a:xfrm>
          <a:prstGeom prst="rect">
            <a:avLst/>
          </a:prstGeom>
        </p:spPr>
      </p:pic>
      <p:sp>
        <p:nvSpPr>
          <p:cNvPr id="10" name="Footer Placeholder 9"/>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5E11A7CE-1F10-BF19-DEC3-3E18B8A35ADD}"/>
              </a:ext>
            </a:extLst>
          </p:cNvPr>
          <p:cNvSpPr>
            <a:spLocks noGrp="1"/>
          </p:cNvSpPr>
          <p:nvPr>
            <p:ph type="sldNum" sz="quarter" idx="12"/>
          </p:nvPr>
        </p:nvSpPr>
        <p:spPr/>
        <p:txBody>
          <a:bodyPr/>
          <a:lstStyle/>
          <a:p>
            <a:fld id="{8AA1F273-EF2F-3941-BBF8-D365CB27DD6A}" type="slidenum">
              <a:rPr lang="en-US" smtClean="0"/>
              <a:t>23</a:t>
            </a:fld>
            <a:endParaRPr lang="en-US"/>
          </a:p>
        </p:txBody>
      </p:sp>
    </p:spTree>
    <p:extLst>
      <p:ext uri="{BB962C8B-B14F-4D97-AF65-F5344CB8AC3E}">
        <p14:creationId xmlns:p14="http://schemas.microsoft.com/office/powerpoint/2010/main" val="6760924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EKF localization with known correspondences</a:t>
            </a:r>
          </a:p>
        </p:txBody>
      </p:sp>
      <p:sp>
        <p:nvSpPr>
          <p:cNvPr id="3" name="Content Placeholder 2"/>
          <p:cNvSpPr>
            <a:spLocks noGrp="1"/>
          </p:cNvSpPr>
          <p:nvPr>
            <p:ph idx="1"/>
          </p:nvPr>
        </p:nvSpPr>
        <p:spPr/>
        <p:txBody>
          <a:bodyPr/>
          <a:lstStyle/>
          <a:p>
            <a:r>
              <a:rPr lang="en-US" dirty="0"/>
              <a:t>Algorithm is derived from EKF filter</a:t>
            </a:r>
          </a:p>
          <a:p>
            <a:r>
              <a:rPr lang="en-US" dirty="0"/>
              <a:t>Assume motion model (in our case, differential drive robot)</a:t>
            </a:r>
          </a:p>
          <a:p>
            <a:endParaRPr lang="en-US" dirty="0"/>
          </a:p>
          <a:p>
            <a:r>
              <a:rPr lang="en-US" dirty="0"/>
              <a:t>Assume range and bearing measurement model</a:t>
            </a:r>
          </a:p>
        </p:txBody>
      </p:sp>
      <p:sp>
        <p:nvSpPr>
          <p:cNvPr id="4" name="Date Placeholder 3"/>
          <p:cNvSpPr>
            <a:spLocks noGrp="1"/>
          </p:cNvSpPr>
          <p:nvPr>
            <p:ph type="dt" sz="half" idx="10"/>
          </p:nvPr>
        </p:nvSpPr>
        <p:spPr/>
        <p:txBody>
          <a:bodyPr/>
          <a:lstStyle/>
          <a:p>
            <a:r>
              <a:rPr lang="en-US"/>
              <a:t>11/9/21</a:t>
            </a:r>
          </a:p>
        </p:txBody>
      </p:sp>
      <p:pic>
        <p:nvPicPr>
          <p:cNvPr id="9" name="Picture 8"/>
          <p:cNvPicPr>
            <a:picLocks noChangeAspect="1"/>
          </p:cNvPicPr>
          <p:nvPr/>
        </p:nvPicPr>
        <p:blipFill>
          <a:blip r:embed="rId3"/>
          <a:stretch>
            <a:fillRect/>
          </a:stretch>
        </p:blipFill>
        <p:spPr>
          <a:xfrm>
            <a:off x="1590261" y="2850483"/>
            <a:ext cx="9011478" cy="357163"/>
          </a:xfrm>
          <a:prstGeom prst="rect">
            <a:avLst/>
          </a:prstGeom>
        </p:spPr>
      </p:pic>
      <p:pic>
        <p:nvPicPr>
          <p:cNvPr id="13" name="Picture 12"/>
          <p:cNvPicPr>
            <a:picLocks noChangeAspect="1"/>
          </p:cNvPicPr>
          <p:nvPr/>
        </p:nvPicPr>
        <p:blipFill>
          <a:blip r:embed="rId4"/>
          <a:stretch>
            <a:fillRect/>
          </a:stretch>
        </p:blipFill>
        <p:spPr>
          <a:xfrm>
            <a:off x="5217943" y="5912579"/>
            <a:ext cx="1756111" cy="632769"/>
          </a:xfrm>
          <a:prstGeom prst="rect">
            <a:avLst/>
          </a:prstGeom>
        </p:spPr>
      </p:pic>
      <p:pic>
        <p:nvPicPr>
          <p:cNvPr id="10" name="Picture 9"/>
          <p:cNvPicPr>
            <a:picLocks noChangeAspect="1"/>
          </p:cNvPicPr>
          <p:nvPr/>
        </p:nvPicPr>
        <p:blipFill>
          <a:blip r:embed="rId5"/>
          <a:stretch>
            <a:fillRect/>
          </a:stretch>
        </p:blipFill>
        <p:spPr>
          <a:xfrm>
            <a:off x="399079" y="4685049"/>
            <a:ext cx="11393837" cy="891632"/>
          </a:xfrm>
          <a:prstGeom prst="rect">
            <a:avLst/>
          </a:prstGeom>
        </p:spPr>
      </p:pic>
      <p:sp>
        <p:nvSpPr>
          <p:cNvPr id="7" name="Footer Placeholder 6"/>
          <p:cNvSpPr>
            <a:spLocks noGrp="1"/>
          </p:cNvSpPr>
          <p:nvPr>
            <p:ph type="ftr" sz="quarter" idx="11"/>
          </p:nvPr>
        </p:nvSpPr>
        <p:spPr/>
        <p:txBody>
          <a:bodyPr/>
          <a:lstStyle/>
          <a:p>
            <a:r>
              <a:rPr lang="hr-HR"/>
              <a:t>AA 174A | Lecture 16</a:t>
            </a:r>
            <a:endParaRPr lang="en-US" dirty="0"/>
          </a:p>
        </p:txBody>
      </p:sp>
      <p:pic>
        <p:nvPicPr>
          <p:cNvPr id="6" name="Picture 5">
            <a:extLst>
              <a:ext uri="{FF2B5EF4-FFF2-40B4-BE49-F238E27FC236}">
                <a16:creationId xmlns:a16="http://schemas.microsoft.com/office/drawing/2014/main" id="{D5317282-1C40-A442-90E1-A19A15499BFA}"/>
              </a:ext>
            </a:extLst>
          </p:cNvPr>
          <p:cNvPicPr>
            <a:picLocks noChangeAspect="1"/>
          </p:cNvPicPr>
          <p:nvPr/>
        </p:nvPicPr>
        <p:blipFill>
          <a:blip r:embed="rId6"/>
          <a:stretch>
            <a:fillRect/>
          </a:stretch>
        </p:blipFill>
        <p:spPr>
          <a:xfrm>
            <a:off x="1744980" y="3765853"/>
            <a:ext cx="8702040" cy="722235"/>
          </a:xfrm>
          <a:prstGeom prst="rect">
            <a:avLst/>
          </a:prstGeom>
        </p:spPr>
      </p:pic>
      <p:sp>
        <p:nvSpPr>
          <p:cNvPr id="5" name="Slide Number Placeholder 4">
            <a:extLst>
              <a:ext uri="{FF2B5EF4-FFF2-40B4-BE49-F238E27FC236}">
                <a16:creationId xmlns:a16="http://schemas.microsoft.com/office/drawing/2014/main" id="{2DDAE240-9380-7B2A-3C18-7F1EBE8C4653}"/>
              </a:ext>
            </a:extLst>
          </p:cNvPr>
          <p:cNvSpPr>
            <a:spLocks noGrp="1"/>
          </p:cNvSpPr>
          <p:nvPr>
            <p:ph type="sldNum" sz="quarter" idx="12"/>
          </p:nvPr>
        </p:nvSpPr>
        <p:spPr/>
        <p:txBody>
          <a:bodyPr/>
          <a:lstStyle/>
          <a:p>
            <a:fld id="{8AA1F273-EF2F-3941-BBF8-D365CB27DD6A}" type="slidenum">
              <a:rPr lang="en-US" smtClean="0"/>
              <a:t>24</a:t>
            </a:fld>
            <a:endParaRPr lang="en-US"/>
          </a:p>
        </p:txBody>
      </p:sp>
    </p:spTree>
    <p:extLst>
      <p:ext uri="{BB962C8B-B14F-4D97-AF65-F5344CB8AC3E}">
        <p14:creationId xmlns:p14="http://schemas.microsoft.com/office/powerpoint/2010/main" val="5896534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EKF localization with known correspondences</a:t>
            </a:r>
          </a:p>
        </p:txBody>
      </p:sp>
      <p:sp>
        <p:nvSpPr>
          <p:cNvPr id="3" name="Content Placeholder 2"/>
          <p:cNvSpPr>
            <a:spLocks noGrp="1"/>
          </p:cNvSpPr>
          <p:nvPr>
            <p:ph idx="1"/>
          </p:nvPr>
        </p:nvSpPr>
        <p:spPr>
          <a:xfrm>
            <a:off x="838200" y="1690688"/>
            <a:ext cx="5098774" cy="4739860"/>
          </a:xfrm>
        </p:spPr>
        <p:txBody>
          <a:bodyPr>
            <a:normAutofit lnSpcReduction="10000"/>
          </a:bodyPr>
          <a:lstStyle/>
          <a:p>
            <a:r>
              <a:rPr lang="en-US" dirty="0"/>
              <a:t>Main difference with EKF filter: multiple measurements are processed at the same time</a:t>
            </a:r>
          </a:p>
          <a:p>
            <a:r>
              <a:rPr lang="en-US" dirty="0"/>
              <a:t>We exploit conditional independence assumption</a:t>
            </a:r>
          </a:p>
          <a:p>
            <a:endParaRPr lang="en-US" dirty="0"/>
          </a:p>
          <a:p>
            <a:endParaRPr lang="en-US" dirty="0"/>
          </a:p>
          <a:p>
            <a:r>
              <a:rPr lang="en-US" dirty="0"/>
              <a:t>Such assumption allows us to incrementally add the information, as if there was zero motion in between measurements</a:t>
            </a:r>
          </a:p>
        </p:txBody>
      </p:sp>
      <p:sp>
        <p:nvSpPr>
          <p:cNvPr id="4" name="Date Placeholder 3"/>
          <p:cNvSpPr>
            <a:spLocks noGrp="1"/>
          </p:cNvSpPr>
          <p:nvPr>
            <p:ph type="dt" sz="half" idx="10"/>
          </p:nvPr>
        </p:nvSpPr>
        <p:spPr/>
        <p:txBody>
          <a:bodyPr/>
          <a:lstStyle/>
          <a:p>
            <a:r>
              <a:rPr lang="en-US"/>
              <a:t>11/9/21</a:t>
            </a:r>
          </a:p>
        </p:txBody>
      </p:sp>
      <p:pic>
        <p:nvPicPr>
          <p:cNvPr id="8" name="Picture 7"/>
          <p:cNvPicPr>
            <a:picLocks noChangeAspect="1"/>
          </p:cNvPicPr>
          <p:nvPr/>
        </p:nvPicPr>
        <p:blipFill>
          <a:blip r:embed="rId3"/>
          <a:stretch>
            <a:fillRect/>
          </a:stretch>
        </p:blipFill>
        <p:spPr>
          <a:xfrm>
            <a:off x="1265031" y="3865365"/>
            <a:ext cx="4245112" cy="604232"/>
          </a:xfrm>
          <a:prstGeom prst="rect">
            <a:avLst/>
          </a:prstGeom>
        </p:spPr>
      </p:pic>
      <p:pic>
        <p:nvPicPr>
          <p:cNvPr id="11" name="Picture 10"/>
          <p:cNvPicPr>
            <a:picLocks noChangeAspect="1"/>
          </p:cNvPicPr>
          <p:nvPr/>
        </p:nvPicPr>
        <p:blipFill>
          <a:blip r:embed="rId4"/>
          <a:stretch>
            <a:fillRect/>
          </a:stretch>
        </p:blipFill>
        <p:spPr>
          <a:xfrm>
            <a:off x="6562241" y="1446231"/>
            <a:ext cx="5388244" cy="5095859"/>
          </a:xfrm>
          <a:prstGeom prst="rect">
            <a:avLst/>
          </a:prstGeom>
        </p:spPr>
      </p:pic>
      <p:cxnSp>
        <p:nvCxnSpPr>
          <p:cNvPr id="13" name="Straight Arrow Connector 12"/>
          <p:cNvCxnSpPr/>
          <p:nvPr/>
        </p:nvCxnSpPr>
        <p:spPr>
          <a:xfrm>
            <a:off x="9518627" y="4469597"/>
            <a:ext cx="679258" cy="505359"/>
          </a:xfrm>
          <a:prstGeom prst="straightConnector1">
            <a:avLst/>
          </a:prstGeom>
          <a:ln>
            <a:solidFill>
              <a:srgbClr val="C00000"/>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10172223" y="4651790"/>
            <a:ext cx="1503336" cy="646331"/>
          </a:xfrm>
          <a:prstGeom prst="rect">
            <a:avLst/>
          </a:prstGeom>
          <a:noFill/>
        </p:spPr>
        <p:txBody>
          <a:bodyPr wrap="square" rtlCol="0">
            <a:spAutoFit/>
          </a:bodyPr>
          <a:lstStyle/>
          <a:p>
            <a:r>
              <a:rPr lang="en-US"/>
              <a:t>Innovation covariance</a:t>
            </a:r>
          </a:p>
        </p:txBody>
      </p:sp>
      <p:sp>
        <p:nvSpPr>
          <p:cNvPr id="7" name="Footer Placeholder 6"/>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CAE590A5-C3EE-9CC2-C70D-A3D47A1FEA69}"/>
              </a:ext>
            </a:extLst>
          </p:cNvPr>
          <p:cNvSpPr>
            <a:spLocks noGrp="1"/>
          </p:cNvSpPr>
          <p:nvPr>
            <p:ph type="sldNum" sz="quarter" idx="12"/>
          </p:nvPr>
        </p:nvSpPr>
        <p:spPr/>
        <p:txBody>
          <a:bodyPr/>
          <a:lstStyle/>
          <a:p>
            <a:fld id="{8AA1F273-EF2F-3941-BBF8-D365CB27DD6A}" type="slidenum">
              <a:rPr lang="en-US" smtClean="0"/>
              <a:t>25</a:t>
            </a:fld>
            <a:endParaRPr lang="en-US"/>
          </a:p>
        </p:txBody>
      </p:sp>
    </p:spTree>
    <p:extLst>
      <p:ext uri="{BB962C8B-B14F-4D97-AF65-F5344CB8AC3E}">
        <p14:creationId xmlns:p14="http://schemas.microsoft.com/office/powerpoint/2010/main" val="7078000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49001" cy="1325563"/>
          </a:xfrm>
        </p:spPr>
        <p:txBody>
          <a:bodyPr/>
          <a:lstStyle/>
          <a:p>
            <a:r>
              <a:rPr lang="en-US" dirty="0"/>
              <a:t>EKF localization </a:t>
            </a:r>
            <a:r>
              <a:rPr lang="en-US"/>
              <a:t>with unknown </a:t>
            </a:r>
            <a:r>
              <a:rPr lang="en-US" dirty="0"/>
              <a:t>correspondences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4716465"/>
              </a:xfrm>
            </p:spPr>
            <p:txBody>
              <a:bodyPr/>
              <a:lstStyle/>
              <a:p>
                <a:r>
                  <a:rPr lang="en-US" dirty="0">
                    <a:solidFill>
                      <a:srgbClr val="C00000"/>
                    </a:solidFill>
                  </a:rPr>
                  <a:t>Key idea</a:t>
                </a:r>
                <a:r>
                  <a:rPr lang="en-US" dirty="0"/>
                  <a:t>: determine the identity of a landmark during localization via maximum likelihood estimation, whereby one first determines the most likely value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𝑐</m:t>
                        </m:r>
                      </m:e>
                      <m:sub>
                        <m:r>
                          <a:rPr lang="en-US" b="0" i="1" smtClean="0">
                            <a:latin typeface="Cambria Math" charset="0"/>
                          </a:rPr>
                          <m:t>𝑡</m:t>
                        </m:r>
                      </m:sub>
                    </m:sSub>
                  </m:oMath>
                </a14:m>
                <a:r>
                  <a:rPr lang="en-US" dirty="0"/>
                  <a:t>, and then takes this value for granted</a:t>
                </a:r>
              </a:p>
              <a:p>
                <a:r>
                  <a:rPr lang="en-US" dirty="0"/>
                  <a:t>Formally, the maximum likelihood estimator determines the correspondence that maximizes the data likelihood</a:t>
                </a:r>
              </a:p>
              <a:p>
                <a:endParaRPr lang="en-US" dirty="0"/>
              </a:p>
              <a:p>
                <a:endParaRPr lang="en-US" dirty="0"/>
              </a:p>
              <a:p>
                <a:r>
                  <a:rPr lang="en-US" dirty="0"/>
                  <a:t>Challenge: there are exponentially many terms in the maximization above!</a:t>
                </a:r>
              </a:p>
              <a:p>
                <a:r>
                  <a:rPr lang="en-US" dirty="0"/>
                  <a:t>Solution: perform maximization </a:t>
                </a:r>
                <a:r>
                  <a:rPr lang="en-US" i="1" dirty="0"/>
                  <a:t>separately</a:t>
                </a:r>
                <a:r>
                  <a:rPr lang="en-US" dirty="0"/>
                  <a:t> for each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charset="0"/>
                          </a:rPr>
                          <m:t>𝑧</m:t>
                        </m:r>
                      </m:e>
                      <m:sub>
                        <m:r>
                          <a:rPr lang="en-US" b="0" i="1" smtClean="0">
                            <a:latin typeface="Cambria Math" charset="0"/>
                          </a:rPr>
                          <m:t>𝑡</m:t>
                        </m:r>
                      </m:sub>
                      <m:sup>
                        <m:r>
                          <a:rPr lang="en-US" b="0" i="1" smtClean="0">
                            <a:latin typeface="Cambria Math" charset="0"/>
                          </a:rPr>
                          <m:t>𝑖</m:t>
                        </m:r>
                      </m:sup>
                    </m:sSubSup>
                  </m:oMath>
                </a14:m>
                <a:r>
                  <a:rPr lang="en-US"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4716465"/>
              </a:xfrm>
              <a:blipFill rotWithShape="0">
                <a:blip r:embed="rId3"/>
                <a:stretch>
                  <a:fillRect l="-1043" t="-2067" r="-290" b="-904"/>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r>
              <a:rPr lang="en-US"/>
              <a:t>11/9/21</a:t>
            </a:r>
          </a:p>
        </p:txBody>
      </p:sp>
      <p:pic>
        <p:nvPicPr>
          <p:cNvPr id="7" name="Picture 6"/>
          <p:cNvPicPr>
            <a:picLocks noChangeAspect="1"/>
          </p:cNvPicPr>
          <p:nvPr/>
        </p:nvPicPr>
        <p:blipFill>
          <a:blip r:embed="rId4"/>
          <a:stretch>
            <a:fillRect/>
          </a:stretch>
        </p:blipFill>
        <p:spPr>
          <a:xfrm>
            <a:off x="2981738" y="4164794"/>
            <a:ext cx="6029187" cy="625867"/>
          </a:xfrm>
          <a:prstGeom prst="rect">
            <a:avLst/>
          </a:prstGeom>
        </p:spPr>
      </p:pic>
      <p:sp>
        <p:nvSpPr>
          <p:cNvPr id="8" name="Footer Placeholder 7"/>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A07F7869-F48F-8B14-327C-F6C1147B546B}"/>
              </a:ext>
            </a:extLst>
          </p:cNvPr>
          <p:cNvSpPr>
            <a:spLocks noGrp="1"/>
          </p:cNvSpPr>
          <p:nvPr>
            <p:ph type="sldNum" sz="quarter" idx="12"/>
          </p:nvPr>
        </p:nvSpPr>
        <p:spPr/>
        <p:txBody>
          <a:bodyPr/>
          <a:lstStyle/>
          <a:p>
            <a:fld id="{8AA1F273-EF2F-3941-BBF8-D365CB27DD6A}" type="slidenum">
              <a:rPr lang="en-US" smtClean="0"/>
              <a:t>26</a:t>
            </a:fld>
            <a:endParaRPr lang="en-US"/>
          </a:p>
        </p:txBody>
      </p:sp>
    </p:spTree>
    <p:extLst>
      <p:ext uri="{BB962C8B-B14F-4D97-AF65-F5344CB8AC3E}">
        <p14:creationId xmlns:p14="http://schemas.microsoft.com/office/powerpoint/2010/main" val="16781527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Estimating the correspondence variables</a:t>
            </a:r>
          </a:p>
        </p:txBody>
      </p:sp>
      <p:sp>
        <p:nvSpPr>
          <p:cNvPr id="3" name="Content Placeholder 2"/>
          <p:cNvSpPr>
            <a:spLocks noGrp="1"/>
          </p:cNvSpPr>
          <p:nvPr>
            <p:ph idx="1"/>
          </p:nvPr>
        </p:nvSpPr>
        <p:spPr/>
        <p:txBody>
          <a:bodyPr/>
          <a:lstStyle/>
          <a:p>
            <a:r>
              <a:rPr lang="en-US" dirty="0"/>
              <a:t>Step #1: find</a:t>
            </a:r>
          </a:p>
          <a:p>
            <a:endParaRPr lang="en-US" dirty="0"/>
          </a:p>
          <a:p>
            <a:endParaRPr lang="en-US" dirty="0"/>
          </a:p>
          <a:p>
            <a:r>
              <a:rPr lang="en-US" dirty="0"/>
              <a:t>Derivation (sketch) </a:t>
            </a:r>
          </a:p>
        </p:txBody>
      </p:sp>
      <p:sp>
        <p:nvSpPr>
          <p:cNvPr id="4" name="Date Placeholder 3"/>
          <p:cNvSpPr>
            <a:spLocks noGrp="1"/>
          </p:cNvSpPr>
          <p:nvPr>
            <p:ph type="dt" sz="half" idx="10"/>
          </p:nvPr>
        </p:nvSpPr>
        <p:spPr/>
        <p:txBody>
          <a:bodyPr/>
          <a:lstStyle/>
          <a:p>
            <a:r>
              <a:rPr lang="en-US"/>
              <a:t>11/9/21</a:t>
            </a:r>
          </a:p>
        </p:txBody>
      </p:sp>
      <p:pic>
        <p:nvPicPr>
          <p:cNvPr id="7" name="Picture 6"/>
          <p:cNvPicPr>
            <a:picLocks noChangeAspect="1"/>
          </p:cNvPicPr>
          <p:nvPr/>
        </p:nvPicPr>
        <p:blipFill>
          <a:blip r:embed="rId3"/>
          <a:stretch>
            <a:fillRect/>
          </a:stretch>
        </p:blipFill>
        <p:spPr>
          <a:xfrm>
            <a:off x="4362726" y="2361805"/>
            <a:ext cx="3790674" cy="420047"/>
          </a:xfrm>
          <a:prstGeom prst="rect">
            <a:avLst/>
          </a:prstGeom>
        </p:spPr>
      </p:pic>
      <p:pic>
        <p:nvPicPr>
          <p:cNvPr id="8" name="Picture 7"/>
          <p:cNvPicPr>
            <a:picLocks noChangeAspect="1"/>
          </p:cNvPicPr>
          <p:nvPr/>
        </p:nvPicPr>
        <p:blipFill>
          <a:blip r:embed="rId4"/>
          <a:stretch>
            <a:fillRect/>
          </a:stretch>
        </p:blipFill>
        <p:spPr>
          <a:xfrm>
            <a:off x="419100" y="4001294"/>
            <a:ext cx="11353800" cy="1496637"/>
          </a:xfrm>
          <a:prstGeom prst="rect">
            <a:avLst/>
          </a:prstGeom>
        </p:spPr>
      </p:pic>
      <p:cxnSp>
        <p:nvCxnSpPr>
          <p:cNvPr id="9" name="Straight Arrow Connector 8"/>
          <p:cNvCxnSpPr/>
          <p:nvPr/>
        </p:nvCxnSpPr>
        <p:spPr>
          <a:xfrm flipH="1" flipV="1">
            <a:off x="7887252" y="5474159"/>
            <a:ext cx="495304" cy="344348"/>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14"/>
          <p:cNvPicPr>
            <a:picLocks noChangeAspect="1"/>
          </p:cNvPicPr>
          <p:nvPr/>
        </p:nvPicPr>
        <p:blipFill>
          <a:blip r:embed="rId5"/>
          <a:stretch>
            <a:fillRect/>
          </a:stretch>
        </p:blipFill>
        <p:spPr>
          <a:xfrm>
            <a:off x="8610600" y="5670430"/>
            <a:ext cx="1536553" cy="334033"/>
          </a:xfrm>
          <a:prstGeom prst="rect">
            <a:avLst/>
          </a:prstGeom>
        </p:spPr>
      </p:pic>
      <p:pic>
        <p:nvPicPr>
          <p:cNvPr id="20" name="Picture 19"/>
          <p:cNvPicPr>
            <a:picLocks noChangeAspect="1"/>
          </p:cNvPicPr>
          <p:nvPr/>
        </p:nvPicPr>
        <p:blipFill>
          <a:blip r:embed="rId6"/>
          <a:stretch>
            <a:fillRect/>
          </a:stretch>
        </p:blipFill>
        <p:spPr>
          <a:xfrm>
            <a:off x="2209800" y="5670430"/>
            <a:ext cx="4498561" cy="812015"/>
          </a:xfrm>
          <a:prstGeom prst="rect">
            <a:avLst/>
          </a:prstGeom>
        </p:spPr>
      </p:pic>
      <p:cxnSp>
        <p:nvCxnSpPr>
          <p:cNvPr id="11" name="Straight Arrow Connector 10"/>
          <p:cNvCxnSpPr/>
          <p:nvPr/>
        </p:nvCxnSpPr>
        <p:spPr>
          <a:xfrm flipV="1">
            <a:off x="4998719" y="5428439"/>
            <a:ext cx="530279" cy="344348"/>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0" name="Footer Placeholder 9"/>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3D9B50E0-BC28-8678-7C91-844922174305}"/>
              </a:ext>
            </a:extLst>
          </p:cNvPr>
          <p:cNvSpPr>
            <a:spLocks noGrp="1"/>
          </p:cNvSpPr>
          <p:nvPr>
            <p:ph type="sldNum" sz="quarter" idx="12"/>
          </p:nvPr>
        </p:nvSpPr>
        <p:spPr/>
        <p:txBody>
          <a:bodyPr/>
          <a:lstStyle/>
          <a:p>
            <a:fld id="{8AA1F273-EF2F-3941-BBF8-D365CB27DD6A}" type="slidenum">
              <a:rPr lang="en-US" smtClean="0"/>
              <a:t>27</a:t>
            </a:fld>
            <a:endParaRPr lang="en-US"/>
          </a:p>
        </p:txBody>
      </p:sp>
    </p:spTree>
    <p:extLst>
      <p:ext uri="{BB962C8B-B14F-4D97-AF65-F5344CB8AC3E}">
        <p14:creationId xmlns:p14="http://schemas.microsoft.com/office/powerpoint/2010/main" val="15305885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Estimating the correspondence variables</a:t>
            </a:r>
          </a:p>
        </p:txBody>
      </p:sp>
      <p:sp>
        <p:nvSpPr>
          <p:cNvPr id="3" name="Content Placeholder 2"/>
          <p:cNvSpPr>
            <a:spLocks noGrp="1"/>
          </p:cNvSpPr>
          <p:nvPr>
            <p:ph idx="1"/>
          </p:nvPr>
        </p:nvSpPr>
        <p:spPr/>
        <p:txBody>
          <a:bodyPr/>
          <a:lstStyle/>
          <a:p>
            <a:r>
              <a:rPr lang="en-US" dirty="0"/>
              <a:t>Performing the algebraic calculations</a:t>
            </a:r>
          </a:p>
          <a:p>
            <a:endParaRPr lang="en-US" dirty="0"/>
          </a:p>
          <a:p>
            <a:endParaRPr lang="en-US" dirty="0"/>
          </a:p>
          <a:p>
            <a:r>
              <a:rPr lang="en-US" dirty="0"/>
              <a:t>Step #2: estimate correspondence as </a:t>
            </a:r>
          </a:p>
        </p:txBody>
      </p:sp>
      <p:sp>
        <p:nvSpPr>
          <p:cNvPr id="4" name="Date Placeholder 3"/>
          <p:cNvSpPr>
            <a:spLocks noGrp="1"/>
          </p:cNvSpPr>
          <p:nvPr>
            <p:ph type="dt" sz="half" idx="10"/>
          </p:nvPr>
        </p:nvSpPr>
        <p:spPr/>
        <p:txBody>
          <a:bodyPr/>
          <a:lstStyle/>
          <a:p>
            <a:r>
              <a:rPr lang="en-US"/>
              <a:t>11/9/21</a:t>
            </a:r>
          </a:p>
        </p:txBody>
      </p:sp>
      <p:pic>
        <p:nvPicPr>
          <p:cNvPr id="9" name="Picture 8"/>
          <p:cNvPicPr>
            <a:picLocks noChangeAspect="1"/>
          </p:cNvPicPr>
          <p:nvPr/>
        </p:nvPicPr>
        <p:blipFill>
          <a:blip r:embed="rId3"/>
          <a:stretch>
            <a:fillRect/>
          </a:stretch>
        </p:blipFill>
        <p:spPr>
          <a:xfrm>
            <a:off x="1507711" y="2500439"/>
            <a:ext cx="9176578" cy="400681"/>
          </a:xfrm>
          <a:prstGeom prst="rect">
            <a:avLst/>
          </a:prstGeom>
        </p:spPr>
      </p:pic>
      <p:sp>
        <p:nvSpPr>
          <p:cNvPr id="7" name="Footer Placeholder 6"/>
          <p:cNvSpPr>
            <a:spLocks noGrp="1"/>
          </p:cNvSpPr>
          <p:nvPr>
            <p:ph type="ftr" sz="quarter" idx="11"/>
          </p:nvPr>
        </p:nvSpPr>
        <p:spPr/>
        <p:txBody>
          <a:bodyPr/>
          <a:lstStyle/>
          <a:p>
            <a:r>
              <a:rPr lang="hr-HR"/>
              <a:t>AA 174A | Lecture 16</a:t>
            </a:r>
            <a:endParaRPr lang="en-US" dirty="0"/>
          </a:p>
        </p:txBody>
      </p:sp>
      <p:pic>
        <p:nvPicPr>
          <p:cNvPr id="8" name="Picture 7"/>
          <p:cNvPicPr>
            <a:picLocks noChangeAspect="1"/>
          </p:cNvPicPr>
          <p:nvPr/>
        </p:nvPicPr>
        <p:blipFill>
          <a:blip r:embed="rId4"/>
          <a:stretch>
            <a:fillRect/>
          </a:stretch>
        </p:blipFill>
        <p:spPr>
          <a:xfrm>
            <a:off x="2641347" y="4360126"/>
            <a:ext cx="6922296" cy="1548781"/>
          </a:xfrm>
          <a:prstGeom prst="rect">
            <a:avLst/>
          </a:prstGeom>
        </p:spPr>
      </p:pic>
      <p:sp>
        <p:nvSpPr>
          <p:cNvPr id="5" name="Slide Number Placeholder 4">
            <a:extLst>
              <a:ext uri="{FF2B5EF4-FFF2-40B4-BE49-F238E27FC236}">
                <a16:creationId xmlns:a16="http://schemas.microsoft.com/office/drawing/2014/main" id="{1CF27F2C-42CC-7100-F6C6-2186442311DE}"/>
              </a:ext>
            </a:extLst>
          </p:cNvPr>
          <p:cNvSpPr>
            <a:spLocks noGrp="1"/>
          </p:cNvSpPr>
          <p:nvPr>
            <p:ph type="sldNum" sz="quarter" idx="12"/>
          </p:nvPr>
        </p:nvSpPr>
        <p:spPr/>
        <p:txBody>
          <a:bodyPr/>
          <a:lstStyle/>
          <a:p>
            <a:fld id="{8AA1F273-EF2F-3941-BBF8-D365CB27DD6A}" type="slidenum">
              <a:rPr lang="en-US" smtClean="0"/>
              <a:t>28</a:t>
            </a:fld>
            <a:endParaRPr lang="en-US"/>
          </a:p>
        </p:txBody>
      </p:sp>
    </p:spTree>
    <p:extLst>
      <p:ext uri="{BB962C8B-B14F-4D97-AF65-F5344CB8AC3E}">
        <p14:creationId xmlns:p14="http://schemas.microsoft.com/office/powerpoint/2010/main" val="4911028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p:cNvPicPr>
            <a:picLocks noChangeAspect="1"/>
          </p:cNvPicPr>
          <p:nvPr/>
        </p:nvPicPr>
        <p:blipFill>
          <a:blip r:embed="rId3"/>
          <a:stretch>
            <a:fillRect/>
          </a:stretch>
        </p:blipFill>
        <p:spPr>
          <a:xfrm>
            <a:off x="6825578" y="1348352"/>
            <a:ext cx="5243728" cy="5249949"/>
          </a:xfrm>
          <a:prstGeom prst="rect">
            <a:avLst/>
          </a:prstGeom>
        </p:spPr>
      </p:pic>
      <p:sp>
        <p:nvSpPr>
          <p:cNvPr id="2" name="Title 1"/>
          <p:cNvSpPr>
            <a:spLocks noGrp="1"/>
          </p:cNvSpPr>
          <p:nvPr>
            <p:ph type="title"/>
          </p:nvPr>
        </p:nvSpPr>
        <p:spPr>
          <a:xfrm>
            <a:off x="838199" y="365125"/>
            <a:ext cx="10995991" cy="1325563"/>
          </a:xfrm>
        </p:spPr>
        <p:txBody>
          <a:bodyPr/>
          <a:lstStyle/>
          <a:p>
            <a:r>
              <a:rPr lang="en-US" dirty="0"/>
              <a:t>EKF localization with unknown correspondences</a:t>
            </a:r>
          </a:p>
        </p:txBody>
      </p:sp>
      <p:sp>
        <p:nvSpPr>
          <p:cNvPr id="4" name="Date Placeholder 3"/>
          <p:cNvSpPr>
            <a:spLocks noGrp="1"/>
          </p:cNvSpPr>
          <p:nvPr>
            <p:ph type="dt" sz="half" idx="10"/>
          </p:nvPr>
        </p:nvSpPr>
        <p:spPr/>
        <p:txBody>
          <a:bodyPr/>
          <a:lstStyle/>
          <a:p>
            <a:r>
              <a:rPr lang="en-US"/>
              <a:t>11/9/21</a:t>
            </a:r>
          </a:p>
        </p:txBody>
      </p:sp>
      <p:cxnSp>
        <p:nvCxnSpPr>
          <p:cNvPr id="8" name="Straight Arrow Connector 7"/>
          <p:cNvCxnSpPr/>
          <p:nvPr/>
        </p:nvCxnSpPr>
        <p:spPr>
          <a:xfrm flipH="1" flipV="1">
            <a:off x="9831011" y="4630656"/>
            <a:ext cx="734936" cy="308914"/>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10132017" y="4939570"/>
            <a:ext cx="1937289" cy="646331"/>
          </a:xfrm>
          <a:prstGeom prst="rect">
            <a:avLst/>
          </a:prstGeom>
          <a:noFill/>
        </p:spPr>
        <p:txBody>
          <a:bodyPr wrap="square" rtlCol="0">
            <a:spAutoFit/>
          </a:bodyPr>
          <a:lstStyle/>
          <a:p>
            <a:r>
              <a:rPr lang="en-US"/>
              <a:t>Correspondence estimation</a:t>
            </a:r>
          </a:p>
        </p:txBody>
      </p:sp>
      <p:sp>
        <p:nvSpPr>
          <p:cNvPr id="13" name="Content Placeholder 2"/>
          <p:cNvSpPr>
            <a:spLocks noGrp="1"/>
          </p:cNvSpPr>
          <p:nvPr>
            <p:ph idx="1"/>
          </p:nvPr>
        </p:nvSpPr>
        <p:spPr>
          <a:xfrm>
            <a:off x="838200" y="1690688"/>
            <a:ext cx="5098774" cy="4739860"/>
          </a:xfrm>
        </p:spPr>
        <p:txBody>
          <a:bodyPr>
            <a:normAutofit/>
          </a:bodyPr>
          <a:lstStyle/>
          <a:p>
            <a:r>
              <a:rPr lang="en-US" dirty="0"/>
              <a:t>Same as before, plus the inclusion of a maximum likelihood estimator for the correspondence variables</a:t>
            </a:r>
          </a:p>
        </p:txBody>
      </p:sp>
      <p:sp>
        <p:nvSpPr>
          <p:cNvPr id="3" name="Footer Placeholder 2"/>
          <p:cNvSpPr>
            <a:spLocks noGrp="1"/>
          </p:cNvSpPr>
          <p:nvPr>
            <p:ph type="ftr" sz="quarter" idx="11"/>
          </p:nvPr>
        </p:nvSpPr>
        <p:spPr/>
        <p:txBody>
          <a:bodyPr/>
          <a:lstStyle/>
          <a:p>
            <a:r>
              <a:rPr lang="hr-HR"/>
              <a:t>AA 174A | Lecture 16</a:t>
            </a:r>
            <a:endParaRPr lang="en-US" dirty="0"/>
          </a:p>
        </p:txBody>
      </p:sp>
      <p:sp>
        <p:nvSpPr>
          <p:cNvPr id="5" name="Rectangle 4"/>
          <p:cNvSpPr/>
          <p:nvPr/>
        </p:nvSpPr>
        <p:spPr>
          <a:xfrm>
            <a:off x="7125629" y="4460488"/>
            <a:ext cx="2687444" cy="30108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p:nvPicPr>
        <p:blipFill>
          <a:blip r:embed="rId4"/>
          <a:stretch>
            <a:fillRect/>
          </a:stretch>
        </p:blipFill>
        <p:spPr>
          <a:xfrm>
            <a:off x="7210984" y="4406627"/>
            <a:ext cx="2602089" cy="378486"/>
          </a:xfrm>
          <a:prstGeom prst="rect">
            <a:avLst/>
          </a:prstGeom>
        </p:spPr>
      </p:pic>
      <p:sp>
        <p:nvSpPr>
          <p:cNvPr id="6" name="Slide Number Placeholder 5">
            <a:extLst>
              <a:ext uri="{FF2B5EF4-FFF2-40B4-BE49-F238E27FC236}">
                <a16:creationId xmlns:a16="http://schemas.microsoft.com/office/drawing/2014/main" id="{DD14515E-2C5A-52F2-4EB7-A40864C678A4}"/>
              </a:ext>
            </a:extLst>
          </p:cNvPr>
          <p:cNvSpPr>
            <a:spLocks noGrp="1"/>
          </p:cNvSpPr>
          <p:nvPr>
            <p:ph type="sldNum" sz="quarter" idx="12"/>
          </p:nvPr>
        </p:nvSpPr>
        <p:spPr/>
        <p:txBody>
          <a:bodyPr/>
          <a:lstStyle/>
          <a:p>
            <a:fld id="{8AA1F273-EF2F-3941-BBF8-D365CB27DD6A}" type="slidenum">
              <a:rPr lang="en-US" smtClean="0"/>
              <a:t>29</a:t>
            </a:fld>
            <a:endParaRPr lang="en-US"/>
          </a:p>
        </p:txBody>
      </p:sp>
    </p:spTree>
    <p:extLst>
      <p:ext uri="{BB962C8B-B14F-4D97-AF65-F5344CB8AC3E}">
        <p14:creationId xmlns:p14="http://schemas.microsoft.com/office/powerpoint/2010/main" val="17430380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Next time</a:t>
            </a:r>
          </a:p>
        </p:txBody>
      </p:sp>
      <p:sp>
        <p:nvSpPr>
          <p:cNvPr id="4" name="Date Placeholder 3"/>
          <p:cNvSpPr>
            <a:spLocks noGrp="1"/>
          </p:cNvSpPr>
          <p:nvPr>
            <p:ph type="dt" sz="half" idx="10"/>
          </p:nvPr>
        </p:nvSpPr>
        <p:spPr/>
        <p:txBody>
          <a:bodyPr/>
          <a:lstStyle/>
          <a:p>
            <a:r>
              <a:rPr lang="en-US"/>
              <a:t>11/9/21</a:t>
            </a:r>
          </a:p>
        </p:txBody>
      </p:sp>
      <p:sp>
        <p:nvSpPr>
          <p:cNvPr id="8" name="Rectangle 7"/>
          <p:cNvSpPr/>
          <p:nvPr/>
        </p:nvSpPr>
        <p:spPr>
          <a:xfrm>
            <a:off x="1557338" y="5786438"/>
            <a:ext cx="2143125" cy="4857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56660" y="1470423"/>
            <a:ext cx="5278680" cy="4801790"/>
          </a:xfrm>
          <a:prstGeom prst="rect">
            <a:avLst/>
          </a:prstGeom>
        </p:spPr>
      </p:pic>
      <p:sp>
        <p:nvSpPr>
          <p:cNvPr id="3" name="Footer Placeholder 2"/>
          <p:cNvSpPr>
            <a:spLocks noGrp="1"/>
          </p:cNvSpPr>
          <p:nvPr>
            <p:ph type="ftr" sz="quarter" idx="11"/>
          </p:nvPr>
        </p:nvSpPr>
        <p:spPr/>
        <p:txBody>
          <a:bodyPr/>
          <a:lstStyle/>
          <a:p>
            <a:r>
              <a:rPr lang="hr-HR"/>
              <a:t>AA 174A | Lecture 16</a:t>
            </a:r>
            <a:endParaRPr lang="en-US" dirty="0"/>
          </a:p>
        </p:txBody>
      </p:sp>
      <p:sp>
        <p:nvSpPr>
          <p:cNvPr id="5" name="Slide Number Placeholder 4">
            <a:extLst>
              <a:ext uri="{FF2B5EF4-FFF2-40B4-BE49-F238E27FC236}">
                <a16:creationId xmlns:a16="http://schemas.microsoft.com/office/drawing/2014/main" id="{55400427-5F41-A1D2-5266-F7C90490958C}"/>
              </a:ext>
            </a:extLst>
          </p:cNvPr>
          <p:cNvSpPr>
            <a:spLocks noGrp="1"/>
          </p:cNvSpPr>
          <p:nvPr>
            <p:ph type="sldNum" sz="quarter" idx="12"/>
          </p:nvPr>
        </p:nvSpPr>
        <p:spPr/>
        <p:txBody>
          <a:bodyPr/>
          <a:lstStyle/>
          <a:p>
            <a:fld id="{8AA1F273-EF2F-3941-BBF8-D365CB27DD6A}" type="slidenum">
              <a:rPr lang="en-US" smtClean="0"/>
              <a:t>30</a:t>
            </a:fld>
            <a:endParaRPr lang="en-US"/>
          </a:p>
        </p:txBody>
      </p:sp>
    </p:spTree>
    <p:extLst>
      <p:ext uri="{BB962C8B-B14F-4D97-AF65-F5344CB8AC3E}">
        <p14:creationId xmlns:p14="http://schemas.microsoft.com/office/powerpoint/2010/main" val="529471771"/>
      </p:ext>
    </p:extLst>
  </p:cSld>
  <p:clrMapOvr>
    <a:masterClrMapping/>
  </p:clrMapOvr>
</p:sld>
</file>

<file path=ppt/theme/theme1.xml><?xml version="1.0" encoding="utf-8"?>
<a:theme xmlns:a="http://schemas.openxmlformats.org/drawingml/2006/main" name="AA274">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33684</TotalTime>
  <Words>6685</Words>
  <Application>Microsoft Office PowerPoint</Application>
  <PresentationFormat>Widescreen</PresentationFormat>
  <Paragraphs>538</Paragraphs>
  <Slides>30</Slides>
  <Notes>27</Notes>
  <HiddenSlides>0</HiddenSlides>
  <MMClips>0</MMClips>
  <ScaleCrop>false</ScaleCrop>
  <HeadingPairs>
    <vt:vector size="4" baseType="variant">
      <vt:variant>
        <vt:lpstr>Theme</vt:lpstr>
      </vt:variant>
      <vt:variant>
        <vt:i4>1</vt:i4>
      </vt:variant>
      <vt:variant>
        <vt:lpstr>Slide Titles</vt:lpstr>
      </vt:variant>
      <vt:variant>
        <vt:i4>30</vt:i4>
      </vt:variant>
    </vt:vector>
  </HeadingPairs>
  <TitlesOfParts>
    <vt:vector size="31" baseType="lpstr">
      <vt:lpstr>AA274</vt:lpstr>
      <vt:lpstr>Principles of Robot Autonomy I</vt:lpstr>
      <vt:lpstr>Attendance Form</vt:lpstr>
      <vt:lpstr>Agenda</vt:lpstr>
      <vt:lpstr>Mobile robot localization</vt:lpstr>
      <vt:lpstr>Local versus global localization</vt:lpstr>
      <vt:lpstr>Static versus dynamic environments</vt:lpstr>
      <vt:lpstr>Passive versus active localization</vt:lpstr>
      <vt:lpstr>Single-robot versus multi-robot</vt:lpstr>
      <vt:lpstr>Casting the localization problem within a Bayesian filtering framework</vt:lpstr>
      <vt:lpstr>Casting the localization problem within a Bayesian filtering framework</vt:lpstr>
      <vt:lpstr>Location-based maps</vt:lpstr>
      <vt:lpstr>Feature-based maps</vt:lpstr>
      <vt:lpstr>Casting the localization problem within a Bayesian filtering framework</vt:lpstr>
      <vt:lpstr>Casting the localization problem within a Bayesian filtering framework</vt:lpstr>
      <vt:lpstr>Markov localization</vt:lpstr>
      <vt:lpstr>Markov localization: typical choices  for initial belief</vt:lpstr>
      <vt:lpstr>Markov localization: example</vt:lpstr>
      <vt:lpstr>Markov localization: example</vt:lpstr>
      <vt:lpstr>Markov localization: example</vt:lpstr>
      <vt:lpstr>Instantiation of Markov localization</vt:lpstr>
      <vt:lpstr>Extended Kalman filter (EKF) localization</vt:lpstr>
      <vt:lpstr>Range and bearing sensors</vt:lpstr>
      <vt:lpstr>The issue of data association</vt:lpstr>
      <vt:lpstr>EKF localization with known correspondences</vt:lpstr>
      <vt:lpstr>EKF localization with known correspondences</vt:lpstr>
      <vt:lpstr>EKF localization with unknown correspondences</vt:lpstr>
      <vt:lpstr>Estimating the correspondence variables</vt:lpstr>
      <vt:lpstr>Estimating the correspondence variables</vt:lpstr>
      <vt:lpstr>EKF localization with unknown correspondences</vt:lpstr>
      <vt:lpstr>Next time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AA 274 Principles of Robotic Autonomy</dc:title>
  <dc:creator>Marco Pavone</dc:creator>
  <cp:lastModifiedBy>Marco Pavone</cp:lastModifiedBy>
  <cp:revision>717</cp:revision>
  <cp:lastPrinted>2018-02-26T21:21:51Z</cp:lastPrinted>
  <dcterms:created xsi:type="dcterms:W3CDTF">2017-01-06T12:29:52Z</dcterms:created>
  <dcterms:modified xsi:type="dcterms:W3CDTF">2025-12-20T20:18:38Z</dcterms:modified>
</cp:coreProperties>
</file>