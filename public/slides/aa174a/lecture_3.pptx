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2"/>
  </p:notesMasterIdLst>
  <p:sldIdLst>
    <p:sldId id="325" r:id="rId2"/>
    <p:sldId id="359" r:id="rId3"/>
    <p:sldId id="360" r:id="rId4"/>
    <p:sldId id="336" r:id="rId5"/>
    <p:sldId id="267" r:id="rId6"/>
    <p:sldId id="355" r:id="rId7"/>
    <p:sldId id="333" r:id="rId8"/>
    <p:sldId id="334" r:id="rId9"/>
    <p:sldId id="335" r:id="rId10"/>
    <p:sldId id="294" r:id="rId11"/>
    <p:sldId id="321" r:id="rId12"/>
    <p:sldId id="322" r:id="rId13"/>
    <p:sldId id="343" r:id="rId14"/>
    <p:sldId id="351" r:id="rId15"/>
    <p:sldId id="356" r:id="rId16"/>
    <p:sldId id="352" r:id="rId17"/>
    <p:sldId id="353" r:id="rId18"/>
    <p:sldId id="357" r:id="rId19"/>
    <p:sldId id="309" r:id="rId20"/>
    <p:sldId id="35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13E45F7-17A4-854B-80B1-71EB284932B7}">
          <p14:sldIdLst>
            <p14:sldId id="325"/>
            <p14:sldId id="359"/>
            <p14:sldId id="360"/>
            <p14:sldId id="336"/>
          </p14:sldIdLst>
        </p14:section>
        <p14:section name="Modeling and kinematics" id="{02E83BFE-AB16-C545-86F2-60591FD92E48}">
          <p14:sldIdLst>
            <p14:sldId id="267"/>
            <p14:sldId id="355"/>
            <p14:sldId id="333"/>
            <p14:sldId id="334"/>
            <p14:sldId id="335"/>
            <p14:sldId id="294"/>
            <p14:sldId id="321"/>
            <p14:sldId id="322"/>
          </p14:sldIdLst>
        </p14:section>
        <p14:section name="Linear models" id="{D29BFD7C-D37B-D647-B138-46041288B6FA}">
          <p14:sldIdLst>
            <p14:sldId id="343"/>
            <p14:sldId id="351"/>
            <p14:sldId id="356"/>
            <p14:sldId id="352"/>
            <p14:sldId id="353"/>
            <p14:sldId id="357"/>
          </p14:sldIdLst>
        </p14:section>
        <p14:section name="Conclusion" id="{787EB56E-3C76-9442-8888-9F52AD68A06B}">
          <p14:sldIdLst>
            <p14:sldId id="309"/>
            <p14:sldId id="3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3CBE9C-D66D-B1A9-EE1C-F6391BA18132}" v="6" dt="2025-09-29T23:42:59.154"/>
    <p1510:client id="{EB156182-A01E-364F-AAE3-CADC0F90AAB6}" v="88" dt="2025-09-30T16:37:16.4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77153"/>
  </p:normalViewPr>
  <p:slideViewPr>
    <p:cSldViewPr snapToGrid="0">
      <p:cViewPr varScale="1">
        <p:scale>
          <a:sx n="95" d="100"/>
          <a:sy n="95" d="100"/>
        </p:scale>
        <p:origin x="14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6F028-2067-3740-AA48-A91E93570B1D}" type="datetimeFigureOut">
              <a:rPr lang="en-US" smtClean="0"/>
              <a:t>12/20/2025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2D7EC-928D-0645-AAE8-498D7443D60E}" type="slidenum">
              <a:rPr lang="en-US" smtClean="0"/>
              <a:t>‹#›</a:t>
            </a:fld>
            <a:endParaRPr lang="en-US"/>
          </a:p>
        </p:txBody>
      </p:sp>
    </p:spTree>
    <p:extLst>
      <p:ext uri="{BB962C8B-B14F-4D97-AF65-F5344CB8AC3E}">
        <p14:creationId xmlns:p14="http://schemas.microsoft.com/office/powerpoint/2010/main" val="329372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Field_(mathematics)"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en.wikipedia.org/wiki/Rank%E2%80%93nullity_theorem#cite_note-5"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B2D7EC-928D-0645-AAE8-498D7443D60E}" type="slidenum">
              <a:rPr lang="en-US" smtClean="0"/>
              <a:t>1</a:t>
            </a:fld>
            <a:endParaRPr lang="en-US"/>
          </a:p>
        </p:txBody>
      </p:sp>
    </p:spTree>
    <p:extLst>
      <p:ext uri="{BB962C8B-B14F-4D97-AF65-F5344CB8AC3E}">
        <p14:creationId xmlns:p14="http://schemas.microsoft.com/office/powerpoint/2010/main" val="178006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10"/>
          </p:nvPr>
        </p:nvSpPr>
        <p:spPr/>
        <p:txBody>
          <a:bodyPr/>
          <a:lstStyle/>
          <a:p>
            <a:fld id="{63B2D7EC-928D-0645-AAE8-498D7443D60E}" type="slidenum">
              <a:rPr lang="en-US" smtClean="0"/>
              <a:t>4</a:t>
            </a:fld>
            <a:endParaRPr lang="en-US"/>
          </a:p>
        </p:txBody>
      </p:sp>
    </p:spTree>
    <p:extLst>
      <p:ext uri="{BB962C8B-B14F-4D97-AF65-F5344CB8AC3E}">
        <p14:creationId xmlns:p14="http://schemas.microsoft.com/office/powerpoint/2010/main" val="4182295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The state x(t_0) of the system at time t_0 is the information at t_0 that, together with the input u(t) for t\</a:t>
            </a:r>
            <a:r>
              <a:rPr lang="en-US" err="1"/>
              <a:t>geq</a:t>
            </a:r>
            <a:r>
              <a:rPr lang="en-US"/>
              <a:t> t_0, determines uniquely the output y(t) for all t\</a:t>
            </a:r>
            <a:r>
              <a:rPr lang="en-US" err="1"/>
              <a:t>geq</a:t>
            </a:r>
            <a:r>
              <a:rPr lang="en-US"/>
              <a:t> t_0</a:t>
            </a:r>
          </a:p>
        </p:txBody>
      </p:sp>
      <p:sp>
        <p:nvSpPr>
          <p:cNvPr id="4" name="Slide Number Placeholder 3"/>
          <p:cNvSpPr>
            <a:spLocks noGrp="1"/>
          </p:cNvSpPr>
          <p:nvPr>
            <p:ph type="sldNum" sz="quarter" idx="10"/>
          </p:nvPr>
        </p:nvSpPr>
        <p:spPr/>
        <p:txBody>
          <a:bodyPr/>
          <a:lstStyle/>
          <a:p>
            <a:fld id="{63B2D7EC-928D-0645-AAE8-498D7443D60E}" type="slidenum">
              <a:rPr lang="en-US" smtClean="0"/>
              <a:t>5</a:t>
            </a:fld>
            <a:endParaRPr lang="en-US"/>
          </a:p>
        </p:txBody>
      </p:sp>
    </p:spTree>
    <p:extLst>
      <p:ext uri="{BB962C8B-B14F-4D97-AF65-F5344CB8AC3E}">
        <p14:creationId xmlns:p14="http://schemas.microsoft.com/office/powerpoint/2010/main" val="884319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This is an example of a dynamic models</a:t>
            </a:r>
          </a:p>
        </p:txBody>
      </p:sp>
      <p:sp>
        <p:nvSpPr>
          <p:cNvPr id="4" name="Slide Number Placeholder 3"/>
          <p:cNvSpPr>
            <a:spLocks noGrp="1"/>
          </p:cNvSpPr>
          <p:nvPr>
            <p:ph type="sldNum" sz="quarter" idx="10"/>
          </p:nvPr>
        </p:nvSpPr>
        <p:spPr/>
        <p:txBody>
          <a:bodyPr/>
          <a:lstStyle/>
          <a:p>
            <a:fld id="{63B2D7EC-928D-0645-AAE8-498D7443D60E}" type="slidenum">
              <a:rPr lang="en-US" smtClean="0"/>
              <a:t>6</a:t>
            </a:fld>
            <a:endParaRPr lang="en-US"/>
          </a:p>
        </p:txBody>
      </p:sp>
    </p:spTree>
    <p:extLst>
      <p:ext uri="{BB962C8B-B14F-4D97-AF65-F5344CB8AC3E}">
        <p14:creationId xmlns:p14="http://schemas.microsoft.com/office/powerpoint/2010/main" val="2857426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From the definitions above, kinematics describe constraints that arise from the robot’s physical state or geometry, whereas dynamics explain how forces or inputs influence the robot’s motion.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To derive such models, we need to introduce the notions of configuration and generalized coordinates. A robot’s physical state, also referred to as its configuration, provides a complete specification of the position of every point on the robot at a given instant.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 configuration can be represented using a set of variables known as generalized coordinates, denoted by q(t)</a:t>
            </a:r>
          </a:p>
          <a:p>
            <a:pPr marL="171450" indent="-171450">
              <a:buFont typeface="Arial" charset="0"/>
              <a:buChar char="•"/>
            </a:pPr>
            <a:r>
              <a:rPr lang="en-US" sz="1200" kern="1200" dirty="0">
                <a:solidFill>
                  <a:schemeClr val="tx1"/>
                </a:solidFill>
                <a:effectLst/>
                <a:latin typeface="+mn-lt"/>
                <a:ea typeface="+mn-ea"/>
                <a:cs typeface="+mn-cs"/>
              </a:rPr>
              <a:t>Consider a disk that rolls without slipping on the horizontal plane, while keeping</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its sagittal plane (i.e., the plane that contains the disk) in the vertical direction</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kern="1200" dirty="0">
                <a:solidFill>
                  <a:schemeClr val="tx1"/>
                </a:solidFill>
                <a:effectLst/>
                <a:latin typeface="+mn-lt"/>
                <a:ea typeface="+mn-ea"/>
                <a:cs typeface="+mn-cs"/>
              </a:rPr>
              <a:t>This system, referred as a unicycle, is described by three DOF</a:t>
            </a:r>
          </a:p>
          <a:p>
            <a:pPr marL="171450" indent="-171450">
              <a:buFont typeface="Arial" charset="0"/>
              <a:buChar char="•"/>
            </a:pPr>
            <a:r>
              <a:rPr lang="en-US" sz="1200" kern="1200" dirty="0">
                <a:solidFill>
                  <a:schemeClr val="tx1"/>
                </a:solidFill>
                <a:effectLst/>
                <a:latin typeface="+mn-lt"/>
                <a:ea typeface="+mn-ea"/>
                <a:cs typeface="+mn-cs"/>
              </a:rPr>
              <a:t>No side slip (pure rolling) constraint: entails that the velocity of the contact point has zero</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component in the direction orthogonal to the sagittal plane</a:t>
            </a:r>
          </a:p>
          <a:p>
            <a:endParaRPr lang="en-US" sz="1200" kern="1200" dirty="0">
              <a:solidFill>
                <a:schemeClr val="tx1"/>
              </a:solidFill>
              <a:effectLst/>
              <a:latin typeface="+mn-lt"/>
              <a:ea typeface="+mn-ea"/>
              <a:cs typeface="+mn-cs"/>
            </a:endParaRPr>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7</a:t>
            </a:fld>
            <a:endParaRPr lang="en-US"/>
          </a:p>
        </p:txBody>
      </p:sp>
    </p:spTree>
    <p:extLst>
      <p:ext uri="{BB962C8B-B14F-4D97-AF65-F5344CB8AC3E}">
        <p14:creationId xmlns:p14="http://schemas.microsoft.com/office/powerpoint/2010/main" val="3494017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dirty="0"/>
                  <a:t>Holonomic constraints</a:t>
                </a:r>
                <a:r>
                  <a:rPr lang="en-US" baseline="0" dirty="0"/>
                  <a:t> are constraints that can be expressed in the form of equality constraints involving </a:t>
                </a:r>
                <a:r>
                  <a:rPr lang="en-US" b="1" baseline="0" dirty="0"/>
                  <a:t>only</a:t>
                </a:r>
                <a:r>
                  <a:rPr lang="en-US" baseline="0" dirty="0"/>
                  <a:t> the generalized coordinates q, .</a:t>
                </a:r>
                <a:r>
                  <a:rPr lang="is-IS" baseline="0" dirty="0"/>
                  <a:t> </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dirty="0">
                    <a:solidFill>
                      <a:schemeClr val="tx1"/>
                    </a:solidFill>
                    <a:effectLst/>
                    <a:latin typeface="+mn-lt"/>
                    <a:ea typeface="+mn-ea"/>
                    <a:cs typeface="+mn-cs"/>
                  </a:rPr>
                  <a:t>The effect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of holonomic constraints is to reduce the space of accessible configurations to</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subset with dimension n − k, assuming we have k constraints</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dirty="0">
                    <a:solidFill>
                      <a:schemeClr val="tx1"/>
                    </a:solidFill>
                    <a:effectLst/>
                    <a:latin typeface="+mn-lt"/>
                    <a:ea typeface="+mn-ea"/>
                    <a:cs typeface="+mn-cs"/>
                  </a:rPr>
                  <a:t>Holonomic constraints are generally the result of mechanical interconnections</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between the various bodies of the system. For example, prismatic and</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revolute joints used in robot manipulators are a typical source of such constraints,  and joint variables are an example of reduced sets of coordinates.</a:t>
                </a:r>
                <a:r>
                  <a:rPr lang="en-US" sz="1200" kern="1200" baseline="0" dirty="0">
                    <a:solidFill>
                      <a:schemeClr val="tx1"/>
                    </a:solidFill>
                    <a:effectLst/>
                    <a:latin typeface="+mn-lt"/>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baseline="0" dirty="0">
                    <a:solidFill>
                      <a:schemeClr val="tx1"/>
                    </a:solidFill>
                    <a:effectLst/>
                    <a:latin typeface="+mn-lt"/>
                    <a:ea typeface="+mn-ea"/>
                    <a:cs typeface="+mn-cs"/>
                  </a:rPr>
                  <a:t>As a concrete example, consider a pendulum, or a</a:t>
                </a:r>
                <a:r>
                  <a:rPr lang="en-US" sz="1200" kern="1200" dirty="0">
                    <a:solidFill>
                      <a:schemeClr val="tx1"/>
                    </a:solidFill>
                    <a:effectLst/>
                    <a:latin typeface="+mn-lt"/>
                    <a:ea typeface="+mn-ea"/>
                    <a:cs typeface="+mn-cs"/>
                  </a:rPr>
                  <a:t> revolute joint determines two holonomic constraints: while six</a:t>
                </a:r>
                <a:r>
                  <a:rPr lang="en-US" sz="1200" kern="1200" baseline="0" dirty="0">
                    <a:solidFill>
                      <a:schemeClr val="tx1"/>
                    </a:solidFill>
                    <a:effectLst/>
                    <a:latin typeface="+mn-lt"/>
                    <a:ea typeface="+mn-ea"/>
                    <a:cs typeface="+mn-cs"/>
                  </a:rPr>
                  <a:t> parameters are necessary to define the configuration of two free-flying planar robots, four parameters suffice to determine the position and orientation </a:t>
                </a: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baseline="0" dirty="0">
                    <a:solidFill>
                      <a:schemeClr val="tx1"/>
                    </a:solidFill>
                    <a:effectLst/>
                    <a:latin typeface="+mn-lt"/>
                    <a:ea typeface="+mn-ea"/>
                    <a:cs typeface="+mn-cs"/>
                  </a:rPr>
                  <a:t>Loosely, non-holonomic c</a:t>
                </a:r>
                <a:r>
                  <a:rPr lang="en-US" sz="1200" kern="1200" dirty="0">
                    <a:solidFill>
                      <a:schemeClr val="tx1"/>
                    </a:solidFill>
                    <a:effectLst/>
                    <a:latin typeface="+mn-lt"/>
                    <a:ea typeface="+mn-ea"/>
                    <a:cs typeface="+mn-cs"/>
                  </a:rPr>
                  <a:t>onstraints involve generalized coordinates and their velocities</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dirty="0"/>
                  <a:t>Nonholonomic constraints reduce mobility in a completely different way. </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dirty="0">
                    <a:solidFill>
                      <a:schemeClr val="tx1"/>
                    </a:solidFill>
                    <a:effectLst/>
                    <a:latin typeface="+mn-lt"/>
                    <a:ea typeface="+mn-ea"/>
                    <a:cs typeface="+mn-cs"/>
                  </a:rPr>
                  <a:t>If the constraints are holonomic,</a:t>
                </a:r>
                <a:r>
                  <a:rPr lang="en-US" sz="1200" kern="1200" baseline="0" dirty="0">
                    <a:solidFill>
                      <a:schemeClr val="tx1"/>
                    </a:solidFill>
                    <a:effectLst/>
                    <a:latin typeface="+mn-lt"/>
                    <a:ea typeface="+mn-ea"/>
                    <a:cs typeface="+mn-cs"/>
                  </a:rPr>
                  <a:t> there is a loss of accessibility, as the </a:t>
                </a:r>
                <a:r>
                  <a:rPr lang="en-US" sz="1200" kern="1200" dirty="0">
                    <a:solidFill>
                      <a:schemeClr val="tx1"/>
                    </a:solidFill>
                    <a:effectLst/>
                    <a:latin typeface="+mn-lt"/>
                    <a:ea typeface="+mn-ea"/>
                    <a:cs typeface="+mn-cs"/>
                  </a:rPr>
                  <a:t>motion of the mechanical system in C is confined to a particular level surface of the scalar function h</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dirty="0">
                    <a:solidFill>
                      <a:schemeClr val="tx1"/>
                    </a:solidFill>
                    <a:effectLst/>
                    <a:latin typeface="+mn-lt"/>
                    <a:ea typeface="+mn-ea"/>
                    <a:cs typeface="+mn-cs"/>
                  </a:rPr>
                  <a:t>Assume instead that the constraint is nonholonomic. In this case,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generalized velocities are indeed constrained to belong to the null space of the constraint matrix.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Assume the motion of a system is subject to </a:t>
                </a:r>
                <a:r>
                  <a:rPr lang="en-US" i="1" dirty="0"/>
                  <a:t>k </a:t>
                </a:r>
                <a:r>
                  <a:rPr lang="en-US" dirty="0"/>
                  <a:t>Pfaffian constraints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Then, the admissible velocities at each configuration </a:t>
                </a:r>
                <a14:m>
                  <m:oMath xmlns:m="http://schemas.openxmlformats.org/officeDocument/2006/math">
                    <m:r>
                      <a:rPr lang="en-US" b="0" i="1" smtClean="0">
                        <a:latin typeface="Cambria Math" panose="02040503050406030204" pitchFamily="18" charset="0"/>
                      </a:rPr>
                      <m:t>𝑞</m:t>
                    </m:r>
                  </m:oMath>
                </a14:m>
                <a:r>
                  <a:rPr lang="en-US" dirty="0"/>
                  <a:t> belong to the </a:t>
                </a:r>
                <a:r>
                  <a:rPr lang="en-US" i="1" dirty="0"/>
                  <a:t>(d − k)-</a:t>
                </a:r>
                <a:r>
                  <a:rPr lang="en-US" dirty="0"/>
                  <a:t>dimensional null space of matrix G</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oMath>
                </a14:m>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Denoting by </a:t>
                </a:r>
                <a14:m>
                  <m:oMath xmlns:m="http://schemas.openxmlformats.org/officeDocument/2006/math">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𝑞</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r>
                      <m:rPr>
                        <m:lit/>
                      </m:rPr>
                      <a:rPr lang="en-US" b="0" i="1" smtClean="0">
                        <a:latin typeface="Cambria Math" panose="02040503050406030204" pitchFamily="18" charset="0"/>
                      </a:rPr>
                      <m:t>}</m:t>
                    </m:r>
                    <m:r>
                      <a:rPr lang="en-US" b="0" i="1" smtClean="0">
                        <a:latin typeface="Cambria Math" panose="02040503050406030204" pitchFamily="18" charset="0"/>
                      </a:rPr>
                      <m:t> </m:t>
                    </m:r>
                  </m:oMath>
                </a14:m>
                <a:r>
                  <a:rPr lang="en-US" dirty="0"/>
                  <a:t>a basis of the null space of G</a:t>
                </a:r>
                <a14:m>
                  <m:oMath xmlns:m="http://schemas.openxmlformats.org/officeDocument/2006/math">
                    <m:r>
                      <m:rPr>
                        <m:sty m:val="p"/>
                      </m:rPr>
                      <a:rPr lang="en-US" i="1">
                        <a:latin typeface="Cambria Math" panose="02040503050406030204" pitchFamily="18" charset="0"/>
                      </a:rPr>
                      <m:t>q</m:t>
                    </m:r>
                    <m:r>
                      <a:rPr lang="en-US" i="1">
                        <a:latin typeface="Cambria Math" panose="02040503050406030204" pitchFamily="18" charset="0"/>
                      </a:rPr>
                      <m:t>𝜉</m:t>
                    </m:r>
                    <m:r>
                      <a:rPr lang="en-US" i="1">
                        <a:latin typeface="Cambria Math" panose="02040503050406030204" pitchFamily="18" charset="0"/>
                      </a:rPr>
                      <m:t>)</m:t>
                    </m:r>
                  </m:oMath>
                </a14:m>
                <a:r>
                  <a:rPr lang="en-US" dirty="0"/>
                  <a:t>, admissible trajectories can be characterized as solutions to</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endParaRPr lang="en-US" sz="1200" kern="1200" baseline="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baseline="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More precisely, an </a:t>
                </a:r>
                <a14:m>
                  <m:oMath xmlns:m="http://schemas.openxmlformats.org/officeDocument/2006/math">
                    <m:r>
                      <a:rPr lang="en-US" sz="1200" i="1" kern="1200">
                        <a:solidFill>
                          <a:schemeClr val="tx1"/>
                        </a:solidFill>
                        <a:latin typeface="Cambria Math" panose="02040503050406030204" pitchFamily="18" charset="0"/>
                        <a:ea typeface="+mn-ea"/>
                        <a:cs typeface="+mn-cs"/>
                      </a:rPr>
                      <m:t>𝑚</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𝑛</m:t>
                    </m:r>
                  </m:oMath>
                </a14:m>
                <a:r>
                  <a:rPr lang="en-US" sz="1200" b="0" i="0" kern="1200" dirty="0">
                    <a:solidFill>
                      <a:schemeClr val="tx1"/>
                    </a:solidFill>
                    <a:effectLst/>
                    <a:latin typeface="+mn-lt"/>
                    <a:ea typeface="+mn-ea"/>
                    <a:cs typeface="+mn-cs"/>
                  </a:rPr>
                  <a:t> matrix </a:t>
                </a:r>
                <a:r>
                  <a:rPr lang="en-US" sz="1200" b="0" i="1" kern="1200" dirty="0">
                    <a:solidFill>
                      <a:schemeClr val="tx1"/>
                    </a:solidFill>
                    <a:effectLst/>
                    <a:latin typeface="+mn-lt"/>
                    <a:ea typeface="+mn-ea"/>
                    <a:cs typeface="+mn-cs"/>
                  </a:rPr>
                  <a:t>M</a:t>
                </a:r>
                <a:r>
                  <a:rPr lang="en-US" sz="1200" b="0" i="0" kern="1200" dirty="0">
                    <a:solidFill>
                      <a:schemeClr val="tx1"/>
                    </a:solidFill>
                    <a:effectLst/>
                    <a:latin typeface="+mn-lt"/>
                    <a:ea typeface="+mn-ea"/>
                    <a:cs typeface="+mn-cs"/>
                  </a:rPr>
                  <a:t> represents a linear map </a:t>
                </a:r>
                <a14:m>
                  <m:oMath xmlns:m="http://schemas.openxmlformats.org/officeDocument/2006/math">
                    <m:r>
                      <a:rPr lang="en-US" sz="1200" i="1" kern="1200">
                        <a:solidFill>
                          <a:schemeClr val="tx1"/>
                        </a:solidFill>
                        <a:latin typeface="Cambria Math" panose="02040503050406030204" pitchFamily="18" charset="0"/>
                        <a:ea typeface="+mn-ea"/>
                        <a:cs typeface="+mn-cs"/>
                      </a:rPr>
                      <m:t>𝑓</m:t>
                    </m:r>
                    <m:r>
                      <a:rPr lang="en-US"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𝐹</m:t>
                        </m:r>
                      </m:e>
                      <m:sup>
                        <m:r>
                          <a:rPr lang="ar-AE" sz="1200" i="1" kern="1200">
                            <a:solidFill>
                              <a:schemeClr val="tx1"/>
                            </a:solidFill>
                            <a:latin typeface="Cambria Math" panose="02040503050406030204" pitchFamily="18" charset="0"/>
                            <a:ea typeface="+mn-ea"/>
                            <a:cs typeface="+mn-cs"/>
                          </a:rPr>
                          <m:t>𝑛</m:t>
                        </m:r>
                      </m:sup>
                    </m:sSup>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𝐹</m:t>
                        </m:r>
                      </m:e>
                      <m:sup>
                        <m:r>
                          <a:rPr lang="ar-AE" sz="1200" i="1" kern="1200">
                            <a:solidFill>
                              <a:schemeClr val="tx1"/>
                            </a:solidFill>
                            <a:latin typeface="Cambria Math" panose="02040503050406030204" pitchFamily="18" charset="0"/>
                            <a:ea typeface="+mn-ea"/>
                            <a:cs typeface="+mn-cs"/>
                          </a:rPr>
                          <m:t>𝑚</m:t>
                        </m:r>
                      </m:sup>
                    </m:sSup>
                    <m:r>
                      <a:rPr lang="ar-AE" sz="1200" i="0" kern="1200">
                        <a:solidFill>
                          <a:schemeClr val="tx1"/>
                        </a:solidFill>
                        <a:latin typeface="Cambria Math" panose="02040503050406030204" pitchFamily="18" charset="0"/>
                        <a:ea typeface="+mn-ea"/>
                        <a:cs typeface="+mn-cs"/>
                      </a:rPr>
                      <m:t>,</m:t>
                    </m:r>
                  </m:oMath>
                </a14:m>
                <a:r>
                  <a:rPr lang="ar-AE"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where </a:t>
                </a:r>
                <a14:m>
                  <m:oMath xmlns:m="http://schemas.openxmlformats.org/officeDocument/2006/math">
                    <m:r>
                      <a:rPr lang="en-US" sz="1200" i="1" kern="1200">
                        <a:solidFill>
                          <a:schemeClr val="tx1"/>
                        </a:solidFill>
                        <a:latin typeface="Cambria Math" panose="02040503050406030204" pitchFamily="18" charset="0"/>
                        <a:ea typeface="+mn-ea"/>
                        <a:cs typeface="+mn-cs"/>
                      </a:rPr>
                      <m:t>𝐹</m:t>
                    </m:r>
                  </m:oMath>
                </a14:m>
                <a:r>
                  <a:rPr lang="en-US" sz="1200" b="0" i="0" kern="1200" dirty="0">
                    <a:solidFill>
                      <a:schemeClr val="tx1"/>
                    </a:solidFill>
                    <a:effectLst/>
                    <a:latin typeface="+mn-lt"/>
                    <a:ea typeface="+mn-ea"/>
                    <a:cs typeface="+mn-cs"/>
                  </a:rPr>
                  <a:t> is the underlying </a:t>
                </a:r>
                <a:r>
                  <a:rPr lang="en-US" sz="1200" b="0" i="0" u="none" strike="noStrike" kern="1200" dirty="0">
                    <a:solidFill>
                      <a:schemeClr val="tx1"/>
                    </a:solidFill>
                    <a:effectLst/>
                    <a:latin typeface="+mn-lt"/>
                    <a:ea typeface="+mn-ea"/>
                    <a:cs typeface="+mn-cs"/>
                    <a:hlinkClick r:id="rId3" tooltip="Field (mathematics)"/>
                  </a:rPr>
                  <a:t>field</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4"/>
                  </a:rPr>
                  <a:t>[5]</a:t>
                </a:r>
                <a:r>
                  <a:rPr lang="en-US" sz="1200" b="0" i="0" kern="1200" dirty="0">
                    <a:solidFill>
                      <a:schemeClr val="tx1"/>
                    </a:solidFill>
                    <a:effectLst/>
                    <a:latin typeface="+mn-lt"/>
                    <a:ea typeface="+mn-ea"/>
                    <a:cs typeface="+mn-cs"/>
                  </a:rPr>
                  <a:t> So, the dimension of the domain of </a:t>
                </a:r>
                <a14:m>
                  <m:oMath xmlns:m="http://schemas.openxmlformats.org/officeDocument/2006/math">
                    <m:r>
                      <a:rPr lang="en-US" sz="1200" i="1" kern="1200">
                        <a:solidFill>
                          <a:schemeClr val="tx1"/>
                        </a:solidFill>
                        <a:latin typeface="Cambria Math" panose="02040503050406030204" pitchFamily="18" charset="0"/>
                        <a:ea typeface="+mn-ea"/>
                        <a:cs typeface="+mn-cs"/>
                      </a:rPr>
                      <m:t>𝑓</m:t>
                    </m:r>
                  </m:oMath>
                </a14:m>
                <a:r>
                  <a:rPr lang="en-US" sz="1200" b="0" i="0" kern="1200" dirty="0">
                    <a:solidFill>
                      <a:schemeClr val="tx1"/>
                    </a:solidFill>
                    <a:effectLst/>
                    <a:latin typeface="+mn-lt"/>
                    <a:ea typeface="+mn-ea"/>
                    <a:cs typeface="+mn-cs"/>
                  </a:rPr>
                  <a:t> is </a:t>
                </a:r>
                <a:r>
                  <a:rPr lang="en-US" sz="1200" b="0" i="1" kern="1200" dirty="0">
                    <a:solidFill>
                      <a:schemeClr val="tx1"/>
                    </a:solidFill>
                    <a:effectLst/>
                    <a:latin typeface="+mn-lt"/>
                    <a:ea typeface="+mn-ea"/>
                    <a:cs typeface="+mn-cs"/>
                  </a:rPr>
                  <a:t>n</a:t>
                </a:r>
                <a:r>
                  <a:rPr lang="en-US" sz="1200" b="0" i="0" kern="1200" dirty="0">
                    <a:solidFill>
                      <a:schemeClr val="tx1"/>
                    </a:solidFill>
                    <a:effectLst/>
                    <a:latin typeface="+mn-lt"/>
                    <a:ea typeface="+mn-ea"/>
                    <a:cs typeface="+mn-cs"/>
                  </a:rPr>
                  <a:t>, the number of columns of </a:t>
                </a:r>
                <a:r>
                  <a:rPr lang="en-US" sz="1200" b="0" i="1" kern="1200" dirty="0">
                    <a:solidFill>
                      <a:schemeClr val="tx1"/>
                    </a:solidFill>
                    <a:effectLst/>
                    <a:latin typeface="+mn-lt"/>
                    <a:ea typeface="+mn-ea"/>
                    <a:cs typeface="+mn-cs"/>
                  </a:rPr>
                  <a:t>M</a:t>
                </a:r>
                <a:r>
                  <a:rPr lang="en-US" sz="1200" b="0" i="0" kern="1200" dirty="0">
                    <a:solidFill>
                      <a:schemeClr val="tx1"/>
                    </a:solidFill>
                    <a:effectLst/>
                    <a:latin typeface="+mn-lt"/>
                    <a:ea typeface="+mn-ea"/>
                    <a:cs typeface="+mn-cs"/>
                  </a:rPr>
                  <a:t>, and the rank–nullity theorem for an </a:t>
                </a:r>
                <a14:m>
                  <m:oMath xmlns:m="http://schemas.openxmlformats.org/officeDocument/2006/math">
                    <m:r>
                      <a:rPr lang="en-US" sz="1200" i="1" kern="1200">
                        <a:solidFill>
                          <a:schemeClr val="tx1"/>
                        </a:solidFill>
                        <a:latin typeface="Cambria Math" panose="02040503050406030204" pitchFamily="18" charset="0"/>
                        <a:ea typeface="+mn-ea"/>
                        <a:cs typeface="+mn-cs"/>
                      </a:rPr>
                      <m:t>𝑚</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𝑛</m:t>
                    </m:r>
                  </m:oMath>
                </a14:m>
                <a:r>
                  <a:rPr lang="en-US" sz="1200" b="0" i="0" kern="1200" dirty="0">
                    <a:solidFill>
                      <a:schemeClr val="tx1"/>
                    </a:solidFill>
                    <a:effectLst/>
                    <a:latin typeface="+mn-lt"/>
                    <a:ea typeface="+mn-ea"/>
                    <a:cs typeface="+mn-cs"/>
                  </a:rPr>
                  <a:t> matrix </a:t>
                </a:r>
                <a:r>
                  <a:rPr lang="en-US" sz="1200" b="0" i="1" kern="1200" dirty="0">
                    <a:solidFill>
                      <a:schemeClr val="tx1"/>
                    </a:solidFill>
                    <a:effectLst/>
                    <a:latin typeface="+mn-lt"/>
                    <a:ea typeface="+mn-ea"/>
                    <a:cs typeface="+mn-cs"/>
                  </a:rPr>
                  <a:t>M</a:t>
                </a:r>
                <a:r>
                  <a:rPr lang="en-US" sz="1200" b="0" i="0" kern="1200" dirty="0">
                    <a:solidFill>
                      <a:schemeClr val="tx1"/>
                    </a:solidFill>
                    <a:effectLst/>
                    <a:latin typeface="+mn-lt"/>
                    <a:ea typeface="+mn-ea"/>
                    <a:cs typeface="+mn-cs"/>
                  </a:rPr>
                  <a:t> is</a:t>
                </a:r>
              </a:p>
              <a:p>
                <a:br>
                  <a:rPr lang="en-US" dirty="0"/>
                </a:br>
                <a:r>
                  <a:rPr lang="en-US" dirty="0"/>
                  <a:t>rank(M) + nullity (M) = n</a:t>
                </a:r>
                <a:br>
                  <a:rPr lang="en-US" dirty="0"/>
                </a:br>
                <a:endParaRPr lang="en-US" sz="1200" kern="1200" baseline="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endParaRPr lang="is-IS" baseline="0" dirty="0"/>
              </a:p>
              <a:p>
                <a:pPr marL="0" indent="0">
                  <a:buFont typeface="Arial" panose="020B0604020202020204" pitchFamily="34" charset="0"/>
                  <a:buNone/>
                </a:pPr>
                <a:endParaRPr lang="en-US" dirty="0"/>
              </a:p>
            </p:txBody>
          </p:sp>
        </mc:Choice>
        <mc:Fallback xmlns="">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a:t>Holonomic constraints</a:t>
                </a:r>
                <a:r>
                  <a:rPr lang="en-US" baseline="0"/>
                  <a:t> are constraints that can be expressed in the form of equality constraints involving </a:t>
                </a:r>
                <a:r>
                  <a:rPr lang="en-US" b="1" baseline="0"/>
                  <a:t>only</a:t>
                </a:r>
                <a:r>
                  <a:rPr lang="en-US" baseline="0"/>
                  <a:t> the generalized coordinates q, .</a:t>
                </a:r>
                <a:r>
                  <a:rPr lang="is-IS" baseline="0"/>
                  <a:t> </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a:solidFill>
                      <a:schemeClr val="tx1"/>
                    </a:solidFill>
                    <a:effectLst/>
                    <a:latin typeface="+mn-lt"/>
                    <a:ea typeface="+mn-ea"/>
                    <a:cs typeface="+mn-cs"/>
                  </a:rPr>
                  <a:t>The effect</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of holonomic constraints is to reduce the space of accessible configurations to</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a subset with dimension n − k, assuming we have k constraints</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a:solidFill>
                      <a:schemeClr val="tx1"/>
                    </a:solidFill>
                    <a:effectLst/>
                    <a:latin typeface="+mn-lt"/>
                    <a:ea typeface="+mn-ea"/>
                    <a:cs typeface="+mn-cs"/>
                  </a:rPr>
                  <a:t>Holonomic constraints are generally the result of mechanical interconnections</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between the various bodies of the system. For example, prismatic and</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revolute joints used in robot manipulators are a typical source of such constraints,  and joint variables are an example of reduced sets of coordinates.</a:t>
                </a:r>
                <a:r>
                  <a:rPr lang="en-US" sz="1200" kern="1200" baseline="0">
                    <a:solidFill>
                      <a:schemeClr val="tx1"/>
                    </a:solidFill>
                    <a:effectLst/>
                    <a:latin typeface="+mn-lt"/>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baseline="0">
                    <a:solidFill>
                      <a:schemeClr val="tx1"/>
                    </a:solidFill>
                    <a:effectLst/>
                    <a:latin typeface="+mn-lt"/>
                    <a:ea typeface="+mn-ea"/>
                    <a:cs typeface="+mn-cs"/>
                  </a:rPr>
                  <a:t>As a concrete example, a</a:t>
                </a:r>
                <a:r>
                  <a:rPr lang="en-US" sz="1200" kern="1200">
                    <a:solidFill>
                      <a:schemeClr val="tx1"/>
                    </a:solidFill>
                    <a:effectLst/>
                    <a:latin typeface="+mn-lt"/>
                    <a:ea typeface="+mn-ea"/>
                    <a:cs typeface="+mn-cs"/>
                  </a:rPr>
                  <a:t> revolute joint determines two holonomic constraints: while six</a:t>
                </a:r>
                <a:r>
                  <a:rPr lang="en-US" sz="1200" kern="1200" baseline="0">
                    <a:solidFill>
                      <a:schemeClr val="tx1"/>
                    </a:solidFill>
                    <a:effectLst/>
                    <a:latin typeface="+mn-lt"/>
                    <a:ea typeface="+mn-ea"/>
                    <a:cs typeface="+mn-cs"/>
                  </a:rPr>
                  <a:t> parameters are necessary to define the configuration of two free-flying planar robots, four parameters suffice to determine the position and orientation </a:t>
                </a:r>
                <a:endParaRPr lang="en-US" sz="120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baseline="0">
                    <a:solidFill>
                      <a:schemeClr val="tx1"/>
                    </a:solidFill>
                    <a:effectLst/>
                    <a:latin typeface="+mn-lt"/>
                    <a:ea typeface="+mn-ea"/>
                    <a:cs typeface="+mn-cs"/>
                  </a:rPr>
                  <a:t>Loosely, non-holonomic c</a:t>
                </a:r>
                <a:r>
                  <a:rPr lang="en-US" sz="1200" kern="1200">
                    <a:solidFill>
                      <a:schemeClr val="tx1"/>
                    </a:solidFill>
                    <a:effectLst/>
                    <a:latin typeface="+mn-lt"/>
                    <a:ea typeface="+mn-ea"/>
                    <a:cs typeface="+mn-cs"/>
                  </a:rPr>
                  <a:t>onstraints involve generalized coordinates and their velocities</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a:t>Nonholonomic constraints reduce mobility in a completely different way. </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a:solidFill>
                      <a:schemeClr val="tx1"/>
                    </a:solidFill>
                    <a:effectLst/>
                    <a:latin typeface="+mn-lt"/>
                    <a:ea typeface="+mn-ea"/>
                    <a:cs typeface="+mn-cs"/>
                  </a:rPr>
                  <a:t>If the constraints are holonomic,</a:t>
                </a:r>
                <a:r>
                  <a:rPr lang="en-US" sz="1200" kern="1200" baseline="0">
                    <a:solidFill>
                      <a:schemeClr val="tx1"/>
                    </a:solidFill>
                    <a:effectLst/>
                    <a:latin typeface="+mn-lt"/>
                    <a:ea typeface="+mn-ea"/>
                    <a:cs typeface="+mn-cs"/>
                  </a:rPr>
                  <a:t> there is a loss of accessibility, as the </a:t>
                </a:r>
                <a:r>
                  <a:rPr lang="en-US" sz="1200" kern="1200">
                    <a:solidFill>
                      <a:schemeClr val="tx1"/>
                    </a:solidFill>
                    <a:effectLst/>
                    <a:latin typeface="+mn-lt"/>
                    <a:ea typeface="+mn-ea"/>
                    <a:cs typeface="+mn-cs"/>
                  </a:rPr>
                  <a:t>motion of the mechanical system in C is confined to a particular level surface of the scalar function h</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r>
                  <a:rPr lang="en-US" sz="1200" kern="1200">
                    <a:solidFill>
                      <a:schemeClr val="tx1"/>
                    </a:solidFill>
                    <a:effectLst/>
                    <a:latin typeface="+mn-lt"/>
                    <a:ea typeface="+mn-ea"/>
                    <a:cs typeface="+mn-cs"/>
                  </a:rPr>
                  <a:t>Assume instead that the constraint is nonholonomic. In this case,</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generalized velocities are indeed constrained to belong to the null space of the constraint matrix.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Assume the motion of a system is subject to </a:t>
                </a:r>
                <a:r>
                  <a:rPr lang="en-US" i="1"/>
                  <a:t>k </a:t>
                </a:r>
                <a:r>
                  <a:rPr lang="en-US"/>
                  <a:t>Pfaffian constraints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Then, the admissible velocities at each configuration </a:t>
                </a:r>
                <a:r>
                  <a:rPr lang="en-US" b="0" i="0">
                    <a:latin typeface="Cambria Math" panose="02040503050406030204" pitchFamily="18" charset="0"/>
                  </a:rPr>
                  <a:t>𝑞</a:t>
                </a:r>
                <a:r>
                  <a:rPr lang="en-US"/>
                  <a:t> belong to the </a:t>
                </a:r>
                <a:r>
                  <a:rPr lang="en-US" i="1"/>
                  <a:t>(d − k)-</a:t>
                </a:r>
                <a:r>
                  <a:rPr lang="en-US"/>
                  <a:t>dimensional null space of matrix G</a:t>
                </a:r>
                <a:r>
                  <a:rPr lang="en-US" b="0" i="0">
                    <a:latin typeface="Cambria Math" panose="02040503050406030204" pitchFamily="18" charset="0"/>
                  </a:rPr>
                  <a:t>(𝑞)</a:t>
                </a: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Denoting by </a:t>
                </a:r>
                <a:r>
                  <a:rPr lang="en-US" b="0" i="0">
                    <a:latin typeface="Cambria Math" panose="02040503050406030204" pitchFamily="18" charset="0"/>
                  </a:rPr>
                  <a:t>\{𝑔_1 𝑞, …,𝑔_(𝑛−𝑑) (𝑞)\} </a:t>
                </a:r>
                <a:r>
                  <a:rPr lang="en-US"/>
                  <a:t>a basis of the null space of G</a:t>
                </a:r>
                <a:r>
                  <a:rPr lang="en-US" i="0">
                    <a:latin typeface="Cambria Math" panose="02040503050406030204" pitchFamily="18" charset="0"/>
                  </a:rPr>
                  <a:t>q𝜉)</a:t>
                </a:r>
                <a:r>
                  <a:rPr lang="en-US"/>
                  <a:t>, admissible trajectories can be characterized as solutions to</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endParaRPr lang="en-US" sz="1200" kern="1200" baseline="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n"/>
                  <a:tabLst/>
                  <a:defRPr/>
                </a:pPr>
                <a:endParaRPr lang="is-IS" baseline="0"/>
              </a:p>
              <a:p>
                <a:pPr marL="0" indent="0">
                  <a:buFont typeface="Arial" panose="020B0604020202020204" pitchFamily="34" charset="0"/>
                  <a:buNone/>
                </a:pPr>
                <a:endParaRPr lang="en-US"/>
              </a:p>
            </p:txBody>
          </p:sp>
        </mc:Fallback>
      </mc:AlternateContent>
      <p:sp>
        <p:nvSpPr>
          <p:cNvPr id="4" name="Slide Number Placeholder 3"/>
          <p:cNvSpPr>
            <a:spLocks noGrp="1"/>
          </p:cNvSpPr>
          <p:nvPr>
            <p:ph type="sldNum" sz="quarter" idx="10"/>
          </p:nvPr>
        </p:nvSpPr>
        <p:spPr/>
        <p:txBody>
          <a:bodyPr/>
          <a:lstStyle/>
          <a:p>
            <a:fld id="{63B2D7EC-928D-0645-AAE8-498D7443D60E}" type="slidenum">
              <a:rPr lang="en-US" smtClean="0"/>
              <a:t>8</a:t>
            </a:fld>
            <a:endParaRPr lang="en-US"/>
          </a:p>
        </p:txBody>
      </p:sp>
    </p:spTree>
    <p:extLst>
      <p:ext uri="{BB962C8B-B14F-4D97-AF65-F5344CB8AC3E}">
        <p14:creationId xmlns:p14="http://schemas.microsoft.com/office/powerpoint/2010/main" val="1493530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atin typeface="Source Sans Pro" panose="020B0503030403020204" pitchFamily="34" charset="0"/>
                    <a:ea typeface="Source Sans Pro" panose="020B0503030403020204" pitchFamily="34" charset="0"/>
                  </a:rPr>
                  <a:t>All admissible velocities are therefore obtained as linear combination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𝜉</m:t>
                        </m:r>
                      </m:e>
                    </m:d>
                  </m:oMath>
                </a14:m>
                <a:r>
                  <a:rPr lang="en-US">
                    <a:latin typeface="Source Sans Pro" panose="020B0503030403020204" pitchFamily="34" charset="0"/>
                    <a:ea typeface="Source Sans Pro" panose="020B0503030403020204" pitchFamily="34" charset="0"/>
                  </a:rPr>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𝜉</m:t>
                    </m:r>
                    <m:r>
                      <a:rPr lang="en-US" i="1">
                        <a:latin typeface="Cambria Math" panose="02040503050406030204" pitchFamily="18" charset="0"/>
                      </a:rPr>
                      <m:t>)</m:t>
                    </m:r>
                  </m:oMath>
                </a14:m>
                <a:endParaRPr lang="en-US">
                  <a:latin typeface="Source Sans Pro" panose="020B0503030403020204" pitchFamily="34" charset="0"/>
                  <a:ea typeface="Source Sans Pro" panose="020B0503030403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effectLst/>
                    <a:latin typeface="URWPalladioL"/>
                  </a:rPr>
                  <a:t>The null space in this case is spanned by the vectors </a:t>
                </a:r>
                <a:r>
                  <a:rPr lang="en-US" sz="1800">
                    <a:effectLst/>
                    <a:latin typeface="CMR10"/>
                  </a:rPr>
                  <a:t>[</a:t>
                </a:r>
                <a:r>
                  <a:rPr lang="en-US" sz="1800">
                    <a:effectLst/>
                    <a:latin typeface="URWPalladioL"/>
                  </a:rPr>
                  <a:t>cos</a:t>
                </a:r>
                <a:r>
                  <a:rPr lang="el-GR" sz="1800" i="1">
                    <a:effectLst/>
                    <a:latin typeface="PazoMath"/>
                  </a:rPr>
                  <a:t>θ</a:t>
                </a:r>
                <a:r>
                  <a:rPr lang="el-GR" sz="1800">
                    <a:effectLst/>
                    <a:latin typeface="URWPalladioL"/>
                  </a:rPr>
                  <a:t>, </a:t>
                </a:r>
                <a:r>
                  <a:rPr lang="en-US" sz="1800">
                    <a:effectLst/>
                    <a:latin typeface="URWPalladioL"/>
                  </a:rPr>
                  <a:t>sin</a:t>
                </a:r>
                <a:r>
                  <a:rPr lang="el-GR" sz="1800" i="1">
                    <a:effectLst/>
                    <a:latin typeface="PazoMath"/>
                  </a:rPr>
                  <a:t>θ</a:t>
                </a:r>
                <a:r>
                  <a:rPr lang="el-GR" sz="1800">
                    <a:effectLst/>
                    <a:latin typeface="URWPalladioL"/>
                  </a:rPr>
                  <a:t>, 0</a:t>
                </a:r>
                <a:r>
                  <a:rPr lang="el-GR" sz="1800">
                    <a:effectLst/>
                    <a:latin typeface="CMR10"/>
                  </a:rPr>
                  <a:t>] </a:t>
                </a:r>
                <a:r>
                  <a:rPr lang="en-US" sz="1800">
                    <a:effectLst/>
                    <a:latin typeface="URWPalladioL"/>
                  </a:rPr>
                  <a:t>and </a:t>
                </a:r>
                <a:r>
                  <a:rPr lang="en-US" sz="1800">
                    <a:effectLst/>
                    <a:latin typeface="CMR10"/>
                  </a:rPr>
                  <a:t>[</a:t>
                </a:r>
                <a:r>
                  <a:rPr lang="en-US" sz="1800">
                    <a:effectLst/>
                    <a:latin typeface="URWPalladioL"/>
                  </a:rPr>
                  <a:t>0, 0, 1</a:t>
                </a:r>
                <a:r>
                  <a:rPr lang="en-US" sz="1800">
                    <a:effectLst/>
                    <a:latin typeface="CMR10"/>
                  </a:rPr>
                  <a:t>] </a:t>
                </a:r>
                <a:r>
                  <a:rPr lang="en-US" sz="1800">
                    <a:effectLst/>
                    <a:latin typeface="URWPalladioL"/>
                  </a:rPr>
                  <a:t>which suggests that any potential motion must be made up of a linear combination of these vectors. Intuitively this would be expected because </a:t>
                </a:r>
                <a:r>
                  <a:rPr lang="en-US" sz="1800">
                    <a:effectLst/>
                    <a:latin typeface="CMR10"/>
                  </a:rPr>
                  <a:t>[</a:t>
                </a:r>
                <a:r>
                  <a:rPr lang="en-US" sz="1800">
                    <a:effectLst/>
                    <a:latin typeface="URWPalladioL"/>
                  </a:rPr>
                  <a:t>cos </a:t>
                </a:r>
                <a:r>
                  <a:rPr lang="el-GR" sz="1800" i="1">
                    <a:effectLst/>
                    <a:latin typeface="PazoMath"/>
                  </a:rPr>
                  <a:t>θ</a:t>
                </a:r>
                <a:r>
                  <a:rPr lang="el-GR" sz="1800">
                    <a:effectLst/>
                    <a:latin typeface="URWPalladioL"/>
                  </a:rPr>
                  <a:t>, </a:t>
                </a:r>
                <a:r>
                  <a:rPr lang="en-US" sz="1800">
                    <a:effectLst/>
                    <a:latin typeface="URWPalladioL"/>
                  </a:rPr>
                  <a:t>sin </a:t>
                </a:r>
                <a:r>
                  <a:rPr lang="el-GR" sz="1800" i="1">
                    <a:effectLst/>
                    <a:latin typeface="PazoMath"/>
                  </a:rPr>
                  <a:t>θ</a:t>
                </a:r>
                <a:r>
                  <a:rPr lang="el-GR" sz="1800">
                    <a:effectLst/>
                    <a:latin typeface="URWPalladioL"/>
                  </a:rPr>
                  <a:t>, 0</a:t>
                </a:r>
                <a:r>
                  <a:rPr lang="el-GR" sz="1800">
                    <a:effectLst/>
                    <a:latin typeface="CMR10"/>
                  </a:rPr>
                  <a:t>] </a:t>
                </a:r>
                <a:r>
                  <a:rPr lang="en-US" sz="1800">
                    <a:effectLst/>
                    <a:latin typeface="URWPalladioL"/>
                  </a:rPr>
                  <a:t>is the unit vector in the direction of rolling, and </a:t>
                </a:r>
                <a:r>
                  <a:rPr lang="en-US" sz="1800">
                    <a:effectLst/>
                    <a:latin typeface="CMR10"/>
                  </a:rPr>
                  <a:t>[</a:t>
                </a:r>
                <a:r>
                  <a:rPr lang="en-US" sz="1800">
                    <a:effectLst/>
                    <a:latin typeface="URWPalladioL"/>
                  </a:rPr>
                  <a:t>0, 0, 1</a:t>
                </a:r>
                <a:r>
                  <a:rPr lang="en-US" sz="1800">
                    <a:effectLst/>
                    <a:latin typeface="CMR10"/>
                  </a:rPr>
                  <a:t>] </a:t>
                </a:r>
                <a:r>
                  <a:rPr lang="en-US" sz="1800">
                    <a:effectLst/>
                    <a:latin typeface="URWPalladioL"/>
                  </a:rPr>
                  <a:t>would correspond to the wheel spinning but not rolling. </a:t>
                </a:r>
                <a:endParaRPr lang="en-US">
                  <a:latin typeface="Source Sans Pro" panose="020B0503030403020204" pitchFamily="34" charset="0"/>
                  <a:ea typeface="Source Sans Pro" panose="020B0503030403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The constraint</a:t>
                </a:r>
                <a:r>
                  <a:rPr lang="en-US" sz="1200" kern="1200" baseline="0">
                    <a:solidFill>
                      <a:schemeClr val="tx1"/>
                    </a:solidFill>
                    <a:effectLst/>
                    <a:latin typeface="+mn-lt"/>
                    <a:ea typeface="+mn-ea"/>
                    <a:cs typeface="+mn-cs"/>
                  </a:rPr>
                  <a:t> is non-holonomic </a:t>
                </a:r>
                <a:r>
                  <a:rPr lang="en-US" sz="1200" kern="1200">
                    <a:solidFill>
                      <a:schemeClr val="tx1"/>
                    </a:solidFill>
                    <a:effectLst/>
                    <a:latin typeface="+mn-lt"/>
                    <a:ea typeface="+mn-ea"/>
                    <a:cs typeface="+mn-cs"/>
                  </a:rPr>
                  <a:t>because it implies no loss of accessibility in</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the configuration space of the disk. -&gt; simple 3-step motion </a:t>
                </a:r>
              </a:p>
              <a:p>
                <a:pPr marL="0" indent="0">
                  <a:buFont typeface="Arial" panose="020B0604020202020204" pitchFamily="34" charset="0"/>
                  <a:buNone/>
                </a:pPr>
                <a:endParaRPr lang="en-US"/>
              </a:p>
            </p:txBody>
          </p:sp>
        </mc:Choice>
        <mc:Fallback xmlns="">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atin typeface="Source Sans Pro" panose="020B0503030403020204" pitchFamily="34" charset="0"/>
                    <a:ea typeface="Source Sans Pro" panose="020B0503030403020204" pitchFamily="34" charset="0"/>
                  </a:rPr>
                  <a:t>All admissible velocities are therefore obtained as linear combination of </a:t>
                </a:r>
                <a:r>
                  <a:rPr lang="en-US" i="0">
                    <a:latin typeface="Cambria Math" panose="02040503050406030204" pitchFamily="18" charset="0"/>
                  </a:rPr>
                  <a:t>𝑔_1 (𝜉)</a:t>
                </a:r>
                <a:r>
                  <a:rPr lang="en-US">
                    <a:latin typeface="Source Sans Pro" panose="020B0503030403020204" pitchFamily="34" charset="0"/>
                    <a:ea typeface="Source Sans Pro" panose="020B0503030403020204" pitchFamily="34" charset="0"/>
                  </a:rPr>
                  <a:t> and </a:t>
                </a:r>
                <a:r>
                  <a:rPr lang="en-US" i="0">
                    <a:latin typeface="Cambria Math" panose="02040503050406030204" pitchFamily="18" charset="0"/>
                  </a:rPr>
                  <a:t>𝑔_2 (𝜉)</a:t>
                </a:r>
                <a:endParaRPr lang="en-US">
                  <a:latin typeface="Source Sans Pro" panose="020B0503030403020204" pitchFamily="34" charset="0"/>
                  <a:ea typeface="Source Sans Pro" panose="020B0503030403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effectLst/>
                    <a:latin typeface="URWPalladioL"/>
                  </a:rPr>
                  <a:t>The null space in this case is spanned by the vectors </a:t>
                </a:r>
                <a:r>
                  <a:rPr lang="en-US" sz="1800">
                    <a:effectLst/>
                    <a:latin typeface="CMR10"/>
                  </a:rPr>
                  <a:t>[</a:t>
                </a:r>
                <a:r>
                  <a:rPr lang="en-US" sz="1800">
                    <a:effectLst/>
                    <a:latin typeface="URWPalladioL"/>
                  </a:rPr>
                  <a:t>cos</a:t>
                </a:r>
                <a:r>
                  <a:rPr lang="el-GR" sz="1800" i="1">
                    <a:effectLst/>
                    <a:latin typeface="PazoMath"/>
                  </a:rPr>
                  <a:t>θ</a:t>
                </a:r>
                <a:r>
                  <a:rPr lang="el-GR" sz="1800">
                    <a:effectLst/>
                    <a:latin typeface="URWPalladioL"/>
                  </a:rPr>
                  <a:t>, </a:t>
                </a:r>
                <a:r>
                  <a:rPr lang="en-US" sz="1800">
                    <a:effectLst/>
                    <a:latin typeface="URWPalladioL"/>
                  </a:rPr>
                  <a:t>sin</a:t>
                </a:r>
                <a:r>
                  <a:rPr lang="el-GR" sz="1800" i="1">
                    <a:effectLst/>
                    <a:latin typeface="PazoMath"/>
                  </a:rPr>
                  <a:t>θ</a:t>
                </a:r>
                <a:r>
                  <a:rPr lang="el-GR" sz="1800">
                    <a:effectLst/>
                    <a:latin typeface="URWPalladioL"/>
                  </a:rPr>
                  <a:t>, 0</a:t>
                </a:r>
                <a:r>
                  <a:rPr lang="el-GR" sz="1800">
                    <a:effectLst/>
                    <a:latin typeface="CMR10"/>
                  </a:rPr>
                  <a:t>] </a:t>
                </a:r>
                <a:r>
                  <a:rPr lang="en-US" sz="1800">
                    <a:effectLst/>
                    <a:latin typeface="URWPalladioL"/>
                  </a:rPr>
                  <a:t>and </a:t>
                </a:r>
                <a:r>
                  <a:rPr lang="en-US" sz="1800">
                    <a:effectLst/>
                    <a:latin typeface="CMR10"/>
                  </a:rPr>
                  <a:t>[</a:t>
                </a:r>
                <a:r>
                  <a:rPr lang="en-US" sz="1800">
                    <a:effectLst/>
                    <a:latin typeface="URWPalladioL"/>
                  </a:rPr>
                  <a:t>0, 0, 1</a:t>
                </a:r>
                <a:r>
                  <a:rPr lang="en-US" sz="1800">
                    <a:effectLst/>
                    <a:latin typeface="CMR10"/>
                  </a:rPr>
                  <a:t>] </a:t>
                </a:r>
                <a:r>
                  <a:rPr lang="en-US" sz="1800">
                    <a:effectLst/>
                    <a:latin typeface="URWPalladioL"/>
                  </a:rPr>
                  <a:t>which suggests that any potential motion must be made up of a linear combination of these vectors. Intuitively this would be expected because </a:t>
                </a:r>
                <a:r>
                  <a:rPr lang="en-US" sz="1800">
                    <a:effectLst/>
                    <a:latin typeface="CMR10"/>
                  </a:rPr>
                  <a:t>[</a:t>
                </a:r>
                <a:r>
                  <a:rPr lang="en-US" sz="1800">
                    <a:effectLst/>
                    <a:latin typeface="URWPalladioL"/>
                  </a:rPr>
                  <a:t>cos </a:t>
                </a:r>
                <a:r>
                  <a:rPr lang="el-GR" sz="1800" i="1">
                    <a:effectLst/>
                    <a:latin typeface="PazoMath"/>
                  </a:rPr>
                  <a:t>θ</a:t>
                </a:r>
                <a:r>
                  <a:rPr lang="el-GR" sz="1800">
                    <a:effectLst/>
                    <a:latin typeface="URWPalladioL"/>
                  </a:rPr>
                  <a:t>, </a:t>
                </a:r>
                <a:r>
                  <a:rPr lang="en-US" sz="1800">
                    <a:effectLst/>
                    <a:latin typeface="URWPalladioL"/>
                  </a:rPr>
                  <a:t>sin </a:t>
                </a:r>
                <a:r>
                  <a:rPr lang="el-GR" sz="1800" i="1">
                    <a:effectLst/>
                    <a:latin typeface="PazoMath"/>
                  </a:rPr>
                  <a:t>θ</a:t>
                </a:r>
                <a:r>
                  <a:rPr lang="el-GR" sz="1800">
                    <a:effectLst/>
                    <a:latin typeface="URWPalladioL"/>
                  </a:rPr>
                  <a:t>, 0</a:t>
                </a:r>
                <a:r>
                  <a:rPr lang="el-GR" sz="1800">
                    <a:effectLst/>
                    <a:latin typeface="CMR10"/>
                  </a:rPr>
                  <a:t>] </a:t>
                </a:r>
                <a:r>
                  <a:rPr lang="en-US" sz="1800">
                    <a:effectLst/>
                    <a:latin typeface="URWPalladioL"/>
                  </a:rPr>
                  <a:t>is the unit vector in the direction of rolling, and </a:t>
                </a:r>
                <a:r>
                  <a:rPr lang="en-US" sz="1800">
                    <a:effectLst/>
                    <a:latin typeface="CMR10"/>
                  </a:rPr>
                  <a:t>[</a:t>
                </a:r>
                <a:r>
                  <a:rPr lang="en-US" sz="1800">
                    <a:effectLst/>
                    <a:latin typeface="URWPalladioL"/>
                  </a:rPr>
                  <a:t>0, 0, 1</a:t>
                </a:r>
                <a:r>
                  <a:rPr lang="en-US" sz="1800">
                    <a:effectLst/>
                    <a:latin typeface="CMR10"/>
                  </a:rPr>
                  <a:t>] </a:t>
                </a:r>
                <a:r>
                  <a:rPr lang="en-US" sz="1800">
                    <a:effectLst/>
                    <a:latin typeface="URWPalladioL"/>
                  </a:rPr>
                  <a:t>would correspond to the wheel spinning but not rolling. </a:t>
                </a:r>
                <a:endParaRPr lang="en-US">
                  <a:latin typeface="Source Sans Pro" panose="020B0503030403020204" pitchFamily="34" charset="0"/>
                  <a:ea typeface="Source Sans Pro" panose="020B0503030403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The constraint</a:t>
                </a:r>
                <a:r>
                  <a:rPr lang="en-US" sz="1200" kern="1200" baseline="0">
                    <a:solidFill>
                      <a:schemeClr val="tx1"/>
                    </a:solidFill>
                    <a:effectLst/>
                    <a:latin typeface="+mn-lt"/>
                    <a:ea typeface="+mn-ea"/>
                    <a:cs typeface="+mn-cs"/>
                  </a:rPr>
                  <a:t> is non-holonomic </a:t>
                </a:r>
                <a:r>
                  <a:rPr lang="en-US" sz="1200" kern="1200">
                    <a:solidFill>
                      <a:schemeClr val="tx1"/>
                    </a:solidFill>
                    <a:effectLst/>
                    <a:latin typeface="+mn-lt"/>
                    <a:ea typeface="+mn-ea"/>
                    <a:cs typeface="+mn-cs"/>
                  </a:rPr>
                  <a:t>because it implies no loss of accessibility in</a:t>
                </a:r>
                <a:r>
                  <a:rPr lang="en-US" sz="120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the configuration space of the disk. -&gt; simple 3-step motion </a:t>
                </a:r>
              </a:p>
              <a:p>
                <a:pPr marL="0" indent="0">
                  <a:buFont typeface="Arial" panose="020B0604020202020204" pitchFamily="34" charset="0"/>
                  <a:buNone/>
                </a:pPr>
                <a:endParaRPr lang="en-US"/>
              </a:p>
            </p:txBody>
          </p:sp>
        </mc:Fallback>
      </mc:AlternateContent>
      <p:sp>
        <p:nvSpPr>
          <p:cNvPr id="4" name="Slide Number Placeholder 3"/>
          <p:cNvSpPr>
            <a:spLocks noGrp="1"/>
          </p:cNvSpPr>
          <p:nvPr>
            <p:ph type="sldNum" sz="quarter" idx="10"/>
          </p:nvPr>
        </p:nvSpPr>
        <p:spPr/>
        <p:txBody>
          <a:bodyPr/>
          <a:lstStyle/>
          <a:p>
            <a:fld id="{63B2D7EC-928D-0645-AAE8-498D7443D60E}" type="slidenum">
              <a:rPr lang="en-US" smtClean="0"/>
              <a:t>9</a:t>
            </a:fld>
            <a:endParaRPr lang="en-US"/>
          </a:p>
        </p:txBody>
      </p:sp>
    </p:spTree>
    <p:extLst>
      <p:ext uri="{BB962C8B-B14F-4D97-AF65-F5344CB8AC3E}">
        <p14:creationId xmlns:p14="http://schemas.microsoft.com/office/powerpoint/2010/main" val="3250507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sz="1200" kern="1200" dirty="0">
                <a:solidFill>
                  <a:schemeClr val="tx1"/>
                </a:solidFill>
                <a:effectLst/>
                <a:latin typeface="+mn-lt"/>
                <a:ea typeface="+mn-ea"/>
                <a:cs typeface="+mn-cs"/>
              </a:rPr>
              <a:t>For example, in the case of</a:t>
            </a:r>
            <a:r>
              <a:rPr lang="en-US" sz="1200" kern="1200" baseline="0" dirty="0">
                <a:solidFill>
                  <a:schemeClr val="tx1"/>
                </a:solidFill>
                <a:effectLst/>
                <a:latin typeface="+mn-lt"/>
                <a:ea typeface="+mn-ea"/>
                <a:cs typeface="+mn-cs"/>
              </a:rPr>
              <a:t> the unicycle, one obtains the model..</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s-ES_tradnl" sz="1200" kern="1200" dirty="0" err="1">
                <a:solidFill>
                  <a:schemeClr val="tx1"/>
                </a:solidFill>
                <a:effectLst/>
                <a:latin typeface="+mn-lt"/>
                <a:ea typeface="+mn-ea"/>
                <a:cs typeface="+mn-cs"/>
              </a:rPr>
              <a:t>For</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unicyle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inputs v  and </a:t>
            </a:r>
            <a:r>
              <a:rPr lang="es-ES_tradnl" sz="1200" kern="1200" dirty="0" err="1">
                <a:solidFill>
                  <a:schemeClr val="tx1"/>
                </a:solidFill>
                <a:effectLst/>
                <a:latin typeface="+mn-lt"/>
                <a:ea typeface="+mn-ea"/>
                <a:cs typeface="+mn-cs"/>
              </a:rPr>
              <a:t>ω</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have</a:t>
            </a:r>
            <a:r>
              <a:rPr lang="es-ES_tradnl" sz="1200" kern="1200" dirty="0">
                <a:solidFill>
                  <a:schemeClr val="tx1"/>
                </a:solidFill>
                <a:effectLst/>
                <a:latin typeface="+mn-lt"/>
                <a:ea typeface="+mn-ea"/>
                <a:cs typeface="+mn-cs"/>
              </a:rPr>
              <a:t> a </a:t>
            </a:r>
            <a:r>
              <a:rPr lang="es-ES_tradnl" sz="1200" kern="1200" dirty="0" err="1">
                <a:solidFill>
                  <a:schemeClr val="tx1"/>
                </a:solidFill>
                <a:effectLst/>
                <a:latin typeface="+mn-lt"/>
                <a:ea typeface="+mn-ea"/>
                <a:cs typeface="+mn-cs"/>
              </a:rPr>
              <a:t>clear</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physical</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interpretation</a:t>
            </a:r>
            <a:r>
              <a:rPr lang="es-ES_tradnl" sz="1200" kern="1200" dirty="0">
                <a:solidFill>
                  <a:schemeClr val="tx1"/>
                </a:solidFill>
                <a:effectLst/>
                <a:latin typeface="+mn-lt"/>
                <a:ea typeface="+mn-ea"/>
                <a:cs typeface="+mn-cs"/>
              </a:rPr>
              <a:t>. In particular,</a:t>
            </a:r>
            <a:r>
              <a:rPr lang="es-ES_tradnl" sz="1200" kern="1200" baseline="0" dirty="0">
                <a:solidFill>
                  <a:schemeClr val="tx1"/>
                </a:solidFill>
                <a:effectLst/>
                <a:latin typeface="+mn-lt"/>
                <a:ea typeface="+mn-ea"/>
                <a:cs typeface="+mn-cs"/>
              </a:rPr>
              <a:t> </a:t>
            </a:r>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s-ES_tradnl" sz="1200" kern="1200" dirty="0">
                <a:solidFill>
                  <a:schemeClr val="tx1"/>
                </a:solidFill>
                <a:effectLst/>
                <a:latin typeface="+mn-lt"/>
                <a:ea typeface="+mn-ea"/>
                <a:cs typeface="+mn-cs"/>
              </a:rPr>
              <a:t>v  </a:t>
            </a:r>
            <a:r>
              <a:rPr lang="es-ES_tradnl" sz="1200" kern="1200" dirty="0" err="1">
                <a:solidFill>
                  <a:schemeClr val="tx1"/>
                </a:solidFill>
                <a:effectLst/>
                <a:latin typeface="+mn-lt"/>
                <a:ea typeface="+mn-ea"/>
                <a:cs typeface="+mn-cs"/>
              </a:rPr>
              <a:t>is</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driving</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velocity</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that</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is</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i.e., the modulus  (with sign) of the contact point velocity vector </a:t>
            </a:r>
            <a:endParaRPr lang="en-US" dirty="0"/>
          </a:p>
          <a:p>
            <a:pPr marL="628650" marR="0" lvl="1" indent="-171450" algn="l" defTabSz="914400" rtl="0" eaLnBrk="1" fontAlgn="auto" latinLnBrk="0" hangingPunct="1">
              <a:lnSpc>
                <a:spcPct val="100000"/>
              </a:lnSpc>
              <a:spcBef>
                <a:spcPts val="0"/>
              </a:spcBef>
              <a:spcAft>
                <a:spcPts val="0"/>
              </a:spcAft>
              <a:buClrTx/>
              <a:buSzTx/>
              <a:buFont typeface="Arial" charset="0"/>
              <a:buChar char="•"/>
              <a:tabLst/>
              <a:defRPr/>
            </a:pP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whereas</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steering</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velocity</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ω</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is</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wheel</a:t>
            </a:r>
            <a:r>
              <a:rPr lang="es-ES_tradnl" sz="1200" kern="1200" dirty="0">
                <a:solidFill>
                  <a:schemeClr val="tx1"/>
                </a:solidFill>
                <a:effectLst/>
                <a:latin typeface="+mn-lt"/>
                <a:ea typeface="+mn-ea"/>
                <a:cs typeface="+mn-cs"/>
              </a:rPr>
              <a:t> angular </a:t>
            </a:r>
            <a:r>
              <a:rPr lang="es-ES_tradnl" sz="1200" kern="1200" dirty="0" err="1">
                <a:solidFill>
                  <a:schemeClr val="tx1"/>
                </a:solidFill>
                <a:effectLst/>
                <a:latin typeface="+mn-lt"/>
                <a:ea typeface="+mn-ea"/>
                <a:cs typeface="+mn-cs"/>
              </a:rPr>
              <a:t>speed</a:t>
            </a:r>
            <a:r>
              <a:rPr lang="es-ES_tradnl" sz="1200" kern="1200" baseline="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around</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vertical axis. Note </a:t>
            </a:r>
            <a:r>
              <a:rPr lang="es-ES_tradnl" sz="1200" kern="1200" dirty="0" err="1">
                <a:solidFill>
                  <a:schemeClr val="tx1"/>
                </a:solidFill>
                <a:effectLst/>
                <a:latin typeface="+mn-lt"/>
                <a:ea typeface="+mn-ea"/>
                <a:cs typeface="+mn-cs"/>
              </a:rPr>
              <a:t>that</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they</a:t>
            </a:r>
            <a:r>
              <a:rPr lang="es-ES_tradnl" sz="1200" kern="1200" baseline="0" dirty="0">
                <a:solidFill>
                  <a:schemeClr val="tx1"/>
                </a:solidFill>
                <a:effectLst/>
                <a:latin typeface="+mn-lt"/>
                <a:ea typeface="+mn-ea"/>
                <a:cs typeface="+mn-cs"/>
              </a:rPr>
              <a:t> are </a:t>
            </a:r>
            <a:r>
              <a:rPr lang="es-ES_tradnl" sz="1200" kern="1200" baseline="0" dirty="0" err="1">
                <a:solidFill>
                  <a:schemeClr val="tx1"/>
                </a:solidFill>
                <a:effectLst/>
                <a:latin typeface="+mn-lt"/>
                <a:ea typeface="+mn-ea"/>
                <a:cs typeface="+mn-cs"/>
              </a:rPr>
              <a:t>independent</a:t>
            </a:r>
            <a:r>
              <a:rPr lang="es-ES_tradnl" sz="1200" kern="1200" baseline="0" dirty="0">
                <a:solidFill>
                  <a:schemeClr val="tx1"/>
                </a:solidFill>
                <a:effectLst/>
                <a:latin typeface="+mn-lt"/>
                <a:ea typeface="+mn-ea"/>
                <a:cs typeface="+mn-cs"/>
              </a:rPr>
              <a:t>!</a:t>
            </a:r>
            <a:endParaRPr lang="es-ES_tradnl" sz="1200" kern="1200" dirty="0">
              <a:solidFill>
                <a:schemeClr val="tx1"/>
              </a:solidFill>
              <a:effectLst/>
              <a:latin typeface="+mn-lt"/>
              <a:ea typeface="+mn-ea"/>
              <a:cs typeface="+mn-cs"/>
            </a:endParaRPr>
          </a:p>
          <a:p>
            <a:pPr marL="171450" indent="-171450">
              <a:buFont typeface="Arial" charset="0"/>
              <a:buChar char="•"/>
            </a:pPr>
            <a:endParaRPr lang="en-US" sz="1200" kern="1200" dirty="0">
              <a:solidFill>
                <a:schemeClr val="tx1"/>
              </a:solidFill>
              <a:effectLst/>
              <a:latin typeface="+mn-lt"/>
              <a:ea typeface="+mn-ea"/>
              <a:cs typeface="+mn-cs"/>
            </a:endParaRPr>
          </a:p>
          <a:p>
            <a:pPr marL="171450" indent="-171450">
              <a:buFont typeface="Arial" charset="0"/>
              <a:buChar char="•"/>
            </a:pPr>
            <a:r>
              <a:rPr lang="en-US" sz="1200" kern="1200" dirty="0">
                <a:solidFill>
                  <a:schemeClr val="tx1"/>
                </a:solidFill>
                <a:effectLst/>
                <a:latin typeface="+mn-lt"/>
                <a:ea typeface="+mn-ea"/>
                <a:cs typeface="+mn-cs"/>
              </a:rPr>
              <a:t>Note: the choice of the input vector fields is not unique. Correspondingly, the components of the</a:t>
            </a:r>
            <a:r>
              <a:rPr lang="en-US" sz="1200" kern="1200" baseline="0" dirty="0">
                <a:solidFill>
                  <a:schemeClr val="tx1"/>
                </a:solidFill>
                <a:effectLst/>
                <a:latin typeface="+mn-lt"/>
                <a:ea typeface="+mn-ea"/>
                <a:cs typeface="+mn-cs"/>
              </a:rPr>
              <a:t> inputs </a:t>
            </a:r>
            <a:r>
              <a:rPr lang="en-US" sz="1200" kern="1200" dirty="0">
                <a:solidFill>
                  <a:schemeClr val="tx1"/>
                </a:solidFill>
                <a:effectLst/>
                <a:latin typeface="+mn-lt"/>
                <a:ea typeface="+mn-ea"/>
                <a:cs typeface="+mn-cs"/>
              </a:rPr>
              <a:t>may have different meanings</a:t>
            </a:r>
          </a:p>
          <a:p>
            <a:endParaRPr lang="es-ES_tradnl" sz="1200" kern="1200" dirty="0">
              <a:solidFill>
                <a:schemeClr val="tx1"/>
              </a:solidFill>
              <a:effectLst/>
              <a:latin typeface="+mn-lt"/>
              <a:ea typeface="+mn-ea"/>
              <a:cs typeface="+mn-cs"/>
            </a:endParaRPr>
          </a:p>
          <a:p>
            <a:pPr marL="171450" indent="-171450">
              <a:buFont typeface="Arial" charset="0"/>
              <a:buChar char="•"/>
            </a:pPr>
            <a:r>
              <a:rPr lang="es-ES_tradnl" sz="1200" kern="1200" dirty="0">
                <a:solidFill>
                  <a:schemeClr val="tx1"/>
                </a:solidFill>
                <a:effectLst/>
                <a:latin typeface="+mn-lt"/>
                <a:ea typeface="+mn-ea"/>
                <a:cs typeface="+mn-cs"/>
              </a:rPr>
              <a:t>A </a:t>
            </a:r>
            <a:r>
              <a:rPr lang="es-ES_tradnl" sz="1200" kern="1200" dirty="0" err="1">
                <a:solidFill>
                  <a:schemeClr val="tx1"/>
                </a:solidFill>
                <a:effectLst/>
                <a:latin typeface="+mn-lt"/>
                <a:ea typeface="+mn-ea"/>
                <a:cs typeface="+mn-cs"/>
              </a:rPr>
              <a:t>unicycle</a:t>
            </a:r>
            <a:r>
              <a:rPr lang="es-ES_tradnl" sz="1200" kern="1200" dirty="0">
                <a:solidFill>
                  <a:schemeClr val="tx1"/>
                </a:solidFill>
                <a:effectLst/>
                <a:latin typeface="+mn-lt"/>
                <a:ea typeface="+mn-ea"/>
                <a:cs typeface="+mn-cs"/>
              </a:rPr>
              <a:t> in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strict</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sense</a:t>
            </a:r>
            <a:r>
              <a:rPr lang="es-ES_tradnl" sz="1200" kern="1200" dirty="0">
                <a:solidFill>
                  <a:schemeClr val="tx1"/>
                </a:solidFill>
                <a:effectLst/>
                <a:latin typeface="+mn-lt"/>
                <a:ea typeface="+mn-ea"/>
                <a:cs typeface="+mn-cs"/>
              </a:rPr>
              <a:t> (i.e., a </a:t>
            </a:r>
            <a:r>
              <a:rPr lang="es-ES_tradnl" sz="1200" kern="1200" dirty="0" err="1">
                <a:solidFill>
                  <a:schemeClr val="tx1"/>
                </a:solidFill>
                <a:effectLst/>
                <a:latin typeface="+mn-lt"/>
                <a:ea typeface="+mn-ea"/>
                <a:cs typeface="+mn-cs"/>
              </a:rPr>
              <a:t>vehicle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equipped</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with</a:t>
            </a:r>
            <a:r>
              <a:rPr lang="es-ES_tradnl" sz="1200" kern="1200" dirty="0">
                <a:solidFill>
                  <a:schemeClr val="tx1"/>
                </a:solidFill>
                <a:effectLst/>
                <a:latin typeface="+mn-lt"/>
                <a:ea typeface="+mn-ea"/>
                <a:cs typeface="+mn-cs"/>
              </a:rPr>
              <a:t> a single </a:t>
            </a:r>
            <a:r>
              <a:rPr lang="es-ES_tradnl" sz="1200" kern="1200" dirty="0" err="1">
                <a:solidFill>
                  <a:schemeClr val="tx1"/>
                </a:solidFill>
                <a:effectLst/>
                <a:latin typeface="+mn-lt"/>
                <a:ea typeface="+mn-ea"/>
                <a:cs typeface="+mn-cs"/>
              </a:rPr>
              <a:t>wheel</a:t>
            </a:r>
            <a:r>
              <a:rPr lang="es-ES_tradnl" sz="1200" kern="1200" dirty="0">
                <a:solidFill>
                  <a:schemeClr val="tx1"/>
                </a:solidFill>
                <a:effectLst/>
                <a:latin typeface="+mn-lt"/>
                <a:ea typeface="+mn-ea"/>
                <a:cs typeface="+mn-cs"/>
              </a:rPr>
              <a:t>)</a:t>
            </a:r>
            <a:r>
              <a:rPr lang="es-ES_tradnl" sz="1200" kern="1200" baseline="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is</a:t>
            </a:r>
            <a:r>
              <a:rPr lang="es-ES_tradnl" sz="1200" kern="1200" dirty="0">
                <a:solidFill>
                  <a:schemeClr val="tx1"/>
                </a:solidFill>
                <a:effectLst/>
                <a:latin typeface="+mn-lt"/>
                <a:ea typeface="+mn-ea"/>
                <a:cs typeface="+mn-cs"/>
              </a:rPr>
              <a:t> a robot </a:t>
            </a:r>
            <a:r>
              <a:rPr lang="es-ES_tradnl" sz="1200" kern="1200" dirty="0" err="1">
                <a:solidFill>
                  <a:schemeClr val="tx1"/>
                </a:solidFill>
                <a:effectLst/>
                <a:latin typeface="+mn-lt"/>
                <a:ea typeface="+mn-ea"/>
                <a:cs typeface="+mn-cs"/>
              </a:rPr>
              <a:t>with</a:t>
            </a:r>
            <a:r>
              <a:rPr lang="es-ES_tradnl" sz="1200" kern="1200" dirty="0">
                <a:solidFill>
                  <a:schemeClr val="tx1"/>
                </a:solidFill>
                <a:effectLst/>
                <a:latin typeface="+mn-lt"/>
                <a:ea typeface="+mn-ea"/>
                <a:cs typeface="+mn-cs"/>
              </a:rPr>
              <a:t> a </a:t>
            </a:r>
            <a:r>
              <a:rPr lang="es-ES_tradnl" sz="1200" kern="1200" dirty="0" err="1">
                <a:solidFill>
                  <a:schemeClr val="tx1"/>
                </a:solidFill>
                <a:effectLst/>
                <a:latin typeface="+mn-lt"/>
                <a:ea typeface="+mn-ea"/>
                <a:cs typeface="+mn-cs"/>
              </a:rPr>
              <a:t>serious</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problem</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of</a:t>
            </a:r>
            <a:r>
              <a:rPr lang="es-ES_tradnl" sz="1200" kern="1200" dirty="0">
                <a:solidFill>
                  <a:schemeClr val="tx1"/>
                </a:solidFill>
                <a:effectLst/>
                <a:latin typeface="+mn-lt"/>
                <a:ea typeface="+mn-ea"/>
                <a:cs typeface="+mn-cs"/>
              </a:rPr>
              <a:t> balance in </a:t>
            </a:r>
            <a:r>
              <a:rPr lang="es-ES_tradnl" sz="1200" kern="1200" dirty="0" err="1">
                <a:solidFill>
                  <a:schemeClr val="tx1"/>
                </a:solidFill>
                <a:effectLst/>
                <a:latin typeface="+mn-lt"/>
                <a:ea typeface="+mn-ea"/>
                <a:cs typeface="+mn-cs"/>
              </a:rPr>
              <a:t>static</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conditions</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However</a:t>
            </a:r>
            <a:r>
              <a:rPr lang="es-ES_tradnl" sz="1200" kern="1200" dirty="0">
                <a:solidFill>
                  <a:schemeClr val="tx1"/>
                </a:solidFill>
                <a:effectLst/>
                <a:latin typeface="+mn-lt"/>
                <a:ea typeface="+mn-ea"/>
                <a:cs typeface="+mn-cs"/>
              </a:rPr>
              <a:t>,</a:t>
            </a:r>
            <a:r>
              <a:rPr lang="es-ES_tradnl" sz="1200" kern="1200" baseline="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there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exist</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vehicles</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that</a:t>
            </a:r>
            <a:r>
              <a:rPr lang="es-ES_tradnl" sz="1200" kern="1200" dirty="0">
                <a:solidFill>
                  <a:schemeClr val="tx1"/>
                </a:solidFill>
                <a:effectLst/>
                <a:latin typeface="+mn-lt"/>
                <a:ea typeface="+mn-ea"/>
                <a:cs typeface="+mn-cs"/>
              </a:rPr>
              <a:t> are </a:t>
            </a:r>
            <a:r>
              <a:rPr lang="es-ES_tradnl" sz="1200" kern="1200" dirty="0" err="1">
                <a:solidFill>
                  <a:schemeClr val="tx1"/>
                </a:solidFill>
                <a:effectLst/>
                <a:latin typeface="+mn-lt"/>
                <a:ea typeface="+mn-ea"/>
                <a:cs typeface="+mn-cs"/>
              </a:rPr>
              <a:t>kinematically</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equivalent</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to</a:t>
            </a:r>
            <a:r>
              <a:rPr lang="es-ES_tradnl" sz="1200" kern="1200" dirty="0">
                <a:solidFill>
                  <a:schemeClr val="tx1"/>
                </a:solidFill>
                <a:effectLst/>
                <a:latin typeface="+mn-lt"/>
                <a:ea typeface="+mn-ea"/>
                <a:cs typeface="+mn-cs"/>
              </a:rPr>
              <a:t> a </a:t>
            </a:r>
            <a:r>
              <a:rPr lang="es-ES_tradnl" sz="1200" kern="1200" dirty="0" err="1">
                <a:solidFill>
                  <a:schemeClr val="tx1"/>
                </a:solidFill>
                <a:effectLst/>
                <a:latin typeface="+mn-lt"/>
                <a:ea typeface="+mn-ea"/>
                <a:cs typeface="+mn-cs"/>
              </a:rPr>
              <a:t>unicycle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but</a:t>
            </a:r>
            <a:r>
              <a:rPr lang="es-ES_tradnl" sz="1200" kern="1200" dirty="0">
                <a:solidFill>
                  <a:schemeClr val="tx1"/>
                </a:solidFill>
                <a:effectLst/>
                <a:latin typeface="+mn-lt"/>
                <a:ea typeface="+mn-ea"/>
                <a:cs typeface="+mn-cs"/>
              </a:rPr>
              <a:t> more</a:t>
            </a:r>
            <a:r>
              <a:rPr lang="es-ES_tradnl" sz="1200" kern="1200" baseline="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stable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from</a:t>
            </a:r>
            <a:r>
              <a:rPr lang="es-ES_tradnl" sz="1200" kern="1200" dirty="0">
                <a:solidFill>
                  <a:schemeClr val="tx1"/>
                </a:solidFill>
                <a:effectLst/>
                <a:latin typeface="+mn-lt"/>
                <a:ea typeface="+mn-ea"/>
                <a:cs typeface="+mn-cs"/>
              </a:rPr>
              <a:t> a </a:t>
            </a:r>
            <a:r>
              <a:rPr lang="es-ES_tradnl" sz="1200" kern="1200" dirty="0" err="1">
                <a:solidFill>
                  <a:schemeClr val="tx1"/>
                </a:solidFill>
                <a:effectLst/>
                <a:latin typeface="+mn-lt"/>
                <a:ea typeface="+mn-ea"/>
                <a:cs typeface="+mn-cs"/>
              </a:rPr>
              <a:t>mechanical</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viewpoint</a:t>
            </a:r>
            <a:r>
              <a:rPr lang="es-ES_tradnl" sz="1200" kern="1200" dirty="0">
                <a:solidFill>
                  <a:schemeClr val="tx1"/>
                </a:solidFill>
                <a:effectLst/>
                <a:latin typeface="+mn-lt"/>
                <a:ea typeface="+mn-ea"/>
                <a:cs typeface="+mn-cs"/>
              </a:rPr>
              <a:t>. </a:t>
            </a:r>
          </a:p>
          <a:p>
            <a:pPr marL="171450" indent="-171450">
              <a:buFont typeface="Arial" charset="0"/>
              <a:buChar char="•"/>
            </a:pPr>
            <a:r>
              <a:rPr lang="en-US" dirty="0"/>
              <a:t>The differential drive model is a variation on the unicycle model from the previous section, with two wheels fixed on a shared rear axle and a passive front wheel that induces no additional kinematic constraints</a:t>
            </a:r>
            <a:endParaRPr lang="es-ES_tradnl" sz="1200" kern="1200" dirty="0">
              <a:solidFill>
                <a:schemeClr val="tx1"/>
              </a:solidFill>
              <a:effectLst/>
              <a:latin typeface="+mn-lt"/>
              <a:ea typeface="+mn-ea"/>
              <a:cs typeface="+mn-cs"/>
            </a:endParaRPr>
          </a:p>
          <a:p>
            <a:pPr marL="171450" indent="-171450">
              <a:buFont typeface="Arial" charset="0"/>
              <a:buChar char="•"/>
            </a:pPr>
            <a:r>
              <a:rPr lang="es-ES_tradnl" sz="1200" kern="1200" dirty="0" err="1">
                <a:solidFill>
                  <a:schemeClr val="tx1"/>
                </a:solidFill>
                <a:effectLst/>
                <a:latin typeface="+mn-lt"/>
                <a:ea typeface="+mn-ea"/>
                <a:cs typeface="+mn-cs"/>
              </a:rPr>
              <a:t>Among</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these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most</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important</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is</a:t>
            </a:r>
            <a:r>
              <a:rPr lang="es-ES_tradnl" sz="1200" kern="1200" baseline="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differential</a:t>
            </a:r>
            <a:r>
              <a:rPr lang="es-ES_tradnl" sz="1200" kern="1200" dirty="0">
                <a:solidFill>
                  <a:schemeClr val="tx1"/>
                </a:solidFill>
                <a:effectLst/>
                <a:latin typeface="+mn-lt"/>
                <a:ea typeface="+mn-ea"/>
                <a:cs typeface="+mn-cs"/>
              </a:rPr>
              <a:t> drive  robot. </a:t>
            </a:r>
            <a:r>
              <a:rPr lang="es-ES_tradnl" sz="1200" kern="1200" dirty="0" err="1">
                <a:solidFill>
                  <a:schemeClr val="tx1"/>
                </a:solidFill>
                <a:effectLst/>
                <a:latin typeface="+mn-lt"/>
                <a:ea typeface="+mn-ea"/>
                <a:cs typeface="+mn-cs"/>
              </a:rPr>
              <a:t>One</a:t>
            </a:r>
            <a:r>
              <a:rPr lang="es-ES_tradnl" sz="1200" kern="1200" baseline="0" dirty="0">
                <a:solidFill>
                  <a:schemeClr val="tx1"/>
                </a:solidFill>
                <a:effectLst/>
                <a:latin typeface="+mn-lt"/>
                <a:ea typeface="+mn-ea"/>
                <a:cs typeface="+mn-cs"/>
              </a:rPr>
              <a:t> can show </a:t>
            </a:r>
            <a:r>
              <a:rPr lang="es-ES_tradnl" sz="1200" kern="1200" baseline="0" dirty="0" err="1">
                <a:solidFill>
                  <a:schemeClr val="tx1"/>
                </a:solidFill>
                <a:effectLst/>
                <a:latin typeface="+mn-lt"/>
                <a:ea typeface="+mn-ea"/>
                <a:cs typeface="+mn-cs"/>
              </a:rPr>
              <a:t>that</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t</a:t>
            </a:r>
            <a:r>
              <a:rPr lang="es-ES_tradnl" sz="1200" kern="1200" dirty="0" err="1">
                <a:solidFill>
                  <a:schemeClr val="tx1"/>
                </a:solidFill>
                <a:effectLst/>
                <a:latin typeface="+mn-lt"/>
                <a:ea typeface="+mn-ea"/>
                <a:cs typeface="+mn-cs"/>
              </a:rPr>
              <a: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kinematic</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model</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of</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unicycle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also</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applies</a:t>
            </a:r>
            <a:r>
              <a:rPr lang="es-ES_tradnl" sz="1200" kern="1200" baseline="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to</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differential</a:t>
            </a:r>
            <a:r>
              <a:rPr lang="es-ES_tradnl" sz="1200" kern="1200" dirty="0">
                <a:solidFill>
                  <a:schemeClr val="tx1"/>
                </a:solidFill>
                <a:effectLst/>
                <a:latin typeface="+mn-lt"/>
                <a:ea typeface="+mn-ea"/>
                <a:cs typeface="+mn-cs"/>
              </a:rPr>
              <a:t> drive </a:t>
            </a:r>
            <a:r>
              <a:rPr lang="es-ES_tradnl" sz="1200" kern="1200" dirty="0" err="1">
                <a:solidFill>
                  <a:schemeClr val="tx1"/>
                </a:solidFill>
                <a:effectLst/>
                <a:latin typeface="+mn-lt"/>
                <a:ea typeface="+mn-ea"/>
                <a:cs typeface="+mn-cs"/>
              </a:rPr>
              <a:t>vehicle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provided</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that</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driving</a:t>
            </a:r>
            <a:r>
              <a:rPr lang="es-ES_tradnl" sz="1200" kern="1200" dirty="0">
                <a:solidFill>
                  <a:schemeClr val="tx1"/>
                </a:solidFill>
                <a:effectLst/>
                <a:latin typeface="+mn-lt"/>
                <a:ea typeface="+mn-ea"/>
                <a:cs typeface="+mn-cs"/>
              </a:rPr>
              <a:t> and </a:t>
            </a:r>
            <a:r>
              <a:rPr lang="es-ES_tradnl" sz="1200" kern="1200" dirty="0" err="1">
                <a:solidFill>
                  <a:schemeClr val="tx1"/>
                </a:solidFill>
                <a:effectLst/>
                <a:latin typeface="+mn-lt"/>
                <a:ea typeface="+mn-ea"/>
                <a:cs typeface="+mn-cs"/>
              </a:rPr>
              <a:t>steering</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velocities</a:t>
            </a:r>
            <a:r>
              <a:rPr lang="es-ES_tradnl" sz="1200" kern="1200" baseline="0" dirty="0">
                <a:solidFill>
                  <a:schemeClr val="tx1"/>
                </a:solidFill>
                <a:effectLst/>
                <a:latin typeface="+mn-lt"/>
                <a:ea typeface="+mn-ea"/>
                <a:cs typeface="+mn-cs"/>
              </a:rPr>
              <a:t> </a:t>
            </a:r>
            <a:r>
              <a:rPr lang="es-ES_tradnl" sz="1200" kern="1200" dirty="0">
                <a:solidFill>
                  <a:schemeClr val="tx1"/>
                </a:solidFill>
                <a:effectLst/>
                <a:latin typeface="+mn-lt"/>
                <a:ea typeface="+mn-ea"/>
                <a:cs typeface="+mn-cs"/>
              </a:rPr>
              <a:t>v  and </a:t>
            </a:r>
            <a:r>
              <a:rPr lang="es-ES_tradnl" sz="1200" kern="1200" dirty="0" err="1">
                <a:solidFill>
                  <a:schemeClr val="tx1"/>
                </a:solidFill>
                <a:effectLst/>
                <a:latin typeface="+mn-lt"/>
                <a:ea typeface="+mn-ea"/>
                <a:cs typeface="+mn-cs"/>
              </a:rPr>
              <a:t>ω</a:t>
            </a:r>
            <a:r>
              <a:rPr lang="es-ES_tradnl" sz="1200" kern="1200" dirty="0">
                <a:solidFill>
                  <a:schemeClr val="tx1"/>
                </a:solidFill>
                <a:effectLst/>
                <a:latin typeface="+mn-lt"/>
                <a:ea typeface="+mn-ea"/>
                <a:cs typeface="+mn-cs"/>
              </a:rPr>
              <a:t>  are </a:t>
            </a:r>
            <a:r>
              <a:rPr lang="es-ES_tradnl" sz="1200" kern="1200" dirty="0" err="1">
                <a:solidFill>
                  <a:schemeClr val="tx1"/>
                </a:solidFill>
                <a:effectLst/>
                <a:latin typeface="+mn-lt"/>
                <a:ea typeface="+mn-ea"/>
                <a:cs typeface="+mn-cs"/>
              </a:rPr>
              <a:t>expressed</a:t>
            </a:r>
            <a:r>
              <a:rPr lang="es-ES_tradnl" sz="1200" kern="1200" dirty="0">
                <a:solidFill>
                  <a:schemeClr val="tx1"/>
                </a:solidFill>
                <a:effectLst/>
                <a:latin typeface="+mn-lt"/>
                <a:ea typeface="+mn-ea"/>
                <a:cs typeface="+mn-cs"/>
              </a:rPr>
              <a:t> as a </a:t>
            </a:r>
            <a:r>
              <a:rPr lang="es-ES_tradnl" sz="1200" kern="1200" dirty="0" err="1">
                <a:solidFill>
                  <a:schemeClr val="tx1"/>
                </a:solidFill>
                <a:effectLst/>
                <a:latin typeface="+mn-lt"/>
                <a:ea typeface="+mn-ea"/>
                <a:cs typeface="+mn-cs"/>
              </a:rPr>
              <a:t>function</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of</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angular </a:t>
            </a:r>
            <a:r>
              <a:rPr lang="es-ES_tradnl" sz="1200" kern="1200" dirty="0" err="1">
                <a:solidFill>
                  <a:schemeClr val="tx1"/>
                </a:solidFill>
                <a:effectLst/>
                <a:latin typeface="+mn-lt"/>
                <a:ea typeface="+mn-ea"/>
                <a:cs typeface="+mn-cs"/>
              </a:rPr>
              <a:t>speeds</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of</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right</a:t>
            </a:r>
            <a:r>
              <a:rPr lang="es-ES_tradnl" sz="1200" kern="1200" baseline="0" dirty="0">
                <a:solidFill>
                  <a:schemeClr val="tx1"/>
                </a:solidFill>
                <a:effectLst/>
                <a:latin typeface="+mn-lt"/>
                <a:ea typeface="+mn-ea"/>
                <a:cs typeface="+mn-cs"/>
              </a:rPr>
              <a:t> and </a:t>
            </a:r>
            <a:r>
              <a:rPr lang="es-ES_tradnl" sz="1200" kern="1200" baseline="0" dirty="0" err="1">
                <a:solidFill>
                  <a:schemeClr val="tx1"/>
                </a:solidFill>
                <a:effectLst/>
                <a:latin typeface="+mn-lt"/>
                <a:ea typeface="+mn-ea"/>
                <a:cs typeface="+mn-cs"/>
              </a:rPr>
              <a:t>left</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wheels</a:t>
            </a:r>
            <a:r>
              <a:rPr lang="es-ES_tradnl" sz="1200" kern="1200" baseline="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ωR</a:t>
            </a:r>
            <a:r>
              <a:rPr lang="es-ES_tradnl" sz="1200" kern="1200" dirty="0">
                <a:solidFill>
                  <a:schemeClr val="tx1"/>
                </a:solidFill>
                <a:effectLst/>
                <a:latin typeface="+mn-lt"/>
                <a:ea typeface="+mn-ea"/>
                <a:cs typeface="+mn-cs"/>
              </a:rPr>
              <a:t>  and </a:t>
            </a:r>
            <a:r>
              <a:rPr lang="es-ES_tradnl" sz="1200" kern="1200" dirty="0" err="1">
                <a:solidFill>
                  <a:schemeClr val="tx1"/>
                </a:solidFill>
                <a:effectLst/>
                <a:latin typeface="+mn-lt"/>
                <a:ea typeface="+mn-ea"/>
                <a:cs typeface="+mn-cs"/>
              </a:rPr>
              <a:t>ωL</a:t>
            </a:r>
            <a:r>
              <a:rPr lang="es-ES_tradnl" sz="1200" kern="1200" dirty="0">
                <a:solidFill>
                  <a:schemeClr val="tx1"/>
                </a:solidFill>
                <a:effectLst/>
                <a:latin typeface="+mn-lt"/>
                <a:ea typeface="+mn-ea"/>
                <a:cs typeface="+mn-cs"/>
              </a:rPr>
              <a:t> ,</a:t>
            </a:r>
            <a:r>
              <a:rPr lang="es-ES_tradnl" sz="1200" kern="1200" baseline="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respectively</a:t>
            </a:r>
            <a:r>
              <a:rPr lang="es-ES_tradnl" sz="1200" kern="1200" dirty="0">
                <a:solidFill>
                  <a:schemeClr val="tx1"/>
                </a:solidFill>
                <a:effectLst/>
                <a:latin typeface="+mn-lt"/>
                <a:ea typeface="+mn-ea"/>
                <a:cs typeface="+mn-cs"/>
              </a:rPr>
              <a:t>.</a:t>
            </a:r>
          </a:p>
          <a:p>
            <a:pPr marL="171450" indent="-171450">
              <a:buFont typeface="Arial" charset="0"/>
              <a:buChar char="•"/>
            </a:pPr>
            <a:endParaRPr lang="es-ES_tradnl" sz="1200" kern="1200" dirty="0">
              <a:solidFill>
                <a:schemeClr val="tx1"/>
              </a:solidFill>
              <a:effectLst/>
              <a:latin typeface="+mn-lt"/>
              <a:ea typeface="+mn-ea"/>
              <a:cs typeface="+mn-cs"/>
            </a:endParaRPr>
          </a:p>
          <a:p>
            <a:pPr marL="171450" indent="-171450">
              <a:buFont typeface="Arial" charset="0"/>
              <a:buChar char="•"/>
            </a:pPr>
            <a:endParaRPr lang="es-ES_tradnl" sz="1200" kern="1200" dirty="0">
              <a:solidFill>
                <a:schemeClr val="tx1"/>
              </a:solidFill>
              <a:effectLst/>
              <a:latin typeface="+mn-lt"/>
              <a:ea typeface="+mn-ea"/>
              <a:cs typeface="+mn-cs"/>
            </a:endParaRPr>
          </a:p>
          <a:p>
            <a:pPr marL="171450" indent="-171450">
              <a:buFont typeface="Arial" charset="0"/>
              <a:buChar char="•"/>
            </a:pPr>
            <a:r>
              <a:rPr lang="es-ES_tradnl" sz="1200" kern="1200" dirty="0">
                <a:solidFill>
                  <a:schemeClr val="tx1"/>
                </a:solidFill>
                <a:effectLst/>
                <a:latin typeface="+mn-lt"/>
                <a:ea typeface="+mn-ea"/>
                <a:cs typeface="+mn-cs"/>
              </a:rPr>
              <a:t>%%%%%%%%</a:t>
            </a:r>
          </a:p>
          <a:p>
            <a:pPr marL="628650" lvl="1" indent="-171450">
              <a:buFont typeface="Arial" charset="0"/>
              <a:buChar char="•"/>
            </a:pPr>
            <a:r>
              <a:rPr lang="en-US" dirty="0"/>
              <a:t>If the wheels are rotating on ground (i.e. there is no slipping), then there is a point ICC </a:t>
            </a:r>
            <a:endParaRPr lang="en-US" sz="1200" kern="1200" dirty="0">
              <a:solidFill>
                <a:schemeClr val="tx1"/>
              </a:solidFill>
              <a:effectLst/>
              <a:latin typeface="+mn-lt"/>
              <a:ea typeface="+mn-ea"/>
              <a:cs typeface="+mn-cs"/>
            </a:endParaRPr>
          </a:p>
          <a:p>
            <a:pPr marL="628650" lvl="1" indent="-171450">
              <a:buFont typeface="Arial" charset="0"/>
              <a:buChar char="•"/>
            </a:pPr>
            <a:r>
              <a:rPr lang="en-US" sz="1200" kern="1200" dirty="0">
                <a:solidFill>
                  <a:schemeClr val="tx1"/>
                </a:solidFill>
                <a:effectLst/>
                <a:latin typeface="+mn-lt"/>
                <a:ea typeface="+mn-ea"/>
                <a:cs typeface="+mn-cs"/>
              </a:rPr>
              <a:t>While we can vary the velocity of each wheel, for the robot to perform rolling motion, the robot must rotate about a point that lies along their common left and right wheel axis. The point that the robot rotates about is known as the ICC - Instantaneous Center of Curvature</a:t>
            </a:r>
            <a:endParaRPr lang="es-ES_tradnl" sz="1200" kern="1200" dirty="0">
              <a:solidFill>
                <a:schemeClr val="tx1"/>
              </a:solidFill>
              <a:effectLst/>
              <a:latin typeface="+mn-lt"/>
              <a:ea typeface="+mn-ea"/>
              <a:cs typeface="+mn-cs"/>
            </a:endParaRPr>
          </a:p>
          <a:p>
            <a:pPr marL="628650" lvl="1" indent="-171450">
              <a:buFont typeface="Arial" charset="0"/>
              <a:buChar char="•"/>
            </a:pPr>
            <a:r>
              <a:rPr lang="es-ES_tradnl" sz="1200" kern="1200" dirty="0" err="1">
                <a:solidFill>
                  <a:schemeClr val="tx1"/>
                </a:solidFill>
                <a:effectLst/>
                <a:latin typeface="+mn-lt"/>
                <a:ea typeface="+mn-ea"/>
                <a:cs typeface="+mn-cs"/>
              </a:rPr>
              <a:t>By</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using</a:t>
            </a:r>
            <a:r>
              <a:rPr lang="es-ES_tradnl" sz="1200" kern="1200" dirty="0">
                <a:solidFill>
                  <a:schemeClr val="tx1"/>
                </a:solidFill>
                <a:effectLst/>
                <a:latin typeface="+mn-lt"/>
                <a:ea typeface="+mn-ea"/>
                <a:cs typeface="+mn-cs"/>
              </a:rPr>
              <a:t> omega = </a:t>
            </a:r>
            <a:r>
              <a:rPr lang="es-ES_tradnl" sz="1200" kern="1200" dirty="0" err="1">
                <a:solidFill>
                  <a:schemeClr val="tx1"/>
                </a:solidFill>
                <a:effectLst/>
                <a:latin typeface="+mn-lt"/>
                <a:ea typeface="+mn-ea"/>
                <a:cs typeface="+mn-cs"/>
              </a:rPr>
              <a:t>rv</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one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obtains</a:t>
            </a:r>
            <a:r>
              <a:rPr lang="es-ES_tradnl" sz="1200" kern="1200" dirty="0">
                <a:solidFill>
                  <a:schemeClr val="tx1"/>
                </a:solidFill>
                <a:effectLst/>
                <a:latin typeface="+mn-lt"/>
                <a:ea typeface="+mn-ea"/>
                <a:cs typeface="+mn-cs"/>
              </a:rPr>
              <a:t> te </a:t>
            </a:r>
            <a:r>
              <a:rPr lang="es-ES_tradnl" sz="1200" kern="1200" dirty="0" err="1">
                <a:solidFill>
                  <a:schemeClr val="tx1"/>
                </a:solidFill>
                <a:effectLst/>
                <a:latin typeface="+mn-lt"/>
                <a:ea typeface="+mn-ea"/>
                <a:cs typeface="+mn-cs"/>
              </a:rPr>
              <a:t>relations</a:t>
            </a:r>
            <a:endParaRPr lang="es-ES_tradnl" sz="1200" kern="1200" dirty="0">
              <a:solidFill>
                <a:schemeClr val="tx1"/>
              </a:solidFill>
              <a:effectLst/>
              <a:latin typeface="+mn-lt"/>
              <a:ea typeface="+mn-ea"/>
              <a:cs typeface="+mn-cs"/>
            </a:endParaRPr>
          </a:p>
          <a:p>
            <a:endParaRPr lang="es-ES_tradnl" sz="1200" kern="1200" dirty="0">
              <a:solidFill>
                <a:schemeClr val="tx1"/>
              </a:solidFill>
              <a:effectLst/>
              <a:latin typeface="+mn-lt"/>
              <a:ea typeface="+mn-ea"/>
              <a:cs typeface="+mn-cs"/>
            </a:endParaRPr>
          </a:p>
          <a:p>
            <a:pPr marL="171450" indent="-171450">
              <a:buFont typeface="Arial" charset="0"/>
              <a:buChar char="•"/>
            </a:pPr>
            <a:r>
              <a:rPr lang="es-ES_tradnl" sz="1200" kern="1200" dirty="0" err="1">
                <a:solidFill>
                  <a:schemeClr val="tx1"/>
                </a:solidFill>
                <a:effectLst/>
                <a:latin typeface="+mn-lt"/>
                <a:ea typeface="+mn-ea"/>
                <a:cs typeface="+mn-cs"/>
              </a:rPr>
              <a:t>Another</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important</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model</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is</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the</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bicycle</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model</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which</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is</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four</a:t>
            </a:r>
            <a:r>
              <a:rPr lang="es-ES_tradnl" sz="1200" kern="1200" baseline="0" dirty="0">
                <a:solidFill>
                  <a:schemeClr val="tx1"/>
                </a:solidFill>
                <a:effectLst/>
                <a:latin typeface="+mn-lt"/>
                <a:ea typeface="+mn-ea"/>
                <a:cs typeface="+mn-cs"/>
              </a:rPr>
              <a:t>-dimensional</a:t>
            </a:r>
          </a:p>
          <a:p>
            <a:pPr marL="171450" indent="-171450">
              <a:buFont typeface="Arial" charset="0"/>
              <a:buChar char="•"/>
            </a:pPr>
            <a:endParaRPr lang="es-ES_tradnl" sz="1200" kern="1200" baseline="0" dirty="0">
              <a:solidFill>
                <a:schemeClr val="tx1"/>
              </a:solidFill>
              <a:effectLst/>
              <a:latin typeface="+mn-lt"/>
              <a:ea typeface="+mn-ea"/>
              <a:cs typeface="+mn-cs"/>
            </a:endParaRPr>
          </a:p>
          <a:p>
            <a:pPr marL="171450" indent="-171450">
              <a:buFont typeface="Arial" charset="0"/>
              <a:buChar char="•"/>
            </a:pP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Kinematically</a:t>
            </a:r>
            <a:r>
              <a:rPr lang="es-ES_tradnl" sz="1200" kern="1200" baseline="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equivalent</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vehicles</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that</a:t>
            </a:r>
            <a:r>
              <a:rPr lang="es-ES_tradnl" sz="1200" kern="1200" dirty="0">
                <a:solidFill>
                  <a:schemeClr val="tx1"/>
                </a:solidFill>
                <a:effectLst/>
                <a:latin typeface="+mn-lt"/>
                <a:ea typeface="+mn-ea"/>
                <a:cs typeface="+mn-cs"/>
              </a:rPr>
              <a:t> are </a:t>
            </a:r>
            <a:r>
              <a:rPr lang="es-ES_tradnl" sz="1200" kern="1200" dirty="0" err="1">
                <a:solidFill>
                  <a:schemeClr val="tx1"/>
                </a:solidFill>
                <a:effectLst/>
                <a:latin typeface="+mn-lt"/>
                <a:ea typeface="+mn-ea"/>
                <a:cs typeface="+mn-cs"/>
              </a:rPr>
              <a:t>mechanically</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balanced</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tricycle</a:t>
            </a:r>
            <a:r>
              <a:rPr lang="es-ES_tradnl" sz="1200" kern="1200" baseline="0" dirty="0">
                <a:solidFill>
                  <a:schemeClr val="tx1"/>
                </a:solidFill>
                <a:effectLst/>
                <a:latin typeface="+mn-lt"/>
                <a:ea typeface="+mn-ea"/>
                <a:cs typeface="+mn-cs"/>
              </a:rPr>
              <a:t> </a:t>
            </a:r>
            <a:r>
              <a:rPr lang="es-ES_tradnl" sz="1200" kern="1200" dirty="0">
                <a:solidFill>
                  <a:schemeClr val="tx1"/>
                </a:solidFill>
                <a:effectLst/>
                <a:latin typeface="+mn-lt"/>
                <a:ea typeface="+mn-ea"/>
                <a:cs typeface="+mn-cs"/>
              </a:rPr>
              <a:t>and </a:t>
            </a:r>
            <a:r>
              <a:rPr lang="es-ES_tradnl" sz="1200" kern="1200" dirty="0" err="1">
                <a:solidFill>
                  <a:schemeClr val="tx1"/>
                </a:solidFill>
                <a:effectLst/>
                <a:latin typeface="+mn-lt"/>
                <a:ea typeface="+mn-ea"/>
                <a:cs typeface="+mn-cs"/>
              </a:rPr>
              <a:t>the</a:t>
            </a:r>
            <a:r>
              <a:rPr lang="es-ES_tradnl" sz="1200" kern="1200" dirty="0">
                <a:solidFill>
                  <a:schemeClr val="tx1"/>
                </a:solidFill>
                <a:effectLst/>
                <a:latin typeface="+mn-lt"/>
                <a:ea typeface="+mn-ea"/>
                <a:cs typeface="+mn-cs"/>
              </a:rPr>
              <a:t> car-</a:t>
            </a:r>
            <a:r>
              <a:rPr lang="es-ES_tradnl" sz="1200" kern="1200" dirty="0" err="1">
                <a:solidFill>
                  <a:schemeClr val="tx1"/>
                </a:solidFill>
                <a:effectLst/>
                <a:latin typeface="+mn-lt"/>
                <a:ea typeface="+mn-ea"/>
                <a:cs typeface="+mn-cs"/>
              </a:rPr>
              <a:t>like</a:t>
            </a:r>
            <a:r>
              <a:rPr lang="es-ES_tradnl" sz="1200" kern="1200" dirty="0">
                <a:solidFill>
                  <a:schemeClr val="tx1"/>
                </a:solidFill>
                <a:effectLst/>
                <a:latin typeface="+mn-lt"/>
                <a:ea typeface="+mn-ea"/>
                <a:cs typeface="+mn-cs"/>
              </a:rPr>
              <a:t>  robot</a:t>
            </a:r>
          </a:p>
          <a:p>
            <a:pPr marL="171450" indent="-171450">
              <a:buFont typeface="Arial" charset="0"/>
              <a:buChar char="•"/>
            </a:pPr>
            <a:endParaRPr lang="es-ES_tradnl" sz="120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endParaRPr lang="es-ES_tradnl" baseline="0" dirty="0"/>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s-ES_tradnl" baseline="0" dirty="0" err="1"/>
              <a:t>We’ll</a:t>
            </a:r>
            <a:r>
              <a:rPr lang="es-ES_tradnl" baseline="0" dirty="0"/>
              <a:t> </a:t>
            </a:r>
            <a:r>
              <a:rPr lang="es-ES_tradnl" baseline="0" dirty="0" err="1"/>
              <a:t>go</a:t>
            </a:r>
            <a:r>
              <a:rPr lang="es-ES_tradnl" baseline="0" dirty="0"/>
              <a:t> </a:t>
            </a:r>
            <a:r>
              <a:rPr lang="es-ES_tradnl" baseline="0" dirty="0" err="1"/>
              <a:t>deeper</a:t>
            </a:r>
            <a:r>
              <a:rPr lang="es-ES_tradnl" baseline="0" dirty="0"/>
              <a:t> </a:t>
            </a:r>
            <a:r>
              <a:rPr lang="es-ES_tradnl" baseline="0" dirty="0" err="1"/>
              <a:t>on</a:t>
            </a:r>
            <a:r>
              <a:rPr lang="es-ES_tradnl" baseline="0" dirty="0"/>
              <a:t> </a:t>
            </a:r>
            <a:r>
              <a:rPr lang="es-ES_tradnl" baseline="0" dirty="0" err="1"/>
              <a:t>this</a:t>
            </a:r>
            <a:r>
              <a:rPr lang="es-ES_tradnl" baseline="0" dirty="0"/>
              <a:t> in </a:t>
            </a:r>
            <a:r>
              <a:rPr lang="es-ES_tradnl" baseline="0" dirty="0" err="1"/>
              <a:t>the</a:t>
            </a:r>
            <a:r>
              <a:rPr lang="es-ES_tradnl" baseline="0" dirty="0"/>
              <a:t> </a:t>
            </a:r>
            <a:r>
              <a:rPr lang="es-ES_tradnl" baseline="0" dirty="0" err="1"/>
              <a:t>pset</a:t>
            </a:r>
            <a:r>
              <a:rPr lang="es-ES_tradnl" baseline="0" dirty="0"/>
              <a:t> </a:t>
            </a:r>
            <a:r>
              <a:rPr lang="es-ES_tradnl" baseline="0" dirty="0" err="1"/>
              <a:t>for</a:t>
            </a:r>
            <a:r>
              <a:rPr lang="es-ES_tradnl" baseline="0" dirty="0"/>
              <a:t> </a:t>
            </a:r>
            <a:r>
              <a:rPr lang="es-ES_tradnl" baseline="0" dirty="0" err="1"/>
              <a:t>the</a:t>
            </a:r>
            <a:r>
              <a:rPr lang="es-ES_tradnl" baseline="0" dirty="0"/>
              <a:t> </a:t>
            </a:r>
            <a:r>
              <a:rPr lang="es-ES_tradnl" baseline="0" dirty="0" err="1"/>
              <a:t>differential</a:t>
            </a:r>
            <a:r>
              <a:rPr lang="es-ES_tradnl" baseline="0" dirty="0"/>
              <a:t> drive</a:t>
            </a:r>
            <a:r>
              <a:rPr lang="es-ES_tradnl" dirty="0"/>
              <a:t> </a:t>
            </a:r>
            <a:endParaRPr lang="es-ES_tradnl" sz="1200" kern="1200" baseline="0" dirty="0">
              <a:solidFill>
                <a:schemeClr val="tx1"/>
              </a:solidFill>
              <a:effectLst/>
              <a:latin typeface="+mn-lt"/>
              <a:ea typeface="+mn-ea"/>
              <a:cs typeface="+mn-cs"/>
            </a:endParaRPr>
          </a:p>
          <a:p>
            <a:endParaRPr lang="es-ES_tradnl" sz="1200" kern="1200" dirty="0">
              <a:solidFill>
                <a:schemeClr val="tx1"/>
              </a:solidFill>
              <a:effectLst/>
              <a:latin typeface="+mn-lt"/>
              <a:ea typeface="+mn-ea"/>
              <a:cs typeface="+mn-cs"/>
            </a:endParaRPr>
          </a:p>
          <a:p>
            <a:endParaRPr lang="es-ES_tradnl" sz="1200" kern="1200" dirty="0">
              <a:solidFill>
                <a:schemeClr val="tx1"/>
              </a:solidFill>
              <a:effectLst/>
              <a:latin typeface="+mn-lt"/>
              <a:ea typeface="+mn-ea"/>
              <a:cs typeface="+mn-cs"/>
            </a:endParaRPr>
          </a:p>
          <a:p>
            <a:r>
              <a:rPr lang="es-ES_tradnl" sz="1200" kern="1200" dirty="0">
                <a:solidFill>
                  <a:schemeClr val="tx1"/>
                </a:solidFill>
                <a:effectLst/>
                <a:latin typeface="+mn-lt"/>
                <a:ea typeface="+mn-ea"/>
                <a:cs typeface="+mn-cs"/>
              </a:rPr>
              <a:t>|u_1|&amp;\</a:t>
            </a:r>
            <a:r>
              <a:rPr lang="es-ES_tradnl" sz="1200" kern="1200" dirty="0" err="1">
                <a:solidFill>
                  <a:schemeClr val="tx1"/>
                </a:solidFill>
                <a:effectLst/>
                <a:latin typeface="+mn-lt"/>
                <a:ea typeface="+mn-ea"/>
                <a:cs typeface="+mn-cs"/>
              </a:rPr>
              <a:t>leq</a:t>
            </a:r>
            <a:r>
              <a:rPr lang="es-ES_tradnl" sz="1200" kern="1200" dirty="0">
                <a:solidFill>
                  <a:schemeClr val="tx1"/>
                </a:solidFill>
                <a:effectLst/>
                <a:latin typeface="+mn-lt"/>
                <a:ea typeface="+mn-ea"/>
                <a:cs typeface="+mn-cs"/>
              </a:rPr>
              <a:t> u_{1,{\</a:t>
            </a:r>
            <a:r>
              <a:rPr lang="es-ES_tradnl" sz="1200" kern="1200" dirty="0" err="1">
                <a:solidFill>
                  <a:schemeClr val="tx1"/>
                </a:solidFill>
                <a:effectLst/>
                <a:latin typeface="+mn-lt"/>
                <a:ea typeface="+mn-ea"/>
                <a:cs typeface="+mn-cs"/>
              </a:rPr>
              <a:t>text</a:t>
            </a:r>
            <a:r>
              <a:rPr lang="es-ES_tradnl" sz="1200" kern="1200" dirty="0">
                <a:solidFill>
                  <a:schemeClr val="tx1"/>
                </a:solidFill>
                <a:effectLst/>
                <a:latin typeface="+mn-lt"/>
                <a:ea typeface="+mn-ea"/>
                <a:cs typeface="+mn-cs"/>
              </a:rPr>
              <a:t>{</a:t>
            </a:r>
            <a:r>
              <a:rPr lang="es-ES_tradnl" sz="1200" kern="1200" dirty="0" err="1">
                <a:solidFill>
                  <a:schemeClr val="tx1"/>
                </a:solidFill>
                <a:effectLst/>
                <a:latin typeface="+mn-lt"/>
                <a:ea typeface="+mn-ea"/>
                <a:cs typeface="+mn-cs"/>
              </a:rPr>
              <a:t>max</a:t>
            </a:r>
            <a:r>
              <a:rPr lang="es-ES_tradnl" sz="1200" kern="1200" dirty="0">
                <a:solidFill>
                  <a:schemeClr val="tx1"/>
                </a:solidFill>
                <a:effectLst/>
                <a:latin typeface="+mn-lt"/>
                <a:ea typeface="+mn-ea"/>
                <a:cs typeface="+mn-cs"/>
              </a:rPr>
              <a:t>}}}\\</a:t>
            </a:r>
          </a:p>
          <a:p>
            <a:r>
              <a:rPr lang="es-ES_tradnl" sz="1200" kern="1200" dirty="0">
                <a:solidFill>
                  <a:schemeClr val="tx1"/>
                </a:solidFill>
                <a:effectLst/>
                <a:latin typeface="+mn-lt"/>
                <a:ea typeface="+mn-ea"/>
                <a:cs typeface="+mn-cs"/>
              </a:rPr>
              <a:t>|u_2|&amp;\</a:t>
            </a:r>
            <a:r>
              <a:rPr lang="es-ES_tradnl" sz="1200" kern="1200" dirty="0" err="1">
                <a:solidFill>
                  <a:schemeClr val="tx1"/>
                </a:solidFill>
                <a:effectLst/>
                <a:latin typeface="+mn-lt"/>
                <a:ea typeface="+mn-ea"/>
                <a:cs typeface="+mn-cs"/>
              </a:rPr>
              <a:t>leq</a:t>
            </a:r>
            <a:r>
              <a:rPr lang="es-ES_tradnl" sz="1200" kern="1200" dirty="0">
                <a:solidFill>
                  <a:schemeClr val="tx1"/>
                </a:solidFill>
                <a:effectLst/>
                <a:latin typeface="+mn-lt"/>
                <a:ea typeface="+mn-ea"/>
                <a:cs typeface="+mn-cs"/>
              </a:rPr>
              <a:t> u_{2,{\</a:t>
            </a:r>
            <a:r>
              <a:rPr lang="es-ES_tradnl" sz="1200" kern="1200" dirty="0" err="1">
                <a:solidFill>
                  <a:schemeClr val="tx1"/>
                </a:solidFill>
                <a:effectLst/>
                <a:latin typeface="+mn-lt"/>
                <a:ea typeface="+mn-ea"/>
                <a:cs typeface="+mn-cs"/>
              </a:rPr>
              <a:t>text</a:t>
            </a:r>
            <a:r>
              <a:rPr lang="es-ES_tradnl" sz="1200" kern="1200" dirty="0">
                <a:solidFill>
                  <a:schemeClr val="tx1"/>
                </a:solidFill>
                <a:effectLst/>
                <a:latin typeface="+mn-lt"/>
                <a:ea typeface="+mn-ea"/>
                <a:cs typeface="+mn-cs"/>
              </a:rPr>
              <a:t>{</a:t>
            </a:r>
            <a:r>
              <a:rPr lang="es-ES_tradnl" sz="1200" kern="1200" dirty="0" err="1">
                <a:solidFill>
                  <a:schemeClr val="tx1"/>
                </a:solidFill>
                <a:effectLst/>
                <a:latin typeface="+mn-lt"/>
                <a:ea typeface="+mn-ea"/>
                <a:cs typeface="+mn-cs"/>
              </a:rPr>
              <a:t>max</a:t>
            </a:r>
            <a:r>
              <a:rPr lang="es-ES_tradnl" sz="1200" kern="1200" dirty="0">
                <a:solidFill>
                  <a:schemeClr val="tx1"/>
                </a:solidFill>
                <a:effectLst/>
                <a:latin typeface="+mn-lt"/>
                <a:ea typeface="+mn-ea"/>
                <a:cs typeface="+mn-cs"/>
              </a:rPr>
              <a:t>}}}\\</a:t>
            </a:r>
          </a:p>
          <a:p>
            <a:r>
              <a:rPr lang="es-ES_tradnl" sz="1200" kern="1200" dirty="0">
                <a:solidFill>
                  <a:schemeClr val="tx1"/>
                </a:solidFill>
                <a:effectLst/>
                <a:latin typeface="+mn-lt"/>
                <a:ea typeface="+mn-ea"/>
                <a:cs typeface="+mn-cs"/>
              </a:rPr>
              <a:t>|\zeta| &amp;\</a:t>
            </a:r>
            <a:r>
              <a:rPr lang="es-ES_tradnl" sz="1200" kern="1200" dirty="0" err="1">
                <a:solidFill>
                  <a:schemeClr val="tx1"/>
                </a:solidFill>
                <a:effectLst/>
                <a:latin typeface="+mn-lt"/>
                <a:ea typeface="+mn-ea"/>
                <a:cs typeface="+mn-cs"/>
              </a:rPr>
              <a:t>leq</a:t>
            </a:r>
            <a:r>
              <a:rPr lang="es-ES_tradnl" sz="1200" kern="1200" dirty="0">
                <a:solidFill>
                  <a:schemeClr val="tx1"/>
                </a:solidFill>
                <a:effectLst/>
                <a:latin typeface="+mn-lt"/>
                <a:ea typeface="+mn-ea"/>
                <a:cs typeface="+mn-cs"/>
              </a:rPr>
              <a:t> \zeta_{\</a:t>
            </a:r>
            <a:r>
              <a:rPr lang="es-ES_tradnl" sz="1200" kern="1200" dirty="0" err="1">
                <a:solidFill>
                  <a:schemeClr val="tx1"/>
                </a:solidFill>
                <a:effectLst/>
                <a:latin typeface="+mn-lt"/>
                <a:ea typeface="+mn-ea"/>
                <a:cs typeface="+mn-cs"/>
              </a:rPr>
              <a:t>text</a:t>
            </a:r>
            <a:r>
              <a:rPr lang="es-ES_tradnl" sz="1200" kern="1200" dirty="0">
                <a:solidFill>
                  <a:schemeClr val="tx1"/>
                </a:solidFill>
                <a:effectLst/>
                <a:latin typeface="+mn-lt"/>
                <a:ea typeface="+mn-ea"/>
                <a:cs typeface="+mn-cs"/>
              </a:rPr>
              <a:t>{</a:t>
            </a:r>
            <a:r>
              <a:rPr lang="es-ES_tradnl" sz="1200" kern="1200" dirty="0" err="1">
                <a:solidFill>
                  <a:schemeClr val="tx1"/>
                </a:solidFill>
                <a:effectLst/>
                <a:latin typeface="+mn-lt"/>
                <a:ea typeface="+mn-ea"/>
                <a:cs typeface="+mn-cs"/>
              </a:rPr>
              <a:t>max</a:t>
            </a:r>
            <a:r>
              <a:rPr lang="es-ES_tradnl"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|v|&amp;\</a:t>
            </a:r>
            <a:r>
              <a:rPr lang="en-US" sz="1200" kern="1200" dirty="0" err="1">
                <a:solidFill>
                  <a:schemeClr val="tx1"/>
                </a:solidFill>
                <a:effectLst/>
                <a:latin typeface="+mn-lt"/>
                <a:ea typeface="+mn-ea"/>
                <a:cs typeface="+mn-cs"/>
              </a:rPr>
              <a:t>leq</a:t>
            </a:r>
            <a:r>
              <a:rPr lang="en-US" sz="1200" kern="1200" dirty="0">
                <a:solidFill>
                  <a:schemeClr val="tx1"/>
                </a:solidFill>
                <a:effectLst/>
                <a:latin typeface="+mn-lt"/>
                <a:ea typeface="+mn-ea"/>
                <a:cs typeface="+mn-cs"/>
              </a:rPr>
              <a:t> v_{\text{max}}\\</a:t>
            </a:r>
          </a:p>
          <a:p>
            <a:r>
              <a:rPr lang="en-US" sz="1200" kern="1200" dirty="0">
                <a:solidFill>
                  <a:schemeClr val="tx1"/>
                </a:solidFill>
                <a:effectLst/>
                <a:latin typeface="+mn-lt"/>
                <a:ea typeface="+mn-ea"/>
                <a:cs typeface="+mn-cs"/>
              </a:rPr>
              <a:t>|\omega| &amp;\</a:t>
            </a:r>
            <a:r>
              <a:rPr lang="en-US" sz="1200" kern="1200" dirty="0" err="1">
                <a:solidFill>
                  <a:schemeClr val="tx1"/>
                </a:solidFill>
                <a:effectLst/>
                <a:latin typeface="+mn-lt"/>
                <a:ea typeface="+mn-ea"/>
                <a:cs typeface="+mn-cs"/>
              </a:rPr>
              <a:t>leq</a:t>
            </a:r>
            <a:r>
              <a:rPr lang="en-US" sz="1200" kern="1200" dirty="0">
                <a:solidFill>
                  <a:schemeClr val="tx1"/>
                </a:solidFill>
                <a:effectLst/>
                <a:latin typeface="+mn-lt"/>
                <a:ea typeface="+mn-ea"/>
                <a:cs typeface="+mn-cs"/>
              </a:rPr>
              <a:t> \omega_{\text{max}}</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\dot x\\</a:t>
            </a:r>
          </a:p>
          <a:p>
            <a:r>
              <a:rPr lang="en-US" sz="1200" kern="1200" dirty="0">
                <a:solidFill>
                  <a:schemeClr val="tx1"/>
                </a:solidFill>
                <a:effectLst/>
                <a:latin typeface="+mn-lt"/>
                <a:ea typeface="+mn-ea"/>
                <a:cs typeface="+mn-cs"/>
              </a:rPr>
              <a:t>\dot y\\</a:t>
            </a:r>
          </a:p>
          <a:p>
            <a:r>
              <a:rPr lang="en-US" sz="1200" kern="1200" dirty="0">
                <a:solidFill>
                  <a:schemeClr val="tx1"/>
                </a:solidFill>
                <a:effectLst/>
                <a:latin typeface="+mn-lt"/>
                <a:ea typeface="+mn-ea"/>
                <a:cs typeface="+mn-cs"/>
              </a:rPr>
              <a:t>\dot \theta\\</a:t>
            </a:r>
          </a:p>
          <a:p>
            <a:r>
              <a:rPr lang="en-US" sz="1200" kern="1200" dirty="0">
                <a:solidFill>
                  <a:schemeClr val="tx1"/>
                </a:solidFill>
                <a:effectLst/>
                <a:latin typeface="+mn-lt"/>
                <a:ea typeface="+mn-ea"/>
                <a:cs typeface="+mn-cs"/>
              </a:rPr>
              <a:t>\dot \zeta</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\cos \zeta \, \cos\theta\\</a:t>
            </a:r>
          </a:p>
          <a:p>
            <a:r>
              <a:rPr lang="en-US" sz="1200" kern="1200" dirty="0">
                <a:solidFill>
                  <a:schemeClr val="tx1"/>
                </a:solidFill>
                <a:effectLst/>
                <a:latin typeface="+mn-lt"/>
                <a:ea typeface="+mn-ea"/>
                <a:cs typeface="+mn-cs"/>
              </a:rPr>
              <a:t>\cos\zeta \, \sin \theta\\</a:t>
            </a:r>
          </a:p>
          <a:p>
            <a:r>
              <a:rPr lang="en-US" sz="1200" kern="1200" dirty="0">
                <a:solidFill>
                  <a:schemeClr val="tx1"/>
                </a:solidFill>
                <a:effectLst/>
                <a:latin typeface="+mn-lt"/>
                <a:ea typeface="+mn-ea"/>
                <a:cs typeface="+mn-cs"/>
              </a:rPr>
              <a:t>\sin \zeta\\</a:t>
            </a:r>
          </a:p>
          <a:p>
            <a:r>
              <a:rPr lang="en-US" sz="1200" kern="1200" dirty="0">
                <a:solidFill>
                  <a:schemeClr val="tx1"/>
                </a:solidFill>
                <a:effectLst/>
                <a:latin typeface="+mn-lt"/>
                <a:ea typeface="+mn-ea"/>
                <a:cs typeface="+mn-cs"/>
              </a:rPr>
              <a:t>0 </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u_1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}u_2</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\dot x\\</a:t>
            </a:r>
          </a:p>
          <a:p>
            <a:r>
              <a:rPr lang="en-US" sz="1200" kern="1200" dirty="0">
                <a:solidFill>
                  <a:schemeClr val="tx1"/>
                </a:solidFill>
                <a:effectLst/>
                <a:latin typeface="+mn-lt"/>
                <a:ea typeface="+mn-ea"/>
                <a:cs typeface="+mn-cs"/>
              </a:rPr>
              <a:t>\dot y\\</a:t>
            </a:r>
          </a:p>
          <a:p>
            <a:r>
              <a:rPr lang="en-US" sz="1200" kern="1200" dirty="0">
                <a:solidFill>
                  <a:schemeClr val="tx1"/>
                </a:solidFill>
                <a:effectLst/>
                <a:latin typeface="+mn-lt"/>
                <a:ea typeface="+mn-ea"/>
                <a:cs typeface="+mn-cs"/>
              </a:rPr>
              <a:t>\dot \theta</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\cos\theta\\</a:t>
            </a:r>
          </a:p>
          <a:p>
            <a:r>
              <a:rPr lang="en-US" sz="1200" kern="1200" dirty="0">
                <a:solidFill>
                  <a:schemeClr val="tx1"/>
                </a:solidFill>
                <a:effectLst/>
                <a:latin typeface="+mn-lt"/>
                <a:ea typeface="+mn-ea"/>
                <a:cs typeface="+mn-cs"/>
              </a:rPr>
              <a:t>\sin \theta\\</a:t>
            </a:r>
          </a:p>
          <a:p>
            <a:r>
              <a:rPr lang="en-US" sz="1200" kern="1200" dirty="0">
                <a:solidFill>
                  <a:schemeClr val="tx1"/>
                </a:solidFill>
                <a:effectLst/>
                <a:latin typeface="+mn-lt"/>
                <a:ea typeface="+mn-ea"/>
                <a:cs typeface="+mn-cs"/>
              </a:rPr>
              <a:t>0 </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v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}\omega</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\dot x\\</a:t>
            </a:r>
          </a:p>
          <a:p>
            <a:r>
              <a:rPr lang="en-US" sz="1200" kern="1200" dirty="0">
                <a:solidFill>
                  <a:schemeClr val="tx1"/>
                </a:solidFill>
                <a:effectLst/>
                <a:latin typeface="+mn-lt"/>
                <a:ea typeface="+mn-ea"/>
                <a:cs typeface="+mn-cs"/>
              </a:rPr>
              <a:t>\dot y\\</a:t>
            </a:r>
          </a:p>
          <a:p>
            <a:r>
              <a:rPr lang="en-US" sz="1200" kern="1200" dirty="0">
                <a:solidFill>
                  <a:schemeClr val="tx1"/>
                </a:solidFill>
                <a:effectLst/>
                <a:latin typeface="+mn-lt"/>
                <a:ea typeface="+mn-ea"/>
                <a:cs typeface="+mn-cs"/>
              </a:rPr>
              <a:t>\dot \theta</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\frac{r}{2}(\</a:t>
            </a:r>
            <a:r>
              <a:rPr lang="en-US" sz="1200" kern="1200" dirty="0" err="1">
                <a:solidFill>
                  <a:schemeClr val="tx1"/>
                </a:solidFill>
                <a:effectLst/>
                <a:latin typeface="+mn-lt"/>
                <a:ea typeface="+mn-ea"/>
                <a:cs typeface="+mn-cs"/>
              </a:rPr>
              <a:t>omega_l</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omega_r</a:t>
            </a:r>
            <a:r>
              <a:rPr lang="en-US" sz="1200" kern="1200" dirty="0">
                <a:solidFill>
                  <a:schemeClr val="tx1"/>
                </a:solidFill>
                <a:effectLst/>
                <a:latin typeface="+mn-lt"/>
                <a:ea typeface="+mn-ea"/>
                <a:cs typeface="+mn-cs"/>
              </a:rPr>
              <a:t>)\cos\theta\\</a:t>
            </a:r>
          </a:p>
          <a:p>
            <a:r>
              <a:rPr lang="en-US" sz="1200" kern="1200" dirty="0">
                <a:solidFill>
                  <a:schemeClr val="tx1"/>
                </a:solidFill>
                <a:effectLst/>
                <a:latin typeface="+mn-lt"/>
                <a:ea typeface="+mn-ea"/>
                <a:cs typeface="+mn-cs"/>
              </a:rPr>
              <a:t>\frac{r}{2}(\</a:t>
            </a:r>
            <a:r>
              <a:rPr lang="en-US" sz="1200" kern="1200" dirty="0" err="1">
                <a:solidFill>
                  <a:schemeClr val="tx1"/>
                </a:solidFill>
                <a:effectLst/>
                <a:latin typeface="+mn-lt"/>
                <a:ea typeface="+mn-ea"/>
                <a:cs typeface="+mn-cs"/>
              </a:rPr>
              <a:t>omega_l</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omega_r</a:t>
            </a:r>
            <a:r>
              <a:rPr lang="en-US" sz="1200" kern="1200" dirty="0">
                <a:solidFill>
                  <a:schemeClr val="tx1"/>
                </a:solidFill>
                <a:effectLst/>
                <a:latin typeface="+mn-lt"/>
                <a:ea typeface="+mn-ea"/>
                <a:cs typeface="+mn-cs"/>
              </a:rPr>
              <a:t>)\sin\theta\\</a:t>
            </a:r>
          </a:p>
          <a:p>
            <a:r>
              <a:rPr lang="en-US" sz="1200" kern="1200" dirty="0">
                <a:solidFill>
                  <a:schemeClr val="tx1"/>
                </a:solidFill>
                <a:effectLst/>
                <a:latin typeface="+mn-lt"/>
                <a:ea typeface="+mn-ea"/>
                <a:cs typeface="+mn-cs"/>
              </a:rPr>
              <a:t>\frac{r}{L}(\</a:t>
            </a:r>
            <a:r>
              <a:rPr lang="en-US" sz="1200" kern="1200" dirty="0" err="1">
                <a:solidFill>
                  <a:schemeClr val="tx1"/>
                </a:solidFill>
                <a:effectLst/>
                <a:latin typeface="+mn-lt"/>
                <a:ea typeface="+mn-ea"/>
                <a:cs typeface="+mn-cs"/>
              </a:rPr>
              <a:t>omega_r</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omega_l</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omega_l</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leq</a:t>
            </a:r>
            <a:r>
              <a:rPr lang="en-US" sz="1200" kern="1200" dirty="0">
                <a:solidFill>
                  <a:schemeClr val="tx1"/>
                </a:solidFill>
                <a:effectLst/>
                <a:latin typeface="+mn-lt"/>
                <a:ea typeface="+mn-ea"/>
                <a:cs typeface="+mn-cs"/>
              </a:rPr>
              <a:t> \omega_{l,\</a:t>
            </a:r>
            <a:r>
              <a:rPr lang="en-US" sz="1200" kern="1200" dirty="0" err="1">
                <a:solidFill>
                  <a:schemeClr val="tx1"/>
                </a:solidFill>
                <a:effectLst/>
                <a:latin typeface="+mn-lt"/>
                <a:ea typeface="+mn-ea"/>
                <a:cs typeface="+mn-cs"/>
              </a:rPr>
              <a:t>mathrm</a:t>
            </a:r>
            <a:r>
              <a:rPr lang="en-US" sz="1200" kern="1200" dirty="0">
                <a:solidFill>
                  <a:schemeClr val="tx1"/>
                </a:solidFill>
                <a:effectLst/>
                <a:latin typeface="+mn-lt"/>
                <a:ea typeface="+mn-ea"/>
                <a:cs typeface="+mn-cs"/>
              </a:rPr>
              <a:t>{max}}\\</a:t>
            </a:r>
          </a:p>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omega_r</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leq</a:t>
            </a:r>
            <a:r>
              <a:rPr lang="en-US" sz="1200" kern="1200" dirty="0">
                <a:solidFill>
                  <a:schemeClr val="tx1"/>
                </a:solidFill>
                <a:effectLst/>
                <a:latin typeface="+mn-lt"/>
                <a:ea typeface="+mn-ea"/>
                <a:cs typeface="+mn-cs"/>
              </a:rPr>
              <a:t> \omega_{r,\</a:t>
            </a:r>
            <a:r>
              <a:rPr lang="en-US" sz="1200" kern="1200" dirty="0" err="1">
                <a:solidFill>
                  <a:schemeClr val="tx1"/>
                </a:solidFill>
                <a:effectLst/>
                <a:latin typeface="+mn-lt"/>
                <a:ea typeface="+mn-ea"/>
                <a:cs typeface="+mn-cs"/>
              </a:rPr>
              <a:t>mathrm</a:t>
            </a:r>
            <a:r>
              <a:rPr lang="en-US" sz="1200" kern="1200" dirty="0">
                <a:solidFill>
                  <a:schemeClr val="tx1"/>
                </a:solidFill>
                <a:effectLst/>
                <a:latin typeface="+mn-lt"/>
                <a:ea typeface="+mn-ea"/>
                <a:cs typeface="+mn-cs"/>
              </a:rPr>
              <a:t>{max}}</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v = \frac{r(\</a:t>
            </a:r>
            <a:r>
              <a:rPr lang="en-US" sz="1200" kern="1200" dirty="0" err="1">
                <a:solidFill>
                  <a:schemeClr val="tx1"/>
                </a:solidFill>
                <a:effectLst/>
                <a:latin typeface="+mn-lt"/>
                <a:ea typeface="+mn-ea"/>
                <a:cs typeface="+mn-cs"/>
              </a:rPr>
              <a:t>omega_r</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omega_l</a:t>
            </a:r>
            <a:r>
              <a:rPr lang="en-US" sz="1200" kern="1200" dirty="0">
                <a:solidFill>
                  <a:schemeClr val="tx1"/>
                </a:solidFill>
                <a:effectLst/>
                <a:latin typeface="+mn-lt"/>
                <a:ea typeface="+mn-ea"/>
                <a:cs typeface="+mn-cs"/>
              </a:rPr>
              <a:t>)}{2}</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3B2D7EC-928D-0645-AAE8-498D7443D60E}" type="slidenum">
              <a:rPr lang="en-US" smtClean="0"/>
              <a:t>10</a:t>
            </a:fld>
            <a:endParaRPr lang="en-US"/>
          </a:p>
        </p:txBody>
      </p:sp>
    </p:spTree>
    <p:extLst>
      <p:ext uri="{BB962C8B-B14F-4D97-AF65-F5344CB8AC3E}">
        <p14:creationId xmlns:p14="http://schemas.microsoft.com/office/powerpoint/2010/main" val="1815409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sz="1200" kern="1200" dirty="0">
              <a:solidFill>
                <a:schemeClr val="tx1"/>
              </a:solidFill>
              <a:effectLst/>
              <a:latin typeface="+mn-lt"/>
              <a:ea typeface="+mn-ea"/>
              <a:cs typeface="+mn-cs"/>
            </a:endParaRPr>
          </a:p>
          <a:p>
            <a:pPr marL="171450" indent="-171450">
              <a:buFont typeface="Arial" charset="0"/>
              <a:buChar char="•"/>
            </a:pPr>
            <a:r>
              <a:rPr lang="es-ES_tradnl" sz="1200" kern="1200" dirty="0" err="1">
                <a:solidFill>
                  <a:schemeClr val="tx1"/>
                </a:solidFill>
                <a:effectLst/>
                <a:latin typeface="+mn-lt"/>
                <a:ea typeface="+mn-ea"/>
                <a:cs typeface="+mn-cs"/>
              </a:rPr>
              <a:t>Another</a:t>
            </a:r>
            <a:r>
              <a:rPr lang="es-ES_tradnl" sz="1200" kern="1200" dirty="0">
                <a:solidFill>
                  <a:schemeClr val="tx1"/>
                </a:solidFill>
                <a:effectLst/>
                <a:latin typeface="+mn-lt"/>
                <a:ea typeface="+mn-ea"/>
                <a:cs typeface="+mn-cs"/>
              </a:rPr>
              <a:t> </a:t>
            </a:r>
            <a:r>
              <a:rPr lang="es-ES_tradnl" sz="1200" kern="1200" dirty="0" err="1">
                <a:solidFill>
                  <a:schemeClr val="tx1"/>
                </a:solidFill>
                <a:effectLst/>
                <a:latin typeface="+mn-lt"/>
                <a:ea typeface="+mn-ea"/>
                <a:cs typeface="+mn-cs"/>
              </a:rPr>
              <a:t>important</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model</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is</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the</a:t>
            </a:r>
            <a:r>
              <a:rPr lang="es-ES_tradnl" sz="1200" kern="1200" baseline="0" dirty="0">
                <a:solidFill>
                  <a:schemeClr val="tx1"/>
                </a:solidFill>
                <a:effectLst/>
                <a:latin typeface="+mn-lt"/>
                <a:ea typeface="+mn-ea"/>
                <a:cs typeface="+mn-cs"/>
              </a:rPr>
              <a:t> </a:t>
            </a:r>
            <a:r>
              <a:rPr lang="es-ES_tradnl" sz="1200" kern="1200" baseline="0" dirty="0" err="1">
                <a:solidFill>
                  <a:schemeClr val="tx1"/>
                </a:solidFill>
                <a:effectLst/>
                <a:latin typeface="+mn-lt"/>
                <a:ea typeface="+mn-ea"/>
                <a:cs typeface="+mn-cs"/>
              </a:rPr>
              <a:t>siplified</a:t>
            </a:r>
            <a:r>
              <a:rPr lang="es-ES_tradnl" sz="1200" kern="1200" baseline="0" dirty="0">
                <a:solidFill>
                  <a:schemeClr val="tx1"/>
                </a:solidFill>
                <a:effectLst/>
                <a:latin typeface="+mn-lt"/>
                <a:ea typeface="+mn-ea"/>
                <a:cs typeface="+mn-cs"/>
              </a:rPr>
              <a:t> car </a:t>
            </a:r>
            <a:r>
              <a:rPr lang="es-ES_tradnl" sz="1200" kern="1200" baseline="0" dirty="0" err="1">
                <a:solidFill>
                  <a:schemeClr val="tx1"/>
                </a:solidFill>
                <a:effectLst/>
                <a:latin typeface="+mn-lt"/>
                <a:ea typeface="+mn-ea"/>
                <a:cs typeface="+mn-cs"/>
              </a:rPr>
              <a:t>model</a:t>
            </a:r>
            <a:r>
              <a:rPr lang="es-ES_tradnl" sz="1200" kern="1200" baseline="0" dirty="0">
                <a:solidFill>
                  <a:schemeClr val="tx1"/>
                </a:solidFill>
                <a:effectLst/>
                <a:latin typeface="+mn-lt"/>
                <a:ea typeface="+mn-ea"/>
                <a:cs typeface="+mn-cs"/>
              </a:rPr>
              <a:t>, </a:t>
            </a:r>
          </a:p>
          <a:p>
            <a:pPr marL="171450" indent="-171450">
              <a:buFont typeface="Arial" charset="0"/>
              <a:buChar char="•"/>
            </a:pPr>
            <a:endParaRPr lang="es-ES_tradnl" sz="1200" kern="1200" dirty="0">
              <a:solidFill>
                <a:schemeClr val="tx1"/>
              </a:solidFill>
              <a:effectLst/>
              <a:latin typeface="+mn-lt"/>
              <a:ea typeface="+mn-ea"/>
              <a:cs typeface="+mn-cs"/>
            </a:endParaRPr>
          </a:p>
          <a:p>
            <a:endParaRPr lang="es-ES_tradnl" sz="1200" kern="1200" dirty="0">
              <a:solidFill>
                <a:schemeClr val="tx1"/>
              </a:solidFill>
              <a:effectLst/>
              <a:latin typeface="+mn-lt"/>
              <a:ea typeface="+mn-ea"/>
              <a:cs typeface="+mn-cs"/>
            </a:endParaRPr>
          </a:p>
          <a:p>
            <a:endParaRPr lang="es-ES_tradnl" sz="1200" kern="1200" dirty="0">
              <a:solidFill>
                <a:schemeClr val="tx1"/>
              </a:solidFill>
              <a:effectLst/>
              <a:latin typeface="+mn-lt"/>
              <a:ea typeface="+mn-ea"/>
              <a:cs typeface="+mn-cs"/>
            </a:endParaRPr>
          </a:p>
          <a:p>
            <a:r>
              <a:rPr lang="es-ES_tradnl" sz="1200" kern="1200" dirty="0">
                <a:solidFill>
                  <a:schemeClr val="tx1"/>
                </a:solidFill>
                <a:effectLst/>
                <a:latin typeface="+mn-lt"/>
                <a:ea typeface="+mn-ea"/>
                <a:cs typeface="+mn-cs"/>
              </a:rPr>
              <a:t>|u_1|&amp;\</a:t>
            </a:r>
            <a:r>
              <a:rPr lang="es-ES_tradnl" sz="1200" kern="1200" dirty="0" err="1">
                <a:solidFill>
                  <a:schemeClr val="tx1"/>
                </a:solidFill>
                <a:effectLst/>
                <a:latin typeface="+mn-lt"/>
                <a:ea typeface="+mn-ea"/>
                <a:cs typeface="+mn-cs"/>
              </a:rPr>
              <a:t>leq</a:t>
            </a:r>
            <a:r>
              <a:rPr lang="es-ES_tradnl" sz="1200" kern="1200" dirty="0">
                <a:solidFill>
                  <a:schemeClr val="tx1"/>
                </a:solidFill>
                <a:effectLst/>
                <a:latin typeface="+mn-lt"/>
                <a:ea typeface="+mn-ea"/>
                <a:cs typeface="+mn-cs"/>
              </a:rPr>
              <a:t> u_{1,{\</a:t>
            </a:r>
            <a:r>
              <a:rPr lang="es-ES_tradnl" sz="1200" kern="1200" dirty="0" err="1">
                <a:solidFill>
                  <a:schemeClr val="tx1"/>
                </a:solidFill>
                <a:effectLst/>
                <a:latin typeface="+mn-lt"/>
                <a:ea typeface="+mn-ea"/>
                <a:cs typeface="+mn-cs"/>
              </a:rPr>
              <a:t>text</a:t>
            </a:r>
            <a:r>
              <a:rPr lang="es-ES_tradnl" sz="1200" kern="1200" dirty="0">
                <a:solidFill>
                  <a:schemeClr val="tx1"/>
                </a:solidFill>
                <a:effectLst/>
                <a:latin typeface="+mn-lt"/>
                <a:ea typeface="+mn-ea"/>
                <a:cs typeface="+mn-cs"/>
              </a:rPr>
              <a:t>{</a:t>
            </a:r>
            <a:r>
              <a:rPr lang="es-ES_tradnl" sz="1200" kern="1200" dirty="0" err="1">
                <a:solidFill>
                  <a:schemeClr val="tx1"/>
                </a:solidFill>
                <a:effectLst/>
                <a:latin typeface="+mn-lt"/>
                <a:ea typeface="+mn-ea"/>
                <a:cs typeface="+mn-cs"/>
              </a:rPr>
              <a:t>max</a:t>
            </a:r>
            <a:r>
              <a:rPr lang="es-ES_tradnl" sz="1200" kern="1200" dirty="0">
                <a:solidFill>
                  <a:schemeClr val="tx1"/>
                </a:solidFill>
                <a:effectLst/>
                <a:latin typeface="+mn-lt"/>
                <a:ea typeface="+mn-ea"/>
                <a:cs typeface="+mn-cs"/>
              </a:rPr>
              <a:t>}}}\\</a:t>
            </a:r>
          </a:p>
          <a:p>
            <a:r>
              <a:rPr lang="es-ES_tradnl" sz="1200" kern="1200" dirty="0">
                <a:solidFill>
                  <a:schemeClr val="tx1"/>
                </a:solidFill>
                <a:effectLst/>
                <a:latin typeface="+mn-lt"/>
                <a:ea typeface="+mn-ea"/>
                <a:cs typeface="+mn-cs"/>
              </a:rPr>
              <a:t>|u_2|&amp;\</a:t>
            </a:r>
            <a:r>
              <a:rPr lang="es-ES_tradnl" sz="1200" kern="1200" dirty="0" err="1">
                <a:solidFill>
                  <a:schemeClr val="tx1"/>
                </a:solidFill>
                <a:effectLst/>
                <a:latin typeface="+mn-lt"/>
                <a:ea typeface="+mn-ea"/>
                <a:cs typeface="+mn-cs"/>
              </a:rPr>
              <a:t>leq</a:t>
            </a:r>
            <a:r>
              <a:rPr lang="es-ES_tradnl" sz="1200" kern="1200" dirty="0">
                <a:solidFill>
                  <a:schemeClr val="tx1"/>
                </a:solidFill>
                <a:effectLst/>
                <a:latin typeface="+mn-lt"/>
                <a:ea typeface="+mn-ea"/>
                <a:cs typeface="+mn-cs"/>
              </a:rPr>
              <a:t> u_{2,{\</a:t>
            </a:r>
            <a:r>
              <a:rPr lang="es-ES_tradnl" sz="1200" kern="1200" dirty="0" err="1">
                <a:solidFill>
                  <a:schemeClr val="tx1"/>
                </a:solidFill>
                <a:effectLst/>
                <a:latin typeface="+mn-lt"/>
                <a:ea typeface="+mn-ea"/>
                <a:cs typeface="+mn-cs"/>
              </a:rPr>
              <a:t>text</a:t>
            </a:r>
            <a:r>
              <a:rPr lang="es-ES_tradnl" sz="1200" kern="1200" dirty="0">
                <a:solidFill>
                  <a:schemeClr val="tx1"/>
                </a:solidFill>
                <a:effectLst/>
                <a:latin typeface="+mn-lt"/>
                <a:ea typeface="+mn-ea"/>
                <a:cs typeface="+mn-cs"/>
              </a:rPr>
              <a:t>{</a:t>
            </a:r>
            <a:r>
              <a:rPr lang="es-ES_tradnl" sz="1200" kern="1200" dirty="0" err="1">
                <a:solidFill>
                  <a:schemeClr val="tx1"/>
                </a:solidFill>
                <a:effectLst/>
                <a:latin typeface="+mn-lt"/>
                <a:ea typeface="+mn-ea"/>
                <a:cs typeface="+mn-cs"/>
              </a:rPr>
              <a:t>max</a:t>
            </a:r>
            <a:r>
              <a:rPr lang="es-ES_tradnl" sz="1200" kern="1200" dirty="0">
                <a:solidFill>
                  <a:schemeClr val="tx1"/>
                </a:solidFill>
                <a:effectLst/>
                <a:latin typeface="+mn-lt"/>
                <a:ea typeface="+mn-ea"/>
                <a:cs typeface="+mn-cs"/>
              </a:rPr>
              <a:t>}}}\\</a:t>
            </a:r>
          </a:p>
          <a:p>
            <a:r>
              <a:rPr lang="es-ES_tradnl" sz="1200" kern="1200" dirty="0">
                <a:solidFill>
                  <a:schemeClr val="tx1"/>
                </a:solidFill>
                <a:effectLst/>
                <a:latin typeface="+mn-lt"/>
                <a:ea typeface="+mn-ea"/>
                <a:cs typeface="+mn-cs"/>
              </a:rPr>
              <a:t>|\zeta| &amp;\</a:t>
            </a:r>
            <a:r>
              <a:rPr lang="es-ES_tradnl" sz="1200" kern="1200" dirty="0" err="1">
                <a:solidFill>
                  <a:schemeClr val="tx1"/>
                </a:solidFill>
                <a:effectLst/>
                <a:latin typeface="+mn-lt"/>
                <a:ea typeface="+mn-ea"/>
                <a:cs typeface="+mn-cs"/>
              </a:rPr>
              <a:t>leq</a:t>
            </a:r>
            <a:r>
              <a:rPr lang="es-ES_tradnl" sz="1200" kern="1200" dirty="0">
                <a:solidFill>
                  <a:schemeClr val="tx1"/>
                </a:solidFill>
                <a:effectLst/>
                <a:latin typeface="+mn-lt"/>
                <a:ea typeface="+mn-ea"/>
                <a:cs typeface="+mn-cs"/>
              </a:rPr>
              <a:t> \zeta_{\</a:t>
            </a:r>
            <a:r>
              <a:rPr lang="es-ES_tradnl" sz="1200" kern="1200" dirty="0" err="1">
                <a:solidFill>
                  <a:schemeClr val="tx1"/>
                </a:solidFill>
                <a:effectLst/>
                <a:latin typeface="+mn-lt"/>
                <a:ea typeface="+mn-ea"/>
                <a:cs typeface="+mn-cs"/>
              </a:rPr>
              <a:t>text</a:t>
            </a:r>
            <a:r>
              <a:rPr lang="es-ES_tradnl" sz="1200" kern="1200" dirty="0">
                <a:solidFill>
                  <a:schemeClr val="tx1"/>
                </a:solidFill>
                <a:effectLst/>
                <a:latin typeface="+mn-lt"/>
                <a:ea typeface="+mn-ea"/>
                <a:cs typeface="+mn-cs"/>
              </a:rPr>
              <a:t>{</a:t>
            </a:r>
            <a:r>
              <a:rPr lang="es-ES_tradnl" sz="1200" kern="1200" dirty="0" err="1">
                <a:solidFill>
                  <a:schemeClr val="tx1"/>
                </a:solidFill>
                <a:effectLst/>
                <a:latin typeface="+mn-lt"/>
                <a:ea typeface="+mn-ea"/>
                <a:cs typeface="+mn-cs"/>
              </a:rPr>
              <a:t>max</a:t>
            </a:r>
            <a:r>
              <a:rPr lang="es-ES_tradnl"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|v|&amp;\</a:t>
            </a:r>
            <a:r>
              <a:rPr lang="en-US" sz="1200" kern="1200" dirty="0" err="1">
                <a:solidFill>
                  <a:schemeClr val="tx1"/>
                </a:solidFill>
                <a:effectLst/>
                <a:latin typeface="+mn-lt"/>
                <a:ea typeface="+mn-ea"/>
                <a:cs typeface="+mn-cs"/>
              </a:rPr>
              <a:t>leq</a:t>
            </a:r>
            <a:r>
              <a:rPr lang="en-US" sz="1200" kern="1200" dirty="0">
                <a:solidFill>
                  <a:schemeClr val="tx1"/>
                </a:solidFill>
                <a:effectLst/>
                <a:latin typeface="+mn-lt"/>
                <a:ea typeface="+mn-ea"/>
                <a:cs typeface="+mn-cs"/>
              </a:rPr>
              <a:t> v_{\text{max}}\\</a:t>
            </a:r>
          </a:p>
          <a:p>
            <a:r>
              <a:rPr lang="en-US" sz="1200" kern="1200" dirty="0">
                <a:solidFill>
                  <a:schemeClr val="tx1"/>
                </a:solidFill>
                <a:effectLst/>
                <a:latin typeface="+mn-lt"/>
                <a:ea typeface="+mn-ea"/>
                <a:cs typeface="+mn-cs"/>
              </a:rPr>
              <a:t>|\omega| &amp;\</a:t>
            </a:r>
            <a:r>
              <a:rPr lang="en-US" sz="1200" kern="1200" dirty="0" err="1">
                <a:solidFill>
                  <a:schemeClr val="tx1"/>
                </a:solidFill>
                <a:effectLst/>
                <a:latin typeface="+mn-lt"/>
                <a:ea typeface="+mn-ea"/>
                <a:cs typeface="+mn-cs"/>
              </a:rPr>
              <a:t>leq</a:t>
            </a:r>
            <a:r>
              <a:rPr lang="en-US" sz="1200" kern="1200" dirty="0">
                <a:solidFill>
                  <a:schemeClr val="tx1"/>
                </a:solidFill>
                <a:effectLst/>
                <a:latin typeface="+mn-lt"/>
                <a:ea typeface="+mn-ea"/>
                <a:cs typeface="+mn-cs"/>
              </a:rPr>
              <a:t> \omega_{\text{max}}</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\dot x\\</a:t>
            </a:r>
          </a:p>
          <a:p>
            <a:r>
              <a:rPr lang="en-US" sz="1200" kern="1200" dirty="0">
                <a:solidFill>
                  <a:schemeClr val="tx1"/>
                </a:solidFill>
                <a:effectLst/>
                <a:latin typeface="+mn-lt"/>
                <a:ea typeface="+mn-ea"/>
                <a:cs typeface="+mn-cs"/>
              </a:rPr>
              <a:t>\dot y\\</a:t>
            </a:r>
          </a:p>
          <a:p>
            <a:r>
              <a:rPr lang="en-US" sz="1200" kern="1200" dirty="0">
                <a:solidFill>
                  <a:schemeClr val="tx1"/>
                </a:solidFill>
                <a:effectLst/>
                <a:latin typeface="+mn-lt"/>
                <a:ea typeface="+mn-ea"/>
                <a:cs typeface="+mn-cs"/>
              </a:rPr>
              <a:t>\dot \theta\\</a:t>
            </a:r>
          </a:p>
          <a:p>
            <a:r>
              <a:rPr lang="en-US" sz="1200" kern="1200" dirty="0">
                <a:solidFill>
                  <a:schemeClr val="tx1"/>
                </a:solidFill>
                <a:effectLst/>
                <a:latin typeface="+mn-lt"/>
                <a:ea typeface="+mn-ea"/>
                <a:cs typeface="+mn-cs"/>
              </a:rPr>
              <a:t>\dot \zeta</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\cos \zeta \, \cos\theta\\</a:t>
            </a:r>
          </a:p>
          <a:p>
            <a:r>
              <a:rPr lang="en-US" sz="1200" kern="1200" dirty="0">
                <a:solidFill>
                  <a:schemeClr val="tx1"/>
                </a:solidFill>
                <a:effectLst/>
                <a:latin typeface="+mn-lt"/>
                <a:ea typeface="+mn-ea"/>
                <a:cs typeface="+mn-cs"/>
              </a:rPr>
              <a:t>\cos\zeta \, \sin \theta\\</a:t>
            </a:r>
          </a:p>
          <a:p>
            <a:r>
              <a:rPr lang="en-US" sz="1200" kern="1200" dirty="0">
                <a:solidFill>
                  <a:schemeClr val="tx1"/>
                </a:solidFill>
                <a:effectLst/>
                <a:latin typeface="+mn-lt"/>
                <a:ea typeface="+mn-ea"/>
                <a:cs typeface="+mn-cs"/>
              </a:rPr>
              <a:t>\sin \zeta\\</a:t>
            </a:r>
          </a:p>
          <a:p>
            <a:r>
              <a:rPr lang="en-US" sz="1200" kern="1200" dirty="0">
                <a:solidFill>
                  <a:schemeClr val="tx1"/>
                </a:solidFill>
                <a:effectLst/>
                <a:latin typeface="+mn-lt"/>
                <a:ea typeface="+mn-ea"/>
                <a:cs typeface="+mn-cs"/>
              </a:rPr>
              <a:t>0 </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u_1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}u_2</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\dot x\\</a:t>
            </a:r>
          </a:p>
          <a:p>
            <a:r>
              <a:rPr lang="en-US" sz="1200" kern="1200" dirty="0">
                <a:solidFill>
                  <a:schemeClr val="tx1"/>
                </a:solidFill>
                <a:effectLst/>
                <a:latin typeface="+mn-lt"/>
                <a:ea typeface="+mn-ea"/>
                <a:cs typeface="+mn-cs"/>
              </a:rPr>
              <a:t>\dot y\\</a:t>
            </a:r>
          </a:p>
          <a:p>
            <a:r>
              <a:rPr lang="en-US" sz="1200" kern="1200" dirty="0">
                <a:solidFill>
                  <a:schemeClr val="tx1"/>
                </a:solidFill>
                <a:effectLst/>
                <a:latin typeface="+mn-lt"/>
                <a:ea typeface="+mn-ea"/>
                <a:cs typeface="+mn-cs"/>
              </a:rPr>
              <a:t>\dot \theta</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\cos\theta\\</a:t>
            </a:r>
          </a:p>
          <a:p>
            <a:r>
              <a:rPr lang="en-US" sz="1200" kern="1200" dirty="0">
                <a:solidFill>
                  <a:schemeClr val="tx1"/>
                </a:solidFill>
                <a:effectLst/>
                <a:latin typeface="+mn-lt"/>
                <a:ea typeface="+mn-ea"/>
                <a:cs typeface="+mn-cs"/>
              </a:rPr>
              <a:t>\sin \theta\\</a:t>
            </a:r>
          </a:p>
          <a:p>
            <a:r>
              <a:rPr lang="en-US" sz="1200" kern="1200" dirty="0">
                <a:solidFill>
                  <a:schemeClr val="tx1"/>
                </a:solidFill>
                <a:effectLst/>
                <a:latin typeface="+mn-lt"/>
                <a:ea typeface="+mn-ea"/>
                <a:cs typeface="+mn-cs"/>
              </a:rPr>
              <a:t>0 </a:t>
            </a:r>
          </a:p>
          <a:p>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 v + \begin{</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0\\</a:t>
            </a:r>
          </a:p>
          <a:p>
            <a:r>
              <a:rPr lang="en-US" sz="1200" kern="1200" dirty="0">
                <a:solidFill>
                  <a:schemeClr val="tx1"/>
                </a:solidFill>
                <a:effectLst/>
                <a:latin typeface="+mn-lt"/>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\end{</a:t>
            </a:r>
            <a:r>
              <a:rPr lang="en-US" sz="1200" kern="1200" dirty="0" err="1">
                <a:solidFill>
                  <a:schemeClr val="tx1"/>
                </a:solidFill>
                <a:effectLst/>
                <a:latin typeface="+mn-lt"/>
                <a:ea typeface="+mn-ea"/>
                <a:cs typeface="+mn-cs"/>
              </a:rPr>
              <a:t>pmatrix</a:t>
            </a:r>
            <a:r>
              <a:rPr lang="en-US" sz="1200" kern="1200" dirty="0">
                <a:solidFill>
                  <a:schemeClr val="tx1"/>
                </a:solidFill>
                <a:effectLst/>
                <a:latin typeface="+mn-lt"/>
                <a:ea typeface="+mn-ea"/>
                <a:cs typeface="+mn-cs"/>
              </a:rPr>
              <a:t>}\omega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|v = v_{\</a:t>
            </a:r>
            <a:r>
              <a:rPr lang="en-US" sz="1200" kern="1200" dirty="0" err="1">
                <a:solidFill>
                  <a:schemeClr val="tx1"/>
                </a:solidFill>
                <a:effectLst/>
                <a:latin typeface="+mn-lt"/>
                <a:ea typeface="+mn-ea"/>
                <a:cs typeface="+mn-cs"/>
              </a:rPr>
              <a:t>mathrm</a:t>
            </a:r>
            <a:r>
              <a:rPr lang="en-US" sz="1200" kern="1200" dirty="0">
                <a:solidFill>
                  <a:schemeClr val="tx1"/>
                </a:solidFill>
                <a:effectLst/>
                <a:latin typeface="+mn-lt"/>
                <a:ea typeface="+mn-ea"/>
                <a:cs typeface="+mn-cs"/>
              </a:rPr>
              <a:t>{max}}, \, \, |\phi|\</a:t>
            </a:r>
            <a:r>
              <a:rPr lang="en-US" sz="1200" kern="1200" dirty="0" err="1">
                <a:solidFill>
                  <a:schemeClr val="tx1"/>
                </a:solidFill>
                <a:effectLst/>
                <a:latin typeface="+mn-lt"/>
                <a:ea typeface="+mn-ea"/>
                <a:cs typeface="+mn-cs"/>
              </a:rPr>
              <a:t>leq</a:t>
            </a:r>
            <a:r>
              <a:rPr lang="en-US" sz="1200" kern="1200" dirty="0">
                <a:solidFill>
                  <a:schemeClr val="tx1"/>
                </a:solidFill>
                <a:effectLst/>
                <a:latin typeface="+mn-lt"/>
                <a:ea typeface="+mn-ea"/>
                <a:cs typeface="+mn-cs"/>
              </a:rPr>
              <a:t> \phi_{\</a:t>
            </a:r>
            <a:r>
              <a:rPr lang="en-US" sz="1200" kern="1200" dirty="0" err="1">
                <a:solidFill>
                  <a:schemeClr val="tx1"/>
                </a:solidFill>
                <a:effectLst/>
                <a:latin typeface="+mn-lt"/>
                <a:ea typeface="+mn-ea"/>
                <a:cs typeface="+mn-cs"/>
              </a:rPr>
              <a:t>mathrm</a:t>
            </a:r>
            <a:r>
              <a:rPr lang="en-US" sz="1200" kern="1200" dirty="0">
                <a:solidFill>
                  <a:schemeClr val="tx1"/>
                </a:solidFill>
                <a:effectLst/>
                <a:latin typeface="+mn-lt"/>
                <a:ea typeface="+mn-ea"/>
                <a:cs typeface="+mn-cs"/>
              </a:rPr>
              <a:t>{max}}&lt;\frac{\pi}{2}</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3B2D7EC-928D-0645-AAE8-498D7443D60E}" type="slidenum">
              <a:rPr lang="en-US" smtClean="0"/>
              <a:t>11</a:t>
            </a:fld>
            <a:endParaRPr lang="en-US"/>
          </a:p>
        </p:txBody>
      </p:sp>
    </p:spTree>
    <p:extLst>
      <p:ext uri="{BB962C8B-B14F-4D97-AF65-F5344CB8AC3E}">
        <p14:creationId xmlns:p14="http://schemas.microsoft.com/office/powerpoint/2010/main" val="3130456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dirty="0">
                <a:solidFill>
                  <a:srgbClr val="C00000"/>
                </a:solidFill>
              </a:rPr>
              <a:t>Warning</a:t>
            </a:r>
            <a:r>
              <a:rPr lang="en-US" sz="1200" dirty="0"/>
              <a:t>: a kinematic state space model should be interpreted only as a subsystem of a more general dynamical model </a:t>
            </a:r>
          </a:p>
          <a:p>
            <a:pPr marL="171450" indent="-171450">
              <a:buFont typeface="Arial" charset="0"/>
              <a:buChar char="•"/>
            </a:pPr>
            <a:endParaRPr lang="es-ES_tradnl" sz="120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s-ES_tradnl" dirty="0"/>
              <a:t>In </a:t>
            </a:r>
            <a:r>
              <a:rPr lang="es-ES_tradnl" dirty="0" err="1"/>
              <a:t>almost</a:t>
            </a:r>
            <a:r>
              <a:rPr lang="es-ES_tradnl" dirty="0"/>
              <a:t> </a:t>
            </a:r>
            <a:r>
              <a:rPr lang="es-ES_tradnl" dirty="0" err="1"/>
              <a:t>all</a:t>
            </a:r>
            <a:r>
              <a:rPr lang="es-ES_tradnl" dirty="0"/>
              <a:t> </a:t>
            </a:r>
            <a:r>
              <a:rPr lang="es-ES_tradnl" dirty="0" err="1"/>
              <a:t>applications</a:t>
            </a:r>
            <a:r>
              <a:rPr lang="es-ES_tradnl" dirty="0"/>
              <a:t>, a </a:t>
            </a:r>
            <a:r>
              <a:rPr lang="es-ES_tradnl" dirty="0" err="1"/>
              <a:t>black</a:t>
            </a:r>
            <a:r>
              <a:rPr lang="es-ES_tradnl" dirty="0"/>
              <a:t>-box module </a:t>
            </a:r>
            <a:r>
              <a:rPr lang="es-ES_tradnl" dirty="0" err="1"/>
              <a:t>allows</a:t>
            </a:r>
            <a:r>
              <a:rPr lang="es-ES_tradnl" dirty="0"/>
              <a:t> </a:t>
            </a:r>
            <a:r>
              <a:rPr lang="es-ES_tradnl" dirty="0" err="1"/>
              <a:t>to</a:t>
            </a:r>
            <a:r>
              <a:rPr lang="es-ES_tradnl" dirty="0"/>
              <a:t> control </a:t>
            </a:r>
            <a:r>
              <a:rPr lang="es-ES_tradnl" dirty="0" err="1"/>
              <a:t>directly</a:t>
            </a:r>
            <a:r>
              <a:rPr lang="es-ES_tradnl" dirty="0"/>
              <a:t> </a:t>
            </a:r>
            <a:r>
              <a:rPr lang="es-ES_tradnl" dirty="0" err="1"/>
              <a:t>the</a:t>
            </a:r>
            <a:r>
              <a:rPr lang="es-ES_tradnl" dirty="0"/>
              <a:t> linear and angular </a:t>
            </a:r>
            <a:r>
              <a:rPr lang="es-ES_tradnl" dirty="0" err="1"/>
              <a:t>velocities</a:t>
            </a:r>
            <a:r>
              <a:rPr lang="es-ES_tradnl" dirty="0"/>
              <a:t> </a:t>
            </a:r>
            <a:r>
              <a:rPr lang="es-ES_tradnl" dirty="0" err="1"/>
              <a:t>of</a:t>
            </a:r>
            <a:r>
              <a:rPr lang="es-ES_tradnl" dirty="0"/>
              <a:t> </a:t>
            </a:r>
            <a:r>
              <a:rPr lang="es-ES_tradnl" dirty="0" err="1"/>
              <a:t>the</a:t>
            </a:r>
            <a:r>
              <a:rPr lang="es-ES_tradnl" dirty="0"/>
              <a:t> </a:t>
            </a:r>
            <a:r>
              <a:rPr lang="es-ES_tradnl" dirty="0" err="1"/>
              <a:t>mobile</a:t>
            </a:r>
            <a:r>
              <a:rPr lang="es-ES_tradnl" dirty="0"/>
              <a:t> robot. </a:t>
            </a:r>
            <a:r>
              <a:rPr lang="es-ES_tradnl" dirty="0" err="1"/>
              <a:t>Velocities</a:t>
            </a:r>
            <a:r>
              <a:rPr lang="es-ES_tradnl" dirty="0"/>
              <a:t> and </a:t>
            </a:r>
            <a:r>
              <a:rPr lang="es-ES_tradnl" dirty="0" err="1"/>
              <a:t>accelerations</a:t>
            </a:r>
            <a:r>
              <a:rPr lang="es-ES_tradnl" dirty="0"/>
              <a:t> are </a:t>
            </a:r>
            <a:r>
              <a:rPr lang="es-ES_tradnl" dirty="0" err="1"/>
              <a:t>of</a:t>
            </a:r>
            <a:r>
              <a:rPr lang="es-ES_tradnl" dirty="0"/>
              <a:t> </a:t>
            </a:r>
            <a:r>
              <a:rPr lang="es-ES_tradnl" dirty="0" err="1"/>
              <a:t>course</a:t>
            </a:r>
            <a:r>
              <a:rPr lang="es-ES_tradnl" dirty="0"/>
              <a:t> </a:t>
            </a:r>
            <a:r>
              <a:rPr lang="es-ES_tradnl" dirty="0" err="1"/>
              <a:t>submitted</a:t>
            </a:r>
            <a:r>
              <a:rPr lang="es-ES_tradnl" dirty="0"/>
              <a:t> </a:t>
            </a:r>
            <a:r>
              <a:rPr lang="es-ES_tradnl" dirty="0" err="1"/>
              <a:t>to</a:t>
            </a:r>
            <a:r>
              <a:rPr lang="es-ES_tradnl" dirty="0"/>
              <a:t> </a:t>
            </a:r>
            <a:r>
              <a:rPr lang="es-ES_tradnl" dirty="0" err="1"/>
              <a:t>bounds</a:t>
            </a:r>
            <a:r>
              <a:rPr lang="es-ES_tradnl" dirty="0"/>
              <a:t>. </a:t>
            </a:r>
            <a:r>
              <a:rPr lang="es-ES_tradnl" dirty="0" err="1"/>
              <a:t>This</a:t>
            </a:r>
            <a:r>
              <a:rPr lang="es-ES_tradnl" dirty="0"/>
              <a:t> </a:t>
            </a:r>
            <a:r>
              <a:rPr lang="es-ES_tradnl" dirty="0" err="1"/>
              <a:t>process</a:t>
            </a:r>
            <a:r>
              <a:rPr lang="es-ES_tradnl" dirty="0"/>
              <a:t> </a:t>
            </a:r>
            <a:r>
              <a:rPr lang="es-ES_tradnl" dirty="0" err="1"/>
              <a:t>allows</a:t>
            </a:r>
            <a:r>
              <a:rPr lang="es-ES_tradnl" dirty="0"/>
              <a:t> </a:t>
            </a:r>
            <a:r>
              <a:rPr lang="es-ES_tradnl" dirty="0" err="1"/>
              <a:t>to</a:t>
            </a:r>
            <a:r>
              <a:rPr lang="es-ES_tradnl" dirty="0"/>
              <a:t> </a:t>
            </a:r>
            <a:r>
              <a:rPr lang="es-ES_tradnl" dirty="0" err="1"/>
              <a:t>go</a:t>
            </a:r>
            <a:r>
              <a:rPr lang="es-ES_tradnl" dirty="0"/>
              <a:t> </a:t>
            </a:r>
            <a:r>
              <a:rPr lang="es-ES_tradnl" dirty="0" err="1"/>
              <a:t>from</a:t>
            </a:r>
            <a:r>
              <a:rPr lang="es-ES_tradnl" dirty="0"/>
              <a:t> </a:t>
            </a:r>
            <a:r>
              <a:rPr lang="es-ES_tradnl" dirty="0" err="1"/>
              <a:t>kineamtically</a:t>
            </a:r>
            <a:r>
              <a:rPr lang="es-ES_tradnl" dirty="0"/>
              <a:t> </a:t>
            </a:r>
            <a:r>
              <a:rPr lang="es-ES_tradnl" dirty="0" err="1"/>
              <a:t>feasible</a:t>
            </a:r>
            <a:r>
              <a:rPr lang="es-ES_tradnl" dirty="0"/>
              <a:t> </a:t>
            </a:r>
            <a:r>
              <a:rPr lang="es-ES_tradnl" dirty="0" err="1"/>
              <a:t>paths</a:t>
            </a:r>
            <a:r>
              <a:rPr lang="es-ES_tradnl" dirty="0"/>
              <a:t> </a:t>
            </a:r>
            <a:r>
              <a:rPr lang="es-ES_tradnl" dirty="0" err="1"/>
              <a:t>to</a:t>
            </a:r>
            <a:r>
              <a:rPr lang="es-ES_tradnl" dirty="0"/>
              <a:t> </a:t>
            </a:r>
            <a:r>
              <a:rPr lang="es-ES_tradnl" dirty="0" err="1"/>
              <a:t>dynamically</a:t>
            </a:r>
            <a:r>
              <a:rPr lang="es-ES_tradnl" dirty="0"/>
              <a:t> </a:t>
            </a:r>
            <a:r>
              <a:rPr lang="es-ES_tradnl" dirty="0" err="1"/>
              <a:t>feasible</a:t>
            </a:r>
            <a:r>
              <a:rPr lang="es-ES_tradnl" dirty="0"/>
              <a:t> </a:t>
            </a:r>
            <a:r>
              <a:rPr lang="es-ES_tradnl" dirty="0" err="1"/>
              <a:t>trajectories</a:t>
            </a:r>
            <a:r>
              <a:rPr lang="es-ES_tradnl" dirty="0"/>
              <a:t>. </a:t>
            </a:r>
            <a:r>
              <a:rPr lang="es-ES_tradnl" dirty="0" err="1"/>
              <a:t>One</a:t>
            </a:r>
            <a:r>
              <a:rPr lang="es-ES_tradnl" dirty="0"/>
              <a:t> </a:t>
            </a:r>
            <a:r>
              <a:rPr lang="es-ES_tradnl" dirty="0" err="1"/>
              <a:t>could</a:t>
            </a:r>
            <a:r>
              <a:rPr lang="es-ES_tradnl" dirty="0"/>
              <a:t> </a:t>
            </a:r>
            <a:r>
              <a:rPr lang="es-ES_tradnl" dirty="0" err="1"/>
              <a:t>also</a:t>
            </a:r>
            <a:r>
              <a:rPr lang="es-ES_tradnl" dirty="0"/>
              <a:t> </a:t>
            </a:r>
            <a:r>
              <a:rPr lang="es-ES_tradnl" dirty="0" err="1"/>
              <a:t>reason</a:t>
            </a:r>
            <a:r>
              <a:rPr lang="es-ES_tradnl" dirty="0"/>
              <a:t> in </a:t>
            </a:r>
            <a:r>
              <a:rPr lang="es-ES_tradnl" dirty="0" err="1"/>
              <a:t>terms</a:t>
            </a:r>
            <a:r>
              <a:rPr lang="es-ES_tradnl" dirty="0"/>
              <a:t> </a:t>
            </a:r>
            <a:r>
              <a:rPr lang="es-ES_tradnl" dirty="0" err="1"/>
              <a:t>of</a:t>
            </a:r>
            <a:r>
              <a:rPr lang="es-ES_tradnl" dirty="0"/>
              <a:t> </a:t>
            </a:r>
            <a:r>
              <a:rPr lang="es-ES_tradnl" dirty="0" err="1"/>
              <a:t>dynamical</a:t>
            </a:r>
            <a:r>
              <a:rPr lang="es-ES_tradnl" baseline="0" dirty="0"/>
              <a:t> </a:t>
            </a:r>
            <a:r>
              <a:rPr lang="es-ES_tradnl" baseline="0" dirty="0" err="1"/>
              <a:t>models</a:t>
            </a:r>
            <a:endParaRPr lang="es-ES_tradnl" baseline="0" dirty="0"/>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endParaRPr lang="es-ES_tradnl" baseline="0" dirty="0"/>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s-ES_tradnl" baseline="0" dirty="0" err="1"/>
              <a:t>We’ll</a:t>
            </a:r>
            <a:r>
              <a:rPr lang="es-ES_tradnl" baseline="0" dirty="0"/>
              <a:t> </a:t>
            </a:r>
            <a:r>
              <a:rPr lang="es-ES_tradnl" baseline="0" dirty="0" err="1"/>
              <a:t>go</a:t>
            </a:r>
            <a:r>
              <a:rPr lang="es-ES_tradnl" baseline="0" dirty="0"/>
              <a:t> </a:t>
            </a:r>
            <a:r>
              <a:rPr lang="es-ES_tradnl" baseline="0" dirty="0" err="1"/>
              <a:t>deeper</a:t>
            </a:r>
            <a:r>
              <a:rPr lang="es-ES_tradnl" baseline="0" dirty="0"/>
              <a:t> </a:t>
            </a:r>
            <a:r>
              <a:rPr lang="es-ES_tradnl" baseline="0" dirty="0" err="1"/>
              <a:t>on</a:t>
            </a:r>
            <a:r>
              <a:rPr lang="es-ES_tradnl" baseline="0" dirty="0"/>
              <a:t> </a:t>
            </a:r>
            <a:r>
              <a:rPr lang="es-ES_tradnl" baseline="0" dirty="0" err="1"/>
              <a:t>this</a:t>
            </a:r>
            <a:r>
              <a:rPr lang="es-ES_tradnl" baseline="0" dirty="0"/>
              <a:t> in </a:t>
            </a:r>
            <a:r>
              <a:rPr lang="es-ES_tradnl" baseline="0" dirty="0" err="1"/>
              <a:t>the</a:t>
            </a:r>
            <a:r>
              <a:rPr lang="es-ES_tradnl" baseline="0" dirty="0"/>
              <a:t> </a:t>
            </a:r>
            <a:r>
              <a:rPr lang="es-ES_tradnl" baseline="0" dirty="0" err="1"/>
              <a:t>pset</a:t>
            </a:r>
            <a:r>
              <a:rPr lang="es-ES_tradnl" baseline="0" dirty="0"/>
              <a:t> </a:t>
            </a:r>
            <a:r>
              <a:rPr lang="es-ES_tradnl" baseline="0" dirty="0" err="1"/>
              <a:t>for</a:t>
            </a:r>
            <a:r>
              <a:rPr lang="es-ES_tradnl" baseline="0" dirty="0"/>
              <a:t> </a:t>
            </a:r>
            <a:r>
              <a:rPr lang="es-ES_tradnl" baseline="0" dirty="0" err="1"/>
              <a:t>the</a:t>
            </a:r>
            <a:r>
              <a:rPr lang="es-ES_tradnl" baseline="0" dirty="0"/>
              <a:t> </a:t>
            </a:r>
            <a:r>
              <a:rPr lang="es-ES_tradnl" baseline="0" dirty="0" err="1"/>
              <a:t>differential</a:t>
            </a:r>
            <a:r>
              <a:rPr lang="es-ES_tradnl" baseline="0" dirty="0"/>
              <a:t> drive</a:t>
            </a:r>
            <a:r>
              <a:rPr lang="es-ES_tradnl" dirty="0"/>
              <a:t> </a:t>
            </a:r>
            <a:endParaRPr lang="es-ES_tradnl" sz="1200"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63B2D7EC-928D-0645-AAE8-498D7443D60E}" type="slidenum">
              <a:rPr lang="en-US" smtClean="0"/>
              <a:t>12</a:t>
            </a:fld>
            <a:endParaRPr lang="en-US"/>
          </a:p>
        </p:txBody>
      </p:sp>
    </p:spTree>
    <p:extLst>
      <p:ext uri="{BB962C8B-B14F-4D97-AF65-F5344CB8AC3E}">
        <p14:creationId xmlns:p14="http://schemas.microsoft.com/office/powerpoint/2010/main" val="4224130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a:t>Scalar case is like a 1x1 matrix, and so the scalar is an eigenvalue of itself.</a:t>
            </a:r>
          </a:p>
          <a:p>
            <a:pPr marL="0" indent="0">
              <a:buFont typeface="Arial" panose="020B0604020202020204" pitchFamily="34" charset="0"/>
              <a:buNone/>
            </a:pPr>
            <a:endParaRPr lang="en-US"/>
          </a:p>
          <a:p>
            <a:pPr marL="0" indent="0">
              <a:buFont typeface="Arial" panose="020B0604020202020204" pitchFamily="34" charset="0"/>
              <a:buNone/>
            </a:pPr>
            <a:r>
              <a:rPr lang="en-US"/>
              <a:t>Without going into details on Jordan normal forms, etc., we can say the matrix exponential is always a sum of possibly time-varying coefficient matrices, each multiplied by an exponential term. </a:t>
            </a:r>
          </a:p>
          <a:p>
            <a:pPr marL="0" indent="0">
              <a:buFont typeface="Arial" panose="020B0604020202020204" pitchFamily="34" charset="0"/>
              <a:buNone/>
            </a:pPr>
            <a:endParaRPr lang="en-US"/>
          </a:p>
          <a:p>
            <a:pPr marL="0" indent="0">
              <a:buFont typeface="Arial" panose="020B0604020202020204" pitchFamily="34" charset="0"/>
              <a:buNone/>
            </a:pPr>
            <a:r>
              <a:rPr lang="en-US"/>
              <a:t>Critically, the terms of these coefficient matrices C(t) are always either sinusoids or powers of “t”, so the scalar exponential factor determines the prevailing growth/decay rate of each term.</a:t>
            </a:r>
          </a:p>
        </p:txBody>
      </p:sp>
      <p:sp>
        <p:nvSpPr>
          <p:cNvPr id="4" name="Slide Number Placeholder 3"/>
          <p:cNvSpPr>
            <a:spLocks noGrp="1"/>
          </p:cNvSpPr>
          <p:nvPr>
            <p:ph type="sldNum" sz="quarter" idx="10"/>
          </p:nvPr>
        </p:nvSpPr>
        <p:spPr/>
        <p:txBody>
          <a:bodyPr/>
          <a:lstStyle/>
          <a:p>
            <a:fld id="{63B2D7EC-928D-0645-AAE8-498D7443D60E}" type="slidenum">
              <a:rPr lang="en-US" smtClean="0"/>
              <a:t>13</a:t>
            </a:fld>
            <a:endParaRPr lang="en-US"/>
          </a:p>
        </p:txBody>
      </p:sp>
    </p:spTree>
    <p:extLst>
      <p:ext uri="{BB962C8B-B14F-4D97-AF65-F5344CB8AC3E}">
        <p14:creationId xmlns:p14="http://schemas.microsoft.com/office/powerpoint/2010/main" val="57995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1" dirty="0">
                <a:solidFill>
                  <a:srgbClr val="232323"/>
                </a:solidFill>
                <a:effectLst/>
                <a:latin typeface="Roboto" panose="020F0502020204030204" pitchFamily="34" charset="0"/>
              </a:rPr>
              <a:t>Derivative</a:t>
            </a:r>
            <a:r>
              <a:rPr lang="en-US" b="0" i="0" dirty="0">
                <a:solidFill>
                  <a:srgbClr val="232323"/>
                </a:solidFill>
                <a:effectLst/>
                <a:latin typeface="Roboto" panose="02000000000000000000" pitchFamily="2" charset="0"/>
              </a:rPr>
              <a:t> acts as a brake or dampener on the control effort. </a:t>
            </a:r>
          </a:p>
          <a:p>
            <a:pPr marL="171450" indent="-171450">
              <a:buFont typeface="Arial" panose="020B0604020202020204" pitchFamily="34" charset="0"/>
              <a:buChar char="•"/>
            </a:pPr>
            <a:r>
              <a:rPr lang="en-US" b="0" i="0" dirty="0">
                <a:solidFill>
                  <a:srgbClr val="232323"/>
                </a:solidFill>
                <a:effectLst/>
                <a:latin typeface="Roboto" panose="02000000000000000000" pitchFamily="2" charset="0"/>
              </a:rPr>
              <a:t>The proportional term looks at where my value is currently. Derivative tries to work opposite of where proportional is trying to drive the process. P is trying to drive one way, and D is trying to counteract that.</a:t>
            </a:r>
          </a:p>
          <a:p>
            <a:pPr marL="171450" indent="-171450" algn="just">
              <a:buFont typeface="Arial" panose="020B0604020202020204" pitchFamily="34" charset="0"/>
              <a:buChar char="•"/>
            </a:pPr>
            <a:r>
              <a:rPr lang="en-US" b="0" i="0" dirty="0">
                <a:solidFill>
                  <a:srgbClr val="000000"/>
                </a:solidFill>
                <a:effectLst/>
                <a:latin typeface="Arial" panose="020B0604020202020204" pitchFamily="34" charset="0"/>
              </a:rPr>
              <a:t>Increasing the proportional gain () has the effect of proportionally increasing the control signal for the same level of error. The fact that the controller will "push" harder for a given level of error tends to cause the closed-loop system to react more quickly, but also to overshoot more. Another effect of increasing  is that it tends to reduce, but not eliminate, the </a:t>
            </a:r>
            <a:r>
              <a:rPr lang="en-US" b="1" i="0" dirty="0">
                <a:solidFill>
                  <a:srgbClr val="000000"/>
                </a:solidFill>
                <a:effectLst/>
                <a:latin typeface="Arial" panose="020B0604020202020204" pitchFamily="34" charset="0"/>
              </a:rPr>
              <a:t>steady-state error</a:t>
            </a:r>
            <a:endParaRPr lang="en-US" b="0" i="0" dirty="0">
              <a:solidFill>
                <a:srgbClr val="000000"/>
              </a:solidFill>
              <a:effectLst/>
              <a:latin typeface="Arial" panose="020B0604020202020204" pitchFamily="34" charset="0"/>
            </a:endParaRPr>
          </a:p>
          <a:p>
            <a:pPr marL="171450" indent="-171450" algn="just">
              <a:buFont typeface="Arial" panose="020B0604020202020204" pitchFamily="34" charset="0"/>
              <a:buChar char="•"/>
            </a:pPr>
            <a:r>
              <a:rPr lang="en-US" b="0" i="0" dirty="0">
                <a:solidFill>
                  <a:srgbClr val="000000"/>
                </a:solidFill>
                <a:effectLst/>
                <a:latin typeface="Arial" panose="020B0604020202020204" pitchFamily="34" charset="0"/>
              </a:rPr>
              <a:t>The addition of a derivative term to the controller () adds the ability of the controller to "anticipate" error. With simple proportional control, if  is fixed, the only way that the control will increase is if the error increases. With derivative control, the control signal can become large if the error begins sloping upward, even while the magnitude of the error is still relatively small. This anticipation tends to add damping to the system, thereby decreasing overshoot. The addition of a derivative term, however, has no effect on the steady-state error.</a:t>
            </a:r>
          </a:p>
          <a:p>
            <a:pPr marL="171450" indent="-171450">
              <a:buFont typeface="Arial" panose="020B0604020202020204" pitchFamily="34" charset="0"/>
              <a:buChar char="•"/>
            </a:pPr>
            <a:endParaRPr lang="en-US" b="0" i="0" dirty="0">
              <a:solidFill>
                <a:srgbClr val="232323"/>
              </a:solidFill>
              <a:effectLst/>
              <a:latin typeface="Roboto" panose="02000000000000000000" pitchFamily="2" charset="0"/>
            </a:endParaRPr>
          </a:p>
          <a:p>
            <a:pPr marL="171450" indent="-171450">
              <a:buFont typeface="Arial" panose="020B0604020202020204" pitchFamily="34" charset="0"/>
              <a:buChar char="•"/>
            </a:pPr>
            <a:endParaRPr lang="en-US" b="0" i="0" dirty="0">
              <a:solidFill>
                <a:srgbClr val="232323"/>
              </a:solidFill>
              <a:effectLst/>
              <a:latin typeface="Roboto" panose="02000000000000000000" pitchFamily="2" charset="0"/>
            </a:endParaRPr>
          </a:p>
          <a:p>
            <a:pPr marL="171450" indent="-171450">
              <a:buFont typeface="Arial" panose="020B0604020202020204" pitchFamily="34" charset="0"/>
              <a:buChar char="•"/>
            </a:pPr>
            <a:r>
              <a:rPr lang="en-US" b="0" i="0" dirty="0">
                <a:solidFill>
                  <a:srgbClr val="232323"/>
                </a:solidFill>
                <a:effectLst/>
                <a:latin typeface="Roboto" panose="02000000000000000000" pitchFamily="2" charset="0"/>
              </a:rPr>
              <a:t>%%</a:t>
            </a:r>
          </a:p>
          <a:p>
            <a:pPr algn="just"/>
            <a:r>
              <a:rPr lang="en-US" b="0" i="0" dirty="0">
                <a:solidFill>
                  <a:srgbClr val="000000"/>
                </a:solidFill>
                <a:effectLst/>
                <a:latin typeface="Arial" panose="020B0604020202020204" pitchFamily="34" charset="0"/>
              </a:rPr>
              <a:t>Increasing the proportional gain () has the effect of proportionally increasing the control signal for the same level of error. The fact that the controller will "push" harder for a given level of error tends to cause the closed-loop system to react more quickly, but also to overshoot more. Another effect of increasing  is that it tends to reduce, but not eliminate, the </a:t>
            </a:r>
            <a:r>
              <a:rPr lang="en-US" b="1" i="0" dirty="0">
                <a:solidFill>
                  <a:srgbClr val="000000"/>
                </a:solidFill>
                <a:effectLst/>
                <a:latin typeface="Arial" panose="020B0604020202020204" pitchFamily="34" charset="0"/>
              </a:rPr>
              <a:t>steady-state error</a:t>
            </a:r>
            <a:r>
              <a:rPr lang="en-US" b="0" i="0" dirty="0">
                <a:solidFill>
                  <a:srgbClr val="000000"/>
                </a:solidFill>
                <a:effectLst/>
                <a:latin typeface="Arial" panose="020B0604020202020204" pitchFamily="34" charset="0"/>
              </a:rPr>
              <a:t>.</a:t>
            </a:r>
          </a:p>
          <a:p>
            <a:pPr algn="just"/>
            <a:r>
              <a:rPr lang="en-US" b="0" i="0" dirty="0">
                <a:solidFill>
                  <a:srgbClr val="000000"/>
                </a:solidFill>
                <a:effectLst/>
                <a:latin typeface="Arial" panose="020B0604020202020204" pitchFamily="34" charset="0"/>
              </a:rPr>
              <a:t>The addition of a derivative term to the controller () adds the ability of the controller to "anticipate" error. With simple proportional control, if  is fixed, the only way that the control will increase is if the error increases. With derivative control, the control signal can become large if the error begins sloping upward, even while the magnitude of the error is still relatively small. This anticipation tends to add damping to the system, thereby decreasing overshoot. The addition of a derivative term, however, has no effect on the steady-state error.</a:t>
            </a:r>
          </a:p>
          <a:p>
            <a:pPr algn="just"/>
            <a:r>
              <a:rPr lang="en-US" b="0" i="0" dirty="0">
                <a:solidFill>
                  <a:srgbClr val="000000"/>
                </a:solidFill>
                <a:effectLst/>
                <a:latin typeface="Arial" panose="020B0604020202020204" pitchFamily="34" charset="0"/>
              </a:rPr>
              <a:t>The addition of an integral term to the controller () tends to help reduce steady-state error. If there is a persistent, steady error, the integrator builds and builds, thereby increasing the control signal and driving the error down. A drawback of the integral term, however, is that it can make the system more sluggish (and oscillatory) since when the error signal changes sign, it may take a while for the integrator to "unwind.”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b="0" i="0" dirty="0">
                <a:solidFill>
                  <a:srgbClr val="232323"/>
                </a:solidFill>
                <a:effectLst/>
                <a:latin typeface="Roboto" panose="02000000000000000000" pitchFamily="2" charset="0"/>
              </a:rPr>
              <a:t>The proportional term looks at where my value is currently. Integral looks at where I’ve been over time, and derivative tries to predict where I’m going. Derivative tries to work opposite of where proportional and integral are trying to drive the process. P and I are trying to drive one way, and D is trying to counteract that. Derivative has its largest effect when the process is changing rapidly in one direction. The P and I terms are saying, ‘Keep going.’ The derivative catches it and says, ‘You’re going too fast. You need to slow down</a:t>
            </a:r>
          </a:p>
          <a:p>
            <a:pPr algn="just"/>
            <a:endParaRPr lang="en-US" b="0" i="0" dirty="0">
              <a:solidFill>
                <a:srgbClr val="000000"/>
              </a:solidFill>
              <a:effectLst/>
              <a:latin typeface="Arial" panose="020B0604020202020204" pitchFamily="34" charset="0"/>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63B2D7EC-928D-0645-AAE8-498D7443D60E}" type="slidenum">
              <a:rPr lang="en-US" smtClean="0"/>
              <a:t>14</a:t>
            </a:fld>
            <a:endParaRPr lang="en-US"/>
          </a:p>
        </p:txBody>
      </p:sp>
    </p:spTree>
    <p:extLst>
      <p:ext uri="{BB962C8B-B14F-4D97-AF65-F5344CB8AC3E}">
        <p14:creationId xmlns:p14="http://schemas.microsoft.com/office/powerpoint/2010/main" val="12347385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Jacobian of a vector-valued function of several variables is the matrix of all its first-order partial derivatives. </a:t>
            </a:r>
          </a:p>
          <a:p>
            <a:pPr marL="171450" indent="-171450">
              <a:buFont typeface="Arial" panose="020B0604020202020204" pitchFamily="34" charset="0"/>
              <a:buChar char="•"/>
            </a:pPr>
            <a:r>
              <a:rPr lang="en-US" dirty="0"/>
              <a:t>Suppose f : Rn → Rm is a function such that each of its first-order partial derivatives exist on Rn.</a:t>
            </a:r>
          </a:p>
          <a:p>
            <a:pPr marL="171450" indent="-171450">
              <a:buFont typeface="Arial" panose="020B0604020202020204" pitchFamily="34" charset="0"/>
              <a:buChar char="•"/>
            </a:pPr>
            <a:r>
              <a:rPr lang="en-US" dirty="0"/>
              <a:t>Then the Jacobian matrix of f is defined to be an </a:t>
            </a:r>
            <a:r>
              <a:rPr lang="en-US" dirty="0" err="1"/>
              <a:t>m×n</a:t>
            </a:r>
            <a:r>
              <a:rPr lang="en-US" dirty="0"/>
              <a:t> matrix, denoted by J, whose (</a:t>
            </a:r>
            <a:r>
              <a:rPr lang="en-US" dirty="0" err="1"/>
              <a:t>i,j</a:t>
            </a:r>
            <a:r>
              <a:rPr lang="en-US" dirty="0"/>
              <a:t>)</a:t>
            </a:r>
            <a:r>
              <a:rPr lang="en-US" dirty="0" err="1"/>
              <a:t>th</a:t>
            </a:r>
            <a:r>
              <a:rPr lang="en-US" dirty="0"/>
              <a:t> entry is </a:t>
            </a:r>
          </a:p>
          <a:p>
            <a:pPr marL="171450" indent="-171450">
              <a:buFont typeface="Arial" panose="020B0604020202020204" pitchFamily="34" charset="0"/>
              <a:buChar char="•"/>
            </a:pPr>
            <a:r>
              <a:rPr lang="en-US" dirty="0"/>
              <a:t>{\</a:t>
            </a:r>
            <a:r>
              <a:rPr lang="en-US" dirty="0" err="1"/>
              <a:t>textstyle</a:t>
            </a:r>
            <a:r>
              <a:rPr lang="en-US" dirty="0"/>
              <a:t> \</a:t>
            </a:r>
            <a:r>
              <a:rPr lang="en-US" dirty="0" err="1"/>
              <a:t>mathbf</a:t>
            </a:r>
            <a:r>
              <a:rPr lang="en-US" dirty="0"/>
              <a:t> {J} _{</a:t>
            </a:r>
            <a:r>
              <a:rPr lang="en-US" dirty="0" err="1"/>
              <a:t>ij</a:t>
            </a:r>
            <a:r>
              <a:rPr lang="en-US" dirty="0"/>
              <a:t>}={\frac {\partial f_{</a:t>
            </a:r>
            <a:r>
              <a:rPr lang="en-US" dirty="0" err="1"/>
              <a:t>i</a:t>
            </a:r>
            <a:r>
              <a:rPr lang="en-US" dirty="0"/>
              <a:t>}}{\partial x_{j}}}}, or explicitly </a:t>
            </a:r>
          </a:p>
        </p:txBody>
      </p:sp>
      <p:sp>
        <p:nvSpPr>
          <p:cNvPr id="4" name="Slide Number Placeholder 3"/>
          <p:cNvSpPr>
            <a:spLocks noGrp="1"/>
          </p:cNvSpPr>
          <p:nvPr>
            <p:ph type="sldNum" sz="quarter" idx="10"/>
          </p:nvPr>
        </p:nvSpPr>
        <p:spPr/>
        <p:txBody>
          <a:bodyPr/>
          <a:lstStyle/>
          <a:p>
            <a:fld id="{63B2D7EC-928D-0645-AAE8-498D7443D60E}" type="slidenum">
              <a:rPr lang="en-US" smtClean="0"/>
              <a:t>16</a:t>
            </a:fld>
            <a:endParaRPr lang="en-US"/>
          </a:p>
        </p:txBody>
      </p:sp>
    </p:spTree>
    <p:extLst>
      <p:ext uri="{BB962C8B-B14F-4D97-AF65-F5344CB8AC3E}">
        <p14:creationId xmlns:p14="http://schemas.microsoft.com/office/powerpoint/2010/main" val="2900428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The net torque of the system must equal the moment of inertia times the angular acceleration:</a:t>
            </a:r>
          </a:p>
        </p:txBody>
      </p:sp>
      <p:sp>
        <p:nvSpPr>
          <p:cNvPr id="4" name="Slide Number Placeholder 3"/>
          <p:cNvSpPr>
            <a:spLocks noGrp="1"/>
          </p:cNvSpPr>
          <p:nvPr>
            <p:ph type="sldNum" sz="quarter" idx="10"/>
          </p:nvPr>
        </p:nvSpPr>
        <p:spPr/>
        <p:txBody>
          <a:bodyPr/>
          <a:lstStyle/>
          <a:p>
            <a:fld id="{63B2D7EC-928D-0645-AAE8-498D7443D60E}" type="slidenum">
              <a:rPr lang="en-US" smtClean="0"/>
              <a:t>17</a:t>
            </a:fld>
            <a:endParaRPr lang="en-US"/>
          </a:p>
        </p:txBody>
      </p:sp>
    </p:spTree>
    <p:extLst>
      <p:ext uri="{BB962C8B-B14F-4D97-AF65-F5344CB8AC3E}">
        <p14:creationId xmlns:p14="http://schemas.microsoft.com/office/powerpoint/2010/main" val="3486615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10"/>
          </p:nvPr>
        </p:nvSpPr>
        <p:spPr/>
        <p:txBody>
          <a:bodyPr/>
          <a:lstStyle/>
          <a:p>
            <a:fld id="{63B2D7EC-928D-0645-AAE8-498D7443D60E}" type="slidenum">
              <a:rPr lang="en-US" smtClean="0"/>
              <a:t>18</a:t>
            </a:fld>
            <a:endParaRPr lang="en-US"/>
          </a:p>
        </p:txBody>
      </p:sp>
    </p:spTree>
    <p:extLst>
      <p:ext uri="{BB962C8B-B14F-4D97-AF65-F5344CB8AC3E}">
        <p14:creationId xmlns:p14="http://schemas.microsoft.com/office/powerpoint/2010/main" val="6448156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B2D7EC-928D-0645-AAE8-498D7443D60E}" type="slidenum">
              <a:rPr lang="en-US" smtClean="0"/>
              <a:t>19</a:t>
            </a:fld>
            <a:endParaRPr lang="en-US"/>
          </a:p>
        </p:txBody>
      </p:sp>
    </p:spTree>
    <p:extLst>
      <p:ext uri="{BB962C8B-B14F-4D97-AF65-F5344CB8AC3E}">
        <p14:creationId xmlns:p14="http://schemas.microsoft.com/office/powerpoint/2010/main" val="376762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198D573-476B-4E4B-801C-3CDAC5630FB4}"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3 </a:t>
            </a:r>
            <a:endParaRPr lang="en-US"/>
          </a:p>
        </p:txBody>
      </p:sp>
      <p:sp>
        <p:nvSpPr>
          <p:cNvPr id="6" name="Slide Number Placeholder 5"/>
          <p:cNvSpPr>
            <a:spLocks noGrp="1"/>
          </p:cNvSpPr>
          <p:nvPr>
            <p:ph type="sldNum" sz="quarter" idx="12"/>
          </p:nvPr>
        </p:nvSpPr>
        <p:spPr/>
        <p:txBody>
          <a:bodyPr/>
          <a:lstStyle/>
          <a:p>
            <a:fld id="{8AA1F273-EF2F-3941-BBF8-D365CB27DD6A}" type="slidenum">
              <a:rPr lang="en-US" smtClean="0"/>
              <a:t>‹#›</a:t>
            </a:fld>
            <a:endParaRPr lang="en-US"/>
          </a:p>
        </p:txBody>
      </p:sp>
      <p:sp>
        <p:nvSpPr>
          <p:cNvPr id="7" name="Rectangle 6"/>
          <p:cNvSpPr/>
          <p:nvPr userDrawn="1"/>
        </p:nvSpPr>
        <p:spPr>
          <a:xfrm>
            <a:off x="0" y="0"/>
            <a:ext cx="12192000" cy="274320"/>
          </a:xfrm>
          <a:prstGeom prst="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013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542090"/>
            <a:ext cx="2743200" cy="365125"/>
          </a:xfrm>
        </p:spPr>
        <p:txBody>
          <a:bodyPr/>
          <a:lstStyle/>
          <a:p>
            <a:fld id="{A558A9F6-D5E6-2845-9990-457223861935}" type="datetime1">
              <a:rPr lang="en-US" smtClean="0"/>
              <a:t>12/20/2025</a:t>
            </a:fld>
            <a:endParaRPr lang="en-US"/>
          </a:p>
        </p:txBody>
      </p:sp>
      <p:sp>
        <p:nvSpPr>
          <p:cNvPr id="5" name="Footer Placeholder 4"/>
          <p:cNvSpPr>
            <a:spLocks noGrp="1"/>
          </p:cNvSpPr>
          <p:nvPr>
            <p:ph type="ftr" sz="quarter" idx="11"/>
          </p:nvPr>
        </p:nvSpPr>
        <p:spPr>
          <a:xfrm>
            <a:off x="4038600" y="6542090"/>
            <a:ext cx="4114800" cy="365125"/>
          </a:xfrm>
        </p:spPr>
        <p:txBody>
          <a:bodyPr/>
          <a:lstStyle/>
          <a:p>
            <a:r>
              <a:rPr lang="hr-HR"/>
              <a:t>AA 174A | Lecture 3 </a:t>
            </a:r>
            <a:endParaRPr lang="en-US"/>
          </a:p>
        </p:txBody>
      </p:sp>
      <p:sp>
        <p:nvSpPr>
          <p:cNvPr id="6" name="Slide Number Placeholder 5"/>
          <p:cNvSpPr>
            <a:spLocks noGrp="1"/>
          </p:cNvSpPr>
          <p:nvPr>
            <p:ph type="sldNum" sz="quarter" idx="12"/>
          </p:nvPr>
        </p:nvSpPr>
        <p:spPr>
          <a:xfrm>
            <a:off x="8610600" y="6542090"/>
            <a:ext cx="2743200" cy="365125"/>
          </a:xfrm>
        </p:spPr>
        <p:txBody>
          <a:bodyPr/>
          <a:lstStyle/>
          <a:p>
            <a:fld id="{8AA1F273-EF2F-3941-BBF8-D365CB27DD6A}" type="slidenum">
              <a:rPr lang="en-US" smtClean="0"/>
              <a:t>‹#›</a:t>
            </a:fld>
            <a:endParaRPr lang="en-US"/>
          </a:p>
        </p:txBody>
      </p:sp>
      <p:sp>
        <p:nvSpPr>
          <p:cNvPr id="7" name="Rectangle 6"/>
          <p:cNvSpPr/>
          <p:nvPr userDrawn="1"/>
        </p:nvSpPr>
        <p:spPr>
          <a:xfrm>
            <a:off x="0" y="0"/>
            <a:ext cx="12192000" cy="274320"/>
          </a:xfrm>
          <a:prstGeom prst="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9804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B49AB-0ACD-CF49-BE51-50E026D6A578}"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3 </a:t>
            </a:r>
            <a:endParaRPr lang="en-US"/>
          </a:p>
        </p:txBody>
      </p:sp>
      <p:sp>
        <p:nvSpPr>
          <p:cNvPr id="6" name="Slide Number Placeholder 5"/>
          <p:cNvSpPr>
            <a:spLocks noGrp="1"/>
          </p:cNvSpPr>
          <p:nvPr>
            <p:ph type="sldNum" sz="quarter" idx="12"/>
          </p:nvPr>
        </p:nvSpPr>
        <p:spPr/>
        <p:txBody>
          <a:bodyPr/>
          <a:lstStyle/>
          <a:p>
            <a:fld id="{8AA1F273-EF2F-3941-BBF8-D365CB27DD6A}" type="slidenum">
              <a:rPr lang="en-US" smtClean="0"/>
              <a:t>‹#›</a:t>
            </a:fld>
            <a:endParaRPr lang="en-US"/>
          </a:p>
        </p:txBody>
      </p:sp>
    </p:spTree>
    <p:extLst>
      <p:ext uri="{BB962C8B-B14F-4D97-AF65-F5344CB8AC3E}">
        <p14:creationId xmlns:p14="http://schemas.microsoft.com/office/powerpoint/2010/main" val="904980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06BFD6C-9ECE-944C-A29D-36F5BBEA52F6}" type="datetime1">
              <a:rPr lang="en-US" smtClean="0"/>
              <a:t>12/20/2025</a:t>
            </a:fld>
            <a:endParaRPr lang="en-US"/>
          </a:p>
        </p:txBody>
      </p:sp>
      <p:sp>
        <p:nvSpPr>
          <p:cNvPr id="6" name="Footer Placeholder 5"/>
          <p:cNvSpPr>
            <a:spLocks noGrp="1"/>
          </p:cNvSpPr>
          <p:nvPr>
            <p:ph type="ftr" sz="quarter" idx="11"/>
          </p:nvPr>
        </p:nvSpPr>
        <p:spPr/>
        <p:txBody>
          <a:bodyPr/>
          <a:lstStyle/>
          <a:p>
            <a:r>
              <a:rPr lang="hr-HR"/>
              <a:t>AA 174A | Lecture 3 </a:t>
            </a:r>
            <a:endParaRPr lang="en-US"/>
          </a:p>
        </p:txBody>
      </p:sp>
      <p:sp>
        <p:nvSpPr>
          <p:cNvPr id="7" name="Slide Number Placeholder 6"/>
          <p:cNvSpPr>
            <a:spLocks noGrp="1"/>
          </p:cNvSpPr>
          <p:nvPr>
            <p:ph type="sldNum" sz="quarter" idx="12"/>
          </p:nvPr>
        </p:nvSpPr>
        <p:spPr/>
        <p:txBody>
          <a:bodyPr/>
          <a:lstStyle/>
          <a:p>
            <a:fld id="{8AA1F273-EF2F-3941-BBF8-D365CB27DD6A}" type="slidenum">
              <a:rPr lang="en-US" smtClean="0"/>
              <a:t>‹#›</a:t>
            </a:fld>
            <a:endParaRPr lang="en-US"/>
          </a:p>
        </p:txBody>
      </p:sp>
    </p:spTree>
    <p:extLst>
      <p:ext uri="{BB962C8B-B14F-4D97-AF65-F5344CB8AC3E}">
        <p14:creationId xmlns:p14="http://schemas.microsoft.com/office/powerpoint/2010/main" val="1535319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F4557C-74B3-2346-929E-12698982B5CE}" type="datetime1">
              <a:rPr lang="en-US" smtClean="0"/>
              <a:t>12/20/2025</a:t>
            </a:fld>
            <a:endParaRPr lang="en-US"/>
          </a:p>
        </p:txBody>
      </p:sp>
      <p:sp>
        <p:nvSpPr>
          <p:cNvPr id="8" name="Footer Placeholder 7"/>
          <p:cNvSpPr>
            <a:spLocks noGrp="1"/>
          </p:cNvSpPr>
          <p:nvPr>
            <p:ph type="ftr" sz="quarter" idx="11"/>
          </p:nvPr>
        </p:nvSpPr>
        <p:spPr/>
        <p:txBody>
          <a:bodyPr/>
          <a:lstStyle/>
          <a:p>
            <a:r>
              <a:rPr lang="hr-HR"/>
              <a:t>AA 174A | Lecture 3 </a:t>
            </a:r>
            <a:endParaRPr lang="en-US"/>
          </a:p>
        </p:txBody>
      </p:sp>
      <p:sp>
        <p:nvSpPr>
          <p:cNvPr id="9" name="Slide Number Placeholder 8"/>
          <p:cNvSpPr>
            <a:spLocks noGrp="1"/>
          </p:cNvSpPr>
          <p:nvPr>
            <p:ph type="sldNum" sz="quarter" idx="12"/>
          </p:nvPr>
        </p:nvSpPr>
        <p:spPr/>
        <p:txBody>
          <a:bodyPr/>
          <a:lstStyle/>
          <a:p>
            <a:fld id="{8AA1F273-EF2F-3941-BBF8-D365CB27DD6A}" type="slidenum">
              <a:rPr lang="en-US" smtClean="0"/>
              <a:t>‹#›</a:t>
            </a:fld>
            <a:endParaRPr lang="en-US"/>
          </a:p>
        </p:txBody>
      </p:sp>
    </p:spTree>
    <p:extLst>
      <p:ext uri="{BB962C8B-B14F-4D97-AF65-F5344CB8AC3E}">
        <p14:creationId xmlns:p14="http://schemas.microsoft.com/office/powerpoint/2010/main" val="2094834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A6B8B24-8D39-7B4E-A033-7A62D6DB1E4F}" type="datetime1">
              <a:rPr lang="en-US" smtClean="0"/>
              <a:t>12/20/2025</a:t>
            </a:fld>
            <a:endParaRPr lang="en-US"/>
          </a:p>
        </p:txBody>
      </p:sp>
      <p:sp>
        <p:nvSpPr>
          <p:cNvPr id="4" name="Footer Placeholder 3"/>
          <p:cNvSpPr>
            <a:spLocks noGrp="1"/>
          </p:cNvSpPr>
          <p:nvPr>
            <p:ph type="ftr" sz="quarter" idx="11"/>
          </p:nvPr>
        </p:nvSpPr>
        <p:spPr/>
        <p:txBody>
          <a:bodyPr/>
          <a:lstStyle/>
          <a:p>
            <a:r>
              <a:rPr lang="hr-HR"/>
              <a:t>AA 174A | Lecture 3 </a:t>
            </a:r>
            <a:endParaRPr lang="en-US"/>
          </a:p>
        </p:txBody>
      </p:sp>
      <p:sp>
        <p:nvSpPr>
          <p:cNvPr id="5" name="Slide Number Placeholder 4"/>
          <p:cNvSpPr>
            <a:spLocks noGrp="1"/>
          </p:cNvSpPr>
          <p:nvPr>
            <p:ph type="sldNum" sz="quarter" idx="12"/>
          </p:nvPr>
        </p:nvSpPr>
        <p:spPr/>
        <p:txBody>
          <a:bodyPr/>
          <a:lstStyle/>
          <a:p>
            <a:fld id="{8AA1F273-EF2F-3941-BBF8-D365CB27DD6A}" type="slidenum">
              <a:rPr lang="en-US" smtClean="0"/>
              <a:t>‹#›</a:t>
            </a:fld>
            <a:endParaRPr lang="en-US"/>
          </a:p>
        </p:txBody>
      </p:sp>
    </p:spTree>
    <p:extLst>
      <p:ext uri="{BB962C8B-B14F-4D97-AF65-F5344CB8AC3E}">
        <p14:creationId xmlns:p14="http://schemas.microsoft.com/office/powerpoint/2010/main" val="2037137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0C638A-9EB0-AD48-B543-0A1A0111E6A4}" type="datetime1">
              <a:rPr lang="en-US" smtClean="0"/>
              <a:t>12/20/2025</a:t>
            </a:fld>
            <a:endParaRPr lang="en-US"/>
          </a:p>
        </p:txBody>
      </p:sp>
      <p:sp>
        <p:nvSpPr>
          <p:cNvPr id="3" name="Footer Placeholder 2"/>
          <p:cNvSpPr>
            <a:spLocks noGrp="1"/>
          </p:cNvSpPr>
          <p:nvPr>
            <p:ph type="ftr" sz="quarter" idx="11"/>
          </p:nvPr>
        </p:nvSpPr>
        <p:spPr/>
        <p:txBody>
          <a:bodyPr/>
          <a:lstStyle/>
          <a:p>
            <a:r>
              <a:rPr lang="hr-HR"/>
              <a:t>AA 174A | Lecture 3 </a:t>
            </a:r>
            <a:endParaRPr lang="en-US"/>
          </a:p>
        </p:txBody>
      </p:sp>
      <p:sp>
        <p:nvSpPr>
          <p:cNvPr id="4" name="Slide Number Placeholder 3"/>
          <p:cNvSpPr>
            <a:spLocks noGrp="1"/>
          </p:cNvSpPr>
          <p:nvPr>
            <p:ph type="sldNum" sz="quarter" idx="12"/>
          </p:nvPr>
        </p:nvSpPr>
        <p:spPr/>
        <p:txBody>
          <a:bodyPr/>
          <a:lstStyle/>
          <a:p>
            <a:fld id="{8AA1F273-EF2F-3941-BBF8-D365CB27DD6A}" type="slidenum">
              <a:rPr lang="en-US" smtClean="0"/>
              <a:t>‹#›</a:t>
            </a:fld>
            <a:endParaRPr lang="en-US"/>
          </a:p>
        </p:txBody>
      </p:sp>
    </p:spTree>
    <p:extLst>
      <p:ext uri="{BB962C8B-B14F-4D97-AF65-F5344CB8AC3E}">
        <p14:creationId xmlns:p14="http://schemas.microsoft.com/office/powerpoint/2010/main" val="840430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436194C-425D-7E47-AC94-FE8202AE6FBD}" type="datetime1">
              <a:rPr lang="en-US" smtClean="0"/>
              <a:t>12/20/2025</a:t>
            </a:fld>
            <a:endParaRPr lang="en-US"/>
          </a:p>
        </p:txBody>
      </p:sp>
      <p:sp>
        <p:nvSpPr>
          <p:cNvPr id="6" name="Footer Placeholder 5"/>
          <p:cNvSpPr>
            <a:spLocks noGrp="1"/>
          </p:cNvSpPr>
          <p:nvPr>
            <p:ph type="ftr" sz="quarter" idx="11"/>
          </p:nvPr>
        </p:nvSpPr>
        <p:spPr/>
        <p:txBody>
          <a:bodyPr/>
          <a:lstStyle/>
          <a:p>
            <a:r>
              <a:rPr lang="hr-HR"/>
              <a:t>AA 174A | Lecture 3 </a:t>
            </a:r>
            <a:endParaRPr lang="en-US"/>
          </a:p>
        </p:txBody>
      </p:sp>
      <p:sp>
        <p:nvSpPr>
          <p:cNvPr id="7" name="Slide Number Placeholder 6"/>
          <p:cNvSpPr>
            <a:spLocks noGrp="1"/>
          </p:cNvSpPr>
          <p:nvPr>
            <p:ph type="sldNum" sz="quarter" idx="12"/>
          </p:nvPr>
        </p:nvSpPr>
        <p:spPr/>
        <p:txBody>
          <a:bodyPr/>
          <a:lstStyle/>
          <a:p>
            <a:fld id="{8AA1F273-EF2F-3941-BBF8-D365CB27DD6A}" type="slidenum">
              <a:rPr lang="en-US" smtClean="0"/>
              <a:t>‹#›</a:t>
            </a:fld>
            <a:endParaRPr lang="en-US"/>
          </a:p>
        </p:txBody>
      </p:sp>
    </p:spTree>
    <p:extLst>
      <p:ext uri="{BB962C8B-B14F-4D97-AF65-F5344CB8AC3E}">
        <p14:creationId xmlns:p14="http://schemas.microsoft.com/office/powerpoint/2010/main" val="1115752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19FF06-41A0-C848-844D-55F703612456}" type="datetime1">
              <a:rPr lang="en-US" smtClean="0"/>
              <a:t>12/20/2025</a:t>
            </a:fld>
            <a:endParaRPr lang="en-US"/>
          </a:p>
        </p:txBody>
      </p:sp>
      <p:sp>
        <p:nvSpPr>
          <p:cNvPr id="6" name="Footer Placeholder 5"/>
          <p:cNvSpPr>
            <a:spLocks noGrp="1"/>
          </p:cNvSpPr>
          <p:nvPr>
            <p:ph type="ftr" sz="quarter" idx="11"/>
          </p:nvPr>
        </p:nvSpPr>
        <p:spPr/>
        <p:txBody>
          <a:bodyPr/>
          <a:lstStyle/>
          <a:p>
            <a:r>
              <a:rPr lang="hr-HR"/>
              <a:t>AA 174A | Lecture 3 </a:t>
            </a:r>
            <a:endParaRPr lang="en-US"/>
          </a:p>
        </p:txBody>
      </p:sp>
      <p:sp>
        <p:nvSpPr>
          <p:cNvPr id="7" name="Slide Number Placeholder 6"/>
          <p:cNvSpPr>
            <a:spLocks noGrp="1"/>
          </p:cNvSpPr>
          <p:nvPr>
            <p:ph type="sldNum" sz="quarter" idx="12"/>
          </p:nvPr>
        </p:nvSpPr>
        <p:spPr/>
        <p:txBody>
          <a:bodyPr/>
          <a:lstStyle/>
          <a:p>
            <a:fld id="{8AA1F273-EF2F-3941-BBF8-D365CB27DD6A}" type="slidenum">
              <a:rPr lang="en-US" smtClean="0"/>
              <a:t>‹#›</a:t>
            </a:fld>
            <a:endParaRPr lang="en-US"/>
          </a:p>
        </p:txBody>
      </p:sp>
    </p:spTree>
    <p:extLst>
      <p:ext uri="{BB962C8B-B14F-4D97-AF65-F5344CB8AC3E}">
        <p14:creationId xmlns:p14="http://schemas.microsoft.com/office/powerpoint/2010/main" val="631784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709FA7-820F-F744-8721-C462B997D567}"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3 </a:t>
            </a:r>
            <a:endParaRPr lang="en-US"/>
          </a:p>
        </p:txBody>
      </p:sp>
      <p:sp>
        <p:nvSpPr>
          <p:cNvPr id="6" name="Slide Number Placeholder 5"/>
          <p:cNvSpPr>
            <a:spLocks noGrp="1"/>
          </p:cNvSpPr>
          <p:nvPr>
            <p:ph type="sldNum" sz="quarter" idx="12"/>
          </p:nvPr>
        </p:nvSpPr>
        <p:spPr/>
        <p:txBody>
          <a:bodyPr/>
          <a:lstStyle/>
          <a:p>
            <a:fld id="{8AA1F273-EF2F-3941-BBF8-D365CB27DD6A}" type="slidenum">
              <a:rPr lang="en-US" smtClean="0"/>
              <a:t>‹#›</a:t>
            </a:fld>
            <a:endParaRPr lang="en-US"/>
          </a:p>
        </p:txBody>
      </p:sp>
    </p:spTree>
    <p:extLst>
      <p:ext uri="{BB962C8B-B14F-4D97-AF65-F5344CB8AC3E}">
        <p14:creationId xmlns:p14="http://schemas.microsoft.com/office/powerpoint/2010/main" val="1246234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96E5FF0-DA4E-4049-B3EB-572EF0926FB0}" type="datetime1">
              <a:rPr lang="en-US" smtClean="0"/>
              <a:t>12/20/2025</a:t>
            </a:fld>
            <a:endParaRPr lang="en-US"/>
          </a:p>
        </p:txBody>
      </p:sp>
      <p:sp>
        <p:nvSpPr>
          <p:cNvPr id="5" name="Footer Placeholder 4"/>
          <p:cNvSpPr>
            <a:spLocks noGrp="1"/>
          </p:cNvSpPr>
          <p:nvPr>
            <p:ph type="ftr" sz="quarter" idx="11"/>
          </p:nvPr>
        </p:nvSpPr>
        <p:spPr/>
        <p:txBody>
          <a:bodyPr/>
          <a:lstStyle/>
          <a:p>
            <a:r>
              <a:rPr lang="hr-HR"/>
              <a:t>AA 174A | Lecture 3 </a:t>
            </a:r>
            <a:endParaRPr lang="en-US"/>
          </a:p>
        </p:txBody>
      </p:sp>
      <p:sp>
        <p:nvSpPr>
          <p:cNvPr id="6" name="Slide Number Placeholder 5"/>
          <p:cNvSpPr>
            <a:spLocks noGrp="1"/>
          </p:cNvSpPr>
          <p:nvPr>
            <p:ph type="sldNum" sz="quarter" idx="12"/>
          </p:nvPr>
        </p:nvSpPr>
        <p:spPr/>
        <p:txBody>
          <a:bodyPr/>
          <a:lstStyle/>
          <a:p>
            <a:fld id="{8AA1F273-EF2F-3941-BBF8-D365CB27DD6A}" type="slidenum">
              <a:rPr lang="en-US" smtClean="0"/>
              <a:t>‹#›</a:t>
            </a:fld>
            <a:endParaRPr lang="en-US"/>
          </a:p>
        </p:txBody>
      </p:sp>
    </p:spTree>
    <p:extLst>
      <p:ext uri="{BB962C8B-B14F-4D97-AF65-F5344CB8AC3E}">
        <p14:creationId xmlns:p14="http://schemas.microsoft.com/office/powerpoint/2010/main" val="1062022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CB8B56-8DB5-4F48-8566-03AE7385CA2E}" type="datetime1">
              <a:rPr lang="en-US" smtClean="0"/>
              <a:t>12/20/2025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hr-HR"/>
              <a:t>AA 174A | Lecture 3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1F273-EF2F-3941-BBF8-D365CB27DD6A}" type="slidenum">
              <a:rPr lang="en-US" smtClean="0"/>
              <a:t>‹#›</a:t>
            </a:fld>
            <a:endParaRPr lang="en-US"/>
          </a:p>
        </p:txBody>
      </p:sp>
    </p:spTree>
    <p:extLst>
      <p:ext uri="{BB962C8B-B14F-4D97-AF65-F5344CB8AC3E}">
        <p14:creationId xmlns:p14="http://schemas.microsoft.com/office/powerpoint/2010/main" val="1371964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aa174a-aut2526-staff@lists.stanford.edu"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image" Target="../media/image6.tiff"/><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tif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slides/_rels/slide11.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17.emf"/><Relationship Id="rId7" Type="http://schemas.openxmlformats.org/officeDocument/2006/relationships/image" Target="../media/image21.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image" Target="../media/image19.emf"/><Relationship Id="rId10" Type="http://schemas.openxmlformats.org/officeDocument/2006/relationships/image" Target="../media/image29.png"/><Relationship Id="rId4" Type="http://schemas.openxmlformats.org/officeDocument/2006/relationships/image" Target="../media/image18.emf"/><Relationship Id="rId9" Type="http://schemas.openxmlformats.org/officeDocument/2006/relationships/image" Target="../media/image22.emf"/></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3.emf"/></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8" Type="http://schemas.openxmlformats.org/officeDocument/2006/relationships/image" Target="../media/image510.png"/><Relationship Id="rId3" Type="http://schemas.openxmlformats.org/officeDocument/2006/relationships/image" Target="../media/image52.png"/><Relationship Id="rId7" Type="http://schemas.openxmlformats.org/officeDocument/2006/relationships/image" Target="../media/image50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90.png"/><Relationship Id="rId5" Type="http://schemas.openxmlformats.org/officeDocument/2006/relationships/image" Target="../media/image480.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a:t>Principles of Robot Autonomy I</a:t>
            </a:r>
          </a:p>
        </p:txBody>
      </p:sp>
      <p:sp>
        <p:nvSpPr>
          <p:cNvPr id="3" name="Subtitle 2"/>
          <p:cNvSpPr>
            <a:spLocks noGrp="1"/>
          </p:cNvSpPr>
          <p:nvPr>
            <p:ph type="subTitle" idx="1"/>
          </p:nvPr>
        </p:nvSpPr>
        <p:spPr/>
        <p:txBody>
          <a:bodyPr/>
          <a:lstStyle/>
          <a:p>
            <a:r>
              <a:rPr lang="en-CA" b="0" i="0" u="none" strike="noStrike">
                <a:solidFill>
                  <a:srgbClr val="000000"/>
                </a:solidFill>
                <a:effectLst/>
                <a:latin typeface="Calibri" panose="020F0502020204030204" pitchFamily="34" charset="0"/>
              </a:rPr>
              <a:t>State space dynamics – definitions and modeling</a:t>
            </a:r>
            <a:endParaRPr lang="en-US"/>
          </a:p>
        </p:txBody>
      </p:sp>
      <p:pic>
        <p:nvPicPr>
          <p:cNvPr id="4" name="Picture 3"/>
          <p:cNvPicPr>
            <a:picLocks noChangeAspect="1"/>
          </p:cNvPicPr>
          <p:nvPr/>
        </p:nvPicPr>
        <p:blipFill>
          <a:blip r:embed="rId3"/>
          <a:stretch>
            <a:fillRect/>
          </a:stretch>
        </p:blipFill>
        <p:spPr>
          <a:xfrm>
            <a:off x="0" y="5687942"/>
            <a:ext cx="12192000" cy="1170058"/>
          </a:xfrm>
          <a:prstGeom prst="rect">
            <a:avLst/>
          </a:prstGeom>
        </p:spPr>
      </p:pic>
    </p:spTree>
    <p:extLst>
      <p:ext uri="{BB962C8B-B14F-4D97-AF65-F5344CB8AC3E}">
        <p14:creationId xmlns:p14="http://schemas.microsoft.com/office/powerpoint/2010/main" val="3789914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290B0-EB37-BE5C-04E7-4EA8696DA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C9C11F-9CF3-5417-5DC4-4E4B8E153C8A}"/>
              </a:ext>
            </a:extLst>
          </p:cNvPr>
          <p:cNvSpPr>
            <a:spLocks noGrp="1"/>
          </p:cNvSpPr>
          <p:nvPr>
            <p:ph type="title"/>
          </p:nvPr>
        </p:nvSpPr>
        <p:spPr/>
        <p:txBody>
          <a:bodyPr/>
          <a:lstStyle/>
          <a:p>
            <a:r>
              <a:rPr lang="en-US" dirty="0">
                <a:ea typeface="Calibri Light"/>
                <a:cs typeface="Calibri Light"/>
              </a:rPr>
              <a:t>Attendance Form</a:t>
            </a:r>
            <a:endParaRPr lang="en-US" dirty="0"/>
          </a:p>
        </p:txBody>
      </p:sp>
      <p:pic>
        <p:nvPicPr>
          <p:cNvPr id="7" name="Content Placeholder 6" descr="A qr code with black squares&#10;&#10;AI-generated content may be incorrect.">
            <a:extLst>
              <a:ext uri="{FF2B5EF4-FFF2-40B4-BE49-F238E27FC236}">
                <a16:creationId xmlns:a16="http://schemas.microsoft.com/office/drawing/2014/main" id="{6FC79A78-5555-5B36-D187-31F9DBD9AC04}"/>
              </a:ext>
            </a:extLst>
          </p:cNvPr>
          <p:cNvPicPr>
            <a:picLocks noGrp="1" noChangeAspect="1"/>
          </p:cNvPicPr>
          <p:nvPr>
            <p:ph idx="1"/>
          </p:nvPr>
        </p:nvPicPr>
        <p:blipFill>
          <a:blip r:embed="rId2"/>
          <a:stretch>
            <a:fillRect/>
          </a:stretch>
        </p:blipFill>
        <p:spPr>
          <a:xfrm>
            <a:off x="4038600" y="1943894"/>
            <a:ext cx="4114800" cy="4114800"/>
          </a:xfrm>
          <a:prstGeom prst="rect">
            <a:avLst/>
          </a:prstGeom>
        </p:spPr>
      </p:pic>
      <p:sp>
        <p:nvSpPr>
          <p:cNvPr id="4" name="Date Placeholder 3">
            <a:extLst>
              <a:ext uri="{FF2B5EF4-FFF2-40B4-BE49-F238E27FC236}">
                <a16:creationId xmlns:a16="http://schemas.microsoft.com/office/drawing/2014/main" id="{25403DC6-C8A8-2ACD-BAD1-55817AEB56A5}"/>
              </a:ext>
            </a:extLst>
          </p:cNvPr>
          <p:cNvSpPr>
            <a:spLocks noGrp="1"/>
          </p:cNvSpPr>
          <p:nvPr>
            <p:ph type="dt" sz="half" idx="10"/>
          </p:nvPr>
        </p:nvSpPr>
        <p:spPr/>
        <p:txBody>
          <a:bodyPr/>
          <a:lstStyle/>
          <a:p>
            <a:fld id="{A558A9F6-D5E6-2845-9990-457223861935}" type="datetime1">
              <a:rPr lang="en-US" smtClean="0"/>
              <a:t>12/20/2025</a:t>
            </a:fld>
            <a:endParaRPr lang="en-US"/>
          </a:p>
        </p:txBody>
      </p:sp>
      <p:sp>
        <p:nvSpPr>
          <p:cNvPr id="5" name="Footer Placeholder 4">
            <a:extLst>
              <a:ext uri="{FF2B5EF4-FFF2-40B4-BE49-F238E27FC236}">
                <a16:creationId xmlns:a16="http://schemas.microsoft.com/office/drawing/2014/main" id="{05195E3F-D2F3-70F1-92FC-D72CF33D9AF4}"/>
              </a:ext>
            </a:extLst>
          </p:cNvPr>
          <p:cNvSpPr>
            <a:spLocks noGrp="1"/>
          </p:cNvSpPr>
          <p:nvPr>
            <p:ph type="ftr" sz="quarter" idx="11"/>
          </p:nvPr>
        </p:nvSpPr>
        <p:spPr/>
        <p:txBody>
          <a:bodyPr/>
          <a:lstStyle/>
          <a:p>
            <a:r>
              <a:rPr lang="hr-HR"/>
              <a:t>AA 174A | Lecture 3 </a:t>
            </a:r>
            <a:endParaRPr lang="en-US"/>
          </a:p>
        </p:txBody>
      </p:sp>
      <p:sp>
        <p:nvSpPr>
          <p:cNvPr id="6" name="Slide Number Placeholder 5">
            <a:extLst>
              <a:ext uri="{FF2B5EF4-FFF2-40B4-BE49-F238E27FC236}">
                <a16:creationId xmlns:a16="http://schemas.microsoft.com/office/drawing/2014/main" id="{5ED9B9C7-170B-B78E-D9C0-6DB12F0DBD34}"/>
              </a:ext>
            </a:extLst>
          </p:cNvPr>
          <p:cNvSpPr>
            <a:spLocks noGrp="1"/>
          </p:cNvSpPr>
          <p:nvPr>
            <p:ph type="sldNum" sz="quarter" idx="12"/>
          </p:nvPr>
        </p:nvSpPr>
        <p:spPr/>
        <p:txBody>
          <a:bodyPr/>
          <a:lstStyle/>
          <a:p>
            <a:fld id="{8AA1F273-EF2F-3941-BBF8-D365CB27DD6A}" type="slidenum">
              <a:rPr lang="en-US" smtClean="0"/>
              <a:t>2</a:t>
            </a:fld>
            <a:endParaRPr lang="en-US"/>
          </a:p>
        </p:txBody>
      </p:sp>
    </p:spTree>
    <p:extLst>
      <p:ext uri="{BB962C8B-B14F-4D97-AF65-F5344CB8AC3E}">
        <p14:creationId xmlns:p14="http://schemas.microsoft.com/office/powerpoint/2010/main" val="3374591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92A45-AE79-98CE-8F6A-B3530E72C646}"/>
              </a:ext>
            </a:extLst>
          </p:cNvPr>
          <p:cNvSpPr>
            <a:spLocks noGrp="1"/>
          </p:cNvSpPr>
          <p:nvPr>
            <p:ph type="title"/>
          </p:nvPr>
        </p:nvSpPr>
        <p:spPr/>
        <p:txBody>
          <a:bodyPr/>
          <a:lstStyle/>
          <a:p>
            <a:r>
              <a:rPr lang="en-US" dirty="0"/>
              <a:t>For urgent questions</a:t>
            </a:r>
          </a:p>
        </p:txBody>
      </p:sp>
      <p:sp>
        <p:nvSpPr>
          <p:cNvPr id="3" name="Content Placeholder 2">
            <a:extLst>
              <a:ext uri="{FF2B5EF4-FFF2-40B4-BE49-F238E27FC236}">
                <a16:creationId xmlns:a16="http://schemas.microsoft.com/office/drawing/2014/main" id="{827DBFD8-7938-84C1-8908-F3DB7FF9E653}"/>
              </a:ext>
            </a:extLst>
          </p:cNvPr>
          <p:cNvSpPr>
            <a:spLocks noGrp="1"/>
          </p:cNvSpPr>
          <p:nvPr>
            <p:ph idx="1"/>
          </p:nvPr>
        </p:nvSpPr>
        <p:spPr/>
        <p:txBody>
          <a:bodyPr/>
          <a:lstStyle/>
          <a:p>
            <a:pPr marL="0" indent="0" algn="ctr">
              <a:buNone/>
            </a:pPr>
            <a:r>
              <a:rPr lang="en-US" dirty="0">
                <a:hlinkClick r:id="rId2"/>
              </a:rPr>
              <a:t>aa174a-aut2526-staff@lists.stanford.edu</a:t>
            </a:r>
            <a:endParaRPr lang="en-US" dirty="0"/>
          </a:p>
          <a:p>
            <a:pPr marL="0" indent="0" algn="ctr">
              <a:buNone/>
            </a:pPr>
            <a:endParaRPr lang="en-US" dirty="0"/>
          </a:p>
          <a:p>
            <a:pPr marL="0" indent="0">
              <a:buNone/>
            </a:pPr>
            <a:r>
              <a:rPr lang="en-US" dirty="0"/>
              <a:t>Please do not email Prof. Pavone or the CAs individually unless there is a specific reason!</a:t>
            </a:r>
          </a:p>
        </p:txBody>
      </p:sp>
      <p:sp>
        <p:nvSpPr>
          <p:cNvPr id="4" name="Date Placeholder 3">
            <a:extLst>
              <a:ext uri="{FF2B5EF4-FFF2-40B4-BE49-F238E27FC236}">
                <a16:creationId xmlns:a16="http://schemas.microsoft.com/office/drawing/2014/main" id="{8E1DCB56-CFD7-1C39-060E-4114B523B8AD}"/>
              </a:ext>
            </a:extLst>
          </p:cNvPr>
          <p:cNvSpPr>
            <a:spLocks noGrp="1"/>
          </p:cNvSpPr>
          <p:nvPr>
            <p:ph type="dt" sz="half" idx="10"/>
          </p:nvPr>
        </p:nvSpPr>
        <p:spPr/>
        <p:txBody>
          <a:bodyPr/>
          <a:lstStyle/>
          <a:p>
            <a:fld id="{A558A9F6-D5E6-2845-9990-457223861935}" type="datetime1">
              <a:rPr lang="en-US" smtClean="0"/>
              <a:t>12/20/2025</a:t>
            </a:fld>
            <a:endParaRPr lang="en-US"/>
          </a:p>
        </p:txBody>
      </p:sp>
      <p:sp>
        <p:nvSpPr>
          <p:cNvPr id="5" name="Footer Placeholder 4">
            <a:extLst>
              <a:ext uri="{FF2B5EF4-FFF2-40B4-BE49-F238E27FC236}">
                <a16:creationId xmlns:a16="http://schemas.microsoft.com/office/drawing/2014/main" id="{EF83A877-0E04-046D-FB5F-98DAA8107F1B}"/>
              </a:ext>
            </a:extLst>
          </p:cNvPr>
          <p:cNvSpPr>
            <a:spLocks noGrp="1"/>
          </p:cNvSpPr>
          <p:nvPr>
            <p:ph type="ftr" sz="quarter" idx="11"/>
          </p:nvPr>
        </p:nvSpPr>
        <p:spPr/>
        <p:txBody>
          <a:bodyPr/>
          <a:lstStyle/>
          <a:p>
            <a:r>
              <a:rPr lang="hr-HR"/>
              <a:t>AA 174A | Lecture 3 </a:t>
            </a:r>
            <a:endParaRPr lang="en-US"/>
          </a:p>
        </p:txBody>
      </p:sp>
      <p:sp>
        <p:nvSpPr>
          <p:cNvPr id="6" name="Slide Number Placeholder 5">
            <a:extLst>
              <a:ext uri="{FF2B5EF4-FFF2-40B4-BE49-F238E27FC236}">
                <a16:creationId xmlns:a16="http://schemas.microsoft.com/office/drawing/2014/main" id="{494727DD-FEE2-7184-2F8E-A4037626C12E}"/>
              </a:ext>
            </a:extLst>
          </p:cNvPr>
          <p:cNvSpPr>
            <a:spLocks noGrp="1"/>
          </p:cNvSpPr>
          <p:nvPr>
            <p:ph type="sldNum" sz="quarter" idx="12"/>
          </p:nvPr>
        </p:nvSpPr>
        <p:spPr/>
        <p:txBody>
          <a:bodyPr/>
          <a:lstStyle/>
          <a:p>
            <a:fld id="{8AA1F273-EF2F-3941-BBF8-D365CB27DD6A}" type="slidenum">
              <a:rPr lang="en-US" smtClean="0"/>
              <a:t>3</a:t>
            </a:fld>
            <a:endParaRPr lang="en-US"/>
          </a:p>
        </p:txBody>
      </p:sp>
    </p:spTree>
    <p:extLst>
      <p:ext uri="{BB962C8B-B14F-4D97-AF65-F5344CB8AC3E}">
        <p14:creationId xmlns:p14="http://schemas.microsoft.com/office/powerpoint/2010/main" val="2370886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Content Placeholder 2"/>
          <p:cNvSpPr>
            <a:spLocks noGrp="1"/>
          </p:cNvSpPr>
          <p:nvPr>
            <p:ph idx="1"/>
          </p:nvPr>
        </p:nvSpPr>
        <p:spPr/>
        <p:txBody>
          <a:bodyPr>
            <a:normAutofit/>
          </a:bodyPr>
          <a:lstStyle/>
          <a:p>
            <a:r>
              <a:rPr lang="en-US">
                <a:latin typeface="Source Sans Pro" panose="020B0503030403020204" pitchFamily="34" charset="0"/>
                <a:ea typeface="Source Sans Pro" panose="020B0503030403020204" pitchFamily="34" charset="0"/>
              </a:rPr>
              <a:t>State space dynamics</a:t>
            </a:r>
          </a:p>
          <a:p>
            <a:pPr lvl="1"/>
            <a:r>
              <a:rPr lang="en-US">
                <a:latin typeface="Source Sans Pro" panose="020B0503030403020204" pitchFamily="34" charset="0"/>
                <a:ea typeface="Source Sans Pro" panose="020B0503030403020204" pitchFamily="34" charset="0"/>
              </a:rPr>
              <a:t>Definitions </a:t>
            </a:r>
          </a:p>
          <a:p>
            <a:pPr lvl="1"/>
            <a:r>
              <a:rPr lang="en-US">
                <a:latin typeface="Source Sans Pro" panose="020B0503030403020204" pitchFamily="34" charset="0"/>
                <a:ea typeface="Source Sans Pro" panose="020B0503030403020204" pitchFamily="34" charset="0"/>
              </a:rPr>
              <a:t>Modeling (kinematic and dynamic models)</a:t>
            </a:r>
          </a:p>
          <a:p>
            <a:pPr lvl="1"/>
            <a:r>
              <a:rPr lang="en-US">
                <a:latin typeface="Source Sans Pro" panose="020B0503030403020204" pitchFamily="34" charset="0"/>
                <a:ea typeface="Source Sans Pro" panose="020B0503030403020204" pitchFamily="34" charset="0"/>
              </a:rPr>
              <a:t>Special case: LTI systems and linearization</a:t>
            </a:r>
          </a:p>
          <a:p>
            <a:pPr lvl="1"/>
            <a:endParaRPr lang="en-US">
              <a:latin typeface="Source Sans Pro" panose="020B0503030403020204" pitchFamily="34" charset="0"/>
              <a:ea typeface="Source Sans Pro" panose="020B0503030403020204" pitchFamily="34" charset="0"/>
            </a:endParaRPr>
          </a:p>
          <a:p>
            <a:r>
              <a:rPr lang="en-US">
                <a:latin typeface="Source Sans Pro" panose="020B0503030403020204" pitchFamily="34" charset="0"/>
                <a:ea typeface="Source Sans Pro" panose="020B0503030403020204" pitchFamily="34" charset="0"/>
              </a:rPr>
              <a:t>Readings</a:t>
            </a:r>
          </a:p>
          <a:p>
            <a:pPr lvl="1"/>
            <a:r>
              <a:rPr lang="en-US">
                <a:latin typeface="Source Sans Pro" panose="020B0503030403020204" pitchFamily="34" charset="0"/>
                <a:ea typeface="Source Sans Pro" panose="020B0503030403020204" pitchFamily="34" charset="0"/>
              </a:rPr>
              <a:t>Chapter 1, sections 1.1 – 1.3 in D. </a:t>
            </a:r>
            <a:r>
              <a:rPr lang="en-US" err="1">
                <a:latin typeface="Source Sans Pro" panose="020B0503030403020204" pitchFamily="34" charset="0"/>
                <a:ea typeface="Source Sans Pro" panose="020B0503030403020204" pitchFamily="34" charset="0"/>
              </a:rPr>
              <a:t>Gammelli</a:t>
            </a:r>
            <a:r>
              <a:rPr lang="en-US">
                <a:latin typeface="Source Sans Pro" panose="020B0503030403020204" pitchFamily="34" charset="0"/>
                <a:ea typeface="Source Sans Pro" panose="020B0503030403020204" pitchFamily="34" charset="0"/>
              </a:rPr>
              <a:t>, J. Lorenzetti, K. Luo, G. </a:t>
            </a:r>
            <a:r>
              <a:rPr lang="en-US" err="1">
                <a:latin typeface="Source Sans Pro" panose="020B0503030403020204" pitchFamily="34" charset="0"/>
                <a:ea typeface="Source Sans Pro" panose="020B0503030403020204" pitchFamily="34" charset="0"/>
              </a:rPr>
              <a:t>Zardini</a:t>
            </a:r>
            <a:r>
              <a:rPr lang="en-US">
                <a:latin typeface="Source Sans Pro" panose="020B0503030403020204" pitchFamily="34" charset="0"/>
                <a:ea typeface="Source Sans Pro" panose="020B0503030403020204" pitchFamily="34" charset="0"/>
              </a:rPr>
              <a:t>, M. Pavone. </a:t>
            </a:r>
            <a:r>
              <a:rPr lang="en-US" i="1">
                <a:latin typeface="Source Sans Pro" panose="020B0503030403020204" pitchFamily="34" charset="0"/>
                <a:ea typeface="Source Sans Pro" panose="020B0503030403020204" pitchFamily="34" charset="0"/>
              </a:rPr>
              <a:t>Principles of Robot Autonomy</a:t>
            </a:r>
            <a:r>
              <a:rPr lang="en-US">
                <a:latin typeface="Source Sans Pro" panose="020B0503030403020204" pitchFamily="34" charset="0"/>
                <a:ea typeface="Source Sans Pro" panose="020B0503030403020204" pitchFamily="34" charset="0"/>
              </a:rPr>
              <a:t>. 2026.</a:t>
            </a:r>
          </a:p>
        </p:txBody>
      </p:sp>
      <p:sp>
        <p:nvSpPr>
          <p:cNvPr id="4" name="Footer Placeholder 3">
            <a:extLst>
              <a:ext uri="{FF2B5EF4-FFF2-40B4-BE49-F238E27FC236}">
                <a16:creationId xmlns:a16="http://schemas.microsoft.com/office/drawing/2014/main" id="{0854016A-49EC-4595-F459-8E6BC41FE73B}"/>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0DCD8C48-3F53-A127-9272-8A9367BCFAB5}"/>
              </a:ext>
            </a:extLst>
          </p:cNvPr>
          <p:cNvSpPr>
            <a:spLocks noGrp="1"/>
          </p:cNvSpPr>
          <p:nvPr>
            <p:ph type="dt" sz="half" idx="10"/>
          </p:nvPr>
        </p:nvSpPr>
        <p:spPr/>
        <p:txBody>
          <a:bodyPr/>
          <a:lstStyle/>
          <a:p>
            <a:fld id="{2AAF2CFC-55EC-724E-A093-EC41BEE2C950}" type="datetime1">
              <a:rPr lang="en-US" smtClean="0"/>
              <a:t>12/20/2025</a:t>
            </a:fld>
            <a:endParaRPr lang="en-US"/>
          </a:p>
        </p:txBody>
      </p:sp>
      <p:sp>
        <p:nvSpPr>
          <p:cNvPr id="6" name="Slide Number Placeholder 5">
            <a:extLst>
              <a:ext uri="{FF2B5EF4-FFF2-40B4-BE49-F238E27FC236}">
                <a16:creationId xmlns:a16="http://schemas.microsoft.com/office/drawing/2014/main" id="{2FD5A970-3AFA-E47C-08A6-F061E3873202}"/>
              </a:ext>
            </a:extLst>
          </p:cNvPr>
          <p:cNvSpPr>
            <a:spLocks noGrp="1"/>
          </p:cNvSpPr>
          <p:nvPr>
            <p:ph type="sldNum" sz="quarter" idx="12"/>
          </p:nvPr>
        </p:nvSpPr>
        <p:spPr/>
        <p:txBody>
          <a:bodyPr/>
          <a:lstStyle/>
          <a:p>
            <a:fld id="{8AA1F273-EF2F-3941-BBF8-D365CB27DD6A}" type="slidenum">
              <a:rPr lang="en-US" smtClean="0"/>
              <a:t>4</a:t>
            </a:fld>
            <a:endParaRPr lang="en-US"/>
          </a:p>
        </p:txBody>
      </p:sp>
    </p:spTree>
    <p:extLst>
      <p:ext uri="{BB962C8B-B14F-4D97-AF65-F5344CB8AC3E}">
        <p14:creationId xmlns:p14="http://schemas.microsoft.com/office/powerpoint/2010/main" val="1845840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State space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a:lnSpc>
                    <a:spcPct val="100000"/>
                  </a:lnSpc>
                  <a:spcAft>
                    <a:spcPts val="2000"/>
                  </a:spcAft>
                </a:pPr>
                <a:r>
                  <a:rPr lang="en-US" sz="2400">
                    <a:latin typeface="Source Sans Pro" panose="020B0503030403020204" pitchFamily="34" charset="0"/>
                    <a:ea typeface="Source Sans Pro" panose="020B0503030403020204" pitchFamily="34" charset="0"/>
                  </a:rPr>
                  <a:t>We can control a robot through the </a:t>
                </a:r>
                <a:r>
                  <a:rPr lang="en-US" sz="2400" i="1">
                    <a:latin typeface="Source Sans Pro" panose="020B0503030403020204" pitchFamily="34" charset="0"/>
                    <a:ea typeface="Source Sans Pro" panose="020B0503030403020204" pitchFamily="34" charset="0"/>
                  </a:rPr>
                  <a:t>inputs </a:t>
                </a:r>
                <a:r>
                  <a:rPr lang="en-US" sz="2400">
                    <a:latin typeface="Source Sans Pro" panose="020B0503030403020204" pitchFamily="34" charset="0"/>
                    <a:ea typeface="Source Sans Pro" panose="020B0503030403020204" pitchFamily="34" charset="0"/>
                  </a:rPr>
                  <a:t>to the system (e.g., motor torques, rotor thrusts, etc.)</a:t>
                </a:r>
              </a:p>
              <a:p>
                <a:pPr>
                  <a:lnSpc>
                    <a:spcPct val="100000"/>
                  </a:lnSpc>
                  <a:spcAft>
                    <a:spcPts val="2000"/>
                  </a:spcAft>
                </a:pPr>
                <a:r>
                  <a:rPr lang="en-US" sz="2400">
                    <a:latin typeface="Source Sans Pro" panose="020B0503030403020204" pitchFamily="34" charset="0"/>
                    <a:ea typeface="Source Sans Pro" panose="020B0503030403020204" pitchFamily="34" charset="0"/>
                  </a:rPr>
                  <a:t>The </a:t>
                </a:r>
                <a:r>
                  <a:rPr lang="en-US" sz="2400" i="1">
                    <a:latin typeface="Source Sans Pro" panose="020B0503030403020204" pitchFamily="34" charset="0"/>
                    <a:ea typeface="Source Sans Pro" panose="020B0503030403020204" pitchFamily="34" charset="0"/>
                  </a:rPr>
                  <a:t>state</a:t>
                </a:r>
                <a:r>
                  <a:rPr lang="en-US" sz="2400">
                    <a:latin typeface="Source Sans Pro" panose="020B0503030403020204" pitchFamily="34" charset="0"/>
                    <a:ea typeface="Source Sans Pro" panose="020B0503030403020204" pitchFamily="34" charset="0"/>
                  </a:rPr>
                  <a:t> of a robot is a collection of variables (e.g., position, velocity) that change over time in response to the inputs</a:t>
                </a:r>
              </a:p>
              <a:p>
                <a:pPr>
                  <a:lnSpc>
                    <a:spcPct val="100000"/>
                  </a:lnSpc>
                  <a:spcAft>
                    <a:spcPts val="2000"/>
                  </a:spcAft>
                </a:pPr>
                <a:r>
                  <a:rPr lang="en-US" sz="2400">
                    <a:latin typeface="Source Sans Pro" panose="020B0503030403020204" pitchFamily="34" charset="0"/>
                    <a:ea typeface="Source Sans Pro" panose="020B0503030403020204" pitchFamily="34" charset="0"/>
                  </a:rPr>
                  <a:t>A state space model</a:t>
                </a:r>
                <a:br>
                  <a:rPr lang="en-US" sz="2400">
                    <a:latin typeface="Source Sans Pro" panose="020B0503030403020204" pitchFamily="34" charset="0"/>
                    <a:ea typeface="Source Sans Pro" panose="020B0503030403020204" pitchFamily="34" charset="0"/>
                  </a:rPr>
                </a:b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𝑡</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𝑓</m:t>
                    </m:r>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𝑡</m:t>
                        </m:r>
                        <m:r>
                          <a:rPr lang="en-US" sz="2400" b="0" i="1" smtClean="0">
                            <a:latin typeface="Cambria Math" panose="02040503050406030204" pitchFamily="18" charset="0"/>
                            <a:ea typeface="Source Sans Pro" panose="020B0503030403020204" pitchFamily="34" charset="0"/>
                          </a:rPr>
                          <m:t>), </m:t>
                        </m:r>
                        <m:r>
                          <a:rPr lang="en-US" sz="2400" b="0" i="1" smtClean="0">
                            <a:latin typeface="Cambria Math" panose="02040503050406030204" pitchFamily="18" charset="0"/>
                            <a:ea typeface="Source Sans Pro" panose="020B0503030403020204" pitchFamily="34" charset="0"/>
                          </a:rPr>
                          <m:t>𝑢</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𝑡</m:t>
                        </m:r>
                        <m:r>
                          <a:rPr lang="en-US" sz="2400" b="0" i="1" smtClean="0">
                            <a:latin typeface="Cambria Math" panose="02040503050406030204" pitchFamily="18" charset="0"/>
                            <a:ea typeface="Source Sans Pro" panose="020B0503030403020204" pitchFamily="34" charset="0"/>
                          </a:rPr>
                          <m:t>)</m:t>
                        </m:r>
                      </m:e>
                    </m:d>
                  </m:oMath>
                </a14:m>
                <a:br>
                  <a:rPr lang="en-US" sz="2400">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is a mathematical description of how the state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𝑥</m:t>
                    </m:r>
                  </m:oMath>
                </a14:m>
                <a:r>
                  <a:rPr lang="en-US" sz="2400">
                    <a:latin typeface="Source Sans Pro" panose="020B0503030403020204" pitchFamily="34" charset="0"/>
                    <a:ea typeface="Source Sans Pro" panose="020B0503030403020204" pitchFamily="34" charset="0"/>
                  </a:rPr>
                  <a:t> evolves over time (i.e., </a:t>
                </a: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oMath>
                </a14:m>
                <a:r>
                  <a:rPr lang="en-US" sz="2400">
                    <a:latin typeface="Source Sans Pro" panose="020B0503030403020204" pitchFamily="34" charset="0"/>
                    <a:ea typeface="Source Sans Pro" panose="020B0503030403020204" pitchFamily="34" charset="0"/>
                  </a:rPr>
                  <a:t> or </a:t>
                </a:r>
                <a14:m>
                  <m:oMath xmlns:m="http://schemas.openxmlformats.org/officeDocument/2006/math">
                    <m:f>
                      <m:fPr>
                        <m:type m:val="skw"/>
                        <m:ctrlPr>
                          <a:rPr lang="en-US" sz="2400" i="1" smtClean="0">
                            <a:latin typeface="Cambria Math" panose="02040503050406030204" pitchFamily="18" charset="0"/>
                            <a:ea typeface="Source Sans Pro" panose="020B0503030403020204" pitchFamily="34" charset="0"/>
                          </a:rPr>
                        </m:ctrlPr>
                      </m:fPr>
                      <m:num>
                        <m:r>
                          <a:rPr lang="en-US" sz="2400" b="0" i="1" smtClean="0">
                            <a:latin typeface="Cambria Math" panose="02040503050406030204" pitchFamily="18" charset="0"/>
                            <a:ea typeface="Source Sans Pro" panose="020B0503030403020204" pitchFamily="34" charset="0"/>
                          </a:rPr>
                          <m:t>𝑑𝑥</m:t>
                        </m:r>
                      </m:num>
                      <m:den>
                        <m:r>
                          <a:rPr lang="en-US" sz="2400" b="0" i="1" smtClean="0">
                            <a:latin typeface="Cambria Math" panose="02040503050406030204" pitchFamily="18" charset="0"/>
                            <a:ea typeface="Source Sans Pro" panose="020B0503030403020204" pitchFamily="34" charset="0"/>
                          </a:rPr>
                          <m:t>𝑑𝑡</m:t>
                        </m:r>
                      </m:den>
                    </m:f>
                  </m:oMath>
                </a14:m>
                <a:r>
                  <a:rPr lang="en-US" sz="2400">
                    <a:latin typeface="Source Sans Pro" panose="020B0503030403020204" pitchFamily="34" charset="0"/>
                    <a:ea typeface="Source Sans Pro" panose="020B0503030403020204" pitchFamily="34" charset="0"/>
                  </a:rPr>
                  <a:t>) in response to the inputs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𝑢</m:t>
                    </m:r>
                  </m:oMath>
                </a14:m>
                <a:endParaRPr lang="en-US" sz="2400">
                  <a:latin typeface="Source Sans Pro" panose="020B0503030403020204" pitchFamily="34" charset="0"/>
                  <a:ea typeface="Source Sans Pro" panose="020B0503030403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12" t="-980" r="-696" b="-742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5C57C6D-349F-8327-A7FC-BCB37DEDD17D}"/>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7A597CE5-AD99-B7F2-6B08-11B02B45A0C3}"/>
              </a:ext>
            </a:extLst>
          </p:cNvPr>
          <p:cNvSpPr>
            <a:spLocks noGrp="1"/>
          </p:cNvSpPr>
          <p:nvPr>
            <p:ph type="dt" sz="half" idx="10"/>
          </p:nvPr>
        </p:nvSpPr>
        <p:spPr/>
        <p:txBody>
          <a:bodyPr/>
          <a:lstStyle/>
          <a:p>
            <a:fld id="{4C25AB61-12BB-8245-A33D-26E2121A8BD6}" type="datetime1">
              <a:rPr lang="en-US" smtClean="0"/>
              <a:t>12/20/2025</a:t>
            </a:fld>
            <a:endParaRPr lang="en-US"/>
          </a:p>
        </p:txBody>
      </p:sp>
      <p:sp>
        <p:nvSpPr>
          <p:cNvPr id="6" name="Slide Number Placeholder 5">
            <a:extLst>
              <a:ext uri="{FF2B5EF4-FFF2-40B4-BE49-F238E27FC236}">
                <a16:creationId xmlns:a16="http://schemas.microsoft.com/office/drawing/2014/main" id="{85829DE7-B8C8-77AA-BA42-18A32EC7675C}"/>
              </a:ext>
            </a:extLst>
          </p:cNvPr>
          <p:cNvSpPr>
            <a:spLocks noGrp="1"/>
          </p:cNvSpPr>
          <p:nvPr>
            <p:ph type="sldNum" sz="quarter" idx="12"/>
          </p:nvPr>
        </p:nvSpPr>
        <p:spPr/>
        <p:txBody>
          <a:bodyPr/>
          <a:lstStyle/>
          <a:p>
            <a:fld id="{8AA1F273-EF2F-3941-BBF8-D365CB27DD6A}" type="slidenum">
              <a:rPr lang="en-US" smtClean="0"/>
              <a:t>5</a:t>
            </a:fld>
            <a:endParaRPr lang="en-US"/>
          </a:p>
        </p:txBody>
      </p:sp>
    </p:spTree>
    <p:extLst>
      <p:ext uri="{BB962C8B-B14F-4D97-AF65-F5344CB8AC3E}">
        <p14:creationId xmlns:p14="http://schemas.microsoft.com/office/powerpoint/2010/main" val="915721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double-integrator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a:lnSpc>
                    <a:spcPct val="100000"/>
                  </a:lnSpc>
                  <a:spcAft>
                    <a:spcPts val="2000"/>
                  </a:spcAft>
                </a:pPr>
                <a:r>
                  <a:rPr lang="en-US" sz="2400">
                    <a:latin typeface="Source Sans Pro" panose="020B0503030403020204" pitchFamily="34" charset="0"/>
                    <a:ea typeface="Source Sans Pro" panose="020B0503030403020204" pitchFamily="34" charset="0"/>
                  </a:rPr>
                  <a:t>Suppose we can control the force pushing on a cart</a:t>
                </a:r>
              </a:p>
              <a:p>
                <a:pPr>
                  <a:lnSpc>
                    <a:spcPct val="100000"/>
                  </a:lnSpc>
                  <a:spcAft>
                    <a:spcPts val="2000"/>
                  </a:spcAft>
                </a:pPr>
                <a:r>
                  <a:rPr lang="en-US" sz="2400">
                    <a:latin typeface="Source Sans Pro" panose="020B0503030403020204" pitchFamily="34" charset="0"/>
                    <a:ea typeface="Source Sans Pro" panose="020B0503030403020204" pitchFamily="34" charset="0"/>
                  </a:rPr>
                  <a:t>Newton’s second law tells us that</a:t>
                </a:r>
                <a:br>
                  <a:rPr lang="en-US" sz="2400">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𝐹</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𝑚</m:t>
                    </m:r>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𝑠</m:t>
                        </m:r>
                      </m:e>
                    </m:acc>
                  </m:oMath>
                </a14:m>
                <a:endParaRPr lang="en-US" sz="2400">
                  <a:latin typeface="Source Sans Pro" panose="020B0503030403020204" pitchFamily="34" charset="0"/>
                  <a:ea typeface="Source Sans Pro" panose="020B0503030403020204" pitchFamily="34" charset="0"/>
                </a:endParaRPr>
              </a:p>
              <a:p>
                <a:pPr>
                  <a:lnSpc>
                    <a:spcPct val="100000"/>
                  </a:lnSpc>
                  <a:spcAft>
                    <a:spcPts val="2000"/>
                  </a:spcAft>
                </a:pPr>
                <a:endParaRPr lang="en-US" sz="2400">
                  <a:latin typeface="Source Sans Pro" panose="020B0503030403020204" pitchFamily="34" charset="0"/>
                  <a:ea typeface="Source Sans Pro" panose="020B0503030403020204" pitchFamily="34" charset="0"/>
                </a:endParaRPr>
              </a:p>
              <a:p>
                <a:pPr>
                  <a:lnSpc>
                    <a:spcPct val="100000"/>
                  </a:lnSpc>
                  <a:spcAft>
                    <a:spcPts val="2000"/>
                  </a:spcAft>
                </a:pPr>
                <a:r>
                  <a:rPr lang="en-US" sz="2400">
                    <a:latin typeface="Source Sans Pro" panose="020B0503030403020204" pitchFamily="34" charset="0"/>
                    <a:ea typeface="Source Sans Pro" panose="020B0503030403020204" pitchFamily="34" charset="0"/>
                  </a:rPr>
                  <a:t>Let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𝑠</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𝑣</m:t>
                    </m:r>
                    <m:r>
                      <a:rPr lang="en-US" sz="2400" b="0" i="1" smtClean="0">
                        <a:latin typeface="Cambria Math" panose="02040503050406030204" pitchFamily="18" charset="0"/>
                        <a:ea typeface="Source Sans Pro" panose="020B0503030403020204" pitchFamily="34" charset="0"/>
                      </a:rPr>
                      <m:t>)</m:t>
                    </m:r>
                  </m:oMath>
                </a14:m>
                <a:r>
                  <a:rPr lang="en-US" sz="2400">
                    <a:latin typeface="Source Sans Pro" panose="020B0503030403020204" pitchFamily="34" charset="0"/>
                    <a:ea typeface="Source Sans Pro" panose="020B0503030403020204" pitchFamily="34" charset="0"/>
                  </a:rPr>
                  <a:t> with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𝑣</m:t>
                    </m:r>
                    <m:r>
                      <a:rPr lang="en-US" sz="2400" b="0" i="1" smtClean="0">
                        <a:latin typeface="Cambria Math" panose="02040503050406030204" pitchFamily="18" charset="0"/>
                        <a:ea typeface="Source Sans Pro" panose="020B0503030403020204" pitchFamily="34" charset="0"/>
                      </a:rPr>
                      <m:t>=</m:t>
                    </m:r>
                    <m:acc>
                      <m:accPr>
                        <m:chr m:val="̇"/>
                        <m:ctrlPr>
                          <a:rPr lang="en-US" sz="2400" b="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𝑠</m:t>
                        </m:r>
                      </m:e>
                    </m:acc>
                  </m:oMath>
                </a14:m>
                <a:r>
                  <a:rPr lang="en-US" sz="2400">
                    <a:latin typeface="Source Sans Pro" panose="020B0503030403020204" pitchFamily="34" charset="0"/>
                    <a:ea typeface="Source Sans Pro" panose="020B0503030403020204" pitchFamily="34" charset="0"/>
                  </a:rPr>
                  <a:t>, and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𝑢</m:t>
                    </m:r>
                    <m:r>
                      <a:rPr lang="en-US" sz="2400" b="0" i="1" smtClean="0">
                        <a:latin typeface="Cambria Math" panose="02040503050406030204" pitchFamily="18" charset="0"/>
                        <a:ea typeface="Source Sans Pro" panose="020B0503030403020204" pitchFamily="34" charset="0"/>
                      </a:rPr>
                      <m:t>=</m:t>
                    </m:r>
                    <m:f>
                      <m:fPr>
                        <m:type m:val="skw"/>
                        <m:ctrlPr>
                          <a:rPr lang="en-US" sz="2400" b="0" i="1" smtClean="0">
                            <a:latin typeface="Cambria Math" panose="02040503050406030204" pitchFamily="18" charset="0"/>
                            <a:ea typeface="Source Sans Pro" panose="020B0503030403020204" pitchFamily="34" charset="0"/>
                          </a:rPr>
                        </m:ctrlPr>
                      </m:fPr>
                      <m:num>
                        <m:r>
                          <a:rPr lang="en-US" sz="2400" b="0" i="1" smtClean="0">
                            <a:latin typeface="Cambria Math" panose="02040503050406030204" pitchFamily="18" charset="0"/>
                            <a:ea typeface="Source Sans Pro" panose="020B0503030403020204" pitchFamily="34" charset="0"/>
                          </a:rPr>
                          <m:t>𝐹</m:t>
                        </m:r>
                      </m:num>
                      <m:den>
                        <m:r>
                          <a:rPr lang="en-US" sz="2400" b="0" i="1" smtClean="0">
                            <a:latin typeface="Cambria Math" panose="02040503050406030204" pitchFamily="18" charset="0"/>
                            <a:ea typeface="Source Sans Pro" panose="020B0503030403020204" pitchFamily="34" charset="0"/>
                          </a:rPr>
                          <m:t>𝑚</m:t>
                        </m:r>
                      </m:den>
                    </m:f>
                  </m:oMath>
                </a14:m>
                <a:r>
                  <a:rPr lang="en-US" sz="2400">
                    <a:latin typeface="Source Sans Pro" panose="020B0503030403020204" pitchFamily="34" charset="0"/>
                    <a:ea typeface="Source Sans Pro" panose="020B0503030403020204" pitchFamily="34" charset="0"/>
                  </a:rPr>
                  <a:t>. Then we can write</a:t>
                </a:r>
                <a:br>
                  <a:rPr lang="en-US" sz="2400">
                    <a:latin typeface="Source Sans Pro" panose="020B0503030403020204" pitchFamily="34" charset="0"/>
                    <a:ea typeface="Source Sans Pro" panose="020B0503030403020204" pitchFamily="34" charset="0"/>
                  </a:rPr>
                </a:b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d>
                      <m:dPr>
                        <m:ctrlPr>
                          <a:rPr lang="en-US" sz="2400" b="0" i="1" smtClean="0">
                            <a:latin typeface="Cambria Math" panose="02040503050406030204" pitchFamily="18" charset="0"/>
                            <a:ea typeface="Source Sans Pro" panose="020B0503030403020204" pitchFamily="34" charset="0"/>
                          </a:rPr>
                        </m:ctrlPr>
                      </m:dPr>
                      <m:e>
                        <m:m>
                          <m:mPr>
                            <m:mcs>
                              <m:mc>
                                <m:mcPr>
                                  <m:count m:val="1"/>
                                  <m:mcJc m:val="center"/>
                                </m:mcPr>
                              </m:mc>
                            </m:mcs>
                            <m:ctrlPr>
                              <a:rPr lang="en-US" sz="2400" b="0" i="1" smtClean="0">
                                <a:latin typeface="Cambria Math" panose="02040503050406030204" pitchFamily="18" charset="0"/>
                                <a:ea typeface="Source Sans Pro" panose="020B0503030403020204" pitchFamily="34" charset="0"/>
                              </a:rPr>
                            </m:ctrlPr>
                          </m:mPr>
                          <m:mr>
                            <m:e>
                              <m:r>
                                <m:rPr>
                                  <m:brk m:alnAt="7"/>
                                </m:rPr>
                                <a:rPr lang="en-US" sz="2400" b="0" i="1" smtClean="0">
                                  <a:latin typeface="Cambria Math" panose="02040503050406030204" pitchFamily="18" charset="0"/>
                                  <a:ea typeface="Source Sans Pro" panose="020B0503030403020204" pitchFamily="34" charset="0"/>
                                </a:rPr>
                                <m:t>𝑣</m:t>
                              </m:r>
                            </m:e>
                          </m:mr>
                          <m:mr>
                            <m:e>
                              <m:r>
                                <a:rPr lang="en-US" sz="2400" b="0" i="1" smtClean="0">
                                  <a:latin typeface="Cambria Math" panose="02040503050406030204" pitchFamily="18" charset="0"/>
                                  <a:ea typeface="Source Sans Pro" panose="020B0503030403020204" pitchFamily="34" charset="0"/>
                                </a:rPr>
                                <m:t>𝑢</m:t>
                              </m:r>
                            </m:e>
                          </m:mr>
                        </m:m>
                      </m:e>
                    </m:d>
                    <m:r>
                      <a:rPr lang="en-US" sz="2400" b="0" i="1" smtClean="0">
                        <a:latin typeface="Cambria Math" panose="02040503050406030204" pitchFamily="18" charset="0"/>
                        <a:ea typeface="Source Sans Pro" panose="020B0503030403020204" pitchFamily="34" charset="0"/>
                      </a:rPr>
                      <m:t>=</m:t>
                    </m:r>
                    <m:limLow>
                      <m:limLowPr>
                        <m:ctrlPr>
                          <a:rPr lang="en-US" sz="2400" b="0" i="1" smtClean="0">
                            <a:latin typeface="Cambria Math" panose="02040503050406030204" pitchFamily="18" charset="0"/>
                            <a:ea typeface="Source Sans Pro" panose="020B0503030403020204" pitchFamily="34" charset="0"/>
                          </a:rPr>
                        </m:ctrlPr>
                      </m:limLowPr>
                      <m:e>
                        <m:groupChr>
                          <m:groupChrPr>
                            <m:chr m:val="⏟"/>
                            <m:ctrlPr>
                              <a:rPr lang="en-US" sz="2400" b="0" i="1" smtClean="0">
                                <a:latin typeface="Cambria Math" panose="02040503050406030204" pitchFamily="18" charset="0"/>
                                <a:ea typeface="Source Sans Pro" panose="020B0503030403020204" pitchFamily="34" charset="0"/>
                              </a:rPr>
                            </m:ctrlPr>
                          </m:groupChrPr>
                          <m:e>
                            <m:d>
                              <m:dPr>
                                <m:begChr m:val="["/>
                                <m:endChr m:val="]"/>
                                <m:ctrlPr>
                                  <a:rPr lang="en-US" sz="2400" i="1">
                                    <a:latin typeface="Cambria Math" panose="02040503050406030204" pitchFamily="18" charset="0"/>
                                    <a:ea typeface="Source Sans Pro" panose="020B0503030403020204" pitchFamily="34" charset="0"/>
                                  </a:rPr>
                                </m:ctrlPr>
                              </m:dPr>
                              <m:e>
                                <m:m>
                                  <m:mPr>
                                    <m:mcs>
                                      <m:mc>
                                        <m:mcPr>
                                          <m:count m:val="2"/>
                                          <m:mcJc m:val="center"/>
                                        </m:mcPr>
                                      </m:mc>
                                    </m:mcs>
                                    <m:ctrlPr>
                                      <a:rPr lang="en-US" sz="2400" i="1">
                                        <a:latin typeface="Cambria Math" panose="02040503050406030204" pitchFamily="18" charset="0"/>
                                        <a:ea typeface="Source Sans Pro" panose="020B0503030403020204" pitchFamily="34" charset="0"/>
                                      </a:rPr>
                                    </m:ctrlPr>
                                  </m:mPr>
                                  <m:mr>
                                    <m:e>
                                      <m:r>
                                        <m:rPr>
                                          <m:brk m:alnAt="7"/>
                                        </m:rPr>
                                        <a:rPr lang="en-US" sz="2400" i="1">
                                          <a:latin typeface="Cambria Math" panose="02040503050406030204" pitchFamily="18" charset="0"/>
                                          <a:ea typeface="Source Sans Pro" panose="020B0503030403020204" pitchFamily="34" charset="0"/>
                                        </a:rPr>
                                        <m:t>0</m:t>
                                      </m:r>
                                    </m:e>
                                    <m:e>
                                      <m:r>
                                        <a:rPr lang="en-US" sz="2400" i="1">
                                          <a:latin typeface="Cambria Math" panose="02040503050406030204" pitchFamily="18" charset="0"/>
                                          <a:ea typeface="Source Sans Pro" panose="020B0503030403020204" pitchFamily="34" charset="0"/>
                                        </a:rPr>
                                        <m:t>1</m:t>
                                      </m:r>
                                    </m:e>
                                  </m:mr>
                                  <m:mr>
                                    <m:e>
                                      <m:r>
                                        <a:rPr lang="en-US" sz="2400" i="1">
                                          <a:latin typeface="Cambria Math" panose="02040503050406030204" pitchFamily="18" charset="0"/>
                                          <a:ea typeface="Source Sans Pro" panose="020B0503030403020204" pitchFamily="34" charset="0"/>
                                        </a:rPr>
                                        <m:t>0</m:t>
                                      </m:r>
                                    </m:e>
                                    <m:e>
                                      <m:r>
                                        <a:rPr lang="en-US" sz="2400" i="1">
                                          <a:latin typeface="Cambria Math" panose="02040503050406030204" pitchFamily="18" charset="0"/>
                                          <a:ea typeface="Source Sans Pro" panose="020B0503030403020204" pitchFamily="34" charset="0"/>
                                        </a:rPr>
                                        <m:t>0</m:t>
                                      </m:r>
                                    </m:e>
                                  </m:mr>
                                </m:m>
                              </m:e>
                            </m:d>
                            <m:r>
                              <a:rPr lang="en-US" sz="2400" i="1">
                                <a:latin typeface="Cambria Math" panose="02040503050406030204" pitchFamily="18" charset="0"/>
                                <a:ea typeface="Source Sans Pro" panose="020B0503030403020204" pitchFamily="34" charset="0"/>
                              </a:rPr>
                              <m:t>𝑥</m:t>
                            </m:r>
                            <m:r>
                              <a:rPr lang="en-US" sz="2400" i="1">
                                <a:latin typeface="Cambria Math" panose="02040503050406030204" pitchFamily="18" charset="0"/>
                                <a:ea typeface="Source Sans Pro" panose="020B0503030403020204" pitchFamily="34" charset="0"/>
                              </a:rPr>
                              <m:t>+</m:t>
                            </m:r>
                            <m:d>
                              <m:dPr>
                                <m:begChr m:val="["/>
                                <m:endChr m:val="]"/>
                                <m:ctrlPr>
                                  <a:rPr lang="en-US" sz="2400" i="1">
                                    <a:latin typeface="Cambria Math" panose="02040503050406030204" pitchFamily="18" charset="0"/>
                                    <a:ea typeface="Source Sans Pro" panose="020B0503030403020204" pitchFamily="34" charset="0"/>
                                  </a:rPr>
                                </m:ctrlPr>
                              </m:dPr>
                              <m:e>
                                <m:m>
                                  <m:mPr>
                                    <m:mcs>
                                      <m:mc>
                                        <m:mcPr>
                                          <m:count m:val="1"/>
                                          <m:mcJc m:val="center"/>
                                        </m:mcPr>
                                      </m:mc>
                                    </m:mcs>
                                    <m:ctrlPr>
                                      <a:rPr lang="en-US" sz="2400" i="1">
                                        <a:latin typeface="Cambria Math" panose="02040503050406030204" pitchFamily="18" charset="0"/>
                                        <a:ea typeface="Source Sans Pro" panose="020B0503030403020204" pitchFamily="34" charset="0"/>
                                      </a:rPr>
                                    </m:ctrlPr>
                                  </m:mPr>
                                  <m:mr>
                                    <m:e>
                                      <m:r>
                                        <m:rPr>
                                          <m:brk m:alnAt="7"/>
                                        </m:rPr>
                                        <a:rPr lang="en-US" sz="2400" i="1">
                                          <a:latin typeface="Cambria Math" panose="02040503050406030204" pitchFamily="18" charset="0"/>
                                          <a:ea typeface="Source Sans Pro" panose="020B0503030403020204" pitchFamily="34" charset="0"/>
                                        </a:rPr>
                                        <m:t>0</m:t>
                                      </m:r>
                                    </m:e>
                                  </m:mr>
                                  <m:mr>
                                    <m:e>
                                      <m:r>
                                        <a:rPr lang="en-US" sz="2400" i="1">
                                          <a:latin typeface="Cambria Math" panose="02040503050406030204" pitchFamily="18" charset="0"/>
                                          <a:ea typeface="Source Sans Pro" panose="020B0503030403020204" pitchFamily="34" charset="0"/>
                                        </a:rPr>
                                        <m:t>1</m:t>
                                      </m:r>
                                    </m:e>
                                  </m:mr>
                                </m:m>
                              </m:e>
                            </m:d>
                            <m:r>
                              <a:rPr lang="en-US" sz="2400" i="1">
                                <a:latin typeface="Cambria Math" panose="02040503050406030204" pitchFamily="18" charset="0"/>
                                <a:ea typeface="Source Sans Pro" panose="020B0503030403020204" pitchFamily="34" charset="0"/>
                              </a:rPr>
                              <m:t>𝑢</m:t>
                            </m:r>
                          </m:e>
                        </m:groupChr>
                      </m:e>
                      <m:lim>
                        <m:eqArr>
                          <m:eqArrPr>
                            <m:ctrlPr>
                              <a:rPr lang="en-US" sz="2400" b="0" i="1" smtClean="0">
                                <a:latin typeface="Cambria Math" panose="02040503050406030204" pitchFamily="18" charset="0"/>
                                <a:ea typeface="Source Sans Pro" panose="020B0503030403020204" pitchFamily="34" charset="0"/>
                              </a:rPr>
                            </m:ctrlPr>
                          </m:eqArrPr>
                          <m:e/>
                          <m:e>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𝑢</m:t>
                            </m:r>
                            <m:r>
                              <a:rPr lang="en-US" sz="2400" b="0" i="1" smtClean="0">
                                <a:latin typeface="Cambria Math" panose="02040503050406030204" pitchFamily="18" charset="0"/>
                              </a:rPr>
                              <m:t>)</m:t>
                            </m:r>
                          </m:e>
                        </m:eqArr>
                      </m:lim>
                    </m:limLow>
                  </m:oMath>
                </a14:m>
                <a:endParaRPr lang="en-US" sz="2400">
                  <a:latin typeface="Source Sans Pro" panose="020B0503030403020204" pitchFamily="34" charset="0"/>
                  <a:ea typeface="Source Sans Pro" panose="020B0503030403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12" t="-980"/>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E7582314-DE07-9951-26D2-212FC7AB7B81}"/>
              </a:ext>
            </a:extLst>
          </p:cNvPr>
          <p:cNvGrpSpPr/>
          <p:nvPr/>
        </p:nvGrpSpPr>
        <p:grpSpPr>
          <a:xfrm>
            <a:off x="6192345" y="2181006"/>
            <a:ext cx="5003800" cy="1717812"/>
            <a:chOff x="6096000" y="1781505"/>
            <a:chExt cx="5003800" cy="1717812"/>
          </a:xfrm>
        </p:grpSpPr>
        <p:pic>
          <p:nvPicPr>
            <p:cNvPr id="8" name="Picture 7" descr="A diagram of a car on a log&#10;&#10;Description automatically generated">
              <a:extLst>
                <a:ext uri="{FF2B5EF4-FFF2-40B4-BE49-F238E27FC236}">
                  <a16:creationId xmlns:a16="http://schemas.microsoft.com/office/drawing/2014/main" id="{523CDCD2-306C-72C5-9F74-9825CA70ED4C}"/>
                </a:ext>
              </a:extLst>
            </p:cNvPr>
            <p:cNvPicPr>
              <a:picLocks noChangeAspect="1"/>
            </p:cNvPicPr>
            <p:nvPr/>
          </p:nvPicPr>
          <p:blipFill>
            <a:blip r:embed="rId4"/>
            <a:stretch>
              <a:fillRect/>
            </a:stretch>
          </p:blipFill>
          <p:spPr>
            <a:xfrm>
              <a:off x="6096000" y="1825625"/>
              <a:ext cx="5003800" cy="13589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3A75FD-3CC7-0E09-065E-229EA6159626}"/>
                    </a:ext>
                  </a:extLst>
                </p:cNvPr>
                <p:cNvSpPr txBox="1"/>
                <p:nvPr/>
              </p:nvSpPr>
              <p:spPr>
                <a:xfrm>
                  <a:off x="7429500" y="2976097"/>
                  <a:ext cx="43890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𝑠</m:t>
                        </m:r>
                      </m:oMath>
                    </m:oMathPara>
                  </a14:m>
                  <a:endParaRPr lang="en-US" sz="2800"/>
                </a:p>
              </p:txBody>
            </p:sp>
          </mc:Choice>
          <mc:Fallback xmlns="">
            <p:sp>
              <p:nvSpPr>
                <p:cNvPr id="9" name="TextBox 8">
                  <a:extLst>
                    <a:ext uri="{FF2B5EF4-FFF2-40B4-BE49-F238E27FC236}">
                      <a16:creationId xmlns:a16="http://schemas.microsoft.com/office/drawing/2014/main" id="{DE3A75FD-3CC7-0E09-065E-229EA6159626}"/>
                    </a:ext>
                  </a:extLst>
                </p:cNvPr>
                <p:cNvSpPr txBox="1">
                  <a:spLocks noRot="1" noChangeAspect="1" noMove="1" noResize="1" noEditPoints="1" noAdjustHandles="1" noChangeArrowheads="1" noChangeShapeType="1" noTextEdit="1"/>
                </p:cNvSpPr>
                <p:nvPr/>
              </p:nvSpPr>
              <p:spPr>
                <a:xfrm>
                  <a:off x="7429500" y="2976097"/>
                  <a:ext cx="43890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CF7058-F534-A2A1-05CB-85216CFD3067}"/>
                    </a:ext>
                  </a:extLst>
                </p:cNvPr>
                <p:cNvSpPr txBox="1"/>
                <p:nvPr/>
              </p:nvSpPr>
              <p:spPr>
                <a:xfrm>
                  <a:off x="8443677" y="1781505"/>
                  <a:ext cx="57393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𝑚</m:t>
                        </m:r>
                      </m:oMath>
                    </m:oMathPara>
                  </a14:m>
                  <a:endParaRPr lang="en-US" sz="2800"/>
                </a:p>
              </p:txBody>
            </p:sp>
          </mc:Choice>
          <mc:Fallback xmlns="">
            <p:sp>
              <p:nvSpPr>
                <p:cNvPr id="11" name="TextBox 10">
                  <a:extLst>
                    <a:ext uri="{FF2B5EF4-FFF2-40B4-BE49-F238E27FC236}">
                      <a16:creationId xmlns:a16="http://schemas.microsoft.com/office/drawing/2014/main" id="{05CF7058-F534-A2A1-05CB-85216CFD3067}"/>
                    </a:ext>
                  </a:extLst>
                </p:cNvPr>
                <p:cNvSpPr txBox="1">
                  <a:spLocks noRot="1" noChangeAspect="1" noMove="1" noResize="1" noEditPoints="1" noAdjustHandles="1" noChangeArrowheads="1" noChangeShapeType="1" noTextEdit="1"/>
                </p:cNvSpPr>
                <p:nvPr/>
              </p:nvSpPr>
              <p:spPr>
                <a:xfrm>
                  <a:off x="8443677" y="1781505"/>
                  <a:ext cx="573939"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0937846-4729-0393-CC97-28251A8D8A0F}"/>
                    </a:ext>
                  </a:extLst>
                </p:cNvPr>
                <p:cNvSpPr txBox="1"/>
                <p:nvPr/>
              </p:nvSpPr>
              <p:spPr>
                <a:xfrm>
                  <a:off x="7634841" y="2150785"/>
                  <a:ext cx="50007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𝐹</m:t>
                        </m:r>
                      </m:oMath>
                    </m:oMathPara>
                  </a14:m>
                  <a:endParaRPr lang="en-US" sz="2800"/>
                </a:p>
              </p:txBody>
            </p:sp>
          </mc:Choice>
          <mc:Fallback xmlns="">
            <p:sp>
              <p:nvSpPr>
                <p:cNvPr id="12" name="TextBox 11">
                  <a:extLst>
                    <a:ext uri="{FF2B5EF4-FFF2-40B4-BE49-F238E27FC236}">
                      <a16:creationId xmlns:a16="http://schemas.microsoft.com/office/drawing/2014/main" id="{B0937846-4729-0393-CC97-28251A8D8A0F}"/>
                    </a:ext>
                  </a:extLst>
                </p:cNvPr>
                <p:cNvSpPr txBox="1">
                  <a:spLocks noRot="1" noChangeAspect="1" noMove="1" noResize="1" noEditPoints="1" noAdjustHandles="1" noChangeArrowheads="1" noChangeShapeType="1" noTextEdit="1"/>
                </p:cNvSpPr>
                <p:nvPr/>
              </p:nvSpPr>
              <p:spPr>
                <a:xfrm>
                  <a:off x="7634841" y="2150785"/>
                  <a:ext cx="500072" cy="523220"/>
                </a:xfrm>
                <a:prstGeom prst="rect">
                  <a:avLst/>
                </a:prstGeom>
                <a:blipFill>
                  <a:blip r:embed="rId7"/>
                  <a:stretch>
                    <a:fillRect/>
                  </a:stretch>
                </a:blipFill>
              </p:spPr>
              <p:txBody>
                <a:bodyPr/>
                <a:lstStyle/>
                <a:p>
                  <a:r>
                    <a:rPr lang="en-US">
                      <a:noFill/>
                    </a:rPr>
                    <a:t> </a:t>
                  </a:r>
                </a:p>
              </p:txBody>
            </p:sp>
          </mc:Fallback>
        </mc:AlternateContent>
      </p:grpSp>
      <p:sp>
        <p:nvSpPr>
          <p:cNvPr id="4" name="Footer Placeholder 3">
            <a:extLst>
              <a:ext uri="{FF2B5EF4-FFF2-40B4-BE49-F238E27FC236}">
                <a16:creationId xmlns:a16="http://schemas.microsoft.com/office/drawing/2014/main" id="{623A7379-3278-4D44-C8C2-16945923518E}"/>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5D316590-54C4-0051-64D4-1482FA1BEDB1}"/>
              </a:ext>
            </a:extLst>
          </p:cNvPr>
          <p:cNvSpPr>
            <a:spLocks noGrp="1"/>
          </p:cNvSpPr>
          <p:nvPr>
            <p:ph type="dt" sz="half" idx="10"/>
          </p:nvPr>
        </p:nvSpPr>
        <p:spPr/>
        <p:txBody>
          <a:bodyPr/>
          <a:lstStyle/>
          <a:p>
            <a:fld id="{728021B0-A451-784F-96A5-0D9E5748B3A8}" type="datetime1">
              <a:rPr lang="en-US" smtClean="0"/>
              <a:t>12/20/2025</a:t>
            </a:fld>
            <a:endParaRPr lang="en-US"/>
          </a:p>
        </p:txBody>
      </p:sp>
      <p:sp>
        <p:nvSpPr>
          <p:cNvPr id="6" name="Slide Number Placeholder 5">
            <a:extLst>
              <a:ext uri="{FF2B5EF4-FFF2-40B4-BE49-F238E27FC236}">
                <a16:creationId xmlns:a16="http://schemas.microsoft.com/office/drawing/2014/main" id="{A62EE7BD-1D22-74BA-3612-53A06A23E544}"/>
              </a:ext>
            </a:extLst>
          </p:cNvPr>
          <p:cNvSpPr>
            <a:spLocks noGrp="1"/>
          </p:cNvSpPr>
          <p:nvPr>
            <p:ph type="sldNum" sz="quarter" idx="12"/>
          </p:nvPr>
        </p:nvSpPr>
        <p:spPr/>
        <p:txBody>
          <a:bodyPr/>
          <a:lstStyle/>
          <a:p>
            <a:fld id="{8AA1F273-EF2F-3941-BBF8-D365CB27DD6A}" type="slidenum">
              <a:rPr lang="en-US" smtClean="0"/>
              <a:t>6</a:t>
            </a:fld>
            <a:endParaRPr lang="en-US"/>
          </a:p>
        </p:txBody>
      </p:sp>
    </p:spTree>
    <p:extLst>
      <p:ext uri="{BB962C8B-B14F-4D97-AF65-F5344CB8AC3E}">
        <p14:creationId xmlns:p14="http://schemas.microsoft.com/office/powerpoint/2010/main" val="3312396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Kinematic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529392"/>
                <a:ext cx="10515600" cy="4351338"/>
              </a:xfrm>
            </p:spPr>
            <p:txBody>
              <a:bodyPr>
                <a:noAutofit/>
              </a:bodyPr>
              <a:lstStyle/>
              <a:p>
                <a:pPr>
                  <a:lnSpc>
                    <a:spcPct val="100000"/>
                  </a:lnSpc>
                  <a:spcBef>
                    <a:spcPts val="400"/>
                  </a:spcBef>
                  <a:spcAft>
                    <a:spcPts val="1400"/>
                  </a:spcAft>
                </a:pPr>
                <a:r>
                  <a:rPr lang="en-US" sz="2400">
                    <a:solidFill>
                      <a:srgbClr val="C00000"/>
                    </a:solidFill>
                    <a:latin typeface="Source Sans Pro" panose="020B0503030403020204" pitchFamily="34" charset="0"/>
                    <a:ea typeface="Source Sans Pro" panose="020B0503030403020204" pitchFamily="34" charset="0"/>
                  </a:rPr>
                  <a:t>Kinematic models </a:t>
                </a:r>
                <a:r>
                  <a:rPr lang="en-US" sz="2400">
                    <a:latin typeface="Source Sans Pro" panose="020B0503030403020204" pitchFamily="34" charset="0"/>
                    <a:ea typeface="Source Sans Pro" panose="020B0503030403020204" pitchFamily="34" charset="0"/>
                  </a:rPr>
                  <a:t>are mathematical models that describe the motion of a system without consideration of forces</a:t>
                </a:r>
              </a:p>
              <a:p>
                <a:pPr>
                  <a:lnSpc>
                    <a:spcPct val="100000"/>
                  </a:lnSpc>
                  <a:spcBef>
                    <a:spcPts val="400"/>
                  </a:spcBef>
                  <a:spcAft>
                    <a:spcPts val="1400"/>
                  </a:spcAft>
                </a:pPr>
                <a:r>
                  <a:rPr lang="en-US" sz="2400">
                    <a:latin typeface="Source Sans Pro" panose="020B0503030403020204" pitchFamily="34" charset="0"/>
                    <a:ea typeface="Source Sans Pro" panose="020B0503030403020204" pitchFamily="34" charset="0"/>
                  </a:rPr>
                  <a:t>Kinematic models typically result from </a:t>
                </a:r>
                <a:r>
                  <a:rPr lang="en-US" sz="2400" i="1">
                    <a:latin typeface="Source Sans Pro" panose="020B0503030403020204" pitchFamily="34" charset="0"/>
                    <a:ea typeface="Source Sans Pro" panose="020B0503030403020204" pitchFamily="34" charset="0"/>
                  </a:rPr>
                  <a:t>geometric constraints </a:t>
                </a:r>
                <a:r>
                  <a:rPr lang="en-US" sz="2400">
                    <a:latin typeface="Source Sans Pro" panose="020B0503030403020204" pitchFamily="34" charset="0"/>
                    <a:ea typeface="Source Sans Pro" panose="020B0503030403020204" pitchFamily="34" charset="0"/>
                  </a:rPr>
                  <a:t>on the motion of a system, before considering any forces</a:t>
                </a:r>
              </a:p>
              <a:p>
                <a:pPr>
                  <a:lnSpc>
                    <a:spcPct val="100000"/>
                  </a:lnSpc>
                  <a:spcBef>
                    <a:spcPts val="400"/>
                  </a:spcBef>
                  <a:spcAft>
                    <a:spcPts val="1400"/>
                  </a:spcAft>
                </a:pPr>
                <a:r>
                  <a:rPr lang="en-US" sz="2400">
                    <a:latin typeface="Source Sans Pro" panose="020B0503030403020204" pitchFamily="34" charset="0"/>
                    <a:ea typeface="Source Sans Pro" panose="020B0503030403020204" pitchFamily="34" charset="0"/>
                  </a:rPr>
                  <a:t>For example, the “unicycle” with </a:t>
                </a:r>
                <a:r>
                  <a:rPr lang="en-US" sz="2400" i="1">
                    <a:latin typeface="Source Sans Pro" panose="020B0503030403020204" pitchFamily="34" charset="0"/>
                    <a:ea typeface="Source Sans Pro" panose="020B0503030403020204" pitchFamily="34" charset="0"/>
                  </a:rPr>
                  <a:t>generalized coordinates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𝑞</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𝑦</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oMath>
                </a14:m>
                <a:r>
                  <a:rPr lang="en-US" sz="2400" i="1">
                    <a:latin typeface="Source Sans Pro" panose="020B0503030403020204" pitchFamily="34" charset="0"/>
                    <a:ea typeface="Source Sans Pro" panose="020B0503030403020204" pitchFamily="34" charset="0"/>
                  </a:rPr>
                  <a:t> </a:t>
                </a:r>
                <a:r>
                  <a:rPr lang="en-US" sz="2400">
                    <a:latin typeface="Source Sans Pro" panose="020B0503030403020204" pitchFamily="34" charset="0"/>
                    <a:ea typeface="Source Sans Pro" panose="020B0503030403020204" pitchFamily="34" charset="0"/>
                  </a:rPr>
                  <a:t>should not slip sideways, i.e.,</a:t>
                </a:r>
                <a:br>
                  <a:rPr lang="en-US" sz="2400">
                    <a:latin typeface="Source Sans Pro" panose="020B0503030403020204" pitchFamily="34" charset="0"/>
                    <a:ea typeface="Source Sans Pro" panose="020B0503030403020204" pitchFamily="34" charset="0"/>
                  </a:rPr>
                </a:br>
                <a:br>
                  <a:rPr lang="en-US" sz="2400">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		</a:t>
                </a:r>
                <a14:m>
                  <m:oMath xmlns:m="http://schemas.openxmlformats.org/officeDocument/2006/math">
                    <m:d>
                      <m:dPr>
                        <m:ctrlPr>
                          <a:rPr lang="en-US" sz="2400" i="1" smtClean="0">
                            <a:latin typeface="Cambria Math" panose="02040503050406030204" pitchFamily="18" charset="0"/>
                            <a:ea typeface="Source Sans Pro" panose="020B0503030403020204" pitchFamily="34" charset="0"/>
                          </a:rPr>
                        </m:ctrlPr>
                      </m:dPr>
                      <m:e>
                        <m:m>
                          <m:mPr>
                            <m:mcs>
                              <m:mc>
                                <m:mcPr>
                                  <m:count m:val="1"/>
                                  <m:mcJc m:val="center"/>
                                </m:mcPr>
                              </m:mc>
                            </m:mcs>
                            <m:ctrlPr>
                              <a:rPr lang="en-US" sz="2400" i="1" smtClean="0">
                                <a:latin typeface="Cambria Math" panose="02040503050406030204" pitchFamily="18" charset="0"/>
                                <a:ea typeface="Source Sans Pro" panose="020B0503030403020204" pitchFamily="34" charset="0"/>
                              </a:rPr>
                            </m:ctrlPr>
                          </m:mPr>
                          <m:mr>
                            <m:e>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e>
                          </m:mr>
                          <m:mr>
                            <m:e>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𝑦</m:t>
                                  </m:r>
                                </m:e>
                              </m:acc>
                            </m:e>
                          </m:mr>
                        </m:m>
                      </m:e>
                    </m:d>
                    <m:r>
                      <a:rPr lang="en-US" sz="2400" i="1" smtClean="0">
                        <a:latin typeface="Cambria Math" panose="02040503050406030204" pitchFamily="18" charset="0"/>
                        <a:ea typeface="Cambria Math" panose="02040503050406030204" pitchFamily="18" charset="0"/>
                      </a:rPr>
                      <m:t>∙</m:t>
                    </m:r>
                    <m:d>
                      <m:dPr>
                        <m:ctrlPr>
                          <a:rPr lang="en-US" sz="240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ea typeface="Cambria Math" panose="02040503050406030204" pitchFamily="18" charset="0"/>
                              </a:rPr>
                            </m:ctrlPr>
                          </m:mPr>
                          <m:mr>
                            <m:e>
                              <m:func>
                                <m:funcPr>
                                  <m:ctrlPr>
                                    <a:rPr lang="en-US" sz="2400" i="1" smtClean="0">
                                      <a:latin typeface="Cambria Math" panose="02040503050406030204" pitchFamily="18" charset="0"/>
                                      <a:ea typeface="Cambria Math" panose="02040503050406030204" pitchFamily="18" charset="0"/>
                                    </a:rPr>
                                  </m:ctrlPr>
                                </m:funcPr>
                                <m:fName>
                                  <m:r>
                                    <m:rPr>
                                      <m:sty m:val="p"/>
                                      <m:brk m:alnAt="7"/>
                                    </m:rPr>
                                    <a:rPr lang="en-US" sz="2400" i="0" smtClean="0">
                                      <a:latin typeface="Cambria Math" panose="02040503050406030204" pitchFamily="18" charset="0"/>
                                      <a:ea typeface="Cambria Math" panose="02040503050406030204" pitchFamily="18" charset="0"/>
                                    </a:rPr>
                                    <m:t>s</m:t>
                                  </m:r>
                                  <m:r>
                                    <m:rPr>
                                      <m:sty m:val="p"/>
                                    </m:rPr>
                                    <a:rPr lang="en-US" sz="2400" i="0" smtClean="0">
                                      <a:latin typeface="Cambria Math" panose="02040503050406030204" pitchFamily="18" charset="0"/>
                                      <a:ea typeface="Cambria Math" panose="02040503050406030204" pitchFamily="18" charset="0"/>
                                    </a:rPr>
                                    <m:t>in</m:t>
                                  </m:r>
                                </m:fName>
                                <m:e>
                                  <m:r>
                                    <a:rPr lang="en-US" sz="2400" i="1" smtClean="0">
                                      <a:latin typeface="Cambria Math" panose="02040503050406030204" pitchFamily="18" charset="0"/>
                                      <a:ea typeface="Cambria Math" panose="02040503050406030204" pitchFamily="18" charset="0"/>
                                    </a:rPr>
                                    <m:t>𝜃</m:t>
                                  </m:r>
                                </m:e>
                              </m:func>
                            </m:e>
                          </m:mr>
                          <m:mr>
                            <m:e>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cos</m:t>
                                  </m:r>
                                </m:fName>
                                <m:e>
                                  <m:r>
                                    <a:rPr lang="en-US" sz="2400" b="0" i="1" smtClean="0">
                                      <a:latin typeface="Cambria Math" panose="02040503050406030204" pitchFamily="18" charset="0"/>
                                      <a:ea typeface="Cambria Math" panose="02040503050406030204" pitchFamily="18" charset="0"/>
                                    </a:rPr>
                                    <m:t>𝜃</m:t>
                                  </m:r>
                                </m:e>
                              </m:func>
                            </m:e>
                          </m:mr>
                        </m:m>
                      </m:e>
                    </m:d>
                    <m:r>
                      <a:rPr lang="en-US" sz="2400" b="0" i="1" smtClean="0">
                        <a:latin typeface="Cambria Math" panose="02040503050406030204" pitchFamily="18" charset="0"/>
                        <a:ea typeface="Cambria Math" panose="02040503050406030204" pitchFamily="18" charset="0"/>
                      </a:rPr>
                      <m:t>=0</m:t>
                    </m:r>
                  </m:oMath>
                </a14:m>
                <a:br>
                  <a:rPr lang="en-US" sz="2400" b="0">
                    <a:latin typeface="Source Sans Pro" panose="020B0503030403020204" pitchFamily="34" charset="0"/>
                    <a:ea typeface="Cambria Math" panose="02040503050406030204" pitchFamily="18" charset="0"/>
                  </a:rPr>
                </a:br>
                <a:br>
                  <a:rPr lang="en-US" sz="2400" b="0">
                    <a:latin typeface="Source Sans Pro" panose="020B0503030403020204" pitchFamily="34" charset="0"/>
                    <a:ea typeface="Cambria Math" panose="02040503050406030204" pitchFamily="18" charset="0"/>
                  </a:rPr>
                </a:br>
                <a:r>
                  <a:rPr lang="en-US" sz="2400" b="0">
                    <a:latin typeface="Source Sans Pro" panose="020B0503030403020204" pitchFamily="34" charset="0"/>
                    <a:ea typeface="Cambria Math" panose="02040503050406030204" pitchFamily="18" charset="0"/>
                  </a:rPr>
                  <a:t>	</a:t>
                </a:r>
                <a14:m>
                  <m:oMath xmlns:m="http://schemas.openxmlformats.org/officeDocument/2006/math">
                    <m:r>
                      <a:rPr lang="en-US" sz="2400" b="0" i="0" smtClean="0">
                        <a:latin typeface="Cambria Math" panose="02040503050406030204" pitchFamily="18" charset="0"/>
                        <a:ea typeface="Cambria Math" panose="02040503050406030204" pitchFamily="18" charset="0"/>
                      </a:rPr>
                      <m:t>  </m:t>
                    </m:r>
                    <m:limLow>
                      <m:limLowPr>
                        <m:ctrlPr>
                          <a:rPr lang="en-US" sz="2400" b="0" i="1" smtClean="0">
                            <a:latin typeface="Cambria Math" panose="02040503050406030204" pitchFamily="18" charset="0"/>
                            <a:ea typeface="Cambria Math" panose="02040503050406030204" pitchFamily="18" charset="0"/>
                          </a:rPr>
                        </m:ctrlPr>
                      </m:limLowPr>
                      <m:e>
                        <m:groupChr>
                          <m:groupChrPr>
                            <m:chr m:val="⏟"/>
                            <m:ctrlPr>
                              <a:rPr lang="en-US" sz="2400" b="0" i="1" smtClean="0">
                                <a:latin typeface="Cambria Math" panose="02040503050406030204" pitchFamily="18" charset="0"/>
                                <a:ea typeface="Cambria Math" panose="02040503050406030204" pitchFamily="18" charset="0"/>
                              </a:rPr>
                            </m:ctrlPr>
                          </m:groupChrPr>
                          <m:e>
                            <m:d>
                              <m:dPr>
                                <m:begChr m:val="["/>
                                <m:endChr m:val="]"/>
                                <m:ctrlPr>
                                  <a:rPr lang="en-US" sz="2400" i="1">
                                    <a:latin typeface="Cambria Math" panose="02040503050406030204" pitchFamily="18" charset="0"/>
                                    <a:ea typeface="Cambria Math" panose="02040503050406030204" pitchFamily="18" charset="0"/>
                                  </a:rPr>
                                </m:ctrlPr>
                              </m:dPr>
                              <m:e>
                                <m:m>
                                  <m:mPr>
                                    <m:mcs>
                                      <m:mc>
                                        <m:mcPr>
                                          <m:count m:val="3"/>
                                          <m:mcJc m:val="center"/>
                                        </m:mcPr>
                                      </m:mc>
                                    </m:mcs>
                                    <m:ctrlPr>
                                      <a:rPr lang="en-US" sz="2400" i="1">
                                        <a:latin typeface="Cambria Math" panose="02040503050406030204" pitchFamily="18" charset="0"/>
                                        <a:ea typeface="Cambria Math" panose="02040503050406030204" pitchFamily="18" charset="0"/>
                                      </a:rPr>
                                    </m:ctrlPr>
                                  </m:mPr>
                                  <m:mr>
                                    <m:e>
                                      <m:func>
                                        <m:funcPr>
                                          <m:ctrlPr>
                                            <a:rPr lang="en-US" sz="2400" i="1">
                                              <a:latin typeface="Cambria Math" panose="02040503050406030204" pitchFamily="18" charset="0"/>
                                              <a:ea typeface="Cambria Math" panose="02040503050406030204" pitchFamily="18" charset="0"/>
                                            </a:rPr>
                                          </m:ctrlPr>
                                        </m:funcPr>
                                        <m:fName>
                                          <m:r>
                                            <m:rPr>
                                              <m:sty m:val="p"/>
                                              <m:brk m:alnAt="7"/>
                                            </m:rPr>
                                            <a:rPr lang="en-US" sz="2400">
                                              <a:latin typeface="Cambria Math" panose="02040503050406030204" pitchFamily="18" charset="0"/>
                                              <a:ea typeface="Cambria Math" panose="02040503050406030204" pitchFamily="18" charset="0"/>
                                            </a:rPr>
                                            <m:t>s</m:t>
                                          </m:r>
                                          <m:r>
                                            <m:rPr>
                                              <m:sty m:val="p"/>
                                            </m:rPr>
                                            <a:rPr lang="en-US" sz="2400">
                                              <a:latin typeface="Cambria Math" panose="02040503050406030204" pitchFamily="18" charset="0"/>
                                              <a:ea typeface="Cambria Math" panose="02040503050406030204" pitchFamily="18" charset="0"/>
                                            </a:rPr>
                                            <m:t>in</m:t>
                                          </m:r>
                                        </m:fName>
                                        <m:e>
                                          <m:r>
                                            <a:rPr lang="en-US" sz="2400" i="1">
                                              <a:latin typeface="Cambria Math" panose="02040503050406030204" pitchFamily="18" charset="0"/>
                                              <a:ea typeface="Cambria Math" panose="02040503050406030204" pitchFamily="18" charset="0"/>
                                            </a:rPr>
                                            <m:t>𝜃</m:t>
                                          </m:r>
                                        </m:e>
                                      </m:func>
                                    </m:e>
                                    <m:e>
                                      <m:func>
                                        <m:funcPr>
                                          <m:ctrlPr>
                                            <a:rPr lang="en-US" sz="2400" i="1">
                                              <a:latin typeface="Cambria Math" panose="02040503050406030204" pitchFamily="18" charset="0"/>
                                              <a:ea typeface="Cambria Math" panose="02040503050406030204" pitchFamily="18" charset="0"/>
                                            </a:rPr>
                                          </m:ctrlPr>
                                        </m:funcPr>
                                        <m:fName>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𝜃</m:t>
                                          </m:r>
                                        </m:e>
                                      </m:func>
                                    </m:e>
                                    <m:e>
                                      <m:r>
                                        <a:rPr lang="en-US" sz="2400" i="1">
                                          <a:latin typeface="Cambria Math" panose="02040503050406030204" pitchFamily="18" charset="0"/>
                                          <a:ea typeface="Cambria Math" panose="02040503050406030204" pitchFamily="18" charset="0"/>
                                        </a:rPr>
                                        <m:t>0</m:t>
                                      </m:r>
                                    </m:e>
                                  </m:mr>
                                </m:m>
                              </m:e>
                            </m:d>
                          </m:e>
                        </m:groupChr>
                      </m:e>
                      <m:lim>
                        <m:eqArr>
                          <m:eqArrPr>
                            <m:ctrlPr>
                              <a:rPr lang="en-US" sz="2400" b="0" i="1" smtClean="0">
                                <a:latin typeface="Cambria Math" panose="02040503050406030204" pitchFamily="18" charset="0"/>
                                <a:ea typeface="Cambria Math" panose="02040503050406030204" pitchFamily="18" charset="0"/>
                              </a:rPr>
                            </m:ctrlPr>
                          </m:eqArrPr>
                          <m:e/>
                          <m:e>
                            <m:r>
                              <a:rPr lang="en-US" sz="2400" b="0" i="1" smtClean="0">
                                <a:latin typeface="Cambria Math" panose="02040503050406030204" pitchFamily="18" charset="0"/>
                              </a:rPr>
                              <m:t>𝐺</m:t>
                            </m:r>
                            <m:r>
                              <a:rPr lang="en-US" sz="2400" b="0" i="1" smtClean="0">
                                <a:latin typeface="Cambria Math" panose="02040503050406030204" pitchFamily="18" charset="0"/>
                              </a:rPr>
                              <m:t>(</m:t>
                            </m:r>
                            <m:r>
                              <a:rPr lang="en-US" sz="2400" b="0" i="1" smtClean="0">
                                <a:latin typeface="Cambria Math" panose="02040503050406030204" pitchFamily="18" charset="0"/>
                              </a:rPr>
                              <m:t>𝑞</m:t>
                            </m:r>
                            <m:r>
                              <a:rPr lang="en-US" sz="2400" b="0" i="1" smtClean="0">
                                <a:latin typeface="Cambria Math" panose="02040503050406030204" pitchFamily="18" charset="0"/>
                              </a:rPr>
                              <m:t>)</m:t>
                            </m:r>
                          </m:e>
                        </m:eqArr>
                      </m:lim>
                    </m:limLow>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𝑞</m:t>
                        </m:r>
                      </m:e>
                    </m:acc>
                    <m:r>
                      <a:rPr lang="en-US" sz="2400" b="0" i="1" smtClean="0">
                        <a:latin typeface="Cambria Math" panose="02040503050406030204" pitchFamily="18" charset="0"/>
                        <a:ea typeface="Cambria Math" panose="02040503050406030204" pitchFamily="18" charset="0"/>
                      </a:rPr>
                      <m:t>=0</m:t>
                    </m:r>
                  </m:oMath>
                </a14:m>
                <a:endParaRPr lang="en-US" sz="2400">
                  <a:latin typeface="Source Sans Pro" panose="020B0503030403020204" pitchFamily="34" charset="0"/>
                  <a:ea typeface="Source Sans Pro" panose="020B0503030403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529392"/>
                <a:ext cx="10515600" cy="4351338"/>
              </a:xfrm>
              <a:blipFill>
                <a:blip r:embed="rId3"/>
                <a:stretch>
                  <a:fillRect l="-812" t="-980" r="-870" b="-1820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5A143E4-EF46-F7D5-07D9-9CF42DB607E0}"/>
              </a:ext>
            </a:extLst>
          </p:cNvPr>
          <p:cNvPicPr>
            <a:picLocks noChangeAspect="1"/>
          </p:cNvPicPr>
          <p:nvPr/>
        </p:nvPicPr>
        <p:blipFill>
          <a:blip r:embed="rId4"/>
          <a:stretch>
            <a:fillRect/>
          </a:stretch>
        </p:blipFill>
        <p:spPr>
          <a:xfrm>
            <a:off x="5924612" y="4626437"/>
            <a:ext cx="4804719" cy="1643959"/>
          </a:xfrm>
          <a:prstGeom prst="rect">
            <a:avLst/>
          </a:prstGeom>
        </p:spPr>
      </p:pic>
      <p:sp>
        <p:nvSpPr>
          <p:cNvPr id="8" name="TextBox 7">
            <a:extLst>
              <a:ext uri="{FF2B5EF4-FFF2-40B4-BE49-F238E27FC236}">
                <a16:creationId xmlns:a16="http://schemas.microsoft.com/office/drawing/2014/main" id="{D8C41ED6-DAF0-5361-A076-0C122B5DAC09}"/>
              </a:ext>
            </a:extLst>
          </p:cNvPr>
          <p:cNvSpPr txBox="1"/>
          <p:nvPr/>
        </p:nvSpPr>
        <p:spPr>
          <a:xfrm>
            <a:off x="5151863" y="6394369"/>
            <a:ext cx="5989460" cy="369332"/>
          </a:xfrm>
          <a:prstGeom prst="rect">
            <a:avLst/>
          </a:prstGeom>
          <a:noFill/>
        </p:spPr>
        <p:txBody>
          <a:bodyPr wrap="none" rtlCol="0">
            <a:spAutoFit/>
          </a:bodyPr>
          <a:lstStyle/>
          <a:p>
            <a:r>
              <a:rPr lang="en-US"/>
              <a:t>This relation induces a </a:t>
            </a:r>
            <a:r>
              <a:rPr lang="en-US">
                <a:solidFill>
                  <a:srgbClr val="C00000"/>
                </a:solidFill>
              </a:rPr>
              <a:t>kinematic</a:t>
            </a:r>
            <a:r>
              <a:rPr lang="en-US"/>
              <a:t> model, as we will see shortly</a:t>
            </a:r>
          </a:p>
        </p:txBody>
      </p:sp>
      <p:cxnSp>
        <p:nvCxnSpPr>
          <p:cNvPr id="10" name="Straight Arrow Connector 9">
            <a:extLst>
              <a:ext uri="{FF2B5EF4-FFF2-40B4-BE49-F238E27FC236}">
                <a16:creationId xmlns:a16="http://schemas.microsoft.com/office/drawing/2014/main" id="{2F4AAFD7-7B83-0AF7-0CF3-C3F79FDAC458}"/>
              </a:ext>
            </a:extLst>
          </p:cNvPr>
          <p:cNvCxnSpPr/>
          <p:nvPr/>
        </p:nvCxnSpPr>
        <p:spPr>
          <a:xfrm flipH="1" flipV="1">
            <a:off x="4772722" y="6077859"/>
            <a:ext cx="379141" cy="33564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1E865299-CA07-568E-F5FB-34445B09D8C8}"/>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0A126CED-B93F-CF9F-F339-5E5F4EA9506B}"/>
              </a:ext>
            </a:extLst>
          </p:cNvPr>
          <p:cNvSpPr>
            <a:spLocks noGrp="1"/>
          </p:cNvSpPr>
          <p:nvPr>
            <p:ph type="dt" sz="half" idx="10"/>
          </p:nvPr>
        </p:nvSpPr>
        <p:spPr/>
        <p:txBody>
          <a:bodyPr/>
          <a:lstStyle/>
          <a:p>
            <a:fld id="{0D5011F3-C8FE-8845-A663-28F163C30D50}" type="datetime1">
              <a:rPr lang="en-US" smtClean="0"/>
              <a:t>12/20/2025</a:t>
            </a:fld>
            <a:endParaRPr lang="en-US"/>
          </a:p>
        </p:txBody>
      </p:sp>
      <p:sp>
        <p:nvSpPr>
          <p:cNvPr id="6" name="Slide Number Placeholder 5">
            <a:extLst>
              <a:ext uri="{FF2B5EF4-FFF2-40B4-BE49-F238E27FC236}">
                <a16:creationId xmlns:a16="http://schemas.microsoft.com/office/drawing/2014/main" id="{198350E1-B8B6-2082-7991-28BD683C64AF}"/>
              </a:ext>
            </a:extLst>
          </p:cNvPr>
          <p:cNvSpPr>
            <a:spLocks noGrp="1"/>
          </p:cNvSpPr>
          <p:nvPr>
            <p:ph type="sldNum" sz="quarter" idx="12"/>
          </p:nvPr>
        </p:nvSpPr>
        <p:spPr/>
        <p:txBody>
          <a:bodyPr/>
          <a:lstStyle/>
          <a:p>
            <a:fld id="{8AA1F273-EF2F-3941-BBF8-D365CB27DD6A}" type="slidenum">
              <a:rPr lang="en-US" smtClean="0"/>
              <a:t>7</a:t>
            </a:fld>
            <a:endParaRPr lang="en-US"/>
          </a:p>
        </p:txBody>
      </p:sp>
    </p:spTree>
    <p:extLst>
      <p:ext uri="{BB962C8B-B14F-4D97-AF65-F5344CB8AC3E}">
        <p14:creationId xmlns:p14="http://schemas.microsoft.com/office/powerpoint/2010/main" val="449824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Holonomic and nonholonomic constraints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a:lnSpc>
                    <a:spcPct val="100000"/>
                  </a:lnSpc>
                  <a:spcAft>
                    <a:spcPts val="2000"/>
                  </a:spcAft>
                </a:pPr>
                <a:r>
                  <a:rPr lang="en-US" sz="2400">
                    <a:latin typeface="Source Sans Pro" panose="020B0503030403020204" pitchFamily="34" charset="0"/>
                    <a:ea typeface="Source Sans Pro" panose="020B0503030403020204" pitchFamily="34" charset="0"/>
                  </a:rPr>
                  <a:t>More broadly, constraints on degrees of freedom come in various forms:</a:t>
                </a:r>
                <a:br>
                  <a:rPr lang="en-US" sz="2400">
                    <a:latin typeface="Source Sans Pro" panose="020B0503030403020204" pitchFamily="34" charset="0"/>
                    <a:ea typeface="Source Sans Pro" panose="020B0503030403020204" pitchFamily="34" charset="0"/>
                  </a:rPr>
                </a:br>
                <a14:m>
                  <m:oMath xmlns:m="http://schemas.openxmlformats.org/officeDocument/2006/math">
                    <m:limLow>
                      <m:limLowPr>
                        <m:ctrlPr>
                          <a:rPr lang="en-US" sz="2400" b="0" i="1" smtClean="0">
                            <a:latin typeface="Cambria Math" panose="02040503050406030204" pitchFamily="18" charset="0"/>
                            <a:ea typeface="Source Sans Pro" panose="020B0503030403020204" pitchFamily="34" charset="0"/>
                          </a:rPr>
                        </m:ctrlPr>
                      </m:limLowPr>
                      <m:e>
                        <m:groupChr>
                          <m:groupChrPr>
                            <m:chr m:val="⏟"/>
                            <m:ctrlPr>
                              <a:rPr lang="en-US" sz="2400" b="0" i="1" smtClean="0">
                                <a:latin typeface="Cambria Math" panose="02040503050406030204" pitchFamily="18" charset="0"/>
                                <a:ea typeface="Source Sans Pro" panose="020B0503030403020204" pitchFamily="34" charset="0"/>
                              </a:rPr>
                            </m:ctrlPr>
                          </m:groupChrPr>
                          <m:e>
                            <m:r>
                              <a:rPr lang="en-US" sz="2400" i="1">
                                <a:latin typeface="Cambria Math" panose="02040503050406030204" pitchFamily="18" charset="0"/>
                                <a:ea typeface="Source Sans Pro" panose="020B0503030403020204" pitchFamily="34" charset="0"/>
                              </a:rPr>
                              <m:t>h</m:t>
                            </m:r>
                            <m:d>
                              <m:dPr>
                                <m:ctrlPr>
                                  <a:rPr lang="en-US" sz="2400" i="1">
                                    <a:latin typeface="Cambria Math" panose="02040503050406030204" pitchFamily="18" charset="0"/>
                                    <a:ea typeface="Source Sans Pro" panose="020B0503030403020204" pitchFamily="34" charset="0"/>
                                  </a:rPr>
                                </m:ctrlPr>
                              </m:dPr>
                              <m:e>
                                <m:r>
                                  <a:rPr lang="en-US" sz="2400" i="1">
                                    <a:latin typeface="Cambria Math" panose="02040503050406030204" pitchFamily="18" charset="0"/>
                                    <a:ea typeface="Source Sans Pro" panose="020B0503030403020204" pitchFamily="34" charset="0"/>
                                  </a:rPr>
                                  <m:t>𝑞</m:t>
                                </m:r>
                              </m:e>
                            </m:d>
                            <m:r>
                              <a:rPr lang="en-US" sz="2400" i="1">
                                <a:latin typeface="Cambria Math" panose="02040503050406030204" pitchFamily="18" charset="0"/>
                                <a:ea typeface="Source Sans Pro" panose="020B0503030403020204" pitchFamily="34" charset="0"/>
                              </a:rPr>
                              <m:t>=0</m:t>
                            </m:r>
                          </m:e>
                        </m:groupChr>
                      </m:e>
                      <m:lim>
                        <m:eqArr>
                          <m:eqArrPr>
                            <m:ctrlPr>
                              <a:rPr lang="en-US" sz="2400" b="0" i="1" smtClean="0">
                                <a:latin typeface="Cambria Math" panose="02040503050406030204" pitchFamily="18" charset="0"/>
                                <a:ea typeface="Source Sans Pro" panose="020B0503030403020204" pitchFamily="34" charset="0"/>
                              </a:rPr>
                            </m:ctrlPr>
                          </m:eqArrPr>
                          <m:e/>
                          <m:e>
                            <m:r>
                              <m:rPr>
                                <m:nor/>
                              </m:rPr>
                              <a:rPr lang="en-US" sz="2400" b="0" i="0" smtClean="0">
                                <a:latin typeface="Source Sans Pro" panose="020B0503030403020204" pitchFamily="34" charset="0"/>
                                <a:ea typeface="Source Sans Pro" panose="020B0503030403020204" pitchFamily="34" charset="0"/>
                              </a:rPr>
                              <m:t>holonomic</m:t>
                            </m:r>
                          </m:e>
                          <m:e/>
                        </m:eqArr>
                      </m:lim>
                    </m:limLow>
                    <m:r>
                      <a:rPr lang="en-US" sz="2400" b="0" i="1" smtClean="0">
                        <a:latin typeface="Cambria Math" panose="02040503050406030204" pitchFamily="18" charset="0"/>
                        <a:ea typeface="Source Sans Pro" panose="020B0503030403020204" pitchFamily="34" charset="0"/>
                      </a:rPr>
                      <m:t>           </m:t>
                    </m:r>
                    <m:limLow>
                      <m:limLowPr>
                        <m:ctrlPr>
                          <a:rPr lang="en-US" sz="2400" b="0" i="1" smtClean="0">
                            <a:latin typeface="Cambria Math" panose="02040503050406030204" pitchFamily="18" charset="0"/>
                            <a:ea typeface="Source Sans Pro" panose="020B0503030403020204" pitchFamily="34" charset="0"/>
                          </a:rPr>
                        </m:ctrlPr>
                      </m:limLowPr>
                      <m:e>
                        <m:groupChr>
                          <m:groupChrPr>
                            <m:chr m:val="⏟"/>
                            <m:ctrlPr>
                              <a:rPr lang="en-US" sz="2400" b="0" i="1" smtClean="0">
                                <a:latin typeface="Cambria Math" panose="02040503050406030204" pitchFamily="18" charset="0"/>
                                <a:ea typeface="Source Sans Pro" panose="020B0503030403020204" pitchFamily="34" charset="0"/>
                              </a:rPr>
                            </m:ctrlPr>
                          </m:groupChrPr>
                          <m:e>
                            <m:r>
                              <a:rPr lang="en-US" sz="2400" i="1">
                                <a:latin typeface="Cambria Math" panose="02040503050406030204" pitchFamily="18" charset="0"/>
                                <a:ea typeface="Source Sans Pro" panose="020B0503030403020204" pitchFamily="34" charset="0"/>
                              </a:rPr>
                              <m:t>𝑔</m:t>
                            </m:r>
                            <m:d>
                              <m:dPr>
                                <m:ctrlPr>
                                  <a:rPr lang="en-US" sz="2400" i="1">
                                    <a:latin typeface="Cambria Math" panose="02040503050406030204" pitchFamily="18" charset="0"/>
                                    <a:ea typeface="Source Sans Pro" panose="020B0503030403020204" pitchFamily="34" charset="0"/>
                                  </a:rPr>
                                </m:ctrlPr>
                              </m:dPr>
                              <m:e>
                                <m:r>
                                  <a:rPr lang="en-US" sz="2400" i="1">
                                    <a:latin typeface="Cambria Math" panose="02040503050406030204" pitchFamily="18" charset="0"/>
                                    <a:ea typeface="Source Sans Pro" panose="020B0503030403020204" pitchFamily="34" charset="0"/>
                                  </a:rPr>
                                  <m:t>𝑞</m:t>
                                </m:r>
                                <m:r>
                                  <a:rPr lang="en-US" sz="2400" i="1">
                                    <a:latin typeface="Cambria Math" panose="02040503050406030204" pitchFamily="18" charset="0"/>
                                    <a:ea typeface="Source Sans Pro" panose="020B0503030403020204" pitchFamily="34"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𝑞</m:t>
                                    </m:r>
                                  </m:e>
                                </m:acc>
                              </m:e>
                            </m:d>
                            <m:r>
                              <a:rPr lang="en-US" sz="2400" i="1">
                                <a:latin typeface="Cambria Math" panose="02040503050406030204" pitchFamily="18" charset="0"/>
                                <a:ea typeface="Source Sans Pro" panose="020B0503030403020204" pitchFamily="34" charset="0"/>
                              </a:rPr>
                              <m:t>=0</m:t>
                            </m:r>
                          </m:e>
                        </m:groupChr>
                      </m:e>
                      <m:lim>
                        <m:eqArr>
                          <m:eqArrPr>
                            <m:ctrlPr>
                              <a:rPr lang="en-US" sz="2400" b="0" i="1" smtClean="0">
                                <a:latin typeface="Cambria Math" panose="02040503050406030204" pitchFamily="18" charset="0"/>
                                <a:ea typeface="Source Sans Pro" panose="020B0503030403020204" pitchFamily="34" charset="0"/>
                              </a:rPr>
                            </m:ctrlPr>
                          </m:eqArrPr>
                          <m:e/>
                          <m:e>
                            <m:r>
                              <m:rPr>
                                <m:nor/>
                              </m:rPr>
                              <a:rPr lang="en-US" sz="2400" b="0" i="0" smtClean="0">
                                <a:latin typeface="Source Sans Pro" panose="020B0503030403020204" pitchFamily="34" charset="0"/>
                                <a:ea typeface="Source Sans Pro" panose="020B0503030403020204" pitchFamily="34" charset="0"/>
                              </a:rPr>
                              <m:t>nonholonomic</m:t>
                            </m:r>
                          </m:e>
                          <m:e/>
                        </m:eqArr>
                      </m:lim>
                    </m:limLow>
                    <m:r>
                      <a:rPr lang="en-US" sz="2400" b="0" i="1" smtClean="0">
                        <a:latin typeface="Cambria Math" panose="02040503050406030204" pitchFamily="18" charset="0"/>
                        <a:ea typeface="Source Sans Pro" panose="020B0503030403020204" pitchFamily="34" charset="0"/>
                      </a:rPr>
                      <m:t>     </m:t>
                    </m:r>
                    <m:limLow>
                      <m:limLowPr>
                        <m:ctrlPr>
                          <a:rPr lang="en-US" sz="2400" b="0" i="1" smtClean="0">
                            <a:latin typeface="Cambria Math" panose="02040503050406030204" pitchFamily="18" charset="0"/>
                            <a:ea typeface="Source Sans Pro" panose="020B0503030403020204" pitchFamily="34" charset="0"/>
                          </a:rPr>
                        </m:ctrlPr>
                      </m:limLowPr>
                      <m:e>
                        <m:groupChr>
                          <m:groupChrPr>
                            <m:chr m:val="⏟"/>
                            <m:ctrlPr>
                              <a:rPr lang="en-US" sz="2400" b="0" i="1" smtClean="0">
                                <a:latin typeface="Cambria Math" panose="02040503050406030204" pitchFamily="18" charset="0"/>
                                <a:ea typeface="Source Sans Pro" panose="020B0503030403020204" pitchFamily="34" charset="0"/>
                              </a:rPr>
                            </m:ctrlPr>
                          </m:groupChrPr>
                          <m:e>
                            <m:r>
                              <a:rPr lang="en-US" sz="2400" b="0" i="1" smtClean="0">
                                <a:latin typeface="Cambria Math" panose="02040503050406030204" pitchFamily="18" charset="0"/>
                                <a:ea typeface="Source Sans Pro" panose="020B0503030403020204" pitchFamily="34" charset="0"/>
                              </a:rPr>
                              <m:t>𝐺</m:t>
                            </m:r>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𝑞</m:t>
                                </m:r>
                              </m:e>
                            </m:d>
                            <m:acc>
                              <m:accPr>
                                <m:chr m:val="̇"/>
                                <m:ctrlPr>
                                  <a:rPr lang="en-US" sz="2400" b="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𝑞</m:t>
                                </m:r>
                              </m:e>
                            </m:acc>
                            <m:r>
                              <a:rPr lang="en-US" sz="2400" b="0" i="1" smtClean="0">
                                <a:latin typeface="Cambria Math" panose="02040503050406030204" pitchFamily="18" charset="0"/>
                                <a:ea typeface="Source Sans Pro" panose="020B0503030403020204" pitchFamily="34" charset="0"/>
                              </a:rPr>
                              <m:t>=0</m:t>
                            </m:r>
                          </m:e>
                        </m:groupChr>
                      </m:e>
                      <m:lim>
                        <m:eqArr>
                          <m:eqArrPr>
                            <m:ctrlPr>
                              <a:rPr lang="en-US" sz="2400" b="0" i="1" smtClean="0">
                                <a:latin typeface="Cambria Math" panose="02040503050406030204" pitchFamily="18" charset="0"/>
                                <a:ea typeface="Source Sans Pro" panose="020B0503030403020204" pitchFamily="34" charset="0"/>
                              </a:rPr>
                            </m:ctrlPr>
                          </m:eqArrPr>
                          <m:e/>
                          <m:e>
                            <m:r>
                              <m:rPr>
                                <m:nor/>
                              </m:rPr>
                              <a:rPr lang="en-US" sz="2400" b="0" i="0" smtClean="0">
                                <a:latin typeface="Source Sans Pro" panose="020B0503030403020204" pitchFamily="34" charset="0"/>
                                <a:ea typeface="Source Sans Pro" panose="020B0503030403020204" pitchFamily="34" charset="0"/>
                              </a:rPr>
                              <m:t>semi</m:t>
                            </m:r>
                            <m:r>
                              <m:rPr>
                                <m:nor/>
                              </m:rPr>
                              <a:rPr lang="en-US" sz="2400" b="0" i="0" smtClean="0">
                                <a:latin typeface="Source Sans Pro" panose="020B0503030403020204" pitchFamily="34" charset="0"/>
                                <a:ea typeface="Source Sans Pro" panose="020B0503030403020204" pitchFamily="34" charset="0"/>
                              </a:rPr>
                              <m:t>−</m:t>
                            </m:r>
                            <m:r>
                              <m:rPr>
                                <m:nor/>
                              </m:rPr>
                              <a:rPr lang="en-US" sz="2400" b="0" i="0" smtClean="0">
                                <a:latin typeface="Source Sans Pro" panose="020B0503030403020204" pitchFamily="34" charset="0"/>
                                <a:ea typeface="Source Sans Pro" panose="020B0503030403020204" pitchFamily="34" charset="0"/>
                              </a:rPr>
                              <m:t>holonomic</m:t>
                            </m:r>
                            <m:r>
                              <m:rPr>
                                <m:nor/>
                              </m:rPr>
                              <a:rPr lang="en-US" sz="2400" b="0" i="0" smtClean="0">
                                <a:latin typeface="Source Sans Pro" panose="020B0503030403020204" pitchFamily="34" charset="0"/>
                                <a:ea typeface="Source Sans Pro" panose="020B0503030403020204" pitchFamily="34" charset="0"/>
                              </a:rPr>
                              <m:t> / </m:t>
                            </m:r>
                            <m:r>
                              <m:rPr>
                                <m:nor/>
                              </m:rPr>
                              <a:rPr lang="en-US" sz="2400" b="0" i="0" smtClean="0">
                                <a:latin typeface="Source Sans Pro" panose="020B0503030403020204" pitchFamily="34" charset="0"/>
                                <a:ea typeface="Source Sans Pro" panose="020B0503030403020204" pitchFamily="34" charset="0"/>
                              </a:rPr>
                              <m:t>Pfaffian</m:t>
                            </m:r>
                          </m:e>
                          <m:e/>
                        </m:eqArr>
                      </m:lim>
                    </m:limLow>
                  </m:oMath>
                </a14:m>
                <a:br>
                  <a:rPr lang="en-US" sz="2400" b="0">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Pfaffian constraints are a special, yet common case of nonholonomic constraints</a:t>
                </a:r>
              </a:p>
              <a:p>
                <a:pPr>
                  <a:lnSpc>
                    <a:spcPct val="100000"/>
                  </a:lnSpc>
                  <a:spcAft>
                    <a:spcPts val="2000"/>
                  </a:spcAft>
                </a:pPr>
                <a:r>
                  <a:rPr lang="en-US" sz="2400">
                    <a:latin typeface="Source Sans Pro" panose="020B0503030403020204" pitchFamily="34" charset="0"/>
                    <a:ea typeface="Source Sans Pro" panose="020B0503030403020204" pitchFamily="34" charset="0"/>
                  </a:rPr>
                  <a:t>If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𝐺</m:t>
                    </m:r>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𝑞</m:t>
                        </m:r>
                      </m:e>
                    </m:d>
                  </m:oMath>
                </a14:m>
                <a:r>
                  <a:rPr lang="en-US" sz="2400">
                    <a:latin typeface="Source Sans Pro" panose="020B0503030403020204" pitchFamily="34" charset="0"/>
                    <a:ea typeface="Source Sans Pro" panose="020B0503030403020204" pitchFamily="34" charset="0"/>
                  </a:rPr>
                  <a:t> has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𝑘</m:t>
                    </m:r>
                  </m:oMath>
                </a14:m>
                <a:r>
                  <a:rPr lang="en-US" sz="2400">
                    <a:latin typeface="Source Sans Pro" panose="020B0503030403020204" pitchFamily="34" charset="0"/>
                    <a:ea typeface="Source Sans Pro" panose="020B0503030403020204" pitchFamily="34" charset="0"/>
                  </a:rPr>
                  <a:t> rows (constraints) and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𝑑</m:t>
                    </m:r>
                  </m:oMath>
                </a14:m>
                <a:r>
                  <a:rPr lang="en-US" sz="2400">
                    <a:latin typeface="Source Sans Pro" panose="020B0503030403020204" pitchFamily="34" charset="0"/>
                    <a:ea typeface="Source Sans Pro" panose="020B0503030403020204" pitchFamily="34" charset="0"/>
                  </a:rPr>
                  <a:t> columns (DOFs), then</a:t>
                </a:r>
                <a:br>
                  <a:rPr lang="en-US" sz="2400">
                    <a:latin typeface="Source Sans Pro" panose="020B0503030403020204" pitchFamily="34" charset="0"/>
                    <a:ea typeface="Source Sans Pro" panose="020B0503030403020204" pitchFamily="34" charset="0"/>
                  </a:rPr>
                </a:b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𝑞</m:t>
                        </m:r>
                      </m:e>
                    </m:acc>
                    <m:r>
                      <a:rPr lang="en-US" sz="2400" b="0" i="1" smtClean="0">
                        <a:latin typeface="Cambria Math" panose="02040503050406030204" pitchFamily="18" charset="0"/>
                        <a:ea typeface="Source Sans Pro" panose="020B0503030403020204" pitchFamily="34" charset="0"/>
                      </a:rPr>
                      <m:t>= </m:t>
                    </m:r>
                    <m:nary>
                      <m:naryPr>
                        <m:chr m:val="∑"/>
                        <m:limLoc m:val="subSup"/>
                        <m:ctrlPr>
                          <a:rPr lang="en-US" sz="2400" b="0" i="1" smtClean="0">
                            <a:latin typeface="Cambria Math" panose="02040503050406030204" pitchFamily="18" charset="0"/>
                            <a:ea typeface="Source Sans Pro" panose="020B0503030403020204" pitchFamily="34" charset="0"/>
                          </a:rPr>
                        </m:ctrlPr>
                      </m:naryPr>
                      <m:sub>
                        <m:r>
                          <m:rPr>
                            <m:brk m:alnAt="25"/>
                          </m:rPr>
                          <a:rPr lang="en-US" sz="2400" b="0" i="1" smtClean="0">
                            <a:latin typeface="Cambria Math" panose="02040503050406030204" pitchFamily="18" charset="0"/>
                            <a:ea typeface="Source Sans Pro" panose="020B0503030403020204" pitchFamily="34" charset="0"/>
                          </a:rPr>
                          <m:t>𝑗</m:t>
                        </m:r>
                        <m:r>
                          <a:rPr lang="en-US" sz="2400" b="0" i="1" smtClean="0">
                            <a:latin typeface="Cambria Math" panose="02040503050406030204" pitchFamily="18" charset="0"/>
                            <a:ea typeface="Source Sans Pro" panose="020B0503030403020204" pitchFamily="34" charset="0"/>
                          </a:rPr>
                          <m:t>=1</m:t>
                        </m:r>
                      </m:sub>
                      <m:sup>
                        <m:r>
                          <a:rPr lang="en-US" sz="2400" b="0" i="1" smtClean="0">
                            <a:latin typeface="Cambria Math" panose="02040503050406030204" pitchFamily="18" charset="0"/>
                            <a:ea typeface="Source Sans Pro" panose="020B0503030403020204" pitchFamily="34" charset="0"/>
                          </a:rPr>
                          <m:t>𝑑</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𝑘</m:t>
                        </m:r>
                      </m:sup>
                      <m:e>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𝑢</m:t>
                            </m:r>
                          </m:e>
                          <m:sub>
                            <m:r>
                              <a:rPr lang="en-US" sz="2400" b="0" i="1" smtClean="0">
                                <a:latin typeface="Cambria Math" panose="02040503050406030204" pitchFamily="18" charset="0"/>
                                <a:ea typeface="Source Sans Pro" panose="020B0503030403020204" pitchFamily="34" charset="0"/>
                              </a:rPr>
                              <m:t>𝑗</m:t>
                            </m:r>
                          </m:sub>
                        </m:sSub>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𝑏</m:t>
                            </m:r>
                          </m:e>
                          <m:sub>
                            <m:r>
                              <a:rPr lang="en-US" sz="2400" b="0" i="1" smtClean="0">
                                <a:latin typeface="Cambria Math" panose="02040503050406030204" pitchFamily="18" charset="0"/>
                                <a:ea typeface="Source Sans Pro" panose="020B0503030403020204" pitchFamily="34" charset="0"/>
                              </a:rPr>
                              <m:t>𝑗</m:t>
                            </m:r>
                          </m:sub>
                        </m:sSub>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𝑞</m:t>
                            </m:r>
                          </m:e>
                        </m:d>
                        <m:r>
                          <a:rPr lang="en-US" sz="2400" b="0" i="1" smtClean="0">
                            <a:latin typeface="Cambria Math" panose="02040503050406030204" pitchFamily="18" charset="0"/>
                            <a:ea typeface="Source Sans Pro" panose="020B0503030403020204" pitchFamily="34" charset="0"/>
                          </a:rPr>
                          <m:t>=</m:t>
                        </m:r>
                        <m:d>
                          <m:dPr>
                            <m:begChr m:val="["/>
                            <m:endChr m:val="]"/>
                            <m:ctrlPr>
                              <a:rPr lang="en-US" sz="2400" b="0" i="1" smtClean="0">
                                <a:latin typeface="Cambria Math" panose="02040503050406030204" pitchFamily="18" charset="0"/>
                                <a:ea typeface="Source Sans Pro" panose="020B0503030403020204" pitchFamily="34" charset="0"/>
                              </a:rPr>
                            </m:ctrlPr>
                          </m:dPr>
                          <m:e>
                            <m:m>
                              <m:mPr>
                                <m:mcs>
                                  <m:mc>
                                    <m:mcPr>
                                      <m:count m:val="4"/>
                                      <m:mcJc m:val="center"/>
                                    </m:mcPr>
                                  </m:mc>
                                </m:mcs>
                                <m:ctrlPr>
                                  <a:rPr lang="en-US" sz="2400" b="0" i="1" smtClean="0">
                                    <a:latin typeface="Cambria Math" panose="02040503050406030204" pitchFamily="18" charset="0"/>
                                    <a:ea typeface="Source Sans Pro" panose="020B0503030403020204" pitchFamily="34" charset="0"/>
                                  </a:rPr>
                                </m:ctrlPr>
                              </m:mPr>
                              <m:mr>
                                <m:e>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𝑏</m:t>
                                      </m:r>
                                    </m:e>
                                    <m:sub>
                                      <m:r>
                                        <a:rPr lang="en-US" sz="2400" b="0" i="1" smtClean="0">
                                          <a:latin typeface="Cambria Math" panose="02040503050406030204" pitchFamily="18" charset="0"/>
                                          <a:ea typeface="Source Sans Pro" panose="020B0503030403020204" pitchFamily="34" charset="0"/>
                                        </a:rPr>
                                        <m:t>1</m:t>
                                      </m:r>
                                    </m:sub>
                                  </m:sSub>
                                  <m:r>
                                    <m:rPr>
                                      <m:brk m:alnAt="7"/>
                                    </m:rP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𝑞</m:t>
                                  </m:r>
                                  <m:r>
                                    <a:rPr lang="en-US" sz="2400" b="0" i="1" smtClean="0">
                                      <a:latin typeface="Cambria Math" panose="02040503050406030204" pitchFamily="18" charset="0"/>
                                      <a:ea typeface="Source Sans Pro" panose="020B0503030403020204" pitchFamily="34" charset="0"/>
                                    </a:rPr>
                                    <m:t>)</m:t>
                                  </m:r>
                                </m:e>
                                <m:e>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Source Sans Pro" panose="020B0503030403020204" pitchFamily="34" charset="0"/>
                                        </a:rPr>
                                        <m:t>𝑏</m:t>
                                      </m:r>
                                    </m:e>
                                    <m:sub>
                                      <m:r>
                                        <a:rPr lang="en-US" sz="2400" b="0" i="1" smtClean="0">
                                          <a:latin typeface="Cambria Math" panose="02040503050406030204" pitchFamily="18" charset="0"/>
                                          <a:ea typeface="Source Sans Pro" panose="020B0503030403020204" pitchFamily="34" charset="0"/>
                                        </a:rPr>
                                        <m:t>2</m:t>
                                      </m:r>
                                    </m:sub>
                                  </m:sSub>
                                  <m:r>
                                    <m:rPr>
                                      <m:brk m:alnAt="7"/>
                                    </m:rPr>
                                    <a:rPr lang="en-US" sz="2400" i="1">
                                      <a:latin typeface="Cambria Math" panose="02040503050406030204" pitchFamily="18" charset="0"/>
                                      <a:ea typeface="Source Sans Pro" panose="020B0503030403020204" pitchFamily="34" charset="0"/>
                                    </a:rPr>
                                    <m:t>(</m:t>
                                  </m:r>
                                  <m:r>
                                    <a:rPr lang="en-US" sz="2400" i="1">
                                      <a:latin typeface="Cambria Math" panose="02040503050406030204" pitchFamily="18" charset="0"/>
                                      <a:ea typeface="Source Sans Pro" panose="020B0503030403020204" pitchFamily="34" charset="0"/>
                                    </a:rPr>
                                    <m:t>𝑞</m:t>
                                  </m:r>
                                  <m:r>
                                    <a:rPr lang="en-US" sz="2400" i="1">
                                      <a:latin typeface="Cambria Math" panose="02040503050406030204" pitchFamily="18" charset="0"/>
                                      <a:ea typeface="Source Sans Pro" panose="020B0503030403020204" pitchFamily="34" charset="0"/>
                                    </a:rPr>
                                    <m:t>)</m:t>
                                  </m:r>
                                </m:e>
                                <m:e>
                                  <m:r>
                                    <a:rPr lang="en-US" sz="2400" b="0" i="1" smtClean="0">
                                      <a:latin typeface="Cambria Math" panose="02040503050406030204" pitchFamily="18" charset="0"/>
                                      <a:ea typeface="Cambria Math" panose="02040503050406030204" pitchFamily="18" charset="0"/>
                                    </a:rPr>
                                    <m:t>⋯</m:t>
                                  </m:r>
                                </m:e>
                                <m:e>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Source Sans Pro" panose="020B0503030403020204" pitchFamily="34" charset="0"/>
                                        </a:rPr>
                                        <m:t>𝑏</m:t>
                                      </m:r>
                                    </m:e>
                                    <m:sub>
                                      <m:r>
                                        <a:rPr lang="en-US" sz="2400" b="0" i="1" smtClean="0">
                                          <a:latin typeface="Cambria Math" panose="02040503050406030204" pitchFamily="18" charset="0"/>
                                          <a:ea typeface="Source Sans Pro" panose="020B0503030403020204" pitchFamily="34" charset="0"/>
                                        </a:rPr>
                                        <m:t>𝑑</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𝑘</m:t>
                                      </m:r>
                                    </m:sub>
                                  </m:sSub>
                                  <m:r>
                                    <m:rPr>
                                      <m:brk m:alnAt="7"/>
                                    </m:rPr>
                                    <a:rPr lang="en-US" sz="2400" i="1">
                                      <a:latin typeface="Cambria Math" panose="02040503050406030204" pitchFamily="18" charset="0"/>
                                      <a:ea typeface="Source Sans Pro" panose="020B0503030403020204" pitchFamily="34" charset="0"/>
                                    </a:rPr>
                                    <m:t>(</m:t>
                                  </m:r>
                                  <m:r>
                                    <a:rPr lang="en-US" sz="2400" i="1">
                                      <a:latin typeface="Cambria Math" panose="02040503050406030204" pitchFamily="18" charset="0"/>
                                      <a:ea typeface="Source Sans Pro" panose="020B0503030403020204" pitchFamily="34" charset="0"/>
                                    </a:rPr>
                                    <m:t>𝑞</m:t>
                                  </m:r>
                                  <m:r>
                                    <a:rPr lang="en-US" sz="2400" i="1">
                                      <a:latin typeface="Cambria Math" panose="02040503050406030204" pitchFamily="18" charset="0"/>
                                      <a:ea typeface="Source Sans Pro" panose="020B0503030403020204" pitchFamily="34" charset="0"/>
                                    </a:rPr>
                                    <m:t>)</m:t>
                                  </m:r>
                                </m:e>
                              </m:mr>
                            </m:m>
                          </m:e>
                        </m:d>
                        <m:r>
                          <a:rPr lang="en-US" sz="2400" b="0" i="1" smtClean="0">
                            <a:latin typeface="Cambria Math" panose="02040503050406030204" pitchFamily="18" charset="0"/>
                            <a:ea typeface="Source Sans Pro" panose="020B0503030403020204" pitchFamily="34" charset="0"/>
                          </a:rPr>
                          <m:t>𝑢</m:t>
                        </m:r>
                      </m:e>
                    </m:nary>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𝐵</m:t>
                    </m:r>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𝑞</m:t>
                        </m:r>
                      </m:e>
                    </m:d>
                    <m:r>
                      <a:rPr lang="en-US" sz="2400" b="0" i="1" smtClean="0">
                        <a:latin typeface="Cambria Math" panose="02040503050406030204" pitchFamily="18" charset="0"/>
                        <a:ea typeface="Source Sans Pro" panose="020B0503030403020204" pitchFamily="34" charset="0"/>
                      </a:rPr>
                      <m:t>𝑢</m:t>
                    </m:r>
                  </m:oMath>
                </a14:m>
                <a:br>
                  <a:rPr lang="en-US" sz="2400">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where </a:t>
                </a:r>
                <a14:m>
                  <m:oMath xmlns:m="http://schemas.openxmlformats.org/officeDocument/2006/math">
                    <m:sSubSup>
                      <m:sSubSupPr>
                        <m:ctrlPr>
                          <a:rPr lang="en-US" sz="2400" i="1" smtClean="0">
                            <a:latin typeface="Cambria Math" panose="02040503050406030204" pitchFamily="18" charset="0"/>
                            <a:ea typeface="Source Sans Pro" panose="020B0503030403020204" pitchFamily="34" charset="0"/>
                          </a:rPr>
                        </m:ctrlPr>
                      </m:sSubSupPr>
                      <m:e>
                        <m:d>
                          <m:dPr>
                            <m:begChr m:val="{"/>
                            <m:endChr m:val="}"/>
                            <m:ctrlPr>
                              <a:rPr lang="en-US" sz="2400" i="1">
                                <a:latin typeface="Cambria Math" panose="02040503050406030204" pitchFamily="18" charset="0"/>
                                <a:ea typeface="Source Sans Pro" panose="020B0503030403020204" pitchFamily="34" charset="0"/>
                              </a:rPr>
                            </m:ctrlPr>
                          </m:dPr>
                          <m:e>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Source Sans Pro" panose="020B0503030403020204" pitchFamily="34" charset="0"/>
                                  </a:rPr>
                                  <m:t>𝑏</m:t>
                                </m:r>
                              </m:e>
                              <m:sub>
                                <m:r>
                                  <a:rPr lang="en-US" sz="2400" i="1">
                                    <a:latin typeface="Cambria Math" panose="02040503050406030204" pitchFamily="18" charset="0"/>
                                    <a:ea typeface="Source Sans Pro" panose="020B0503030403020204" pitchFamily="34" charset="0"/>
                                  </a:rPr>
                                  <m:t>𝑗</m:t>
                                </m:r>
                              </m:sub>
                            </m:sSub>
                            <m:r>
                              <a:rPr lang="en-US" sz="2400" i="1">
                                <a:latin typeface="Cambria Math" panose="02040503050406030204" pitchFamily="18" charset="0"/>
                                <a:ea typeface="Source Sans Pro" panose="020B0503030403020204" pitchFamily="34" charset="0"/>
                              </a:rPr>
                              <m:t>(</m:t>
                            </m:r>
                            <m:r>
                              <a:rPr lang="en-US" sz="2400" i="1">
                                <a:latin typeface="Cambria Math" panose="02040503050406030204" pitchFamily="18" charset="0"/>
                                <a:ea typeface="Source Sans Pro" panose="020B0503030403020204" pitchFamily="34" charset="0"/>
                              </a:rPr>
                              <m:t>𝑞</m:t>
                            </m:r>
                            <m:r>
                              <a:rPr lang="en-US" sz="2400" i="1">
                                <a:latin typeface="Cambria Math" panose="02040503050406030204" pitchFamily="18" charset="0"/>
                                <a:ea typeface="Source Sans Pro" panose="020B0503030403020204" pitchFamily="34" charset="0"/>
                              </a:rPr>
                              <m:t>)</m:t>
                            </m:r>
                          </m:e>
                        </m:d>
                      </m:e>
                      <m:sub>
                        <m:r>
                          <a:rPr lang="en-US" sz="2400" b="0" i="1" smtClean="0">
                            <a:latin typeface="Cambria Math" panose="02040503050406030204" pitchFamily="18" charset="0"/>
                            <a:ea typeface="Source Sans Pro" panose="020B0503030403020204" pitchFamily="34" charset="0"/>
                          </a:rPr>
                          <m:t>𝑗</m:t>
                        </m:r>
                        <m:r>
                          <a:rPr lang="en-US" sz="2400" b="0" i="1" smtClean="0">
                            <a:latin typeface="Cambria Math" panose="02040503050406030204" pitchFamily="18" charset="0"/>
                            <a:ea typeface="Source Sans Pro" panose="020B0503030403020204" pitchFamily="34" charset="0"/>
                          </a:rPr>
                          <m:t>=1</m:t>
                        </m:r>
                      </m:sub>
                      <m:sup>
                        <m:r>
                          <a:rPr lang="en-US" sz="2400" b="0" i="1" smtClean="0">
                            <a:latin typeface="Cambria Math" panose="02040503050406030204" pitchFamily="18" charset="0"/>
                            <a:ea typeface="Source Sans Pro" panose="020B0503030403020204" pitchFamily="34" charset="0"/>
                          </a:rPr>
                          <m:t>𝑑</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𝑘</m:t>
                        </m:r>
                      </m:sup>
                    </m:sSubSup>
                  </m:oMath>
                </a14:m>
                <a:r>
                  <a:rPr lang="en-US" sz="2400">
                    <a:latin typeface="Source Sans Pro" panose="020B0503030403020204" pitchFamily="34" charset="0"/>
                    <a:ea typeface="Source Sans Pro" panose="020B0503030403020204" pitchFamily="34" charset="0"/>
                  </a:rPr>
                  <a:t> is a basis for admissible velocities, i.e., the null space of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𝐺</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𝑞</m:t>
                    </m:r>
                    <m:r>
                      <a:rPr lang="en-US" sz="2400" b="0" i="1" smtClean="0">
                        <a:latin typeface="Cambria Math" panose="02040503050406030204" pitchFamily="18" charset="0"/>
                        <a:ea typeface="Source Sans Pro" panose="020B0503030403020204" pitchFamily="34" charset="0"/>
                      </a:rPr>
                      <m:t>)</m:t>
                    </m:r>
                  </m:oMath>
                </a14:m>
                <a:r>
                  <a:rPr lang="en-US" sz="2400">
                    <a:latin typeface="Source Sans Pro" panose="020B0503030403020204" pitchFamily="34" charset="0"/>
                    <a:ea typeface="Source Sans Pro" panose="020B0503030403020204" pitchFamily="34"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44" t="-1163" r="-362" b="-3546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BBD862F-A394-6E65-544C-380ADFF05D9C}"/>
              </a:ext>
            </a:extLst>
          </p:cNvPr>
          <p:cNvSpPr txBox="1"/>
          <p:nvPr/>
        </p:nvSpPr>
        <p:spPr>
          <a:xfrm>
            <a:off x="9170020" y="4224318"/>
            <a:ext cx="3021980" cy="646331"/>
          </a:xfrm>
          <a:prstGeom prst="rect">
            <a:avLst/>
          </a:prstGeom>
          <a:noFill/>
        </p:spPr>
        <p:txBody>
          <a:bodyPr wrap="square" rtlCol="0">
            <a:spAutoFit/>
          </a:bodyPr>
          <a:lstStyle/>
          <a:p>
            <a:pPr algn="ctr"/>
            <a:r>
              <a:rPr lang="en-US">
                <a:solidFill>
                  <a:srgbClr val="C00000"/>
                </a:solidFill>
              </a:rPr>
              <a:t>Kinematic</a:t>
            </a:r>
            <a:r>
              <a:rPr lang="en-US"/>
              <a:t> model of the constrained system</a:t>
            </a:r>
          </a:p>
        </p:txBody>
      </p:sp>
      <p:cxnSp>
        <p:nvCxnSpPr>
          <p:cNvPr id="8" name="Straight Arrow Connector 7">
            <a:extLst>
              <a:ext uri="{FF2B5EF4-FFF2-40B4-BE49-F238E27FC236}">
                <a16:creationId xmlns:a16="http://schemas.microsoft.com/office/drawing/2014/main" id="{71BEB120-1A7B-8310-CDA0-D77A6ECF5022}"/>
              </a:ext>
            </a:extLst>
          </p:cNvPr>
          <p:cNvCxnSpPr>
            <a:cxnSpLocks/>
          </p:cNvCxnSpPr>
          <p:nvPr/>
        </p:nvCxnSpPr>
        <p:spPr>
          <a:xfrm flipH="1">
            <a:off x="9500839" y="4870649"/>
            <a:ext cx="332679" cy="30305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3EA89EBA-5DDB-BA0C-F35B-0841AAB59775}"/>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968F8B2B-AA9D-CF1E-CAB9-02D028B5AF1A}"/>
              </a:ext>
            </a:extLst>
          </p:cNvPr>
          <p:cNvSpPr>
            <a:spLocks noGrp="1"/>
          </p:cNvSpPr>
          <p:nvPr>
            <p:ph type="dt" sz="half" idx="10"/>
          </p:nvPr>
        </p:nvSpPr>
        <p:spPr/>
        <p:txBody>
          <a:bodyPr/>
          <a:lstStyle/>
          <a:p>
            <a:fld id="{8CDB5A0A-D1F4-3247-B8D8-3D52B4BDE2F9}" type="datetime1">
              <a:rPr lang="en-US" smtClean="0"/>
              <a:t>12/20/2025</a:t>
            </a:fld>
            <a:endParaRPr lang="en-US"/>
          </a:p>
        </p:txBody>
      </p:sp>
      <p:sp>
        <p:nvSpPr>
          <p:cNvPr id="6" name="Slide Number Placeholder 5">
            <a:extLst>
              <a:ext uri="{FF2B5EF4-FFF2-40B4-BE49-F238E27FC236}">
                <a16:creationId xmlns:a16="http://schemas.microsoft.com/office/drawing/2014/main" id="{CE857449-495C-A82F-435C-53B428430426}"/>
              </a:ext>
            </a:extLst>
          </p:cNvPr>
          <p:cNvSpPr>
            <a:spLocks noGrp="1"/>
          </p:cNvSpPr>
          <p:nvPr>
            <p:ph type="sldNum" sz="quarter" idx="12"/>
          </p:nvPr>
        </p:nvSpPr>
        <p:spPr/>
        <p:txBody>
          <a:bodyPr/>
          <a:lstStyle/>
          <a:p>
            <a:fld id="{8AA1F273-EF2F-3941-BBF8-D365CB27DD6A}" type="slidenum">
              <a:rPr lang="en-US" smtClean="0"/>
              <a:t>8</a:t>
            </a:fld>
            <a:endParaRPr lang="en-US"/>
          </a:p>
        </p:txBody>
      </p:sp>
    </p:spTree>
    <p:extLst>
      <p:ext uri="{BB962C8B-B14F-4D97-AF65-F5344CB8AC3E}">
        <p14:creationId xmlns:p14="http://schemas.microsoft.com/office/powerpoint/2010/main" val="3126536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Back to unicycle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a:lnSpc>
                    <a:spcPct val="100000"/>
                  </a:lnSpc>
                  <a:spcAft>
                    <a:spcPts val="2000"/>
                  </a:spcAft>
                </a:pPr>
                <a:r>
                  <a:rPr lang="en-US" sz="2400">
                    <a:latin typeface="Source Sans Pro" panose="020B0503030403020204" pitchFamily="34" charset="0"/>
                    <a:ea typeface="Source Sans Pro" panose="020B0503030403020204" pitchFamily="34" charset="0"/>
                  </a:rPr>
                  <a:t>The “unicycle” with DOFs</a:t>
                </a:r>
                <a:r>
                  <a:rPr lang="en-US" sz="2400" i="1">
                    <a:latin typeface="Source Sans Pro" panose="020B0503030403020204" pitchFamily="34" charset="0"/>
                    <a:ea typeface="Source Sans Pro" panose="020B0503030403020204" pitchFamily="34" charset="0"/>
                  </a:rPr>
                  <a:t>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𝑞</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𝑦</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oMath>
                </a14:m>
                <a:r>
                  <a:rPr lang="en-US" sz="2400">
                    <a:latin typeface="Source Sans Pro" panose="020B0503030403020204" pitchFamily="34" charset="0"/>
                    <a:ea typeface="Source Sans Pro" panose="020B0503030403020204" pitchFamily="34" charset="0"/>
                  </a:rPr>
                  <a:t> should not slip sideways, i.e.,</a:t>
                </a:r>
                <a:br>
                  <a:rPr lang="en-US" sz="2400">
                    <a:latin typeface="Source Sans Pro" panose="020B0503030403020204" pitchFamily="34" charset="0"/>
                    <a:ea typeface="Source Sans Pro" panose="020B0503030403020204" pitchFamily="34" charset="0"/>
                  </a:rPr>
                </a:br>
                <a:br>
                  <a:rPr lang="en-US" sz="2400">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		</a:t>
                </a:r>
                <a14:m>
                  <m:oMath xmlns:m="http://schemas.openxmlformats.org/officeDocument/2006/math">
                    <m:d>
                      <m:dPr>
                        <m:ctrlPr>
                          <a:rPr lang="en-US" sz="2400" i="1" smtClean="0">
                            <a:latin typeface="Cambria Math" panose="02040503050406030204" pitchFamily="18" charset="0"/>
                            <a:ea typeface="Source Sans Pro" panose="020B0503030403020204" pitchFamily="34" charset="0"/>
                          </a:rPr>
                        </m:ctrlPr>
                      </m:dPr>
                      <m:e>
                        <m:m>
                          <m:mPr>
                            <m:mcs>
                              <m:mc>
                                <m:mcPr>
                                  <m:count m:val="1"/>
                                  <m:mcJc m:val="center"/>
                                </m:mcPr>
                              </m:mc>
                            </m:mcs>
                            <m:ctrlPr>
                              <a:rPr lang="en-US" sz="2400" i="1" smtClean="0">
                                <a:latin typeface="Cambria Math" panose="02040503050406030204" pitchFamily="18" charset="0"/>
                                <a:ea typeface="Source Sans Pro" panose="020B0503030403020204" pitchFamily="34" charset="0"/>
                              </a:rPr>
                            </m:ctrlPr>
                          </m:mPr>
                          <m:mr>
                            <m:e>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e>
                          </m:mr>
                          <m:mr>
                            <m:e>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𝑦</m:t>
                                  </m:r>
                                </m:e>
                              </m:acc>
                            </m:e>
                          </m:mr>
                        </m:m>
                      </m:e>
                    </m:d>
                    <m:r>
                      <a:rPr lang="en-US" sz="2400" i="1" smtClean="0">
                        <a:latin typeface="Cambria Math" panose="02040503050406030204" pitchFamily="18" charset="0"/>
                        <a:ea typeface="Cambria Math" panose="02040503050406030204" pitchFamily="18" charset="0"/>
                      </a:rPr>
                      <m:t>∙</m:t>
                    </m:r>
                    <m:d>
                      <m:dPr>
                        <m:ctrlPr>
                          <a:rPr lang="en-US" sz="240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ea typeface="Cambria Math" panose="02040503050406030204" pitchFamily="18" charset="0"/>
                              </a:rPr>
                            </m:ctrlPr>
                          </m:mPr>
                          <m:mr>
                            <m:e>
                              <m:func>
                                <m:funcPr>
                                  <m:ctrlPr>
                                    <a:rPr lang="en-US" sz="2400" i="1" smtClean="0">
                                      <a:latin typeface="Cambria Math" panose="02040503050406030204" pitchFamily="18" charset="0"/>
                                      <a:ea typeface="Cambria Math" panose="02040503050406030204" pitchFamily="18" charset="0"/>
                                    </a:rPr>
                                  </m:ctrlPr>
                                </m:funcPr>
                                <m:fName>
                                  <m:r>
                                    <m:rPr>
                                      <m:sty m:val="p"/>
                                      <m:brk m:alnAt="7"/>
                                    </m:rPr>
                                    <a:rPr lang="en-US" sz="2400" i="0" smtClean="0">
                                      <a:latin typeface="Cambria Math" panose="02040503050406030204" pitchFamily="18" charset="0"/>
                                      <a:ea typeface="Cambria Math" panose="02040503050406030204" pitchFamily="18" charset="0"/>
                                    </a:rPr>
                                    <m:t>s</m:t>
                                  </m:r>
                                  <m:r>
                                    <m:rPr>
                                      <m:sty m:val="p"/>
                                    </m:rPr>
                                    <a:rPr lang="en-US" sz="2400" i="0" smtClean="0">
                                      <a:latin typeface="Cambria Math" panose="02040503050406030204" pitchFamily="18" charset="0"/>
                                      <a:ea typeface="Cambria Math" panose="02040503050406030204" pitchFamily="18" charset="0"/>
                                    </a:rPr>
                                    <m:t>in</m:t>
                                  </m:r>
                                </m:fName>
                                <m:e>
                                  <m:r>
                                    <a:rPr lang="en-US" sz="2400" i="1" smtClean="0">
                                      <a:latin typeface="Cambria Math" panose="02040503050406030204" pitchFamily="18" charset="0"/>
                                      <a:ea typeface="Cambria Math" panose="02040503050406030204" pitchFamily="18" charset="0"/>
                                    </a:rPr>
                                    <m:t>𝜃</m:t>
                                  </m:r>
                                </m:e>
                              </m:func>
                            </m:e>
                          </m:mr>
                          <m:mr>
                            <m:e>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cos</m:t>
                                  </m:r>
                                </m:fName>
                                <m:e>
                                  <m:r>
                                    <a:rPr lang="en-US" sz="2400" b="0" i="1" smtClean="0">
                                      <a:latin typeface="Cambria Math" panose="02040503050406030204" pitchFamily="18" charset="0"/>
                                      <a:ea typeface="Cambria Math" panose="02040503050406030204" pitchFamily="18" charset="0"/>
                                    </a:rPr>
                                    <m:t>𝜃</m:t>
                                  </m:r>
                                </m:e>
                              </m:func>
                            </m:e>
                          </m:mr>
                        </m:m>
                      </m:e>
                    </m:d>
                    <m:r>
                      <a:rPr lang="en-US" sz="2400" b="0" i="1" smtClean="0">
                        <a:latin typeface="Cambria Math" panose="02040503050406030204" pitchFamily="18" charset="0"/>
                        <a:ea typeface="Cambria Math" panose="02040503050406030204" pitchFamily="18" charset="0"/>
                      </a:rPr>
                      <m:t>=0</m:t>
                    </m:r>
                  </m:oMath>
                </a14:m>
                <a:br>
                  <a:rPr lang="en-US" sz="2400" b="0">
                    <a:latin typeface="Source Sans Pro" panose="020B0503030403020204" pitchFamily="34" charset="0"/>
                    <a:ea typeface="Cambria Math" panose="02040503050406030204" pitchFamily="18" charset="0"/>
                  </a:rPr>
                </a:br>
                <a:r>
                  <a:rPr lang="en-US" sz="2400" b="0">
                    <a:latin typeface="Source Sans Pro" panose="020B0503030403020204" pitchFamily="34" charset="0"/>
                    <a:ea typeface="Cambria Math" panose="02040503050406030204" pitchFamily="18" charset="0"/>
                  </a:rPr>
                  <a:t>	 </a:t>
                </a:r>
                <a14:m>
                  <m:oMath xmlns:m="http://schemas.openxmlformats.org/officeDocument/2006/math">
                    <m:r>
                      <a:rPr lang="en-US" sz="2400" b="0" i="0" smtClean="0">
                        <a:latin typeface="Cambria Math" panose="02040503050406030204" pitchFamily="18" charset="0"/>
                        <a:ea typeface="Cambria Math" panose="02040503050406030204" pitchFamily="18" charset="0"/>
                      </a:rPr>
                      <m:t> </m:t>
                    </m:r>
                    <m:limLow>
                      <m:limLowPr>
                        <m:ctrlPr>
                          <a:rPr lang="en-US" sz="2400" b="0" i="1" smtClean="0">
                            <a:latin typeface="Cambria Math" panose="02040503050406030204" pitchFamily="18" charset="0"/>
                            <a:ea typeface="Cambria Math" panose="02040503050406030204" pitchFamily="18" charset="0"/>
                          </a:rPr>
                        </m:ctrlPr>
                      </m:limLowPr>
                      <m:e>
                        <m:groupChr>
                          <m:groupChrPr>
                            <m:chr m:val="⏟"/>
                            <m:ctrlPr>
                              <a:rPr lang="en-US" sz="2400" b="0" i="1" smtClean="0">
                                <a:latin typeface="Cambria Math" panose="02040503050406030204" pitchFamily="18" charset="0"/>
                                <a:ea typeface="Cambria Math" panose="02040503050406030204" pitchFamily="18" charset="0"/>
                              </a:rPr>
                            </m:ctrlPr>
                          </m:groupChrPr>
                          <m:e>
                            <m:d>
                              <m:dPr>
                                <m:begChr m:val="["/>
                                <m:endChr m:val="]"/>
                                <m:ctrlPr>
                                  <a:rPr lang="en-US" sz="2400" i="1">
                                    <a:latin typeface="Cambria Math" panose="02040503050406030204" pitchFamily="18" charset="0"/>
                                    <a:ea typeface="Cambria Math" panose="02040503050406030204" pitchFamily="18" charset="0"/>
                                  </a:rPr>
                                </m:ctrlPr>
                              </m:dPr>
                              <m:e>
                                <m:m>
                                  <m:mPr>
                                    <m:mcs>
                                      <m:mc>
                                        <m:mcPr>
                                          <m:count m:val="3"/>
                                          <m:mcJc m:val="center"/>
                                        </m:mcPr>
                                      </m:mc>
                                    </m:mcs>
                                    <m:ctrlPr>
                                      <a:rPr lang="en-US" sz="2400" i="1">
                                        <a:latin typeface="Cambria Math" panose="02040503050406030204" pitchFamily="18" charset="0"/>
                                        <a:ea typeface="Cambria Math" panose="02040503050406030204" pitchFamily="18" charset="0"/>
                                      </a:rPr>
                                    </m:ctrlPr>
                                  </m:mPr>
                                  <m:mr>
                                    <m:e>
                                      <m:func>
                                        <m:funcPr>
                                          <m:ctrlPr>
                                            <a:rPr lang="en-US" sz="2400" i="1">
                                              <a:latin typeface="Cambria Math" panose="02040503050406030204" pitchFamily="18" charset="0"/>
                                              <a:ea typeface="Cambria Math" panose="02040503050406030204" pitchFamily="18" charset="0"/>
                                            </a:rPr>
                                          </m:ctrlPr>
                                        </m:funcPr>
                                        <m:fName>
                                          <m:r>
                                            <m:rPr>
                                              <m:sty m:val="p"/>
                                              <m:brk m:alnAt="7"/>
                                            </m:rPr>
                                            <a:rPr lang="en-US" sz="2400">
                                              <a:latin typeface="Cambria Math" panose="02040503050406030204" pitchFamily="18" charset="0"/>
                                              <a:ea typeface="Cambria Math" panose="02040503050406030204" pitchFamily="18" charset="0"/>
                                            </a:rPr>
                                            <m:t>s</m:t>
                                          </m:r>
                                          <m:r>
                                            <m:rPr>
                                              <m:sty m:val="p"/>
                                            </m:rPr>
                                            <a:rPr lang="en-US" sz="2400">
                                              <a:latin typeface="Cambria Math" panose="02040503050406030204" pitchFamily="18" charset="0"/>
                                              <a:ea typeface="Cambria Math" panose="02040503050406030204" pitchFamily="18" charset="0"/>
                                            </a:rPr>
                                            <m:t>in</m:t>
                                          </m:r>
                                        </m:fName>
                                        <m:e>
                                          <m:r>
                                            <a:rPr lang="en-US" sz="2400" i="1">
                                              <a:latin typeface="Cambria Math" panose="02040503050406030204" pitchFamily="18" charset="0"/>
                                              <a:ea typeface="Cambria Math" panose="02040503050406030204" pitchFamily="18" charset="0"/>
                                            </a:rPr>
                                            <m:t>𝜃</m:t>
                                          </m:r>
                                        </m:e>
                                      </m:func>
                                    </m:e>
                                    <m:e>
                                      <m:func>
                                        <m:funcPr>
                                          <m:ctrlPr>
                                            <a:rPr lang="en-US" sz="2400" i="1">
                                              <a:latin typeface="Cambria Math" panose="02040503050406030204" pitchFamily="18" charset="0"/>
                                              <a:ea typeface="Cambria Math" panose="02040503050406030204" pitchFamily="18" charset="0"/>
                                            </a:rPr>
                                          </m:ctrlPr>
                                        </m:funcPr>
                                        <m:fName>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𝜃</m:t>
                                          </m:r>
                                        </m:e>
                                      </m:func>
                                    </m:e>
                                    <m:e>
                                      <m:r>
                                        <a:rPr lang="en-US" sz="2400" i="1">
                                          <a:latin typeface="Cambria Math" panose="02040503050406030204" pitchFamily="18" charset="0"/>
                                          <a:ea typeface="Cambria Math" panose="02040503050406030204" pitchFamily="18" charset="0"/>
                                        </a:rPr>
                                        <m:t>0</m:t>
                                      </m:r>
                                    </m:e>
                                  </m:mr>
                                </m:m>
                              </m:e>
                            </m:d>
                          </m:e>
                        </m:groupChr>
                      </m:e>
                      <m:lim>
                        <m:eqArr>
                          <m:eqArrPr>
                            <m:ctrlPr>
                              <a:rPr lang="en-US" sz="2400" b="0" i="1" smtClean="0">
                                <a:latin typeface="Cambria Math" panose="02040503050406030204" pitchFamily="18" charset="0"/>
                                <a:ea typeface="Cambria Math" panose="02040503050406030204" pitchFamily="18" charset="0"/>
                              </a:rPr>
                            </m:ctrlPr>
                          </m:eqArrPr>
                          <m:e/>
                          <m:e>
                            <m:r>
                              <a:rPr lang="en-US" sz="2400" b="0" i="1" smtClean="0">
                                <a:latin typeface="Cambria Math" panose="02040503050406030204" pitchFamily="18" charset="0"/>
                              </a:rPr>
                              <m:t>𝐺</m:t>
                            </m:r>
                            <m:r>
                              <a:rPr lang="en-US" sz="2400" b="0" i="1" smtClean="0">
                                <a:latin typeface="Cambria Math" panose="02040503050406030204" pitchFamily="18" charset="0"/>
                              </a:rPr>
                              <m:t>(</m:t>
                            </m:r>
                            <m:r>
                              <a:rPr lang="en-US" sz="2400" b="0" i="1" smtClean="0">
                                <a:latin typeface="Cambria Math" panose="02040503050406030204" pitchFamily="18" charset="0"/>
                              </a:rPr>
                              <m:t>𝑞</m:t>
                            </m:r>
                            <m:r>
                              <a:rPr lang="en-US" sz="2400" b="0" i="1" smtClean="0">
                                <a:latin typeface="Cambria Math" panose="02040503050406030204" pitchFamily="18" charset="0"/>
                              </a:rPr>
                              <m:t>)</m:t>
                            </m:r>
                          </m:e>
                        </m:eqArr>
                      </m:lim>
                    </m:limLow>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𝑞</m:t>
                        </m:r>
                      </m:e>
                    </m:acc>
                    <m:r>
                      <a:rPr lang="en-US" sz="2400" b="0" i="1" smtClean="0">
                        <a:latin typeface="Cambria Math" panose="02040503050406030204" pitchFamily="18" charset="0"/>
                        <a:ea typeface="Cambria Math" panose="02040503050406030204" pitchFamily="18" charset="0"/>
                      </a:rPr>
                      <m:t>=0</m:t>
                    </m:r>
                  </m:oMath>
                </a14:m>
                <a:br>
                  <a:rPr lang="en-US" sz="2400">
                    <a:latin typeface="Source Sans Pro" panose="020B0503030403020204" pitchFamily="34" charset="0"/>
                    <a:ea typeface="Source Sans Pro" panose="020B0503030403020204" pitchFamily="34" charset="0"/>
                  </a:rPr>
                </a:b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𝑞</m:t>
                        </m:r>
                      </m:e>
                    </m:acc>
                    <m:r>
                      <a:rPr lang="en-US" sz="2400" b="0" i="1" smtClean="0">
                        <a:latin typeface="Cambria Math" panose="02040503050406030204" pitchFamily="18" charset="0"/>
                        <a:ea typeface="Source Sans Pro" panose="020B0503030403020204" pitchFamily="34" charset="0"/>
                      </a:rPr>
                      <m:t>=</m:t>
                    </m:r>
                    <m:d>
                      <m:dPr>
                        <m:ctrlPr>
                          <a:rPr lang="en-US" sz="2400" b="0" i="1" smtClean="0">
                            <a:latin typeface="Cambria Math" panose="02040503050406030204" pitchFamily="18" charset="0"/>
                            <a:ea typeface="Source Sans Pro" panose="020B0503030403020204" pitchFamily="34" charset="0"/>
                          </a:rPr>
                        </m:ctrlPr>
                      </m:dPr>
                      <m:e>
                        <m:m>
                          <m:mPr>
                            <m:mcs>
                              <m:mc>
                                <m:mcPr>
                                  <m:count m:val="1"/>
                                  <m:mcJc m:val="center"/>
                                </m:mcPr>
                              </m:mc>
                            </m:mcs>
                            <m:ctrlPr>
                              <a:rPr lang="en-US" sz="2400" b="0" i="1" smtClean="0">
                                <a:latin typeface="Cambria Math" panose="02040503050406030204" pitchFamily="18" charset="0"/>
                                <a:ea typeface="Source Sans Pro" panose="020B0503030403020204" pitchFamily="34" charset="0"/>
                              </a:rPr>
                            </m:ctrlPr>
                          </m:mPr>
                          <m:mr>
                            <m:e>
                              <m:func>
                                <m:funcPr>
                                  <m:ctrlPr>
                                    <a:rPr lang="en-US" sz="2400" b="0" i="1" smtClean="0">
                                      <a:latin typeface="Cambria Math" panose="02040503050406030204" pitchFamily="18" charset="0"/>
                                      <a:ea typeface="Source Sans Pro" panose="020B0503030403020204" pitchFamily="34" charset="0"/>
                                    </a:rPr>
                                  </m:ctrlPr>
                                </m:funcPr>
                                <m:fName>
                                  <m:r>
                                    <m:rPr>
                                      <m:sty m:val="p"/>
                                      <m:brk m:alnAt="7"/>
                                    </m:rPr>
                                    <a:rPr lang="en-US" sz="2400" b="0" i="0" smtClean="0">
                                      <a:latin typeface="Cambria Math" panose="02040503050406030204" pitchFamily="18" charset="0"/>
                                      <a:ea typeface="Source Sans Pro" panose="020B0503030403020204" pitchFamily="34" charset="0"/>
                                    </a:rPr>
                                    <m:t>c</m:t>
                                  </m:r>
                                  <m:r>
                                    <m:rPr>
                                      <m:sty m:val="p"/>
                                    </m:rPr>
                                    <a:rPr lang="en-US" sz="2400" b="0" i="0" smtClean="0">
                                      <a:latin typeface="Cambria Math" panose="02040503050406030204" pitchFamily="18" charset="0"/>
                                      <a:ea typeface="Source Sans Pro" panose="020B0503030403020204" pitchFamily="34" charset="0"/>
                                    </a:rPr>
                                    <m:t>os</m:t>
                                  </m:r>
                                </m:fName>
                                <m:e>
                                  <m:r>
                                    <a:rPr lang="en-US" sz="2400" b="0" i="1" smtClean="0">
                                      <a:latin typeface="Cambria Math" panose="02040503050406030204" pitchFamily="18" charset="0"/>
                                      <a:ea typeface="Cambria Math" panose="02040503050406030204" pitchFamily="18" charset="0"/>
                                    </a:rPr>
                                    <m:t>𝜃</m:t>
                                  </m:r>
                                </m:e>
                              </m:func>
                            </m:e>
                          </m:mr>
                          <m:mr>
                            <m:e>
                              <m:func>
                                <m:funcPr>
                                  <m:ctrlPr>
                                    <a:rPr lang="en-US" sz="2400" b="0" i="1" smtClean="0">
                                      <a:latin typeface="Cambria Math" panose="02040503050406030204" pitchFamily="18" charset="0"/>
                                      <a:ea typeface="Source Sans Pro" panose="020B0503030403020204" pitchFamily="34" charset="0"/>
                                    </a:rPr>
                                  </m:ctrlPr>
                                </m:funcPr>
                                <m:fName>
                                  <m:r>
                                    <m:rPr>
                                      <m:sty m:val="p"/>
                                    </m:rPr>
                                    <a:rPr lang="en-US" sz="2400" b="0" i="0" smtClean="0">
                                      <a:latin typeface="Cambria Math" panose="02040503050406030204" pitchFamily="18" charset="0"/>
                                      <a:ea typeface="Source Sans Pro" panose="020B0503030403020204" pitchFamily="34" charset="0"/>
                                    </a:rPr>
                                    <m:t>sin</m:t>
                                  </m:r>
                                </m:fName>
                                <m:e>
                                  <m:r>
                                    <a:rPr lang="en-US" sz="2400" b="0" i="1" smtClean="0">
                                      <a:latin typeface="Cambria Math" panose="02040503050406030204" pitchFamily="18" charset="0"/>
                                      <a:ea typeface="Cambria Math" panose="02040503050406030204" pitchFamily="18" charset="0"/>
                                    </a:rPr>
                                    <m:t>𝜃</m:t>
                                  </m:r>
                                </m:e>
                              </m:func>
                            </m:e>
                          </m:mr>
                          <m:mr>
                            <m:e>
                              <m:r>
                                <a:rPr lang="en-US" sz="2400" b="0" i="1" smtClean="0">
                                  <a:latin typeface="Cambria Math" panose="02040503050406030204" pitchFamily="18" charset="0"/>
                                  <a:ea typeface="Source Sans Pro" panose="020B0503030403020204" pitchFamily="34" charset="0"/>
                                </a:rPr>
                                <m:t>0</m:t>
                              </m:r>
                            </m:e>
                          </m:mr>
                        </m:m>
                      </m:e>
                    </m:d>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𝑢</m:t>
                        </m:r>
                      </m:e>
                      <m:sub>
                        <m:r>
                          <a:rPr lang="en-US" sz="2400" b="0" i="1" smtClean="0">
                            <a:latin typeface="Cambria Math" panose="02040503050406030204" pitchFamily="18" charset="0"/>
                            <a:ea typeface="Source Sans Pro" panose="020B0503030403020204" pitchFamily="34" charset="0"/>
                          </a:rPr>
                          <m:t>1</m:t>
                        </m:r>
                      </m:sub>
                    </m:sSub>
                    <m:r>
                      <a:rPr lang="en-US" sz="2400" b="0" i="1" smtClean="0">
                        <a:latin typeface="Cambria Math" panose="02040503050406030204" pitchFamily="18" charset="0"/>
                        <a:ea typeface="Source Sans Pro" panose="020B0503030403020204" pitchFamily="34" charset="0"/>
                      </a:rPr>
                      <m:t>+</m:t>
                    </m:r>
                    <m:d>
                      <m:dPr>
                        <m:ctrlPr>
                          <a:rPr lang="en-US" sz="2400" b="0" i="1" smtClean="0">
                            <a:latin typeface="Cambria Math" panose="02040503050406030204" pitchFamily="18" charset="0"/>
                            <a:ea typeface="Source Sans Pro" panose="020B0503030403020204" pitchFamily="34" charset="0"/>
                          </a:rPr>
                        </m:ctrlPr>
                      </m:dPr>
                      <m:e>
                        <m:m>
                          <m:mPr>
                            <m:mcs>
                              <m:mc>
                                <m:mcPr>
                                  <m:count m:val="1"/>
                                  <m:mcJc m:val="center"/>
                                </m:mcPr>
                              </m:mc>
                            </m:mcs>
                            <m:ctrlPr>
                              <a:rPr lang="en-US" sz="2400" b="0" i="1" smtClean="0">
                                <a:latin typeface="Cambria Math" panose="02040503050406030204" pitchFamily="18" charset="0"/>
                                <a:ea typeface="Source Sans Pro" panose="020B0503030403020204" pitchFamily="34" charset="0"/>
                              </a:rPr>
                            </m:ctrlPr>
                          </m:mPr>
                          <m:mr>
                            <m:e>
                              <m:r>
                                <m:rPr>
                                  <m:brk m:alnAt="7"/>
                                </m:rPr>
                                <a:rPr lang="en-US" sz="2400" b="0" i="1" smtClean="0">
                                  <a:latin typeface="Cambria Math" panose="02040503050406030204" pitchFamily="18" charset="0"/>
                                  <a:ea typeface="Source Sans Pro" panose="020B0503030403020204" pitchFamily="34" charset="0"/>
                                </a:rPr>
                                <m:t>0</m:t>
                              </m:r>
                            </m:e>
                          </m:mr>
                          <m:mr>
                            <m:e>
                              <m:r>
                                <a:rPr lang="en-US" sz="2400" b="0" i="1" smtClean="0">
                                  <a:latin typeface="Cambria Math" panose="02040503050406030204" pitchFamily="18" charset="0"/>
                                  <a:ea typeface="Source Sans Pro" panose="020B0503030403020204" pitchFamily="34" charset="0"/>
                                </a:rPr>
                                <m:t>0</m:t>
                              </m:r>
                            </m:e>
                          </m:mr>
                          <m:mr>
                            <m:e>
                              <m:r>
                                <a:rPr lang="en-US" sz="2400" b="0" i="1" smtClean="0">
                                  <a:latin typeface="Cambria Math" panose="02040503050406030204" pitchFamily="18" charset="0"/>
                                  <a:ea typeface="Source Sans Pro" panose="020B0503030403020204" pitchFamily="34" charset="0"/>
                                </a:rPr>
                                <m:t>1</m:t>
                              </m:r>
                            </m:e>
                          </m:mr>
                        </m:m>
                      </m:e>
                    </m:d>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𝑢</m:t>
                        </m:r>
                      </m:e>
                      <m:sub>
                        <m:r>
                          <a:rPr lang="en-US" sz="2400" b="0" i="1" smtClean="0">
                            <a:latin typeface="Cambria Math" panose="02040503050406030204" pitchFamily="18" charset="0"/>
                            <a:ea typeface="Source Sans Pro" panose="020B0503030403020204" pitchFamily="34" charset="0"/>
                          </a:rPr>
                          <m:t>2</m:t>
                        </m:r>
                      </m:sub>
                    </m:sSub>
                    <m:r>
                      <a:rPr lang="en-US" sz="2400" b="0" i="1" smtClean="0">
                        <a:latin typeface="Cambria Math" panose="02040503050406030204" pitchFamily="18" charset="0"/>
                        <a:ea typeface="Source Sans Pro" panose="020B0503030403020204" pitchFamily="34" charset="0"/>
                      </a:rPr>
                      <m:t>=</m:t>
                    </m:r>
                    <m:d>
                      <m:dPr>
                        <m:begChr m:val="["/>
                        <m:endChr m:val="]"/>
                        <m:ctrlPr>
                          <a:rPr lang="en-US" sz="2400" b="0" i="1" smtClean="0">
                            <a:latin typeface="Cambria Math" panose="02040503050406030204" pitchFamily="18" charset="0"/>
                            <a:ea typeface="Source Sans Pro" panose="020B0503030403020204" pitchFamily="34" charset="0"/>
                          </a:rPr>
                        </m:ctrlPr>
                      </m:dPr>
                      <m:e>
                        <m:m>
                          <m:mPr>
                            <m:mcs>
                              <m:mc>
                                <m:mcPr>
                                  <m:count m:val="2"/>
                                  <m:mcJc m:val="center"/>
                                </m:mcPr>
                              </m:mc>
                            </m:mcs>
                            <m:ctrlPr>
                              <a:rPr lang="en-US" sz="2400" b="0" i="1" smtClean="0">
                                <a:latin typeface="Cambria Math" panose="02040503050406030204" pitchFamily="18" charset="0"/>
                                <a:ea typeface="Source Sans Pro" panose="020B0503030403020204" pitchFamily="34" charset="0"/>
                              </a:rPr>
                            </m:ctrlPr>
                          </m:mPr>
                          <m:mr>
                            <m:e>
                              <m:func>
                                <m:funcPr>
                                  <m:ctrlPr>
                                    <a:rPr lang="en-US" sz="2400" i="1">
                                      <a:latin typeface="Cambria Math" panose="02040503050406030204" pitchFamily="18" charset="0"/>
                                      <a:ea typeface="Source Sans Pro" panose="020B0503030403020204" pitchFamily="34" charset="0"/>
                                    </a:rPr>
                                  </m:ctrlPr>
                                </m:funcPr>
                                <m:fName>
                                  <m:r>
                                    <m:rPr>
                                      <m:sty m:val="p"/>
                                      <m:brk m:alnAt="7"/>
                                    </m:rPr>
                                    <a:rPr lang="en-US" sz="2400">
                                      <a:latin typeface="Cambria Math" panose="02040503050406030204" pitchFamily="18" charset="0"/>
                                      <a:ea typeface="Source Sans Pro" panose="020B0503030403020204" pitchFamily="34" charset="0"/>
                                    </a:rPr>
                                    <m:t>c</m:t>
                                  </m:r>
                                  <m:r>
                                    <m:rPr>
                                      <m:sty m:val="p"/>
                                    </m:rPr>
                                    <a:rPr lang="en-US" sz="2400">
                                      <a:latin typeface="Cambria Math" panose="02040503050406030204" pitchFamily="18" charset="0"/>
                                      <a:ea typeface="Source Sans Pro" panose="020B0503030403020204" pitchFamily="34" charset="0"/>
                                    </a:rPr>
                                    <m:t>os</m:t>
                                  </m:r>
                                </m:fName>
                                <m:e>
                                  <m:r>
                                    <a:rPr lang="en-US" sz="2400" i="1">
                                      <a:latin typeface="Cambria Math" panose="02040503050406030204" pitchFamily="18" charset="0"/>
                                      <a:ea typeface="Cambria Math" panose="02040503050406030204" pitchFamily="18" charset="0"/>
                                    </a:rPr>
                                    <m:t>𝜃</m:t>
                                  </m:r>
                                </m:e>
                              </m:func>
                            </m:e>
                            <m:e>
                              <m:r>
                                <a:rPr lang="en-US" sz="2400" b="0" i="1" smtClean="0">
                                  <a:latin typeface="Cambria Math" panose="02040503050406030204" pitchFamily="18" charset="0"/>
                                  <a:ea typeface="Source Sans Pro" panose="020B0503030403020204" pitchFamily="34" charset="0"/>
                                </a:rPr>
                                <m:t>0</m:t>
                              </m:r>
                            </m:e>
                          </m:mr>
                          <m:mr>
                            <m:e>
                              <m:func>
                                <m:funcPr>
                                  <m:ctrlPr>
                                    <a:rPr lang="en-US" sz="2400" i="1">
                                      <a:latin typeface="Cambria Math" panose="02040503050406030204" pitchFamily="18" charset="0"/>
                                      <a:ea typeface="Source Sans Pro" panose="020B0503030403020204" pitchFamily="34" charset="0"/>
                                    </a:rPr>
                                  </m:ctrlPr>
                                </m:funcPr>
                                <m:fName>
                                  <m:r>
                                    <m:rPr>
                                      <m:sty m:val="p"/>
                                    </m:rPr>
                                    <a:rPr lang="en-US" sz="2400">
                                      <a:latin typeface="Cambria Math" panose="02040503050406030204" pitchFamily="18" charset="0"/>
                                      <a:ea typeface="Source Sans Pro" panose="020B0503030403020204" pitchFamily="34" charset="0"/>
                                    </a:rPr>
                                    <m:t>sin</m:t>
                                  </m:r>
                                </m:fName>
                                <m:e>
                                  <m:r>
                                    <a:rPr lang="en-US" sz="2400" i="1">
                                      <a:latin typeface="Cambria Math" panose="02040503050406030204" pitchFamily="18" charset="0"/>
                                      <a:ea typeface="Cambria Math" panose="02040503050406030204" pitchFamily="18" charset="0"/>
                                    </a:rPr>
                                    <m:t>𝜃</m:t>
                                  </m:r>
                                </m:e>
                              </m:func>
                            </m:e>
                            <m:e>
                              <m:r>
                                <a:rPr lang="en-US" sz="2400" b="0" i="1" smtClean="0">
                                  <a:latin typeface="Cambria Math" panose="02040503050406030204" pitchFamily="18" charset="0"/>
                                  <a:ea typeface="Source Sans Pro" panose="020B0503030403020204" pitchFamily="34" charset="0"/>
                                </a:rPr>
                                <m:t>0</m:t>
                              </m:r>
                            </m:e>
                          </m:mr>
                          <m:mr>
                            <m:e>
                              <m:r>
                                <a:rPr lang="en-US" sz="2400" b="0" i="1" smtClean="0">
                                  <a:latin typeface="Cambria Math" panose="02040503050406030204" pitchFamily="18" charset="0"/>
                                  <a:ea typeface="Source Sans Pro" panose="020B0503030403020204" pitchFamily="34" charset="0"/>
                                </a:rPr>
                                <m:t>0</m:t>
                              </m:r>
                            </m:e>
                            <m:e>
                              <m:r>
                                <a:rPr lang="en-US" sz="2400" b="0" i="1" smtClean="0">
                                  <a:latin typeface="Cambria Math" panose="02040503050406030204" pitchFamily="18" charset="0"/>
                                  <a:ea typeface="Source Sans Pro" panose="020B0503030403020204" pitchFamily="34" charset="0"/>
                                </a:rPr>
                                <m:t>1</m:t>
                              </m:r>
                            </m:e>
                          </m:mr>
                        </m:m>
                      </m:e>
                    </m:d>
                    <m:r>
                      <a:rPr lang="en-US" sz="2400" b="0" i="1" smtClean="0">
                        <a:latin typeface="Cambria Math" panose="02040503050406030204" pitchFamily="18" charset="0"/>
                        <a:ea typeface="Source Sans Pro" panose="020B0503030403020204" pitchFamily="34" charset="0"/>
                      </a:rPr>
                      <m:t>𝑢</m:t>
                    </m:r>
                  </m:oMath>
                </a14:m>
                <a:endParaRPr lang="en-US" sz="2400">
                  <a:latin typeface="Source Sans Pro" panose="020B0503030403020204" pitchFamily="34" charset="0"/>
                  <a:ea typeface="Source Sans Pro" panose="020B0503030403020204" pitchFamily="34" charset="0"/>
                </a:endParaRPr>
              </a:p>
              <a:p>
                <a:pPr>
                  <a:lnSpc>
                    <a:spcPct val="100000"/>
                  </a:lnSpc>
                  <a:spcAft>
                    <a:spcPts val="2000"/>
                  </a:spcAft>
                </a:pPr>
                <a:r>
                  <a:rPr lang="en-US" sz="2400">
                    <a:latin typeface="Source Sans Pro" panose="020B0503030403020204" pitchFamily="34" charset="0"/>
                    <a:ea typeface="Source Sans Pro" panose="020B0503030403020204" pitchFamily="34" charset="0"/>
                  </a:rPr>
                  <a:t>Physically, </a:t>
                </a:r>
                <a14:m>
                  <m:oMath xmlns:m="http://schemas.openxmlformats.org/officeDocument/2006/math">
                    <m:sSub>
                      <m:sSubPr>
                        <m:ctrlPr>
                          <a:rPr lang="en-US" sz="240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𝑢</m:t>
                        </m:r>
                      </m:e>
                      <m:sub>
                        <m:r>
                          <a:rPr lang="en-US" sz="2400" b="0" i="1" smtClean="0">
                            <a:latin typeface="Cambria Math" panose="02040503050406030204" pitchFamily="18" charset="0"/>
                            <a:ea typeface="Source Sans Pro" panose="020B0503030403020204" pitchFamily="34" charset="0"/>
                          </a:rPr>
                          <m:t>1</m:t>
                        </m:r>
                      </m:sub>
                    </m:sSub>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𝑣</m:t>
                    </m:r>
                  </m:oMath>
                </a14:m>
                <a:r>
                  <a:rPr lang="en-US" sz="2400">
                    <a:latin typeface="Source Sans Pro" panose="020B0503030403020204" pitchFamily="34" charset="0"/>
                    <a:ea typeface="Source Sans Pro" panose="020B0503030403020204" pitchFamily="34" charset="0"/>
                  </a:rPr>
                  <a:t> is the forward velocity of the wheel, and </a:t>
                </a:r>
                <a14:m>
                  <m:oMath xmlns:m="http://schemas.openxmlformats.org/officeDocument/2006/math">
                    <m:sSub>
                      <m:sSubPr>
                        <m:ctrlPr>
                          <a:rPr lang="en-US" sz="240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𝑢</m:t>
                        </m:r>
                      </m:e>
                      <m:sub>
                        <m:r>
                          <a:rPr lang="en-US" sz="2400" b="0" i="1" smtClean="0">
                            <a:latin typeface="Cambria Math" panose="02040503050406030204" pitchFamily="18" charset="0"/>
                            <a:ea typeface="Source Sans Pro" panose="020B0503030403020204" pitchFamily="34" charset="0"/>
                          </a:rPr>
                          <m:t>2</m:t>
                        </m:r>
                      </m:sub>
                    </m:sSub>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Cambria Math" panose="02040503050406030204" pitchFamily="18" charset="0"/>
                      </a:rPr>
                      <m:t>𝜔</m:t>
                    </m:r>
                  </m:oMath>
                </a14:m>
                <a:r>
                  <a:rPr lang="en-US" sz="2400">
                    <a:latin typeface="Source Sans Pro" panose="020B0503030403020204" pitchFamily="34" charset="0"/>
                    <a:ea typeface="Source Sans Pro" panose="020B0503030403020204" pitchFamily="34" charset="0"/>
                  </a:rPr>
                  <a:t> is its rotational steering velocity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44" t="-1163" b="-726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5A143E4-EF46-F7D5-07D9-9CF42DB607E0}"/>
              </a:ext>
            </a:extLst>
          </p:cNvPr>
          <p:cNvPicPr>
            <a:picLocks noChangeAspect="1"/>
          </p:cNvPicPr>
          <p:nvPr/>
        </p:nvPicPr>
        <p:blipFill>
          <a:blip r:embed="rId4"/>
          <a:stretch>
            <a:fillRect/>
          </a:stretch>
        </p:blipFill>
        <p:spPr>
          <a:xfrm>
            <a:off x="5751040" y="2425067"/>
            <a:ext cx="4804719" cy="1643959"/>
          </a:xfrm>
          <a:prstGeom prst="rect">
            <a:avLst/>
          </a:prstGeom>
        </p:spPr>
      </p:pic>
      <p:sp>
        <p:nvSpPr>
          <p:cNvPr id="4" name="Footer Placeholder 3">
            <a:extLst>
              <a:ext uri="{FF2B5EF4-FFF2-40B4-BE49-F238E27FC236}">
                <a16:creationId xmlns:a16="http://schemas.microsoft.com/office/drawing/2014/main" id="{4A3A2C00-A572-14C2-6678-26C7F12AF769}"/>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2F6C6351-3600-B03C-CB5C-DD4CF193EF3C}"/>
              </a:ext>
            </a:extLst>
          </p:cNvPr>
          <p:cNvSpPr>
            <a:spLocks noGrp="1"/>
          </p:cNvSpPr>
          <p:nvPr>
            <p:ph type="dt" sz="half" idx="10"/>
          </p:nvPr>
        </p:nvSpPr>
        <p:spPr/>
        <p:txBody>
          <a:bodyPr/>
          <a:lstStyle/>
          <a:p>
            <a:fld id="{34687502-2EFD-2545-A3BD-A8CBB50394FA}" type="datetime1">
              <a:rPr lang="en-US" smtClean="0"/>
              <a:t>12/20/2025</a:t>
            </a:fld>
            <a:endParaRPr lang="en-US"/>
          </a:p>
        </p:txBody>
      </p:sp>
      <p:sp>
        <p:nvSpPr>
          <p:cNvPr id="6" name="Slide Number Placeholder 5">
            <a:extLst>
              <a:ext uri="{FF2B5EF4-FFF2-40B4-BE49-F238E27FC236}">
                <a16:creationId xmlns:a16="http://schemas.microsoft.com/office/drawing/2014/main" id="{77D9F1A1-7485-43E5-3B19-77814A80564C}"/>
              </a:ext>
            </a:extLst>
          </p:cNvPr>
          <p:cNvSpPr>
            <a:spLocks noGrp="1"/>
          </p:cNvSpPr>
          <p:nvPr>
            <p:ph type="sldNum" sz="quarter" idx="12"/>
          </p:nvPr>
        </p:nvSpPr>
        <p:spPr/>
        <p:txBody>
          <a:bodyPr/>
          <a:lstStyle/>
          <a:p>
            <a:fld id="{8AA1F273-EF2F-3941-BBF8-D365CB27DD6A}" type="slidenum">
              <a:rPr lang="en-US" smtClean="0"/>
              <a:t>9</a:t>
            </a:fld>
            <a:endParaRPr lang="en-US"/>
          </a:p>
        </p:txBody>
      </p:sp>
    </p:spTree>
    <p:extLst>
      <p:ext uri="{BB962C8B-B14F-4D97-AF65-F5344CB8AC3E}">
        <p14:creationId xmlns:p14="http://schemas.microsoft.com/office/powerpoint/2010/main" val="993953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Unicycle and differential drive models</a:t>
            </a:r>
          </a:p>
        </p:txBody>
      </p:sp>
      <p:pic>
        <p:nvPicPr>
          <p:cNvPr id="9" name="Picture 8"/>
          <p:cNvPicPr>
            <a:picLocks noChangeAspect="1"/>
          </p:cNvPicPr>
          <p:nvPr/>
        </p:nvPicPr>
        <p:blipFill>
          <a:blip r:embed="rId3"/>
          <a:stretch>
            <a:fillRect/>
          </a:stretch>
        </p:blipFill>
        <p:spPr>
          <a:xfrm>
            <a:off x="1557053" y="1674143"/>
            <a:ext cx="3344515" cy="1004127"/>
          </a:xfrm>
          <a:prstGeom prst="rect">
            <a:avLst/>
          </a:prstGeom>
        </p:spPr>
      </p:pic>
      <p:pic>
        <p:nvPicPr>
          <p:cNvPr id="47" name="Picture 46">
            <a:extLst>
              <a:ext uri="{FF2B5EF4-FFF2-40B4-BE49-F238E27FC236}">
                <a16:creationId xmlns:a16="http://schemas.microsoft.com/office/drawing/2014/main" id="{C2F7869B-FB11-2B48-A636-5F134AEBD673}"/>
              </a:ext>
            </a:extLst>
          </p:cNvPr>
          <p:cNvPicPr>
            <a:picLocks noChangeAspect="1"/>
          </p:cNvPicPr>
          <p:nvPr/>
        </p:nvPicPr>
        <p:blipFill>
          <a:blip r:embed="rId4"/>
          <a:stretch>
            <a:fillRect/>
          </a:stretch>
        </p:blipFill>
        <p:spPr>
          <a:xfrm>
            <a:off x="6956813" y="1662625"/>
            <a:ext cx="3307574" cy="1028671"/>
          </a:xfrm>
          <a:prstGeom prst="rect">
            <a:avLst/>
          </a:prstGeom>
        </p:spPr>
      </p:pic>
      <p:grpSp>
        <p:nvGrpSpPr>
          <p:cNvPr id="6" name="Group 5">
            <a:extLst>
              <a:ext uri="{FF2B5EF4-FFF2-40B4-BE49-F238E27FC236}">
                <a16:creationId xmlns:a16="http://schemas.microsoft.com/office/drawing/2014/main" id="{CE2E66FF-7311-34C1-E5C3-AE52C566A1A1}"/>
              </a:ext>
            </a:extLst>
          </p:cNvPr>
          <p:cNvGrpSpPr/>
          <p:nvPr/>
        </p:nvGrpSpPr>
        <p:grpSpPr>
          <a:xfrm>
            <a:off x="1059838" y="2795959"/>
            <a:ext cx="4261257" cy="2526099"/>
            <a:chOff x="316552" y="2933372"/>
            <a:chExt cx="4261257" cy="2526099"/>
          </a:xfrm>
        </p:grpSpPr>
        <p:pic>
          <p:nvPicPr>
            <p:cNvPr id="15" name="Picture 14"/>
            <p:cNvPicPr>
              <a:picLocks noChangeAspect="1"/>
            </p:cNvPicPr>
            <p:nvPr/>
          </p:nvPicPr>
          <p:blipFill>
            <a:blip r:embed="rId5"/>
            <a:stretch>
              <a:fillRect/>
            </a:stretch>
          </p:blipFill>
          <p:spPr>
            <a:xfrm>
              <a:off x="316552" y="2933372"/>
              <a:ext cx="2828052" cy="2526099"/>
            </a:xfrm>
            <a:prstGeom prst="rect">
              <a:avLst/>
            </a:prstGeom>
          </p:spPr>
        </p:pic>
        <p:sp>
          <p:nvSpPr>
            <p:cNvPr id="16" name="TextBox 15"/>
            <p:cNvSpPr txBox="1"/>
            <p:nvPr/>
          </p:nvSpPr>
          <p:spPr>
            <a:xfrm>
              <a:off x="3180076" y="3263846"/>
              <a:ext cx="1110817" cy="430887"/>
            </a:xfrm>
            <a:prstGeom prst="rect">
              <a:avLst/>
            </a:prstGeom>
            <a:noFill/>
          </p:spPr>
          <p:txBody>
            <a:bodyPr wrap="none" rtlCol="0">
              <a:spAutoFit/>
            </a:bodyPr>
            <a:lstStyle/>
            <a:p>
              <a:r>
                <a:rPr lang="en-US" sz="2200"/>
                <a:t>unicycle</a:t>
              </a:r>
            </a:p>
          </p:txBody>
        </p:sp>
        <p:pic>
          <p:nvPicPr>
            <p:cNvPr id="18" name="Picture 17"/>
            <p:cNvPicPr>
              <a:picLocks noChangeAspect="1"/>
            </p:cNvPicPr>
            <p:nvPr/>
          </p:nvPicPr>
          <p:blipFill>
            <a:blip r:embed="rId6"/>
            <a:stretch>
              <a:fillRect/>
            </a:stretch>
          </p:blipFill>
          <p:spPr>
            <a:xfrm>
              <a:off x="3189514" y="4148585"/>
              <a:ext cx="1388295" cy="775060"/>
            </a:xfrm>
            <a:prstGeom prst="rect">
              <a:avLst/>
            </a:prstGeom>
          </p:spPr>
        </p:pic>
        <p:sp>
          <p:nvSpPr>
            <p:cNvPr id="5" name="Rectangle 4">
              <a:extLst>
                <a:ext uri="{FF2B5EF4-FFF2-40B4-BE49-F238E27FC236}">
                  <a16:creationId xmlns:a16="http://schemas.microsoft.com/office/drawing/2014/main" id="{957B818A-A2D8-B04D-B657-378FB0F12D2D}"/>
                </a:ext>
              </a:extLst>
            </p:cNvPr>
            <p:cNvSpPr/>
            <p:nvPr/>
          </p:nvSpPr>
          <p:spPr>
            <a:xfrm>
              <a:off x="1032685" y="3217217"/>
              <a:ext cx="1815884" cy="17064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BC4FC23-AC5D-574D-A178-5281E231D96D}"/>
                </a:ext>
              </a:extLst>
            </p:cNvPr>
            <p:cNvCxnSpPr/>
            <p:nvPr/>
          </p:nvCxnSpPr>
          <p:spPr>
            <a:xfrm flipV="1">
              <a:off x="1283490" y="3791397"/>
              <a:ext cx="894176" cy="714375"/>
            </a:xfrm>
            <a:prstGeom prst="line">
              <a:avLst/>
            </a:prstGeom>
            <a:ln w="889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09991960-84EE-B54D-BF04-BC27452861DB}"/>
                </a:ext>
              </a:extLst>
            </p:cNvPr>
            <p:cNvPicPr>
              <a:picLocks noChangeAspect="1"/>
            </p:cNvPicPr>
            <p:nvPr/>
          </p:nvPicPr>
          <p:blipFill>
            <a:blip r:embed="rId7"/>
            <a:stretch>
              <a:fillRect/>
            </a:stretch>
          </p:blipFill>
          <p:spPr>
            <a:xfrm>
              <a:off x="2552457" y="3694733"/>
              <a:ext cx="133578" cy="225412"/>
            </a:xfrm>
            <a:prstGeom prst="rect">
              <a:avLst/>
            </a:prstGeom>
          </p:spPr>
        </p:pic>
        <p:cxnSp>
          <p:nvCxnSpPr>
            <p:cNvPr id="24" name="Straight Connector 23">
              <a:extLst>
                <a:ext uri="{FF2B5EF4-FFF2-40B4-BE49-F238E27FC236}">
                  <a16:creationId xmlns:a16="http://schemas.microsoft.com/office/drawing/2014/main" id="{61ECD8D8-1994-8B4F-8B3F-3A6D86DB7C0B}"/>
                </a:ext>
              </a:extLst>
            </p:cNvPr>
            <p:cNvCxnSpPr>
              <a:cxnSpLocks/>
            </p:cNvCxnSpPr>
            <p:nvPr/>
          </p:nvCxnSpPr>
          <p:spPr>
            <a:xfrm>
              <a:off x="1685019" y="4177161"/>
              <a:ext cx="1001031"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974AB00-AD42-1E44-8C05-7B917EACA092}"/>
                </a:ext>
              </a:extLst>
            </p:cNvPr>
            <p:cNvCxnSpPr>
              <a:cxnSpLocks/>
            </p:cNvCxnSpPr>
            <p:nvPr/>
          </p:nvCxnSpPr>
          <p:spPr>
            <a:xfrm flipV="1">
              <a:off x="1677150" y="3529767"/>
              <a:ext cx="808875" cy="64739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97D0A14D-2B2F-A74A-8E47-13F50489B9E4}"/>
                </a:ext>
              </a:extLst>
            </p:cNvPr>
            <p:cNvPicPr>
              <a:picLocks noChangeAspect="1"/>
            </p:cNvPicPr>
            <p:nvPr/>
          </p:nvPicPr>
          <p:blipFill>
            <a:blip r:embed="rId8"/>
            <a:stretch>
              <a:fillRect/>
            </a:stretch>
          </p:blipFill>
          <p:spPr>
            <a:xfrm>
              <a:off x="1284969" y="3342975"/>
              <a:ext cx="637849" cy="306499"/>
            </a:xfrm>
            <a:prstGeom prst="rect">
              <a:avLst/>
            </a:prstGeom>
          </p:spPr>
        </p:pic>
        <p:sp>
          <p:nvSpPr>
            <p:cNvPr id="29" name="Arc 28">
              <a:extLst>
                <a:ext uri="{FF2B5EF4-FFF2-40B4-BE49-F238E27FC236}">
                  <a16:creationId xmlns:a16="http://schemas.microsoft.com/office/drawing/2014/main" id="{ABC225D8-320F-0445-B676-24A9BD4FF20E}"/>
                </a:ext>
              </a:extLst>
            </p:cNvPr>
            <p:cNvSpPr/>
            <p:nvPr/>
          </p:nvSpPr>
          <p:spPr>
            <a:xfrm>
              <a:off x="1946692" y="3803549"/>
              <a:ext cx="572002" cy="575726"/>
            </a:xfrm>
            <a:prstGeom prst="arc">
              <a:avLst>
                <a:gd name="adj1" fmla="val 16851390"/>
                <a:gd name="adj2" fmla="val 0"/>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B2387D13-9AE7-FE4B-AB97-77B3D710CDB3}"/>
                </a:ext>
              </a:extLst>
            </p:cNvPr>
            <p:cNvCxnSpPr/>
            <p:nvPr/>
          </p:nvCxnSpPr>
          <p:spPr>
            <a:xfrm>
              <a:off x="1603893" y="3678691"/>
              <a:ext cx="73257" cy="3917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ABF167CF-A4D1-9986-3585-A45B5ACAE3EF}"/>
              </a:ext>
            </a:extLst>
          </p:cNvPr>
          <p:cNvGrpSpPr/>
          <p:nvPr/>
        </p:nvGrpSpPr>
        <p:grpSpPr>
          <a:xfrm>
            <a:off x="6428764" y="2795959"/>
            <a:ext cx="4677750" cy="2526099"/>
            <a:chOff x="6905341" y="3033972"/>
            <a:chExt cx="4677750" cy="2526099"/>
          </a:xfrm>
        </p:grpSpPr>
        <p:pic>
          <p:nvPicPr>
            <p:cNvPr id="19" name="Picture 18">
              <a:extLst>
                <a:ext uri="{FF2B5EF4-FFF2-40B4-BE49-F238E27FC236}">
                  <a16:creationId xmlns:a16="http://schemas.microsoft.com/office/drawing/2014/main" id="{4B11CF3E-7AC6-9048-A076-64040D8A9BE5}"/>
                </a:ext>
              </a:extLst>
            </p:cNvPr>
            <p:cNvPicPr>
              <a:picLocks noChangeAspect="1"/>
            </p:cNvPicPr>
            <p:nvPr/>
          </p:nvPicPr>
          <p:blipFill>
            <a:blip r:embed="rId5"/>
            <a:stretch>
              <a:fillRect/>
            </a:stretch>
          </p:blipFill>
          <p:spPr>
            <a:xfrm>
              <a:off x="6905341" y="3033972"/>
              <a:ext cx="2828052" cy="2526099"/>
            </a:xfrm>
            <a:prstGeom prst="rect">
              <a:avLst/>
            </a:prstGeom>
          </p:spPr>
        </p:pic>
        <p:cxnSp>
          <p:nvCxnSpPr>
            <p:cNvPr id="30" name="Straight Connector 29">
              <a:extLst>
                <a:ext uri="{FF2B5EF4-FFF2-40B4-BE49-F238E27FC236}">
                  <a16:creationId xmlns:a16="http://schemas.microsoft.com/office/drawing/2014/main" id="{4F7956CF-4216-4A47-9ED2-6C778D2718CB}"/>
                </a:ext>
              </a:extLst>
            </p:cNvPr>
            <p:cNvCxnSpPr>
              <a:cxnSpLocks/>
            </p:cNvCxnSpPr>
            <p:nvPr/>
          </p:nvCxnSpPr>
          <p:spPr>
            <a:xfrm flipV="1">
              <a:off x="7725802" y="4297021"/>
              <a:ext cx="152813" cy="8225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8750D06-2F81-D24A-96F9-C68218863183}"/>
                </a:ext>
              </a:extLst>
            </p:cNvPr>
            <p:cNvCxnSpPr>
              <a:cxnSpLocks/>
            </p:cNvCxnSpPr>
            <p:nvPr/>
          </p:nvCxnSpPr>
          <p:spPr>
            <a:xfrm flipV="1">
              <a:off x="7991128" y="4774973"/>
              <a:ext cx="152813" cy="8225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9FC17D9-4723-2A4A-971C-BC6F3AEBFD2F}"/>
                </a:ext>
              </a:extLst>
            </p:cNvPr>
            <p:cNvCxnSpPr>
              <a:cxnSpLocks/>
            </p:cNvCxnSpPr>
            <p:nvPr/>
          </p:nvCxnSpPr>
          <p:spPr>
            <a:xfrm flipH="1" flipV="1">
              <a:off x="7786727" y="4393264"/>
              <a:ext cx="214837" cy="400467"/>
            </a:xfrm>
            <a:prstGeom prst="line">
              <a:avLst/>
            </a:prstGeom>
            <a:ln>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665BFE25-01AA-0640-93E2-ED8CD592A146}"/>
                </a:ext>
              </a:extLst>
            </p:cNvPr>
            <p:cNvPicPr>
              <a:picLocks noChangeAspect="1"/>
            </p:cNvPicPr>
            <p:nvPr/>
          </p:nvPicPr>
          <p:blipFill>
            <a:blip r:embed="rId9"/>
            <a:stretch>
              <a:fillRect/>
            </a:stretch>
          </p:blipFill>
          <p:spPr>
            <a:xfrm>
              <a:off x="7731468" y="4588708"/>
              <a:ext cx="110518" cy="125589"/>
            </a:xfrm>
            <a:prstGeom prst="rect">
              <a:avLst/>
            </a:prstGeom>
          </p:spPr>
        </p:pic>
        <p:cxnSp>
          <p:nvCxnSpPr>
            <p:cNvPr id="37" name="Straight Connector 36">
              <a:extLst>
                <a:ext uri="{FF2B5EF4-FFF2-40B4-BE49-F238E27FC236}">
                  <a16:creationId xmlns:a16="http://schemas.microsoft.com/office/drawing/2014/main" id="{189FDC92-67DF-9748-B86B-02E54F81B62F}"/>
                </a:ext>
              </a:extLst>
            </p:cNvPr>
            <p:cNvCxnSpPr>
              <a:cxnSpLocks/>
            </p:cNvCxnSpPr>
            <p:nvPr/>
          </p:nvCxnSpPr>
          <p:spPr>
            <a:xfrm flipH="1" flipV="1">
              <a:off x="8332936" y="4731127"/>
              <a:ext cx="50839" cy="101803"/>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29F9482-1C5A-5147-A1B1-6AC4AE694132}"/>
                </a:ext>
              </a:extLst>
            </p:cNvPr>
            <p:cNvCxnSpPr>
              <a:cxnSpLocks/>
            </p:cNvCxnSpPr>
            <p:nvPr/>
          </p:nvCxnSpPr>
          <p:spPr>
            <a:xfrm flipH="1" flipV="1">
              <a:off x="8474124" y="4651502"/>
              <a:ext cx="50839" cy="101803"/>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BDC530C-15B6-494F-993C-E829F5594292}"/>
                </a:ext>
              </a:extLst>
            </p:cNvPr>
            <p:cNvCxnSpPr>
              <a:cxnSpLocks/>
            </p:cNvCxnSpPr>
            <p:nvPr/>
          </p:nvCxnSpPr>
          <p:spPr>
            <a:xfrm flipV="1">
              <a:off x="8377149" y="4781600"/>
              <a:ext cx="163495" cy="78931"/>
            </a:xfrm>
            <a:prstGeom prst="line">
              <a:avLst/>
            </a:prstGeom>
            <a:ln>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6" name="Picture 45">
              <a:extLst>
                <a:ext uri="{FF2B5EF4-FFF2-40B4-BE49-F238E27FC236}">
                  <a16:creationId xmlns:a16="http://schemas.microsoft.com/office/drawing/2014/main" id="{FFBE02BB-0B12-934E-A616-88955B91C07F}"/>
                </a:ext>
              </a:extLst>
            </p:cNvPr>
            <p:cNvPicPr>
              <a:picLocks noChangeAspect="1"/>
            </p:cNvPicPr>
            <p:nvPr/>
          </p:nvPicPr>
          <p:blipFill>
            <a:blip r:embed="rId10"/>
            <a:stretch>
              <a:fillRect/>
            </a:stretch>
          </p:blipFill>
          <p:spPr>
            <a:xfrm>
              <a:off x="8474062" y="4881994"/>
              <a:ext cx="74288" cy="78931"/>
            </a:xfrm>
            <a:prstGeom prst="rect">
              <a:avLst/>
            </a:prstGeom>
          </p:spPr>
        </p:pic>
        <p:sp>
          <p:nvSpPr>
            <p:cNvPr id="51" name="Rectangle 50">
              <a:extLst>
                <a:ext uri="{FF2B5EF4-FFF2-40B4-BE49-F238E27FC236}">
                  <a16:creationId xmlns:a16="http://schemas.microsoft.com/office/drawing/2014/main" id="{BF814419-C70F-7046-9F6B-701194E08BB9}"/>
                </a:ext>
              </a:extLst>
            </p:cNvPr>
            <p:cNvSpPr/>
            <p:nvPr/>
          </p:nvSpPr>
          <p:spPr>
            <a:xfrm>
              <a:off x="8143941" y="3368697"/>
              <a:ext cx="901531" cy="3064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031EC976-B7D8-5540-A60A-A48F464948F2}"/>
                </a:ext>
              </a:extLst>
            </p:cNvPr>
            <p:cNvPicPr>
              <a:picLocks noChangeAspect="1"/>
            </p:cNvPicPr>
            <p:nvPr/>
          </p:nvPicPr>
          <p:blipFill>
            <a:blip r:embed="rId8"/>
            <a:stretch>
              <a:fillRect/>
            </a:stretch>
          </p:blipFill>
          <p:spPr>
            <a:xfrm>
              <a:off x="8273308" y="3347234"/>
              <a:ext cx="637849" cy="306499"/>
            </a:xfrm>
            <a:prstGeom prst="rect">
              <a:avLst/>
            </a:prstGeom>
          </p:spPr>
        </p:pic>
        <p:sp>
          <p:nvSpPr>
            <p:cNvPr id="52" name="TextBox 51">
              <a:extLst>
                <a:ext uri="{FF2B5EF4-FFF2-40B4-BE49-F238E27FC236}">
                  <a16:creationId xmlns:a16="http://schemas.microsoft.com/office/drawing/2014/main" id="{01A215BC-31D7-FD4B-9870-499AC51C1216}"/>
                </a:ext>
              </a:extLst>
            </p:cNvPr>
            <p:cNvSpPr txBox="1"/>
            <p:nvPr/>
          </p:nvSpPr>
          <p:spPr>
            <a:xfrm>
              <a:off x="9506560" y="3302368"/>
              <a:ext cx="2076531" cy="430887"/>
            </a:xfrm>
            <a:prstGeom prst="rect">
              <a:avLst/>
            </a:prstGeom>
            <a:noFill/>
          </p:spPr>
          <p:txBody>
            <a:bodyPr wrap="none" rtlCol="0">
              <a:spAutoFit/>
            </a:bodyPr>
            <a:lstStyle/>
            <a:p>
              <a:r>
                <a:rPr lang="en-US" sz="2200"/>
                <a:t>differential drive</a:t>
              </a:r>
            </a:p>
          </p:txBody>
        </p:sp>
        <p:pic>
          <p:nvPicPr>
            <p:cNvPr id="53" name="Picture 52">
              <a:extLst>
                <a:ext uri="{FF2B5EF4-FFF2-40B4-BE49-F238E27FC236}">
                  <a16:creationId xmlns:a16="http://schemas.microsoft.com/office/drawing/2014/main" id="{9F770759-52A8-5747-83F3-F71A346AC1E7}"/>
                </a:ext>
              </a:extLst>
            </p:cNvPr>
            <p:cNvPicPr>
              <a:picLocks noChangeAspect="1"/>
            </p:cNvPicPr>
            <p:nvPr/>
          </p:nvPicPr>
          <p:blipFill>
            <a:blip r:embed="rId11"/>
            <a:stretch>
              <a:fillRect/>
            </a:stretch>
          </p:blipFill>
          <p:spPr>
            <a:xfrm>
              <a:off x="9735505" y="4153968"/>
              <a:ext cx="1736712" cy="806957"/>
            </a:xfrm>
            <a:prstGeom prst="rect">
              <a:avLst/>
            </a:prstGeom>
          </p:spPr>
        </p:pic>
      </p:grpSp>
      <p:grpSp>
        <p:nvGrpSpPr>
          <p:cNvPr id="59" name="Group 58">
            <a:extLst>
              <a:ext uri="{FF2B5EF4-FFF2-40B4-BE49-F238E27FC236}">
                <a16:creationId xmlns:a16="http://schemas.microsoft.com/office/drawing/2014/main" id="{E0492B0F-148C-7943-B9FF-67EA8645DE83}"/>
              </a:ext>
            </a:extLst>
          </p:cNvPr>
          <p:cNvGrpSpPr/>
          <p:nvPr/>
        </p:nvGrpSpPr>
        <p:grpSpPr>
          <a:xfrm>
            <a:off x="1058944" y="5588391"/>
            <a:ext cx="10641403" cy="1200329"/>
            <a:chOff x="1058944" y="5588391"/>
            <a:chExt cx="10641403" cy="1200329"/>
          </a:xfrm>
        </p:grpSpPr>
        <p:sp>
          <p:nvSpPr>
            <p:cNvPr id="54" name="TextBox 53">
              <a:extLst>
                <a:ext uri="{FF2B5EF4-FFF2-40B4-BE49-F238E27FC236}">
                  <a16:creationId xmlns:a16="http://schemas.microsoft.com/office/drawing/2014/main" id="{3BF615FA-1B5F-D84E-AD3B-6F3868FA1545}"/>
                </a:ext>
              </a:extLst>
            </p:cNvPr>
            <p:cNvSpPr txBox="1"/>
            <p:nvPr/>
          </p:nvSpPr>
          <p:spPr>
            <a:xfrm>
              <a:off x="1058944" y="5588391"/>
              <a:ext cx="5747712" cy="1200329"/>
            </a:xfrm>
            <a:prstGeom prst="rect">
              <a:avLst/>
            </a:prstGeom>
            <a:noFill/>
          </p:spPr>
          <p:txBody>
            <a:bodyPr wrap="square" rtlCol="0">
              <a:spAutoFit/>
            </a:bodyPr>
            <a:lstStyle/>
            <a:p>
              <a:r>
                <a:rPr lang="en-US" sz="2400">
                  <a:latin typeface="Source Sans Pro" panose="020B0503030403020204" pitchFamily="34" charset="0"/>
                  <a:ea typeface="Source Sans Pro" panose="020B0503030403020204" pitchFamily="34" charset="0"/>
                </a:rPr>
                <a:t>We can alternate between these kinematic models via the one-to-one input mappings: </a:t>
              </a:r>
            </a:p>
            <a:p>
              <a:endParaRPr lang="en-US" sz="2400"/>
            </a:p>
          </p:txBody>
        </p:sp>
        <p:pic>
          <p:nvPicPr>
            <p:cNvPr id="57" name="Picture 56">
              <a:extLst>
                <a:ext uri="{FF2B5EF4-FFF2-40B4-BE49-F238E27FC236}">
                  <a16:creationId xmlns:a16="http://schemas.microsoft.com/office/drawing/2014/main" id="{EAD99DFF-9A46-1D4B-8D7C-4799DF098FB3}"/>
                </a:ext>
              </a:extLst>
            </p:cNvPr>
            <p:cNvPicPr>
              <a:picLocks noChangeAspect="1"/>
            </p:cNvPicPr>
            <p:nvPr/>
          </p:nvPicPr>
          <p:blipFill>
            <a:blip r:embed="rId12"/>
            <a:stretch>
              <a:fillRect/>
            </a:stretch>
          </p:blipFill>
          <p:spPr>
            <a:xfrm>
              <a:off x="9444612" y="5685304"/>
              <a:ext cx="2255735" cy="610158"/>
            </a:xfrm>
            <a:prstGeom prst="rect">
              <a:avLst/>
            </a:prstGeom>
          </p:spPr>
        </p:pic>
        <p:pic>
          <p:nvPicPr>
            <p:cNvPr id="58" name="Picture 57">
              <a:extLst>
                <a:ext uri="{FF2B5EF4-FFF2-40B4-BE49-F238E27FC236}">
                  <a16:creationId xmlns:a16="http://schemas.microsoft.com/office/drawing/2014/main" id="{6ED8FCA9-E4A3-C74D-9BCF-86A7690B0D3E}"/>
                </a:ext>
              </a:extLst>
            </p:cNvPr>
            <p:cNvPicPr>
              <a:picLocks noChangeAspect="1"/>
            </p:cNvPicPr>
            <p:nvPr/>
          </p:nvPicPr>
          <p:blipFill>
            <a:blip r:embed="rId13"/>
            <a:stretch>
              <a:fillRect/>
            </a:stretch>
          </p:blipFill>
          <p:spPr>
            <a:xfrm>
              <a:off x="6909920" y="5685304"/>
              <a:ext cx="2144797" cy="610158"/>
            </a:xfrm>
            <a:prstGeom prst="rect">
              <a:avLst/>
            </a:prstGeom>
          </p:spPr>
        </p:pic>
      </p:grpSp>
      <p:sp>
        <p:nvSpPr>
          <p:cNvPr id="3" name="Footer Placeholder 2">
            <a:extLst>
              <a:ext uri="{FF2B5EF4-FFF2-40B4-BE49-F238E27FC236}">
                <a16:creationId xmlns:a16="http://schemas.microsoft.com/office/drawing/2014/main" id="{27F8C878-60CA-0F8A-EC09-E76D2EC3CA48}"/>
              </a:ext>
            </a:extLst>
          </p:cNvPr>
          <p:cNvSpPr>
            <a:spLocks noGrp="1"/>
          </p:cNvSpPr>
          <p:nvPr>
            <p:ph type="ftr" sz="quarter" idx="11"/>
          </p:nvPr>
        </p:nvSpPr>
        <p:spPr/>
        <p:txBody>
          <a:bodyPr/>
          <a:lstStyle/>
          <a:p>
            <a:r>
              <a:rPr lang="hr-HR"/>
              <a:t>AA 174A | Lecture 3 </a:t>
            </a:r>
            <a:endParaRPr lang="en-US"/>
          </a:p>
        </p:txBody>
      </p:sp>
      <p:sp>
        <p:nvSpPr>
          <p:cNvPr id="4" name="Date Placeholder 3">
            <a:extLst>
              <a:ext uri="{FF2B5EF4-FFF2-40B4-BE49-F238E27FC236}">
                <a16:creationId xmlns:a16="http://schemas.microsoft.com/office/drawing/2014/main" id="{850980E1-A978-B293-6264-63BC7FC33279}"/>
              </a:ext>
            </a:extLst>
          </p:cNvPr>
          <p:cNvSpPr>
            <a:spLocks noGrp="1"/>
          </p:cNvSpPr>
          <p:nvPr>
            <p:ph type="dt" sz="half" idx="10"/>
          </p:nvPr>
        </p:nvSpPr>
        <p:spPr/>
        <p:txBody>
          <a:bodyPr/>
          <a:lstStyle/>
          <a:p>
            <a:fld id="{4B4AC0E3-ED50-254E-97C0-5D1B7B386C3C}" type="datetime1">
              <a:rPr lang="en-US" smtClean="0"/>
              <a:t>12/20/2025</a:t>
            </a:fld>
            <a:endParaRPr lang="en-US"/>
          </a:p>
        </p:txBody>
      </p:sp>
      <p:sp>
        <p:nvSpPr>
          <p:cNvPr id="7" name="Slide Number Placeholder 6">
            <a:extLst>
              <a:ext uri="{FF2B5EF4-FFF2-40B4-BE49-F238E27FC236}">
                <a16:creationId xmlns:a16="http://schemas.microsoft.com/office/drawing/2014/main" id="{7954943E-2B58-FCCC-5099-D3A13776870B}"/>
              </a:ext>
            </a:extLst>
          </p:cNvPr>
          <p:cNvSpPr>
            <a:spLocks noGrp="1"/>
          </p:cNvSpPr>
          <p:nvPr>
            <p:ph type="sldNum" sz="quarter" idx="12"/>
          </p:nvPr>
        </p:nvSpPr>
        <p:spPr/>
        <p:txBody>
          <a:bodyPr/>
          <a:lstStyle/>
          <a:p>
            <a:fld id="{8AA1F273-EF2F-3941-BBF8-D365CB27DD6A}" type="slidenum">
              <a:rPr lang="en-US" smtClean="0"/>
              <a:t>10</a:t>
            </a:fld>
            <a:endParaRPr lang="en-US"/>
          </a:p>
        </p:txBody>
      </p:sp>
    </p:spTree>
    <p:extLst>
      <p:ext uri="{BB962C8B-B14F-4D97-AF65-F5344CB8AC3E}">
        <p14:creationId xmlns:p14="http://schemas.microsoft.com/office/powerpoint/2010/main" val="1681091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Simple car model</a:t>
            </a:r>
          </a:p>
        </p:txBody>
      </p:sp>
      <p:sp>
        <p:nvSpPr>
          <p:cNvPr id="21" name="Content Placeholder 2">
            <a:extLst>
              <a:ext uri="{FF2B5EF4-FFF2-40B4-BE49-F238E27FC236}">
                <a16:creationId xmlns:a16="http://schemas.microsoft.com/office/drawing/2014/main" id="{A6788E3B-76A7-F94F-90DB-C276E975C48F}"/>
              </a:ext>
            </a:extLst>
          </p:cNvPr>
          <p:cNvSpPr>
            <a:spLocks noGrp="1"/>
          </p:cNvSpPr>
          <p:nvPr>
            <p:ph idx="1"/>
          </p:nvPr>
        </p:nvSpPr>
        <p:spPr>
          <a:xfrm>
            <a:off x="838200" y="5631818"/>
            <a:ext cx="10908323" cy="828235"/>
          </a:xfrm>
        </p:spPr>
        <p:txBody>
          <a:bodyPr>
            <a:normAutofit fontScale="70000" lnSpcReduction="20000"/>
          </a:bodyPr>
          <a:lstStyle/>
          <a:p>
            <a:pPr marL="0" indent="0">
              <a:buNone/>
            </a:pPr>
            <a:r>
              <a:rPr lang="en-US" sz="2200">
                <a:latin typeface="Source Sans Pro" panose="020B0503030403020204" pitchFamily="34" charset="0"/>
                <a:ea typeface="Source Sans Pro" panose="020B0503030403020204" pitchFamily="34" charset="0"/>
              </a:rPr>
              <a:t>References: </a:t>
            </a:r>
          </a:p>
          <a:p>
            <a:r>
              <a:rPr lang="en-US" sz="2200">
                <a:latin typeface="Source Sans Pro" panose="020B0503030403020204" pitchFamily="34" charset="0"/>
                <a:ea typeface="Source Sans Pro" panose="020B0503030403020204" pitchFamily="34" charset="0"/>
              </a:rPr>
              <a:t>J.-P. </a:t>
            </a:r>
            <a:r>
              <a:rPr lang="en-US" sz="2200" err="1">
                <a:latin typeface="Source Sans Pro" panose="020B0503030403020204" pitchFamily="34" charset="0"/>
                <a:ea typeface="Source Sans Pro" panose="020B0503030403020204" pitchFamily="34" charset="0"/>
              </a:rPr>
              <a:t>Laumond</a:t>
            </a:r>
            <a:r>
              <a:rPr lang="en-US" sz="2200">
                <a:latin typeface="Source Sans Pro" panose="020B0503030403020204" pitchFamily="34" charset="0"/>
                <a:ea typeface="Source Sans Pro" panose="020B0503030403020204" pitchFamily="34" charset="0"/>
              </a:rPr>
              <a:t>. </a:t>
            </a:r>
            <a:r>
              <a:rPr lang="en-US" sz="2200" i="1">
                <a:latin typeface="Source Sans Pro" panose="020B0503030403020204" pitchFamily="34" charset="0"/>
                <a:ea typeface="Source Sans Pro" panose="020B0503030403020204" pitchFamily="34" charset="0"/>
              </a:rPr>
              <a:t>Robot motion planning and control</a:t>
            </a:r>
            <a:r>
              <a:rPr lang="en-US" sz="2200">
                <a:latin typeface="Source Sans Pro" panose="020B0503030403020204" pitchFamily="34" charset="0"/>
                <a:ea typeface="Source Sans Pro" panose="020B0503030403020204" pitchFamily="34" charset="0"/>
              </a:rPr>
              <a:t>. 1998. </a:t>
            </a:r>
          </a:p>
          <a:p>
            <a:r>
              <a:rPr lang="en-US" sz="2200">
                <a:latin typeface="Source Sans Pro" panose="020B0503030403020204" pitchFamily="34" charset="0"/>
                <a:ea typeface="Source Sans Pro" panose="020B0503030403020204" pitchFamily="34" charset="0"/>
              </a:rPr>
              <a:t>S. LaValle. </a:t>
            </a:r>
            <a:r>
              <a:rPr lang="en-US" sz="2200" i="1">
                <a:latin typeface="Source Sans Pro" panose="020B0503030403020204" pitchFamily="34" charset="0"/>
                <a:ea typeface="Source Sans Pro" panose="020B0503030403020204" pitchFamily="34" charset="0"/>
              </a:rPr>
              <a:t>Planning algorithms.</a:t>
            </a:r>
            <a:r>
              <a:rPr lang="en-US" sz="2200">
                <a:latin typeface="Source Sans Pro" panose="020B0503030403020204" pitchFamily="34" charset="0"/>
                <a:ea typeface="Source Sans Pro" panose="020B0503030403020204" pitchFamily="34" charset="0"/>
              </a:rPr>
              <a:t> 2006.</a:t>
            </a:r>
          </a:p>
          <a:p>
            <a:endParaRPr lang="en-US">
              <a:latin typeface="Source Sans Pro" panose="020B0503030403020204" pitchFamily="34" charset="0"/>
              <a:ea typeface="Source Sans Pro" panose="020B0503030403020204" pitchFamily="34" charset="0"/>
            </a:endParaRPr>
          </a:p>
          <a:p>
            <a:endParaRPr lang="en-US">
              <a:latin typeface="Source Sans Pro" panose="020B0503030403020204" pitchFamily="34" charset="0"/>
              <a:ea typeface="Source Sans Pro" panose="020B0503030403020204" pitchFamily="34" charset="0"/>
            </a:endParaRPr>
          </a:p>
          <a:p>
            <a:endParaRPr lang="en-US">
              <a:latin typeface="Source Sans Pro" panose="020B0503030403020204" pitchFamily="34" charset="0"/>
              <a:ea typeface="Source Sans Pro" panose="020B0503030403020204" pitchFamily="34" charset="0"/>
            </a:endParaRPr>
          </a:p>
          <a:p>
            <a:endParaRPr lang="en-US">
              <a:latin typeface="Source Sans Pro" panose="020B0503030403020204" pitchFamily="34" charset="0"/>
              <a:ea typeface="Source Sans Pro" panose="020B0503030403020204" pitchFamily="34" charset="0"/>
            </a:endParaRPr>
          </a:p>
        </p:txBody>
      </p:sp>
      <p:pic>
        <p:nvPicPr>
          <p:cNvPr id="5" name="Picture 4">
            <a:extLst>
              <a:ext uri="{FF2B5EF4-FFF2-40B4-BE49-F238E27FC236}">
                <a16:creationId xmlns:a16="http://schemas.microsoft.com/office/drawing/2014/main" id="{85AD7756-ACAF-664F-9852-256613BCD605}"/>
              </a:ext>
            </a:extLst>
          </p:cNvPr>
          <p:cNvPicPr>
            <a:picLocks noChangeAspect="1"/>
          </p:cNvPicPr>
          <p:nvPr/>
        </p:nvPicPr>
        <p:blipFill>
          <a:blip r:embed="rId3"/>
          <a:stretch>
            <a:fillRect/>
          </a:stretch>
        </p:blipFill>
        <p:spPr>
          <a:xfrm>
            <a:off x="1877746" y="1751226"/>
            <a:ext cx="2986950" cy="1348276"/>
          </a:xfrm>
          <a:prstGeom prst="rect">
            <a:avLst/>
          </a:prstGeom>
        </p:spPr>
      </p:pic>
      <p:grpSp>
        <p:nvGrpSpPr>
          <p:cNvPr id="10" name="Group 9">
            <a:extLst>
              <a:ext uri="{FF2B5EF4-FFF2-40B4-BE49-F238E27FC236}">
                <a16:creationId xmlns:a16="http://schemas.microsoft.com/office/drawing/2014/main" id="{C71CF4F8-4750-E9B4-6586-8EAFB600E223}"/>
              </a:ext>
            </a:extLst>
          </p:cNvPr>
          <p:cNvGrpSpPr/>
          <p:nvPr/>
        </p:nvGrpSpPr>
        <p:grpSpPr>
          <a:xfrm>
            <a:off x="7346025" y="3872009"/>
            <a:ext cx="3599343" cy="1583807"/>
            <a:chOff x="7346025" y="4118897"/>
            <a:chExt cx="3599343" cy="1583807"/>
          </a:xfrm>
        </p:grpSpPr>
        <p:cxnSp>
          <p:nvCxnSpPr>
            <p:cNvPr id="30" name="Straight Arrow Connector 29">
              <a:extLst>
                <a:ext uri="{FF2B5EF4-FFF2-40B4-BE49-F238E27FC236}">
                  <a16:creationId xmlns:a16="http://schemas.microsoft.com/office/drawing/2014/main" id="{AE7FBFA8-FF89-0848-9265-910A3831D80C}"/>
                </a:ext>
              </a:extLst>
            </p:cNvPr>
            <p:cNvCxnSpPr/>
            <p:nvPr/>
          </p:nvCxnSpPr>
          <p:spPr>
            <a:xfrm>
              <a:off x="7346027" y="4317711"/>
              <a:ext cx="641155"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616A245-2351-174B-AAC8-E8C32F368947}"/>
                </a:ext>
              </a:extLst>
            </p:cNvPr>
            <p:cNvCxnSpPr/>
            <p:nvPr/>
          </p:nvCxnSpPr>
          <p:spPr>
            <a:xfrm>
              <a:off x="7346025" y="4904573"/>
              <a:ext cx="641155"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57020A7-B0B0-1E4C-91DF-8C3FB0ABE839}"/>
                </a:ext>
              </a:extLst>
            </p:cNvPr>
            <p:cNvCxnSpPr/>
            <p:nvPr/>
          </p:nvCxnSpPr>
          <p:spPr>
            <a:xfrm>
              <a:off x="7346026" y="5470318"/>
              <a:ext cx="641155"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C43D3B7-968B-FB45-B919-DDCBA5F29E05}"/>
                </a:ext>
              </a:extLst>
            </p:cNvPr>
            <p:cNvSpPr txBox="1"/>
            <p:nvPr/>
          </p:nvSpPr>
          <p:spPr>
            <a:xfrm>
              <a:off x="8210504" y="4118897"/>
              <a:ext cx="2706344" cy="461665"/>
            </a:xfrm>
            <a:prstGeom prst="rect">
              <a:avLst/>
            </a:prstGeom>
            <a:noFill/>
          </p:spPr>
          <p:txBody>
            <a:bodyPr wrap="square" rtlCol="0">
              <a:spAutoFit/>
            </a:bodyPr>
            <a:lstStyle/>
            <a:p>
              <a:r>
                <a:rPr lang="en-US" sz="2400"/>
                <a:t>Simple car model</a:t>
              </a:r>
            </a:p>
          </p:txBody>
        </p:sp>
        <p:sp>
          <p:nvSpPr>
            <p:cNvPr id="34" name="TextBox 33">
              <a:extLst>
                <a:ext uri="{FF2B5EF4-FFF2-40B4-BE49-F238E27FC236}">
                  <a16:creationId xmlns:a16="http://schemas.microsoft.com/office/drawing/2014/main" id="{84A5A965-555A-AA4D-8156-96E6C26DCF92}"/>
                </a:ext>
              </a:extLst>
            </p:cNvPr>
            <p:cNvSpPr txBox="1"/>
            <p:nvPr/>
          </p:nvSpPr>
          <p:spPr>
            <a:xfrm>
              <a:off x="8220032" y="4663635"/>
              <a:ext cx="2706344" cy="461665"/>
            </a:xfrm>
            <a:prstGeom prst="rect">
              <a:avLst/>
            </a:prstGeom>
            <a:noFill/>
          </p:spPr>
          <p:txBody>
            <a:bodyPr wrap="square" rtlCol="0">
              <a:spAutoFit/>
            </a:bodyPr>
            <a:lstStyle/>
            <a:p>
              <a:r>
                <a:rPr lang="en-US" sz="2400"/>
                <a:t>Reeds-</a:t>
              </a:r>
              <a:r>
                <a:rPr lang="en-US" sz="2400" err="1"/>
                <a:t>Shepp</a:t>
              </a:r>
              <a:r>
                <a:rPr lang="en-US" sz="2400"/>
                <a:t> car</a:t>
              </a:r>
            </a:p>
          </p:txBody>
        </p:sp>
        <p:sp>
          <p:nvSpPr>
            <p:cNvPr id="35" name="TextBox 34">
              <a:extLst>
                <a:ext uri="{FF2B5EF4-FFF2-40B4-BE49-F238E27FC236}">
                  <a16:creationId xmlns:a16="http://schemas.microsoft.com/office/drawing/2014/main" id="{85563504-AE01-BF45-BD10-711C3582F308}"/>
                </a:ext>
              </a:extLst>
            </p:cNvPr>
            <p:cNvSpPr txBox="1"/>
            <p:nvPr/>
          </p:nvSpPr>
          <p:spPr>
            <a:xfrm>
              <a:off x="8239024" y="5241039"/>
              <a:ext cx="2706344" cy="461665"/>
            </a:xfrm>
            <a:prstGeom prst="rect">
              <a:avLst/>
            </a:prstGeom>
            <a:noFill/>
          </p:spPr>
          <p:txBody>
            <a:bodyPr wrap="square" rtlCol="0">
              <a:spAutoFit/>
            </a:bodyPr>
            <a:lstStyle/>
            <a:p>
              <a:r>
                <a:rPr lang="en-US" sz="2400" err="1"/>
                <a:t>Dubins</a:t>
              </a:r>
              <a:r>
                <a:rPr lang="en-US" sz="2400"/>
                <a:t> car</a:t>
              </a:r>
            </a:p>
          </p:txBody>
        </p:sp>
      </p:grpSp>
      <p:grpSp>
        <p:nvGrpSpPr>
          <p:cNvPr id="4" name="Group 3">
            <a:extLst>
              <a:ext uri="{FF2B5EF4-FFF2-40B4-BE49-F238E27FC236}">
                <a16:creationId xmlns:a16="http://schemas.microsoft.com/office/drawing/2014/main" id="{811E6675-9435-C7EC-C458-35773CE3256F}"/>
              </a:ext>
            </a:extLst>
          </p:cNvPr>
          <p:cNvGrpSpPr/>
          <p:nvPr/>
        </p:nvGrpSpPr>
        <p:grpSpPr>
          <a:xfrm>
            <a:off x="1331495" y="3811254"/>
            <a:ext cx="4690762" cy="1727252"/>
            <a:chOff x="1331495" y="4058142"/>
            <a:chExt cx="4690762" cy="1727252"/>
          </a:xfrm>
        </p:grpSpPr>
        <p:pic>
          <p:nvPicPr>
            <p:cNvPr id="36" name="Picture 35">
              <a:extLst>
                <a:ext uri="{FF2B5EF4-FFF2-40B4-BE49-F238E27FC236}">
                  <a16:creationId xmlns:a16="http://schemas.microsoft.com/office/drawing/2014/main" id="{308564AD-7ACC-D04D-9C93-674F6AF7FD3D}"/>
                </a:ext>
              </a:extLst>
            </p:cNvPr>
            <p:cNvPicPr>
              <a:picLocks noChangeAspect="1"/>
            </p:cNvPicPr>
            <p:nvPr/>
          </p:nvPicPr>
          <p:blipFill>
            <a:blip r:embed="rId4"/>
            <a:stretch>
              <a:fillRect/>
            </a:stretch>
          </p:blipFill>
          <p:spPr>
            <a:xfrm>
              <a:off x="1405917" y="5241039"/>
              <a:ext cx="3400130" cy="544355"/>
            </a:xfrm>
            <a:prstGeom prst="rect">
              <a:avLst/>
            </a:prstGeom>
          </p:spPr>
        </p:pic>
        <p:pic>
          <p:nvPicPr>
            <p:cNvPr id="37" name="Picture 36">
              <a:extLst>
                <a:ext uri="{FF2B5EF4-FFF2-40B4-BE49-F238E27FC236}">
                  <a16:creationId xmlns:a16="http://schemas.microsoft.com/office/drawing/2014/main" id="{3B0E3A02-FA87-9041-8DB3-B717D36FE20B}"/>
                </a:ext>
              </a:extLst>
            </p:cNvPr>
            <p:cNvPicPr>
              <a:picLocks noChangeAspect="1"/>
            </p:cNvPicPr>
            <p:nvPr/>
          </p:nvPicPr>
          <p:blipFill>
            <a:blip r:embed="rId5"/>
            <a:stretch>
              <a:fillRect/>
            </a:stretch>
          </p:blipFill>
          <p:spPr>
            <a:xfrm>
              <a:off x="1391046" y="4653860"/>
              <a:ext cx="4631211" cy="544355"/>
            </a:xfrm>
            <a:prstGeom prst="rect">
              <a:avLst/>
            </a:prstGeom>
          </p:spPr>
        </p:pic>
        <p:pic>
          <p:nvPicPr>
            <p:cNvPr id="40" name="Picture 39">
              <a:extLst>
                <a:ext uri="{FF2B5EF4-FFF2-40B4-BE49-F238E27FC236}">
                  <a16:creationId xmlns:a16="http://schemas.microsoft.com/office/drawing/2014/main" id="{A2460F07-E577-7E42-BC45-724BAA2FF06F}"/>
                </a:ext>
              </a:extLst>
            </p:cNvPr>
            <p:cNvPicPr>
              <a:picLocks noChangeAspect="1"/>
            </p:cNvPicPr>
            <p:nvPr/>
          </p:nvPicPr>
          <p:blipFill>
            <a:blip r:embed="rId6"/>
            <a:stretch>
              <a:fillRect/>
            </a:stretch>
          </p:blipFill>
          <p:spPr>
            <a:xfrm>
              <a:off x="1331495" y="4058142"/>
              <a:ext cx="3474552" cy="535180"/>
            </a:xfrm>
            <a:prstGeom prst="rect">
              <a:avLst/>
            </a:prstGeom>
          </p:spPr>
        </p:pic>
      </p:grpSp>
      <p:grpSp>
        <p:nvGrpSpPr>
          <p:cNvPr id="11" name="Group 10">
            <a:extLst>
              <a:ext uri="{FF2B5EF4-FFF2-40B4-BE49-F238E27FC236}">
                <a16:creationId xmlns:a16="http://schemas.microsoft.com/office/drawing/2014/main" id="{2B104B73-CC63-ED66-21B8-8B9D2198FE14}"/>
              </a:ext>
            </a:extLst>
          </p:cNvPr>
          <p:cNvGrpSpPr/>
          <p:nvPr/>
        </p:nvGrpSpPr>
        <p:grpSpPr>
          <a:xfrm>
            <a:off x="5781914" y="1246430"/>
            <a:ext cx="2819475" cy="2518437"/>
            <a:chOff x="7158920" y="1403853"/>
            <a:chExt cx="2819475" cy="2518437"/>
          </a:xfrm>
        </p:grpSpPr>
        <p:pic>
          <p:nvPicPr>
            <p:cNvPr id="14" name="Picture 13"/>
            <p:cNvPicPr>
              <a:picLocks noChangeAspect="1"/>
            </p:cNvPicPr>
            <p:nvPr/>
          </p:nvPicPr>
          <p:blipFill>
            <a:blip r:embed="rId7"/>
            <a:stretch>
              <a:fillRect/>
            </a:stretch>
          </p:blipFill>
          <p:spPr>
            <a:xfrm>
              <a:off x="7158920" y="1403853"/>
              <a:ext cx="2819475" cy="2518437"/>
            </a:xfrm>
            <a:prstGeom prst="rect">
              <a:avLst/>
            </a:prstGeom>
          </p:spPr>
        </p:pic>
        <p:cxnSp>
          <p:nvCxnSpPr>
            <p:cNvPr id="41" name="Straight Connector 40">
              <a:extLst>
                <a:ext uri="{FF2B5EF4-FFF2-40B4-BE49-F238E27FC236}">
                  <a16:creationId xmlns:a16="http://schemas.microsoft.com/office/drawing/2014/main" id="{41155CC2-0C85-FF4B-BB0F-F11CC5407F23}"/>
                </a:ext>
              </a:extLst>
            </p:cNvPr>
            <p:cNvCxnSpPr>
              <a:cxnSpLocks/>
            </p:cNvCxnSpPr>
            <p:nvPr/>
          </p:nvCxnSpPr>
          <p:spPr>
            <a:xfrm flipV="1">
              <a:off x="8662737" y="2924041"/>
              <a:ext cx="581891" cy="266046"/>
            </a:xfrm>
            <a:prstGeom prst="line">
              <a:avLst/>
            </a:prstGeom>
            <a:ln>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6" name="Picture 45">
              <a:extLst>
                <a:ext uri="{FF2B5EF4-FFF2-40B4-BE49-F238E27FC236}">
                  <a16:creationId xmlns:a16="http://schemas.microsoft.com/office/drawing/2014/main" id="{36EC8C09-77B2-0C43-87D2-6ACAA0C1FC05}"/>
                </a:ext>
              </a:extLst>
            </p:cNvPr>
            <p:cNvPicPr>
              <a:picLocks noChangeAspect="1"/>
            </p:cNvPicPr>
            <p:nvPr/>
          </p:nvPicPr>
          <p:blipFill>
            <a:blip r:embed="rId8"/>
            <a:stretch>
              <a:fillRect/>
            </a:stretch>
          </p:blipFill>
          <p:spPr>
            <a:xfrm>
              <a:off x="8965251" y="3118016"/>
              <a:ext cx="110518" cy="125589"/>
            </a:xfrm>
            <a:prstGeom prst="rect">
              <a:avLst/>
            </a:prstGeom>
          </p:spPr>
        </p:pic>
        <p:sp>
          <p:nvSpPr>
            <p:cNvPr id="6" name="Rectangle 5">
              <a:extLst>
                <a:ext uri="{FF2B5EF4-FFF2-40B4-BE49-F238E27FC236}">
                  <a16:creationId xmlns:a16="http://schemas.microsoft.com/office/drawing/2014/main" id="{3B2C46B6-B23E-7947-B159-1E074CFCFC0C}"/>
                </a:ext>
              </a:extLst>
            </p:cNvPr>
            <p:cNvSpPr/>
            <p:nvPr/>
          </p:nvSpPr>
          <p:spPr>
            <a:xfrm>
              <a:off x="9538448" y="1684467"/>
              <a:ext cx="143435" cy="4308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1A9F5E5-40AB-624C-B113-3ADFFF020F0E}"/>
                </a:ext>
              </a:extLst>
            </p:cNvPr>
            <p:cNvPicPr>
              <a:picLocks noChangeAspect="1"/>
            </p:cNvPicPr>
            <p:nvPr/>
          </p:nvPicPr>
          <p:blipFill>
            <a:blip r:embed="rId9"/>
            <a:stretch>
              <a:fillRect/>
            </a:stretch>
          </p:blipFill>
          <p:spPr>
            <a:xfrm>
              <a:off x="9554828" y="1794221"/>
              <a:ext cx="162028" cy="267345"/>
            </a:xfrm>
            <a:prstGeom prst="rect">
              <a:avLst/>
            </a:prstGeom>
          </p:spPr>
        </p:pic>
      </p:gr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52DFAE8-6E7B-4F53-44EA-AFA579A7F49F}"/>
                  </a:ext>
                </a:extLst>
              </p:cNvPr>
              <p:cNvSpPr txBox="1">
                <a:spLocks/>
              </p:cNvSpPr>
              <p:nvPr/>
            </p:nvSpPr>
            <p:spPr>
              <a:xfrm>
                <a:off x="8891777" y="2011246"/>
                <a:ext cx="2591449" cy="828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a:latin typeface="Source Sans Pro" panose="020B0503030403020204" pitchFamily="34" charset="0"/>
                    <a:ea typeface="Source Sans Pro" panose="020B0503030403020204" pitchFamily="34" charset="0"/>
                  </a:rPr>
                  <a:t>states: </a:t>
                </a:r>
                <a14:m>
                  <m:oMath xmlns:m="http://schemas.openxmlformats.org/officeDocument/2006/math">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𝑦</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oMath>
                </a14:m>
                <a:endParaRPr lang="en-US" sz="2400">
                  <a:latin typeface="Source Sans Pro" panose="020B0503030403020204" pitchFamily="34" charset="0"/>
                  <a:ea typeface="Source Sans Pro" panose="020B0503030403020204" pitchFamily="34" charset="0"/>
                </a:endParaRPr>
              </a:p>
              <a:p>
                <a:pPr marL="0" indent="0">
                  <a:buNone/>
                </a:pPr>
                <a:r>
                  <a:rPr lang="en-US" sz="2400">
                    <a:latin typeface="Source Sans Pro" panose="020B0503030403020204" pitchFamily="34" charset="0"/>
                    <a:ea typeface="Source Sans Pro" panose="020B0503030403020204" pitchFamily="34" charset="0"/>
                  </a:rPr>
                  <a:t>inputs: </a:t>
                </a:r>
                <a14:m>
                  <m:oMath xmlns:m="http://schemas.openxmlformats.org/officeDocument/2006/math">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𝑣</m:t>
                    </m:r>
                    <m:r>
                      <a:rPr lang="en-US" sz="2400" b="0" i="1" smtClean="0">
                        <a:latin typeface="Cambria Math" panose="02040503050406030204" pitchFamily="18" charset="0"/>
                        <a:ea typeface="Source Sans Pro" panose="020B0503030403020204" pitchFamily="34" charset="0"/>
                      </a:rPr>
                      <m:t>, </m:t>
                    </m:r>
                    <m:r>
                      <a:rPr lang="en-US" sz="2400" b="0" i="1" smtClean="0">
                        <a:latin typeface="Cambria Math" panose="02040503050406030204" pitchFamily="18" charset="0"/>
                        <a:ea typeface="Cambria Math" panose="02040503050406030204" pitchFamily="18" charset="0"/>
                      </a:rPr>
                      <m:t>𝜙</m:t>
                    </m:r>
                    <m:r>
                      <a:rPr lang="en-US" sz="2400" b="0" i="1" smtClean="0">
                        <a:latin typeface="Cambria Math" panose="02040503050406030204" pitchFamily="18" charset="0"/>
                        <a:ea typeface="Source Sans Pro" panose="020B0503030403020204" pitchFamily="34" charset="0"/>
                      </a:rPr>
                      <m:t>)</m:t>
                    </m:r>
                  </m:oMath>
                </a14:m>
                <a:endParaRPr lang="en-US" sz="2400">
                  <a:latin typeface="Source Sans Pro" panose="020B0503030403020204" pitchFamily="34" charset="0"/>
                  <a:ea typeface="Source Sans Pro" panose="020B0503030403020204" pitchFamily="34" charset="0"/>
                </a:endParaRPr>
              </a:p>
              <a:p>
                <a:endParaRPr lang="en-US" sz="2400">
                  <a:latin typeface="Source Sans Pro" panose="020B0503030403020204" pitchFamily="34" charset="0"/>
                  <a:ea typeface="Source Sans Pro" panose="020B0503030403020204" pitchFamily="34" charset="0"/>
                </a:endParaRPr>
              </a:p>
              <a:p>
                <a:endParaRPr lang="en-US" sz="2400">
                  <a:latin typeface="Source Sans Pro" panose="020B0503030403020204" pitchFamily="34" charset="0"/>
                  <a:ea typeface="Source Sans Pro" panose="020B0503030403020204" pitchFamily="34" charset="0"/>
                </a:endParaRPr>
              </a:p>
            </p:txBody>
          </p:sp>
        </mc:Choice>
        <mc:Fallback xmlns="">
          <p:sp>
            <p:nvSpPr>
              <p:cNvPr id="12" name="Content Placeholder 2">
                <a:extLst>
                  <a:ext uri="{FF2B5EF4-FFF2-40B4-BE49-F238E27FC236}">
                    <a16:creationId xmlns:a16="http://schemas.microsoft.com/office/drawing/2014/main" id="{B52DFAE8-6E7B-4F53-44EA-AFA579A7F49F}"/>
                  </a:ext>
                </a:extLst>
              </p:cNvPr>
              <p:cNvSpPr txBox="1">
                <a:spLocks noRot="1" noChangeAspect="1" noMove="1" noResize="1" noEditPoints="1" noAdjustHandles="1" noChangeArrowheads="1" noChangeShapeType="1" noTextEdit="1"/>
              </p:cNvSpPr>
              <p:nvPr/>
            </p:nvSpPr>
            <p:spPr>
              <a:xfrm>
                <a:off x="8891777" y="2011246"/>
                <a:ext cx="2591449" cy="828235"/>
              </a:xfrm>
              <a:prstGeom prst="rect">
                <a:avLst/>
              </a:prstGeom>
              <a:blipFill>
                <a:blip r:embed="rId10"/>
                <a:stretch>
                  <a:fillRect l="-3765" t="-9559" b="-22794"/>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42060B68-7C7C-AA3C-7986-63F7E2A1F8CE}"/>
              </a:ext>
            </a:extLst>
          </p:cNvPr>
          <p:cNvSpPr>
            <a:spLocks noGrp="1"/>
          </p:cNvSpPr>
          <p:nvPr>
            <p:ph type="ftr" sz="quarter" idx="11"/>
          </p:nvPr>
        </p:nvSpPr>
        <p:spPr/>
        <p:txBody>
          <a:bodyPr/>
          <a:lstStyle/>
          <a:p>
            <a:r>
              <a:rPr lang="hr-HR"/>
              <a:t>AA 174A | Lecture 3 </a:t>
            </a:r>
            <a:endParaRPr lang="en-US"/>
          </a:p>
        </p:txBody>
      </p:sp>
      <p:sp>
        <p:nvSpPr>
          <p:cNvPr id="7" name="Date Placeholder 6">
            <a:extLst>
              <a:ext uri="{FF2B5EF4-FFF2-40B4-BE49-F238E27FC236}">
                <a16:creationId xmlns:a16="http://schemas.microsoft.com/office/drawing/2014/main" id="{4C0D9892-519A-22A4-73C4-B36A7D3B3FB4}"/>
              </a:ext>
            </a:extLst>
          </p:cNvPr>
          <p:cNvSpPr>
            <a:spLocks noGrp="1"/>
          </p:cNvSpPr>
          <p:nvPr>
            <p:ph type="dt" sz="half" idx="10"/>
          </p:nvPr>
        </p:nvSpPr>
        <p:spPr/>
        <p:txBody>
          <a:bodyPr/>
          <a:lstStyle/>
          <a:p>
            <a:fld id="{4603240C-C56A-DB4D-B103-E93A964FBA06}" type="datetime1">
              <a:rPr lang="en-US" smtClean="0"/>
              <a:t>12/20/2025</a:t>
            </a:fld>
            <a:endParaRPr lang="en-US"/>
          </a:p>
        </p:txBody>
      </p:sp>
      <p:sp>
        <p:nvSpPr>
          <p:cNvPr id="8" name="Slide Number Placeholder 7">
            <a:extLst>
              <a:ext uri="{FF2B5EF4-FFF2-40B4-BE49-F238E27FC236}">
                <a16:creationId xmlns:a16="http://schemas.microsoft.com/office/drawing/2014/main" id="{10D79B75-F919-904C-79E4-0E9825FC79C2}"/>
              </a:ext>
            </a:extLst>
          </p:cNvPr>
          <p:cNvSpPr>
            <a:spLocks noGrp="1"/>
          </p:cNvSpPr>
          <p:nvPr>
            <p:ph type="sldNum" sz="quarter" idx="12"/>
          </p:nvPr>
        </p:nvSpPr>
        <p:spPr/>
        <p:txBody>
          <a:bodyPr/>
          <a:lstStyle/>
          <a:p>
            <a:fld id="{8AA1F273-EF2F-3941-BBF8-D365CB27DD6A}" type="slidenum">
              <a:rPr lang="en-US" smtClean="0"/>
              <a:t>11</a:t>
            </a:fld>
            <a:endParaRPr lang="en-US"/>
          </a:p>
        </p:txBody>
      </p:sp>
    </p:spTree>
    <p:extLst>
      <p:ext uri="{BB962C8B-B14F-4D97-AF65-F5344CB8AC3E}">
        <p14:creationId xmlns:p14="http://schemas.microsoft.com/office/powerpoint/2010/main" val="417130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B1E6C-5789-4F4D-86C8-7F3967F4B881}"/>
              </a:ext>
            </a:extLst>
          </p:cNvPr>
          <p:cNvSpPr>
            <a:spLocks noGrp="1"/>
          </p:cNvSpPr>
          <p:nvPr>
            <p:ph type="title"/>
          </p:nvPr>
        </p:nvSpPr>
        <p:spPr/>
        <p:txBody>
          <a:bodyPr/>
          <a:lstStyle/>
          <a:p>
            <a:r>
              <a:rPr lang="en-US"/>
              <a:t>From kinematic to dynamic models</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6DB8FA7E-7289-2544-96F4-85E96F530917}"/>
                  </a:ext>
                </a:extLst>
              </p:cNvPr>
              <p:cNvSpPr txBox="1">
                <a:spLocks noGrp="1"/>
              </p:cNvSpPr>
              <p:nvPr>
                <p:ph idx="1"/>
              </p:nvPr>
            </p:nvSpPr>
            <p:spPr>
              <a:xfrm>
                <a:off x="838200" y="1825625"/>
                <a:ext cx="10515600" cy="3077766"/>
              </a:xfrm>
              <a:prstGeom prst="rect">
                <a:avLst/>
              </a:prstGeom>
              <a:noFill/>
            </p:spPr>
            <p:txBody>
              <a:bodyPr wrap="square" rtlCol="0">
                <a:spAutoFit/>
              </a:bodyPr>
              <a:lstStyle/>
              <a:p>
                <a:pPr>
                  <a:lnSpc>
                    <a:spcPct val="100000"/>
                  </a:lnSpc>
                  <a:spcAft>
                    <a:spcPts val="2000"/>
                  </a:spcAft>
                </a:pPr>
                <a:r>
                  <a:rPr lang="en-US" sz="2400">
                    <a:latin typeface="Source Sans Pro" panose="020B0503030403020204" pitchFamily="34" charset="0"/>
                    <a:ea typeface="Source Sans Pro" panose="020B0503030403020204" pitchFamily="34" charset="0"/>
                  </a:rPr>
                  <a:t>A kinematic state space model should be interpreted only as a subsystem of a more general dynamical model </a:t>
                </a:r>
              </a:p>
              <a:p>
                <a:pPr>
                  <a:lnSpc>
                    <a:spcPct val="100000"/>
                  </a:lnSpc>
                  <a:spcAft>
                    <a:spcPts val="2000"/>
                  </a:spcAft>
                </a:pPr>
                <a:r>
                  <a:rPr lang="en-US" sz="2400">
                    <a:latin typeface="Source Sans Pro" panose="020B0503030403020204" pitchFamily="34" charset="0"/>
                    <a:ea typeface="Source Sans Pro" panose="020B0503030403020204" pitchFamily="34" charset="0"/>
                  </a:rPr>
                  <a:t>Improvements to the previous kinematic models can be made by placing </a:t>
                </a:r>
                <a:r>
                  <a:rPr lang="en-US" sz="2400">
                    <a:solidFill>
                      <a:srgbClr val="C00000"/>
                    </a:solidFill>
                    <a:latin typeface="Source Sans Pro" panose="020B0503030403020204" pitchFamily="34" charset="0"/>
                    <a:ea typeface="Source Sans Pro" panose="020B0503030403020204" pitchFamily="34" charset="0"/>
                  </a:rPr>
                  <a:t>integrators</a:t>
                </a:r>
                <a:r>
                  <a:rPr lang="en-US" sz="2400">
                    <a:latin typeface="Source Sans Pro" panose="020B0503030403020204" pitchFamily="34" charset="0"/>
                    <a:ea typeface="Source Sans Pro" panose="020B0503030403020204" pitchFamily="34" charset="0"/>
                  </a:rPr>
                  <a:t> in front of action variables</a:t>
                </a:r>
              </a:p>
              <a:p>
                <a:pPr>
                  <a:lnSpc>
                    <a:spcPct val="100000"/>
                  </a:lnSpc>
                  <a:spcAft>
                    <a:spcPts val="2000"/>
                  </a:spcAft>
                </a:pPr>
                <a:r>
                  <a:rPr lang="en-US" sz="2400">
                    <a:latin typeface="Source Sans Pro" panose="020B0503030403020204" pitchFamily="34" charset="0"/>
                    <a:ea typeface="Source Sans Pro" panose="020B0503030403020204" pitchFamily="34" charset="0"/>
                  </a:rPr>
                  <a:t>For example, for the unicycle model, one can set the speed as the integration of an action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𝑎</m:t>
                    </m:r>
                  </m:oMath>
                </a14:m>
                <a:r>
                  <a:rPr lang="en-US" sz="2400">
                    <a:latin typeface="Source Sans Pro" panose="020B0503030403020204" pitchFamily="34" charset="0"/>
                    <a:ea typeface="Source Sans Pro" panose="020B0503030403020204" pitchFamily="34" charset="0"/>
                  </a:rPr>
                  <a:t> representing acceleration, that is</a:t>
                </a:r>
              </a:p>
            </p:txBody>
          </p:sp>
        </mc:Choice>
        <mc:Fallback xmlns="">
          <p:sp>
            <p:nvSpPr>
              <p:cNvPr id="7" name="Content Placeholder 6">
                <a:extLst>
                  <a:ext uri="{FF2B5EF4-FFF2-40B4-BE49-F238E27FC236}">
                    <a16:creationId xmlns:a16="http://schemas.microsoft.com/office/drawing/2014/main" id="{6DB8FA7E-7289-2544-96F4-85E96F530917}"/>
                  </a:ext>
                </a:extLst>
              </p:cNvPr>
              <p:cNvSpPr txBox="1">
                <a:spLocks noGrp="1" noRot="1" noChangeAspect="1" noMove="1" noResize="1" noEditPoints="1" noAdjustHandles="1" noChangeArrowheads="1" noChangeShapeType="1" noTextEdit="1"/>
              </p:cNvSpPr>
              <p:nvPr>
                <p:ph idx="1"/>
              </p:nvPr>
            </p:nvSpPr>
            <p:spPr>
              <a:xfrm>
                <a:off x="838200" y="1825625"/>
                <a:ext cx="10515600" cy="3077766"/>
              </a:xfrm>
              <a:prstGeom prst="rect">
                <a:avLst/>
              </a:prstGeom>
              <a:blipFill>
                <a:blip r:embed="rId3"/>
                <a:stretch>
                  <a:fillRect l="-812" t="-1386" b="-3762"/>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B4A2B698-4E69-2B4D-9F21-F8835875668D}"/>
              </a:ext>
            </a:extLst>
          </p:cNvPr>
          <p:cNvPicPr>
            <a:picLocks noChangeAspect="1"/>
          </p:cNvPicPr>
          <p:nvPr/>
        </p:nvPicPr>
        <p:blipFill>
          <a:blip r:embed="rId4"/>
          <a:stretch>
            <a:fillRect/>
          </a:stretch>
        </p:blipFill>
        <p:spPr>
          <a:xfrm>
            <a:off x="2991612" y="5126976"/>
            <a:ext cx="6208776" cy="389832"/>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2FC866-4EDB-1C73-3DBF-68A248687076}"/>
                  </a:ext>
                </a:extLst>
              </p:cNvPr>
              <p:cNvSpPr txBox="1">
                <a:spLocks/>
              </p:cNvSpPr>
              <p:nvPr/>
            </p:nvSpPr>
            <p:spPr>
              <a:xfrm>
                <a:off x="838200" y="5824295"/>
                <a:ext cx="10515600" cy="5307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2400">
                    <a:latin typeface="Source Sans Pro" panose="020B0503030403020204" pitchFamily="34" charset="0"/>
                    <a:ea typeface="Source Sans Pro" panose="020B0503030403020204" pitchFamily="34" charset="0"/>
                  </a:rPr>
                  <a:t>states: </a:t>
                </a:r>
                <a14:m>
                  <m:oMath xmlns:m="http://schemas.openxmlformats.org/officeDocument/2006/math">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𝑦</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𝑣</m:t>
                        </m:r>
                      </m:e>
                    </m:d>
                  </m:oMath>
                </a14:m>
                <a:r>
                  <a:rPr lang="en-US" sz="2400">
                    <a:latin typeface="Source Sans Pro" panose="020B0503030403020204" pitchFamily="34" charset="0"/>
                    <a:ea typeface="Source Sans Pro" panose="020B0503030403020204" pitchFamily="34" charset="0"/>
                  </a:rPr>
                  <a:t>               inputs: </a:t>
                </a:r>
                <a14:m>
                  <m:oMath xmlns:m="http://schemas.openxmlformats.org/officeDocument/2006/math">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Cambria Math" panose="02040503050406030204" pitchFamily="18" charset="0"/>
                      </a:rPr>
                      <m:t>𝜔</m:t>
                    </m:r>
                    <m:r>
                      <a:rPr lang="en-US" sz="2400" b="0" i="1" smtClean="0">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Source Sans Pro" panose="020B0503030403020204" pitchFamily="34" charset="0"/>
                      </a:rPr>
                      <m:t>)</m:t>
                    </m:r>
                  </m:oMath>
                </a14:m>
                <a:endParaRPr lang="en-US" sz="2400">
                  <a:latin typeface="Source Sans Pro" panose="020B0503030403020204" pitchFamily="34" charset="0"/>
                  <a:ea typeface="Source Sans Pro" panose="020B0503030403020204" pitchFamily="34" charset="0"/>
                </a:endParaRPr>
              </a:p>
              <a:p>
                <a:endParaRPr lang="en-US" sz="2400">
                  <a:latin typeface="Source Sans Pro" panose="020B0503030403020204" pitchFamily="34" charset="0"/>
                  <a:ea typeface="Source Sans Pro" panose="020B0503030403020204" pitchFamily="34" charset="0"/>
                </a:endParaRPr>
              </a:p>
              <a:p>
                <a:endParaRPr lang="en-US" sz="2400">
                  <a:latin typeface="Source Sans Pro" panose="020B0503030403020204" pitchFamily="34" charset="0"/>
                  <a:ea typeface="Source Sans Pro" panose="020B0503030403020204" pitchFamily="34" charset="0"/>
                </a:endParaRPr>
              </a:p>
            </p:txBody>
          </p:sp>
        </mc:Choice>
        <mc:Fallback xmlns="">
          <p:sp>
            <p:nvSpPr>
              <p:cNvPr id="3" name="Content Placeholder 2">
                <a:extLst>
                  <a:ext uri="{FF2B5EF4-FFF2-40B4-BE49-F238E27FC236}">
                    <a16:creationId xmlns:a16="http://schemas.microsoft.com/office/drawing/2014/main" id="{902FC866-4EDB-1C73-3DBF-68A248687076}"/>
                  </a:ext>
                </a:extLst>
              </p:cNvPr>
              <p:cNvSpPr txBox="1">
                <a:spLocks noRot="1" noChangeAspect="1" noMove="1" noResize="1" noEditPoints="1" noAdjustHandles="1" noChangeArrowheads="1" noChangeShapeType="1" noTextEdit="1"/>
              </p:cNvSpPr>
              <p:nvPr/>
            </p:nvSpPr>
            <p:spPr>
              <a:xfrm>
                <a:off x="838200" y="5824295"/>
                <a:ext cx="10515600" cy="530786"/>
              </a:xfrm>
              <a:prstGeom prst="rect">
                <a:avLst/>
              </a:prstGeom>
              <a:blipFill>
                <a:blip r:embed="rId5"/>
                <a:stretch>
                  <a:fillRect t="-14773" b="-568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50ECD0D-16F1-ED68-3665-3165EFB311BE}"/>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8A3EEC70-27B3-ED10-EB38-20B22E191E48}"/>
              </a:ext>
            </a:extLst>
          </p:cNvPr>
          <p:cNvSpPr>
            <a:spLocks noGrp="1"/>
          </p:cNvSpPr>
          <p:nvPr>
            <p:ph type="dt" sz="half" idx="10"/>
          </p:nvPr>
        </p:nvSpPr>
        <p:spPr/>
        <p:txBody>
          <a:bodyPr/>
          <a:lstStyle/>
          <a:p>
            <a:fld id="{ED089B17-E7E5-5F4F-BB71-36A49E020E0C}" type="datetime1">
              <a:rPr lang="en-US" smtClean="0"/>
              <a:t>12/20/2025</a:t>
            </a:fld>
            <a:endParaRPr lang="en-US"/>
          </a:p>
        </p:txBody>
      </p:sp>
      <p:sp>
        <p:nvSpPr>
          <p:cNvPr id="6" name="Slide Number Placeholder 5">
            <a:extLst>
              <a:ext uri="{FF2B5EF4-FFF2-40B4-BE49-F238E27FC236}">
                <a16:creationId xmlns:a16="http://schemas.microsoft.com/office/drawing/2014/main" id="{18DD71DE-518B-888E-7D7E-8E05E1B0E47B}"/>
              </a:ext>
            </a:extLst>
          </p:cNvPr>
          <p:cNvSpPr>
            <a:spLocks noGrp="1"/>
          </p:cNvSpPr>
          <p:nvPr>
            <p:ph type="sldNum" sz="quarter" idx="12"/>
          </p:nvPr>
        </p:nvSpPr>
        <p:spPr/>
        <p:txBody>
          <a:bodyPr/>
          <a:lstStyle/>
          <a:p>
            <a:fld id="{8AA1F273-EF2F-3941-BBF8-D365CB27DD6A}" type="slidenum">
              <a:rPr lang="en-US" smtClean="0"/>
              <a:t>12</a:t>
            </a:fld>
            <a:endParaRPr lang="en-US"/>
          </a:p>
        </p:txBody>
      </p:sp>
    </p:spTree>
    <p:extLst>
      <p:ext uri="{BB962C8B-B14F-4D97-AF65-F5344CB8AC3E}">
        <p14:creationId xmlns:p14="http://schemas.microsoft.com/office/powerpoint/2010/main" val="3656558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Linear time-invariant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0664687" cy="4351338"/>
              </a:xfrm>
            </p:spPr>
            <p:txBody>
              <a:bodyPr>
                <a:noAutofit/>
              </a:bodyPr>
              <a:lstStyle/>
              <a:p>
                <a:pPr>
                  <a:lnSpc>
                    <a:spcPct val="100000"/>
                  </a:lnSpc>
                  <a:spcBef>
                    <a:spcPts val="400"/>
                  </a:spcBef>
                  <a:spcAft>
                    <a:spcPts val="800"/>
                  </a:spcAft>
                </a:pPr>
                <a:r>
                  <a:rPr lang="en-US" sz="2400">
                    <a:latin typeface="Source Sans Pro" panose="020B0503030403020204" pitchFamily="34" charset="0"/>
                    <a:ea typeface="Source Sans Pro" panose="020B0503030403020204" pitchFamily="34" charset="0"/>
                  </a:rPr>
                  <a:t>In general, </a:t>
                </a: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𝑓</m:t>
                    </m:r>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 </m:t>
                        </m:r>
                        <m:r>
                          <a:rPr lang="en-US" sz="2400" b="0" i="1" smtClean="0">
                            <a:latin typeface="Cambria Math" panose="02040503050406030204" pitchFamily="18" charset="0"/>
                            <a:ea typeface="Source Sans Pro" panose="020B0503030403020204" pitchFamily="34" charset="0"/>
                          </a:rPr>
                          <m:t>𝑢</m:t>
                        </m:r>
                      </m:e>
                    </m:d>
                  </m:oMath>
                </a14:m>
                <a:r>
                  <a:rPr lang="en-US" sz="2400">
                    <a:latin typeface="Source Sans Pro" panose="020B0503030403020204" pitchFamily="34" charset="0"/>
                    <a:ea typeface="Source Sans Pro" panose="020B0503030403020204" pitchFamily="34" charset="0"/>
                  </a:rPr>
                  <a:t> is nonlinear, which can make it difficult to analyze</a:t>
                </a:r>
              </a:p>
              <a:p>
                <a:pPr>
                  <a:lnSpc>
                    <a:spcPct val="100000"/>
                  </a:lnSpc>
                  <a:spcBef>
                    <a:spcPts val="400"/>
                  </a:spcBef>
                  <a:spcAft>
                    <a:spcPts val="800"/>
                  </a:spcAft>
                </a:pPr>
                <a:r>
                  <a:rPr lang="en-US" sz="2400" i="1">
                    <a:latin typeface="Source Sans Pro" panose="020B0503030403020204" pitchFamily="34" charset="0"/>
                    <a:ea typeface="Source Sans Pro" panose="020B0503030403020204" pitchFamily="34" charset="0"/>
                  </a:rPr>
                  <a:t>Linear time-invariant (LTI) </a:t>
                </a:r>
                <a:r>
                  <a:rPr lang="en-US" sz="2400">
                    <a:latin typeface="Source Sans Pro" panose="020B0503030403020204" pitchFamily="34" charset="0"/>
                    <a:ea typeface="Source Sans Pro" panose="020B0503030403020204" pitchFamily="34" charset="0"/>
                  </a:rPr>
                  <a:t>models take the form</a:t>
                </a:r>
                <a:br>
                  <a:rPr lang="en-US" sz="2400">
                    <a:latin typeface="Source Sans Pro" panose="020B0503030403020204" pitchFamily="34" charset="0"/>
                    <a:ea typeface="Source Sans Pro" panose="020B0503030403020204" pitchFamily="34" charset="0"/>
                  </a:rPr>
                </a:b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𝐴𝑥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𝐵𝑢</m:t>
                    </m:r>
                  </m:oMath>
                </a14:m>
                <a:br>
                  <a:rPr lang="en-US" sz="2400" b="0">
                    <a:latin typeface="Source Sans Pro" panose="020B0503030403020204" pitchFamily="34" charset="0"/>
                    <a:ea typeface="Source Sans Pro" panose="020B0503030403020204" pitchFamily="34" charset="0"/>
                  </a:rPr>
                </a:br>
                <a:r>
                  <a:rPr lang="en-US" sz="2400" b="0">
                    <a:latin typeface="Source Sans Pro" panose="020B0503030403020204" pitchFamily="34" charset="0"/>
                    <a:ea typeface="Source Sans Pro" panose="020B0503030403020204" pitchFamily="34" charset="0"/>
                  </a:rPr>
                  <a:t>with </a:t>
                </a:r>
                <a:r>
                  <a:rPr lang="en-US" sz="2400" b="0">
                    <a:solidFill>
                      <a:srgbClr val="C00000"/>
                    </a:solidFill>
                    <a:latin typeface="Source Sans Pro" panose="020B0503030403020204" pitchFamily="34" charset="0"/>
                    <a:ea typeface="Source Sans Pro" panose="020B0503030403020204" pitchFamily="34" charset="0"/>
                  </a:rPr>
                  <a:t>constant</a:t>
                </a:r>
                <a:r>
                  <a:rPr lang="en-US" sz="2400" b="0">
                    <a:latin typeface="Source Sans Pro" panose="020B0503030403020204" pitchFamily="34" charset="0"/>
                    <a:ea typeface="Source Sans Pro" panose="020B0503030403020204" pitchFamily="34" charset="0"/>
                  </a:rPr>
                  <a:t> matrices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𝐴</m:t>
                    </m:r>
                  </m:oMath>
                </a14:m>
                <a:r>
                  <a:rPr lang="en-US" sz="2400" i="1">
                    <a:latin typeface="Source Sans Pro" panose="020B0503030403020204" pitchFamily="34" charset="0"/>
                    <a:ea typeface="Source Sans Pro" panose="020B0503030403020204" pitchFamily="34" charset="0"/>
                  </a:rPr>
                  <a:t> </a:t>
                </a:r>
                <a:r>
                  <a:rPr lang="en-US" sz="2400">
                    <a:latin typeface="Source Sans Pro" panose="020B0503030403020204" pitchFamily="34" charset="0"/>
                    <a:ea typeface="Source Sans Pro" panose="020B0503030403020204" pitchFamily="34" charset="0"/>
                  </a:rPr>
                  <a:t>and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𝐵</m:t>
                    </m:r>
                  </m:oMath>
                </a14:m>
                <a:endParaRPr lang="en-US" sz="2400">
                  <a:latin typeface="Source Sans Pro" panose="020B0503030403020204" pitchFamily="34" charset="0"/>
                  <a:ea typeface="Source Sans Pro" panose="020B0503030403020204" pitchFamily="34" charset="0"/>
                </a:endParaRPr>
              </a:p>
              <a:p>
                <a:pPr>
                  <a:lnSpc>
                    <a:spcPct val="100000"/>
                  </a:lnSpc>
                  <a:spcBef>
                    <a:spcPts val="400"/>
                  </a:spcBef>
                  <a:spcAft>
                    <a:spcPts val="800"/>
                  </a:spcAft>
                </a:pPr>
                <a:r>
                  <a:rPr lang="en-US" sz="2400">
                    <a:latin typeface="Source Sans Pro" panose="020B0503030403020204" pitchFamily="34" charset="0"/>
                    <a:ea typeface="Source Sans Pro" panose="020B0503030403020204" pitchFamily="34" charset="0"/>
                  </a:rPr>
                  <a:t>For </a:t>
                </a: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𝑥</m:t>
                    </m:r>
                  </m:oMath>
                </a14:m>
                <a:r>
                  <a:rPr lang="en-US" sz="2400">
                    <a:latin typeface="Source Sans Pro" panose="020B0503030403020204" pitchFamily="34" charset="0"/>
                    <a:ea typeface="Source Sans Pro" panose="020B0503030403020204" pitchFamily="34" charset="0"/>
                  </a:rPr>
                  <a:t> with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𝑥</m:t>
                    </m:r>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0</m:t>
                        </m:r>
                      </m:e>
                    </m:d>
                    <m:r>
                      <a:rPr lang="en-US" sz="2400" b="0" i="1" smtClean="0">
                        <a:latin typeface="Cambria Math" panose="02040503050406030204" pitchFamily="18" charset="0"/>
                        <a:ea typeface="Source Sans Pro" panose="020B0503030403020204" pitchFamily="34" charset="0"/>
                      </a:rPr>
                      <m:t>=</m:t>
                    </m:r>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𝑥</m:t>
                        </m:r>
                      </m:e>
                      <m:sub>
                        <m:r>
                          <a:rPr lang="en-US" sz="2400" b="0" i="1" smtClean="0">
                            <a:latin typeface="Cambria Math" panose="02040503050406030204" pitchFamily="18" charset="0"/>
                            <a:ea typeface="Source Sans Pro" panose="020B0503030403020204" pitchFamily="34" charset="0"/>
                          </a:rPr>
                          <m:t>0</m:t>
                        </m:r>
                      </m:sub>
                    </m:sSub>
                  </m:oMath>
                </a14:m>
                <a:r>
                  <a:rPr lang="en-US" sz="2400">
                    <a:latin typeface="Source Sans Pro" panose="020B0503030403020204" pitchFamily="34" charset="0"/>
                    <a:ea typeface="Source Sans Pro" panose="020B0503030403020204" pitchFamily="34" charset="0"/>
                  </a:rPr>
                  <a:t>, the solution is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𝑥</m:t>
                    </m:r>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𝑡</m:t>
                        </m:r>
                      </m:e>
                    </m:d>
                    <m:r>
                      <a:rPr lang="en-US" sz="2400" b="0" i="1" smtClean="0">
                        <a:latin typeface="Cambria Math" panose="02040503050406030204" pitchFamily="18" charset="0"/>
                        <a:ea typeface="Source Sans Pro" panose="020B0503030403020204" pitchFamily="34" charset="0"/>
                      </a:rPr>
                      <m:t>=</m:t>
                    </m:r>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𝑥</m:t>
                        </m:r>
                      </m:e>
                      <m:sub>
                        <m:r>
                          <a:rPr lang="en-US" sz="2400" b="0" i="1" smtClean="0">
                            <a:latin typeface="Cambria Math" panose="02040503050406030204" pitchFamily="18" charset="0"/>
                            <a:ea typeface="Source Sans Pro" panose="020B0503030403020204" pitchFamily="34" charset="0"/>
                          </a:rPr>
                          <m:t>0</m:t>
                        </m:r>
                      </m:sub>
                    </m:sSub>
                    <m:sSup>
                      <m:sSupPr>
                        <m:ctrlPr>
                          <a:rPr lang="en-US" sz="2400" b="0" i="1" smtClean="0">
                            <a:latin typeface="Cambria Math" panose="02040503050406030204" pitchFamily="18" charset="0"/>
                            <a:ea typeface="Source Sans Pro" panose="020B0503030403020204" pitchFamily="34" charset="0"/>
                          </a:rPr>
                        </m:ctrlPr>
                      </m:sSupPr>
                      <m:e>
                        <m:r>
                          <a:rPr lang="en-US" sz="2400" b="0" i="1" smtClean="0">
                            <a:latin typeface="Cambria Math" panose="02040503050406030204" pitchFamily="18" charset="0"/>
                            <a:ea typeface="Source Sans Pro" panose="020B0503030403020204" pitchFamily="34" charset="0"/>
                          </a:rPr>
                          <m:t>𝑒</m:t>
                        </m:r>
                      </m:e>
                      <m:sup>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𝑡</m:t>
                        </m:r>
                      </m:sup>
                    </m:sSup>
                  </m:oMath>
                </a14:m>
                <a:r>
                  <a:rPr lang="en-US" sz="2400">
                    <a:latin typeface="Source Sans Pro" panose="020B0503030403020204" pitchFamily="34" charset="0"/>
                    <a:ea typeface="Source Sans Pro" panose="020B0503030403020204" pitchFamily="34" charset="0"/>
                  </a:rPr>
                  <a:t>. If </a:t>
                </a:r>
                <a14:m>
                  <m:oMath xmlns:m="http://schemas.openxmlformats.org/officeDocument/2006/math">
                    <m:r>
                      <a:rPr lang="en-US" sz="240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&lt;0</m:t>
                    </m:r>
                  </m:oMath>
                </a14:m>
                <a:r>
                  <a:rPr lang="en-US" sz="2400">
                    <a:latin typeface="Source Sans Pro" panose="020B0503030403020204" pitchFamily="34" charset="0"/>
                    <a:ea typeface="Source Sans Pro" panose="020B0503030403020204" pitchFamily="34" charset="0"/>
                  </a:rPr>
                  <a:t>, the system is </a:t>
                </a:r>
                <a:r>
                  <a:rPr lang="en-US" sz="2400" i="1">
                    <a:latin typeface="Source Sans Pro" panose="020B0503030403020204" pitchFamily="34" charset="0"/>
                    <a:ea typeface="Source Sans Pro" panose="020B0503030403020204" pitchFamily="34" charset="0"/>
                  </a:rPr>
                  <a:t>stable</a:t>
                </a:r>
                <a:r>
                  <a:rPr lang="en-US" sz="2400">
                    <a:latin typeface="Source Sans Pro" panose="020B0503030403020204" pitchFamily="34" charset="0"/>
                    <a:ea typeface="Source Sans Pro" panose="020B0503030403020204" pitchFamily="34" charset="0"/>
                  </a:rPr>
                  <a:t>, i.e.,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𝑡</m:t>
                    </m:r>
                    <m:r>
                      <a:rPr lang="en-US" sz="2400" b="0" i="1" smtClean="0">
                        <a:latin typeface="Cambria Math" panose="02040503050406030204" pitchFamily="18" charset="0"/>
                        <a:ea typeface="Source Sans Pro" panose="020B0503030403020204" pitchFamily="34" charset="0"/>
                      </a:rPr>
                      <m:t>)</m:t>
                    </m:r>
                  </m:oMath>
                </a14:m>
                <a:r>
                  <a:rPr lang="en-US" sz="2400">
                    <a:latin typeface="Source Sans Pro" panose="020B0503030403020204" pitchFamily="34" charset="0"/>
                    <a:ea typeface="Source Sans Pro" panose="020B0503030403020204" pitchFamily="34" charset="0"/>
                  </a:rPr>
                  <a:t> converges to zero over time</a:t>
                </a:r>
              </a:p>
              <a:p>
                <a:pPr>
                  <a:lnSpc>
                    <a:spcPct val="100000"/>
                  </a:lnSpc>
                  <a:spcBef>
                    <a:spcPts val="400"/>
                  </a:spcBef>
                  <a:spcAft>
                    <a:spcPts val="800"/>
                  </a:spcAft>
                </a:pPr>
                <a:r>
                  <a:rPr lang="en-US" sz="2400">
                    <a:latin typeface="Source Sans Pro" panose="020B0503030403020204" pitchFamily="34" charset="0"/>
                    <a:ea typeface="Source Sans Pro" panose="020B0503030403020204" pitchFamily="34" charset="0"/>
                  </a:rPr>
                  <a:t>For </a:t>
                </a: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𝐴𝑥</m:t>
                    </m:r>
                  </m:oMath>
                </a14:m>
                <a:r>
                  <a:rPr lang="en-US" sz="2400">
                    <a:latin typeface="Source Sans Pro" panose="020B0503030403020204" pitchFamily="34" charset="0"/>
                    <a:ea typeface="Source Sans Pro" panose="020B0503030403020204" pitchFamily="34" charset="0"/>
                  </a:rPr>
                  <a:t> with </a:t>
                </a:r>
                <a14:m>
                  <m:oMath xmlns:m="http://schemas.openxmlformats.org/officeDocument/2006/math">
                    <m:r>
                      <a:rPr lang="en-US" sz="2400" i="1">
                        <a:latin typeface="Cambria Math" panose="02040503050406030204" pitchFamily="18" charset="0"/>
                        <a:ea typeface="Source Sans Pro" panose="020B0503030403020204" pitchFamily="34" charset="0"/>
                      </a:rPr>
                      <m:t>𝑥</m:t>
                    </m:r>
                    <m:d>
                      <m:dPr>
                        <m:ctrlPr>
                          <a:rPr lang="en-US" sz="2400" i="1">
                            <a:latin typeface="Cambria Math" panose="02040503050406030204" pitchFamily="18" charset="0"/>
                            <a:ea typeface="Source Sans Pro" panose="020B0503030403020204" pitchFamily="34" charset="0"/>
                          </a:rPr>
                        </m:ctrlPr>
                      </m:dPr>
                      <m:e>
                        <m:r>
                          <a:rPr lang="en-US" sz="2400" i="1">
                            <a:latin typeface="Cambria Math" panose="02040503050406030204" pitchFamily="18" charset="0"/>
                            <a:ea typeface="Source Sans Pro" panose="020B0503030403020204" pitchFamily="34" charset="0"/>
                          </a:rPr>
                          <m:t>0</m:t>
                        </m:r>
                      </m:e>
                    </m:d>
                    <m:r>
                      <a:rPr lang="en-US" sz="2400" i="1">
                        <a:latin typeface="Cambria Math" panose="02040503050406030204" pitchFamily="18" charset="0"/>
                        <a:ea typeface="Source Sans Pro" panose="020B0503030403020204" pitchFamily="34" charset="0"/>
                      </a:rPr>
                      <m:t>=</m:t>
                    </m:r>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Source Sans Pro" panose="020B0503030403020204" pitchFamily="34" charset="0"/>
                          </a:rPr>
                          <m:t>𝑥</m:t>
                        </m:r>
                      </m:e>
                      <m:sub>
                        <m:r>
                          <a:rPr lang="en-US" sz="2400" i="1">
                            <a:latin typeface="Cambria Math" panose="02040503050406030204" pitchFamily="18" charset="0"/>
                            <a:ea typeface="Source Sans Pro" panose="020B0503030403020204" pitchFamily="34" charset="0"/>
                          </a:rPr>
                          <m:t>0</m:t>
                        </m:r>
                      </m:sub>
                    </m:sSub>
                  </m:oMath>
                </a14:m>
                <a:r>
                  <a:rPr lang="en-US" sz="2400">
                    <a:latin typeface="Source Sans Pro" panose="020B0503030403020204" pitchFamily="34" charset="0"/>
                    <a:ea typeface="Source Sans Pro" panose="020B0503030403020204" pitchFamily="34" charset="0"/>
                  </a:rPr>
                  <a:t>, the solution is </a:t>
                </a:r>
                <a14:m>
                  <m:oMath xmlns:m="http://schemas.openxmlformats.org/officeDocument/2006/math">
                    <m:r>
                      <a:rPr lang="en-US" sz="2400" i="1">
                        <a:latin typeface="Cambria Math" panose="02040503050406030204" pitchFamily="18" charset="0"/>
                        <a:ea typeface="Source Sans Pro" panose="020B0503030403020204" pitchFamily="34" charset="0"/>
                      </a:rPr>
                      <m:t>𝑥</m:t>
                    </m:r>
                    <m:d>
                      <m:dPr>
                        <m:ctrlPr>
                          <a:rPr lang="en-US" sz="2400" i="1">
                            <a:latin typeface="Cambria Math" panose="02040503050406030204" pitchFamily="18" charset="0"/>
                            <a:ea typeface="Source Sans Pro" panose="020B0503030403020204" pitchFamily="34" charset="0"/>
                          </a:rPr>
                        </m:ctrlPr>
                      </m:dPr>
                      <m:e>
                        <m:r>
                          <a:rPr lang="en-US" sz="2400" i="1">
                            <a:latin typeface="Cambria Math" panose="02040503050406030204" pitchFamily="18" charset="0"/>
                            <a:ea typeface="Source Sans Pro" panose="020B0503030403020204" pitchFamily="34" charset="0"/>
                          </a:rPr>
                          <m:t>𝑡</m:t>
                        </m:r>
                      </m:e>
                    </m:d>
                    <m:r>
                      <a:rPr lang="en-US" sz="2400" i="1">
                        <a:latin typeface="Cambria Math" panose="02040503050406030204" pitchFamily="18" charset="0"/>
                        <a:ea typeface="Source Sans Pro" panose="020B0503030403020204" pitchFamily="34" charset="0"/>
                      </a:rPr>
                      <m:t>=</m:t>
                    </m:r>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Source Sans Pro" panose="020B0503030403020204" pitchFamily="34" charset="0"/>
                          </a:rPr>
                          <m:t>𝑥</m:t>
                        </m:r>
                      </m:e>
                      <m:sub>
                        <m:r>
                          <a:rPr lang="en-US" sz="2400" i="1">
                            <a:latin typeface="Cambria Math" panose="02040503050406030204" pitchFamily="18" charset="0"/>
                            <a:ea typeface="Source Sans Pro" panose="020B0503030403020204" pitchFamily="34" charset="0"/>
                          </a:rPr>
                          <m:t>0</m:t>
                        </m:r>
                      </m:sub>
                    </m:sSub>
                    <m:sSup>
                      <m:sSupPr>
                        <m:ctrlPr>
                          <a:rPr lang="en-US" sz="2400" i="1">
                            <a:latin typeface="Cambria Math" panose="02040503050406030204" pitchFamily="18" charset="0"/>
                            <a:ea typeface="Source Sans Pro" panose="020B0503030403020204" pitchFamily="34" charset="0"/>
                          </a:rPr>
                        </m:ctrlPr>
                      </m:sSupPr>
                      <m:e>
                        <m:r>
                          <a:rPr lang="en-US" sz="2400" i="1">
                            <a:latin typeface="Cambria Math" panose="02040503050406030204" pitchFamily="18" charset="0"/>
                            <a:ea typeface="Source Sans Pro" panose="020B0503030403020204" pitchFamily="34" charset="0"/>
                          </a:rPr>
                          <m:t>𝑒</m:t>
                        </m:r>
                      </m:e>
                      <m:sup>
                        <m:r>
                          <a:rPr lang="en-US" sz="2400" b="0" i="1" smtClean="0">
                            <a:latin typeface="Cambria Math" panose="02040503050406030204" pitchFamily="18" charset="0"/>
                            <a:ea typeface="Source Sans Pro" panose="020B0503030403020204" pitchFamily="34" charset="0"/>
                          </a:rPr>
                          <m:t>𝐴</m:t>
                        </m:r>
                        <m:r>
                          <a:rPr lang="en-US" sz="2400" i="1">
                            <a:latin typeface="Cambria Math" panose="02040503050406030204" pitchFamily="18" charset="0"/>
                            <a:ea typeface="Cambria Math" panose="02040503050406030204" pitchFamily="18" charset="0"/>
                          </a:rPr>
                          <m:t>𝑡</m:t>
                        </m:r>
                      </m:sup>
                    </m:sSup>
                  </m:oMath>
                </a14:m>
                <a:r>
                  <a:rPr lang="en-US" sz="2400">
                    <a:latin typeface="Source Sans Pro" panose="020B0503030403020204" pitchFamily="34" charset="0"/>
                    <a:ea typeface="Source Sans Pro" panose="020B0503030403020204" pitchFamily="34" charset="0"/>
                  </a:rPr>
                  <a:t>, where </a:t>
                </a:r>
                <a14:m>
                  <m:oMath xmlns:m="http://schemas.openxmlformats.org/officeDocument/2006/math">
                    <m:sSup>
                      <m:sSupPr>
                        <m:ctrlPr>
                          <a:rPr lang="en-US" sz="2400" i="1">
                            <a:latin typeface="Cambria Math" panose="02040503050406030204" pitchFamily="18" charset="0"/>
                            <a:ea typeface="Source Sans Pro" panose="020B0503030403020204" pitchFamily="34" charset="0"/>
                          </a:rPr>
                        </m:ctrlPr>
                      </m:sSupPr>
                      <m:e>
                        <m:r>
                          <a:rPr lang="en-US" sz="2400" i="1">
                            <a:latin typeface="Cambria Math" panose="02040503050406030204" pitchFamily="18" charset="0"/>
                            <a:ea typeface="Source Sans Pro" panose="020B0503030403020204" pitchFamily="34" charset="0"/>
                          </a:rPr>
                          <m:t>𝑒</m:t>
                        </m:r>
                      </m:e>
                      <m:sup>
                        <m:r>
                          <a:rPr lang="en-US" sz="2400" i="1">
                            <a:latin typeface="Cambria Math" panose="02040503050406030204" pitchFamily="18" charset="0"/>
                            <a:ea typeface="Source Sans Pro" panose="020B0503030403020204" pitchFamily="34" charset="0"/>
                          </a:rPr>
                          <m:t>𝐴</m:t>
                        </m:r>
                        <m:r>
                          <a:rPr lang="en-US" sz="2400" i="1">
                            <a:latin typeface="Cambria Math" panose="02040503050406030204" pitchFamily="18" charset="0"/>
                            <a:ea typeface="Cambria Math" panose="02040503050406030204" pitchFamily="18" charset="0"/>
                          </a:rPr>
                          <m:t>𝑡</m:t>
                        </m:r>
                      </m:sup>
                    </m:sSup>
                    <m:r>
                      <a:rPr lang="en-US" sz="2400" i="1">
                        <a:latin typeface="Cambria Math" panose="02040503050406030204" pitchFamily="18" charset="0"/>
                        <a:ea typeface="Cambria Math" panose="02040503050406030204" pitchFamily="18" charset="0"/>
                      </a:rPr>
                      <m:t> </m:t>
                    </m:r>
                  </m:oMath>
                </a14:m>
                <a:r>
                  <a:rPr lang="en-US" sz="2400">
                    <a:latin typeface="Source Sans Pro" panose="020B0503030403020204" pitchFamily="34" charset="0"/>
                    <a:ea typeface="Source Sans Pro" panose="020B0503030403020204" pitchFamily="34" charset="0"/>
                  </a:rPr>
                  <a:t>is the </a:t>
                </a:r>
                <a:r>
                  <a:rPr lang="en-US" sz="2400" i="1">
                    <a:latin typeface="Source Sans Pro" panose="020B0503030403020204" pitchFamily="34" charset="0"/>
                    <a:ea typeface="Source Sans Pro" panose="020B0503030403020204" pitchFamily="34" charset="0"/>
                  </a:rPr>
                  <a:t>matrix exponential</a:t>
                </a:r>
                <a:endParaRPr lang="en-US" sz="2400">
                  <a:latin typeface="Source Sans Pro" panose="020B0503030403020204" pitchFamily="34" charset="0"/>
                  <a:ea typeface="Source Sans Pro" panose="020B0503030403020204" pitchFamily="34" charset="0"/>
                </a:endParaRPr>
              </a:p>
              <a:p>
                <a:pPr>
                  <a:lnSpc>
                    <a:spcPct val="100000"/>
                  </a:lnSpc>
                  <a:spcBef>
                    <a:spcPts val="400"/>
                  </a:spcBef>
                  <a:spcAft>
                    <a:spcPts val="800"/>
                  </a:spcAft>
                </a:pPr>
                <a:r>
                  <a:rPr lang="en-US" sz="2400">
                    <a:latin typeface="Source Sans Pro" panose="020B0503030403020204" pitchFamily="34" charset="0"/>
                    <a:ea typeface="Source Sans Pro" panose="020B0503030403020204" pitchFamily="34" charset="0"/>
                  </a:rPr>
                  <a:t>Analogously to the scalar case, if </a:t>
                </a:r>
                <a14:m>
                  <m:oMath xmlns:m="http://schemas.openxmlformats.org/officeDocument/2006/math">
                    <m:func>
                      <m:funcPr>
                        <m:ctrlPr>
                          <a:rPr lang="en-US" sz="240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Real</m:t>
                        </m:r>
                      </m:fName>
                      <m:e>
                        <m:r>
                          <a:rPr lang="en-US" sz="2400" b="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m:t>
                        </m:r>
                      </m:e>
                    </m:func>
                    <m:r>
                      <a:rPr lang="en-US" sz="2400" b="0" i="1" smtClean="0">
                        <a:latin typeface="Cambria Math" panose="02040503050406030204" pitchFamily="18" charset="0"/>
                        <a:ea typeface="Cambria Math" panose="02040503050406030204" pitchFamily="18" charset="0"/>
                      </a:rPr>
                      <m:t>&lt;0</m:t>
                    </m:r>
                  </m:oMath>
                </a14:m>
                <a:r>
                  <a:rPr lang="en-US" sz="2400">
                    <a:latin typeface="Source Sans Pro" panose="020B0503030403020204" pitchFamily="34" charset="0"/>
                    <a:ea typeface="Source Sans Pro" panose="020B0503030403020204" pitchFamily="34" charset="0"/>
                  </a:rPr>
                  <a:t> for each eigenvalue </a:t>
                </a:r>
                <a14:m>
                  <m:oMath xmlns:m="http://schemas.openxmlformats.org/officeDocument/2006/math">
                    <m:r>
                      <a:rPr lang="en-US" sz="2400" i="1">
                        <a:latin typeface="Cambria Math" panose="02040503050406030204" pitchFamily="18" charset="0"/>
                        <a:ea typeface="Cambria Math" panose="02040503050406030204" pitchFamily="18" charset="0"/>
                      </a:rPr>
                      <m:t>𝜆</m:t>
                    </m:r>
                  </m:oMath>
                </a14:m>
                <a:r>
                  <a:rPr lang="en-US" sz="2400">
                    <a:latin typeface="Source Sans Pro" panose="020B0503030403020204" pitchFamily="34" charset="0"/>
                    <a:ea typeface="Source Sans Pro" panose="020B0503030403020204" pitchFamily="34" charset="0"/>
                  </a:rPr>
                  <a:t> of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𝐴</m:t>
                    </m:r>
                  </m:oMath>
                </a14:m>
                <a:r>
                  <a:rPr lang="en-US" sz="2400">
                    <a:latin typeface="Source Sans Pro" panose="020B0503030403020204" pitchFamily="34" charset="0"/>
                    <a:ea typeface="Source Sans Pro" panose="020B0503030403020204" pitchFamily="34" charset="0"/>
                  </a:rPr>
                  <a:t>, then the system is stable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0664687" cy="4351338"/>
              </a:xfrm>
              <a:blipFill>
                <a:blip r:embed="rId3"/>
                <a:stretch>
                  <a:fillRect l="-713" t="-1163" r="-119" b="-348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F1429F1-F7CF-D684-9B63-9E774075B416}"/>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90441EF1-C144-012C-891D-E8918A60D3BD}"/>
              </a:ext>
            </a:extLst>
          </p:cNvPr>
          <p:cNvSpPr>
            <a:spLocks noGrp="1"/>
          </p:cNvSpPr>
          <p:nvPr>
            <p:ph type="dt" sz="half" idx="10"/>
          </p:nvPr>
        </p:nvSpPr>
        <p:spPr/>
        <p:txBody>
          <a:bodyPr/>
          <a:lstStyle/>
          <a:p>
            <a:fld id="{8D5C8DA6-C081-7840-9386-5F8EEFA71619}" type="datetime1">
              <a:rPr lang="en-US" smtClean="0"/>
              <a:t>12/20/2025</a:t>
            </a:fld>
            <a:endParaRPr lang="en-US"/>
          </a:p>
        </p:txBody>
      </p:sp>
      <p:sp>
        <p:nvSpPr>
          <p:cNvPr id="6" name="Slide Number Placeholder 5">
            <a:extLst>
              <a:ext uri="{FF2B5EF4-FFF2-40B4-BE49-F238E27FC236}">
                <a16:creationId xmlns:a16="http://schemas.microsoft.com/office/drawing/2014/main" id="{11BFDFB7-924C-E670-9CD3-BDFF6DAC31ED}"/>
              </a:ext>
            </a:extLst>
          </p:cNvPr>
          <p:cNvSpPr>
            <a:spLocks noGrp="1"/>
          </p:cNvSpPr>
          <p:nvPr>
            <p:ph type="sldNum" sz="quarter" idx="12"/>
          </p:nvPr>
        </p:nvSpPr>
        <p:spPr/>
        <p:txBody>
          <a:bodyPr/>
          <a:lstStyle/>
          <a:p>
            <a:fld id="{8AA1F273-EF2F-3941-BBF8-D365CB27DD6A}" type="slidenum">
              <a:rPr lang="en-US" smtClean="0"/>
              <a:t>13</a:t>
            </a:fld>
            <a:endParaRPr lang="en-US"/>
          </a:p>
        </p:txBody>
      </p:sp>
    </p:spTree>
    <p:extLst>
      <p:ext uri="{BB962C8B-B14F-4D97-AF65-F5344CB8AC3E}">
        <p14:creationId xmlns:p14="http://schemas.microsoft.com/office/powerpoint/2010/main" val="1947894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PD control for a double-integrator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0515600" cy="4351338"/>
              </a:xfrm>
            </p:spPr>
            <p:txBody>
              <a:bodyPr>
                <a:noAutofit/>
              </a:bodyPr>
              <a:lstStyle/>
              <a:p>
                <a:pPr>
                  <a:lnSpc>
                    <a:spcPct val="100000"/>
                  </a:lnSpc>
                  <a:spcBef>
                    <a:spcPts val="400"/>
                  </a:spcBef>
                  <a:spcAft>
                    <a:spcPts val="1400"/>
                  </a:spcAft>
                </a:pPr>
                <a:r>
                  <a:rPr lang="en-US" sz="2400">
                    <a:latin typeface="Source Sans Pro" panose="020B0503030403020204" pitchFamily="34" charset="0"/>
                    <a:ea typeface="Source Sans Pro" panose="020B0503030403020204" pitchFamily="34" charset="0"/>
                  </a:rPr>
                  <a:t>Let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𝑠</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𝑣</m:t>
                    </m:r>
                    <m:r>
                      <a:rPr lang="en-US" sz="2400" b="0" i="1" smtClean="0">
                        <a:latin typeface="Cambria Math" panose="02040503050406030204" pitchFamily="18" charset="0"/>
                        <a:ea typeface="Source Sans Pro" panose="020B0503030403020204" pitchFamily="34" charset="0"/>
                      </a:rPr>
                      <m:t>)</m:t>
                    </m:r>
                  </m:oMath>
                </a14:m>
                <a:r>
                  <a:rPr lang="en-US" sz="2400">
                    <a:latin typeface="Source Sans Pro" panose="020B0503030403020204" pitchFamily="34" charset="0"/>
                    <a:ea typeface="Source Sans Pro" panose="020B0503030403020204" pitchFamily="34" charset="0"/>
                  </a:rPr>
                  <a:t> with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𝑣</m:t>
                    </m:r>
                    <m:r>
                      <a:rPr lang="en-US" sz="2400" b="0" i="1" smtClean="0">
                        <a:latin typeface="Cambria Math" panose="02040503050406030204" pitchFamily="18" charset="0"/>
                        <a:ea typeface="Source Sans Pro" panose="020B0503030403020204" pitchFamily="34" charset="0"/>
                      </a:rPr>
                      <m:t>=</m:t>
                    </m:r>
                    <m:acc>
                      <m:accPr>
                        <m:chr m:val="̇"/>
                        <m:ctrlPr>
                          <a:rPr lang="en-US" sz="2400" b="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𝑠</m:t>
                        </m:r>
                      </m:e>
                    </m:acc>
                  </m:oMath>
                </a14:m>
                <a:r>
                  <a:rPr lang="en-US" sz="2400">
                    <a:latin typeface="Source Sans Pro" panose="020B0503030403020204" pitchFamily="34" charset="0"/>
                    <a:ea typeface="Source Sans Pro" panose="020B0503030403020204" pitchFamily="34" charset="0"/>
                  </a:rPr>
                  <a:t>, and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𝑢</m:t>
                    </m:r>
                    <m:r>
                      <a:rPr lang="en-US" sz="2400" b="0" i="1" smtClean="0">
                        <a:latin typeface="Cambria Math" panose="02040503050406030204" pitchFamily="18" charset="0"/>
                        <a:ea typeface="Source Sans Pro" panose="020B0503030403020204" pitchFamily="34" charset="0"/>
                      </a:rPr>
                      <m:t>=</m:t>
                    </m:r>
                    <m:f>
                      <m:fPr>
                        <m:type m:val="skw"/>
                        <m:ctrlPr>
                          <a:rPr lang="en-US" sz="2400" b="0" i="1" smtClean="0">
                            <a:latin typeface="Cambria Math" panose="02040503050406030204" pitchFamily="18" charset="0"/>
                            <a:ea typeface="Source Sans Pro" panose="020B0503030403020204" pitchFamily="34" charset="0"/>
                          </a:rPr>
                        </m:ctrlPr>
                      </m:fPr>
                      <m:num>
                        <m:r>
                          <a:rPr lang="en-US" sz="2400" b="0" i="1" smtClean="0">
                            <a:latin typeface="Cambria Math" panose="02040503050406030204" pitchFamily="18" charset="0"/>
                            <a:ea typeface="Source Sans Pro" panose="020B0503030403020204" pitchFamily="34" charset="0"/>
                          </a:rPr>
                          <m:t>𝐹</m:t>
                        </m:r>
                      </m:num>
                      <m:den>
                        <m:r>
                          <a:rPr lang="en-US" sz="2400" b="0" i="1" smtClean="0">
                            <a:latin typeface="Cambria Math" panose="02040503050406030204" pitchFamily="18" charset="0"/>
                            <a:ea typeface="Source Sans Pro" panose="020B0503030403020204" pitchFamily="34" charset="0"/>
                          </a:rPr>
                          <m:t>𝑚</m:t>
                        </m:r>
                      </m:den>
                    </m:f>
                  </m:oMath>
                </a14:m>
                <a:r>
                  <a:rPr lang="en-US" sz="2400">
                    <a:latin typeface="Source Sans Pro" panose="020B0503030403020204" pitchFamily="34" charset="0"/>
                    <a:ea typeface="Source Sans Pro" panose="020B0503030403020204" pitchFamily="34" charset="0"/>
                  </a:rPr>
                  <a:t>. Then</a:t>
                </a:r>
                <a:br>
                  <a:rPr lang="en-US" sz="2400">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                  </a:t>
                </a: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d>
                      <m:dPr>
                        <m:ctrlPr>
                          <a:rPr lang="en-US" sz="2400" b="0" i="1" smtClean="0">
                            <a:latin typeface="Cambria Math" panose="02040503050406030204" pitchFamily="18" charset="0"/>
                            <a:ea typeface="Source Sans Pro" panose="020B0503030403020204" pitchFamily="34" charset="0"/>
                          </a:rPr>
                        </m:ctrlPr>
                      </m:dPr>
                      <m:e>
                        <m:m>
                          <m:mPr>
                            <m:mcs>
                              <m:mc>
                                <m:mcPr>
                                  <m:count m:val="1"/>
                                  <m:mcJc m:val="center"/>
                                </m:mcPr>
                              </m:mc>
                            </m:mcs>
                            <m:ctrlPr>
                              <a:rPr lang="en-US" sz="2400" b="0" i="1" smtClean="0">
                                <a:latin typeface="Cambria Math" panose="02040503050406030204" pitchFamily="18" charset="0"/>
                                <a:ea typeface="Source Sans Pro" panose="020B0503030403020204" pitchFamily="34" charset="0"/>
                              </a:rPr>
                            </m:ctrlPr>
                          </m:mPr>
                          <m:mr>
                            <m:e>
                              <m:r>
                                <m:rPr>
                                  <m:brk m:alnAt="7"/>
                                </m:rPr>
                                <a:rPr lang="en-US" sz="2400" b="0" i="1" smtClean="0">
                                  <a:latin typeface="Cambria Math" panose="02040503050406030204" pitchFamily="18" charset="0"/>
                                  <a:ea typeface="Source Sans Pro" panose="020B0503030403020204" pitchFamily="34" charset="0"/>
                                </a:rPr>
                                <m:t>𝑣</m:t>
                              </m:r>
                            </m:e>
                          </m:mr>
                          <m:mr>
                            <m:e>
                              <m:r>
                                <a:rPr lang="en-US" sz="2400" b="0" i="1" smtClean="0">
                                  <a:latin typeface="Cambria Math" panose="02040503050406030204" pitchFamily="18" charset="0"/>
                                  <a:ea typeface="Source Sans Pro" panose="020B0503030403020204" pitchFamily="34" charset="0"/>
                                </a:rPr>
                                <m:t>𝑢</m:t>
                              </m:r>
                            </m:e>
                          </m:mr>
                        </m:m>
                      </m:e>
                    </m:d>
                    <m:r>
                      <a:rPr lang="en-US" sz="2400" b="0" i="1" smtClean="0">
                        <a:latin typeface="Cambria Math" panose="02040503050406030204" pitchFamily="18" charset="0"/>
                        <a:ea typeface="Source Sans Pro" panose="020B0503030403020204" pitchFamily="34" charset="0"/>
                      </a:rPr>
                      <m:t>=</m:t>
                    </m:r>
                    <m:limLow>
                      <m:limLowPr>
                        <m:ctrlPr>
                          <a:rPr lang="en-US" sz="2400" b="0" i="1" smtClean="0">
                            <a:latin typeface="Cambria Math" panose="02040503050406030204" pitchFamily="18" charset="0"/>
                            <a:ea typeface="Source Sans Pro" panose="020B0503030403020204" pitchFamily="34" charset="0"/>
                          </a:rPr>
                        </m:ctrlPr>
                      </m:limLowPr>
                      <m:e>
                        <m:groupChr>
                          <m:groupChrPr>
                            <m:chr m:val="⏟"/>
                            <m:ctrlPr>
                              <a:rPr lang="en-US" sz="2400" b="0" i="1" smtClean="0">
                                <a:latin typeface="Cambria Math" panose="02040503050406030204" pitchFamily="18" charset="0"/>
                                <a:ea typeface="Source Sans Pro" panose="020B0503030403020204" pitchFamily="34" charset="0"/>
                              </a:rPr>
                            </m:ctrlPr>
                          </m:groupChrPr>
                          <m:e>
                            <m:d>
                              <m:dPr>
                                <m:begChr m:val="["/>
                                <m:endChr m:val="]"/>
                                <m:ctrlPr>
                                  <a:rPr lang="en-US" sz="2400" i="1">
                                    <a:latin typeface="Cambria Math" panose="02040503050406030204" pitchFamily="18" charset="0"/>
                                    <a:ea typeface="Source Sans Pro" panose="020B0503030403020204" pitchFamily="34" charset="0"/>
                                  </a:rPr>
                                </m:ctrlPr>
                              </m:dPr>
                              <m:e>
                                <m:m>
                                  <m:mPr>
                                    <m:mcs>
                                      <m:mc>
                                        <m:mcPr>
                                          <m:count m:val="2"/>
                                          <m:mcJc m:val="center"/>
                                        </m:mcPr>
                                      </m:mc>
                                    </m:mcs>
                                    <m:ctrlPr>
                                      <a:rPr lang="en-US" sz="2400" i="1">
                                        <a:latin typeface="Cambria Math" panose="02040503050406030204" pitchFamily="18" charset="0"/>
                                        <a:ea typeface="Source Sans Pro" panose="020B0503030403020204" pitchFamily="34" charset="0"/>
                                      </a:rPr>
                                    </m:ctrlPr>
                                  </m:mPr>
                                  <m:mr>
                                    <m:e>
                                      <m:r>
                                        <m:rPr>
                                          <m:brk m:alnAt="7"/>
                                        </m:rPr>
                                        <a:rPr lang="en-US" sz="2400" i="1">
                                          <a:latin typeface="Cambria Math" panose="02040503050406030204" pitchFamily="18" charset="0"/>
                                          <a:ea typeface="Source Sans Pro" panose="020B0503030403020204" pitchFamily="34" charset="0"/>
                                        </a:rPr>
                                        <m:t>0</m:t>
                                      </m:r>
                                    </m:e>
                                    <m:e>
                                      <m:r>
                                        <a:rPr lang="en-US" sz="2400" i="1">
                                          <a:latin typeface="Cambria Math" panose="02040503050406030204" pitchFamily="18" charset="0"/>
                                          <a:ea typeface="Source Sans Pro" panose="020B0503030403020204" pitchFamily="34" charset="0"/>
                                        </a:rPr>
                                        <m:t>1</m:t>
                                      </m:r>
                                    </m:e>
                                  </m:mr>
                                  <m:mr>
                                    <m:e>
                                      <m:r>
                                        <a:rPr lang="en-US" sz="2400" i="1">
                                          <a:latin typeface="Cambria Math" panose="02040503050406030204" pitchFamily="18" charset="0"/>
                                          <a:ea typeface="Source Sans Pro" panose="020B0503030403020204" pitchFamily="34" charset="0"/>
                                        </a:rPr>
                                        <m:t>0</m:t>
                                      </m:r>
                                    </m:e>
                                    <m:e>
                                      <m:r>
                                        <a:rPr lang="en-US" sz="2400" i="1">
                                          <a:latin typeface="Cambria Math" panose="02040503050406030204" pitchFamily="18" charset="0"/>
                                          <a:ea typeface="Source Sans Pro" panose="020B0503030403020204" pitchFamily="34" charset="0"/>
                                        </a:rPr>
                                        <m:t>0</m:t>
                                      </m:r>
                                    </m:e>
                                  </m:mr>
                                </m:m>
                              </m:e>
                            </m:d>
                          </m:e>
                        </m:groupChr>
                      </m:e>
                      <m:lim>
                        <m:eqArr>
                          <m:eqArrPr>
                            <m:ctrlPr>
                              <a:rPr lang="en-US" sz="2400" b="0" i="1" smtClean="0">
                                <a:latin typeface="Cambria Math" panose="02040503050406030204" pitchFamily="18" charset="0"/>
                                <a:ea typeface="Source Sans Pro" panose="020B0503030403020204" pitchFamily="34" charset="0"/>
                              </a:rPr>
                            </m:ctrlPr>
                          </m:eqArrPr>
                          <m:e/>
                          <m:e>
                            <m:r>
                              <a:rPr lang="en-US" b="0" i="1" smtClean="0">
                                <a:latin typeface="Cambria Math" panose="02040503050406030204" pitchFamily="18" charset="0"/>
                              </a:rPr>
                              <m:t>𝐴</m:t>
                            </m:r>
                          </m:e>
                        </m:eqArr>
                      </m:lim>
                    </m:limLow>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limLow>
                      <m:limLowPr>
                        <m:ctrlPr>
                          <a:rPr lang="en-US" sz="2400" b="0" i="1" smtClean="0">
                            <a:latin typeface="Cambria Math" panose="02040503050406030204" pitchFamily="18" charset="0"/>
                            <a:ea typeface="Source Sans Pro" panose="020B0503030403020204" pitchFamily="34" charset="0"/>
                          </a:rPr>
                        </m:ctrlPr>
                      </m:limLowPr>
                      <m:e>
                        <m:groupChr>
                          <m:groupChrPr>
                            <m:chr m:val="⏟"/>
                            <m:ctrlPr>
                              <a:rPr lang="en-US" sz="2400" b="0" i="1" smtClean="0">
                                <a:latin typeface="Cambria Math" panose="02040503050406030204" pitchFamily="18" charset="0"/>
                                <a:ea typeface="Source Sans Pro" panose="020B0503030403020204" pitchFamily="34" charset="0"/>
                              </a:rPr>
                            </m:ctrlPr>
                          </m:groupChrPr>
                          <m:e>
                            <m:d>
                              <m:dPr>
                                <m:begChr m:val="["/>
                                <m:endChr m:val="]"/>
                                <m:ctrlPr>
                                  <a:rPr lang="en-US" sz="2400" i="1">
                                    <a:latin typeface="Cambria Math" panose="02040503050406030204" pitchFamily="18" charset="0"/>
                                    <a:ea typeface="Source Sans Pro" panose="020B0503030403020204" pitchFamily="34" charset="0"/>
                                  </a:rPr>
                                </m:ctrlPr>
                              </m:dPr>
                              <m:e>
                                <m:m>
                                  <m:mPr>
                                    <m:mcs>
                                      <m:mc>
                                        <m:mcPr>
                                          <m:count m:val="1"/>
                                          <m:mcJc m:val="center"/>
                                        </m:mcPr>
                                      </m:mc>
                                    </m:mcs>
                                    <m:ctrlPr>
                                      <a:rPr lang="en-US" sz="2400" i="1">
                                        <a:latin typeface="Cambria Math" panose="02040503050406030204" pitchFamily="18" charset="0"/>
                                        <a:ea typeface="Source Sans Pro" panose="020B0503030403020204" pitchFamily="34" charset="0"/>
                                      </a:rPr>
                                    </m:ctrlPr>
                                  </m:mPr>
                                  <m:mr>
                                    <m:e>
                                      <m:r>
                                        <m:rPr>
                                          <m:brk m:alnAt="7"/>
                                        </m:rPr>
                                        <a:rPr lang="en-US" sz="2400" i="1">
                                          <a:latin typeface="Cambria Math" panose="02040503050406030204" pitchFamily="18" charset="0"/>
                                          <a:ea typeface="Source Sans Pro" panose="020B0503030403020204" pitchFamily="34" charset="0"/>
                                        </a:rPr>
                                        <m:t>0</m:t>
                                      </m:r>
                                    </m:e>
                                  </m:mr>
                                  <m:mr>
                                    <m:e>
                                      <m:r>
                                        <a:rPr lang="en-US" sz="2400" i="1">
                                          <a:latin typeface="Cambria Math" panose="02040503050406030204" pitchFamily="18" charset="0"/>
                                          <a:ea typeface="Source Sans Pro" panose="020B0503030403020204" pitchFamily="34" charset="0"/>
                                        </a:rPr>
                                        <m:t>1</m:t>
                                      </m:r>
                                    </m:e>
                                  </m:mr>
                                </m:m>
                              </m:e>
                            </m:d>
                          </m:e>
                        </m:groupChr>
                      </m:e>
                      <m:lim>
                        <m:eqArr>
                          <m:eqArrPr>
                            <m:ctrlPr>
                              <a:rPr lang="en-US" sz="2400" b="0" i="1" smtClean="0">
                                <a:latin typeface="Cambria Math" panose="02040503050406030204" pitchFamily="18" charset="0"/>
                                <a:ea typeface="Source Sans Pro" panose="020B0503030403020204" pitchFamily="34" charset="0"/>
                              </a:rPr>
                            </m:ctrlPr>
                          </m:eqArrPr>
                          <m:e/>
                          <m:e>
                            <m:r>
                              <a:rPr lang="en-US" b="0" i="1" smtClean="0">
                                <a:latin typeface="Cambria Math" panose="02040503050406030204" pitchFamily="18" charset="0"/>
                              </a:rPr>
                              <m:t>𝐵</m:t>
                            </m:r>
                          </m:e>
                        </m:eqArr>
                      </m:lim>
                    </m:limLow>
                    <m:r>
                      <a:rPr lang="en-US" sz="2400" b="0" i="1" smtClean="0">
                        <a:latin typeface="Cambria Math" panose="02040503050406030204" pitchFamily="18" charset="0"/>
                        <a:ea typeface="Source Sans Pro" panose="020B0503030403020204" pitchFamily="34" charset="0"/>
                      </a:rPr>
                      <m:t>𝑢</m:t>
                    </m:r>
                  </m:oMath>
                </a14:m>
                <a:endParaRPr lang="en-US" sz="2400" b="0">
                  <a:latin typeface="Source Sans Pro" panose="020B0503030403020204" pitchFamily="34" charset="0"/>
                  <a:ea typeface="Source Sans Pro" panose="020B0503030403020204" pitchFamily="34" charset="0"/>
                </a:endParaRPr>
              </a:p>
              <a:p>
                <a:pPr>
                  <a:lnSpc>
                    <a:spcPct val="100000"/>
                  </a:lnSpc>
                  <a:spcBef>
                    <a:spcPts val="400"/>
                  </a:spcBef>
                  <a:spcAft>
                    <a:spcPts val="1400"/>
                  </a:spcAft>
                </a:pPr>
                <a:r>
                  <a:rPr lang="en-US" sz="2400">
                    <a:latin typeface="Source Sans Pro" panose="020B0503030403020204" pitchFamily="34" charset="0"/>
                    <a:ea typeface="Source Sans Pro" panose="020B0503030403020204" pitchFamily="34" charset="0"/>
                  </a:rPr>
                  <a:t>Choose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𝑢</m:t>
                    </m:r>
                    <m:r>
                      <a:rPr lang="en-US" sz="2400" b="0" i="1" smtClean="0">
                        <a:latin typeface="Cambria Math" panose="02040503050406030204" pitchFamily="18" charset="0"/>
                        <a:ea typeface="Source Sans Pro" panose="020B0503030403020204" pitchFamily="34" charset="0"/>
                      </a:rPr>
                      <m:t>=−</m:t>
                    </m:r>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Source Sans Pro" panose="020B0503030403020204" pitchFamily="34" charset="0"/>
                          </a:rPr>
                          <m:t>𝑝</m:t>
                        </m:r>
                      </m:sub>
                    </m:sSub>
                    <m:r>
                      <a:rPr lang="en-US" sz="2400" b="0" i="1" smtClean="0">
                        <a:latin typeface="Cambria Math" panose="02040503050406030204" pitchFamily="18" charset="0"/>
                        <a:ea typeface="Source Sans Pro" panose="020B0503030403020204" pitchFamily="34" charset="0"/>
                      </a:rPr>
                      <m:t>𝑠</m:t>
                    </m:r>
                    <m:r>
                      <a:rPr lang="en-US" sz="2400" b="0" i="1" smtClean="0">
                        <a:latin typeface="Cambria Math" panose="02040503050406030204" pitchFamily="18" charset="0"/>
                        <a:ea typeface="Source Sans Pro" panose="020B0503030403020204" pitchFamily="34" charset="0"/>
                      </a:rPr>
                      <m:t>−</m:t>
                    </m:r>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Cambria Math" panose="02040503050406030204" pitchFamily="18" charset="0"/>
                          </a:rPr>
                          <m:t>𝑑</m:t>
                        </m:r>
                      </m:sub>
                    </m:sSub>
                    <m:r>
                      <a:rPr lang="en-US" sz="2400" b="0" i="1" smtClean="0">
                        <a:latin typeface="Cambria Math" panose="02040503050406030204" pitchFamily="18" charset="0"/>
                        <a:ea typeface="Cambria Math" panose="02040503050406030204" pitchFamily="18" charset="0"/>
                      </a:rPr>
                      <m:t>𝑣</m:t>
                    </m:r>
                  </m:oMath>
                </a14:m>
                <a:r>
                  <a:rPr lang="en-US" sz="2400">
                    <a:latin typeface="Source Sans Pro" panose="020B0503030403020204" pitchFamily="34" charset="0"/>
                    <a:ea typeface="Source Sans Pro" panose="020B0503030403020204" pitchFamily="34" charset="0"/>
                  </a:rPr>
                  <a:t>. Then</a:t>
                </a:r>
                <a:br>
                  <a:rPr lang="en-US" sz="2400">
                    <a:latin typeface="Source Sans Pro" panose="020B0503030403020204" pitchFamily="34" charset="0"/>
                    <a:ea typeface="Source Sans Pro" panose="020B0503030403020204" pitchFamily="34" charset="0"/>
                  </a:rPr>
                </a:b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d>
                      <m:dPr>
                        <m:begChr m:val="["/>
                        <m:endChr m:val="]"/>
                        <m:ctrlPr>
                          <a:rPr lang="en-US" sz="2400" b="0" i="1" smtClean="0">
                            <a:latin typeface="Cambria Math" panose="02040503050406030204" pitchFamily="18" charset="0"/>
                            <a:ea typeface="Source Sans Pro" panose="020B0503030403020204" pitchFamily="34" charset="0"/>
                          </a:rPr>
                        </m:ctrlPr>
                      </m:dPr>
                      <m:e>
                        <m:m>
                          <m:mPr>
                            <m:mcs>
                              <m:mc>
                                <m:mcPr>
                                  <m:count m:val="2"/>
                                  <m:mcJc m:val="center"/>
                                </m:mcPr>
                              </m:mc>
                            </m:mcs>
                            <m:ctrlPr>
                              <a:rPr lang="en-US" sz="2400" b="0" i="1" smtClean="0">
                                <a:latin typeface="Cambria Math" panose="02040503050406030204" pitchFamily="18" charset="0"/>
                                <a:ea typeface="Source Sans Pro" panose="020B0503030403020204" pitchFamily="34" charset="0"/>
                              </a:rPr>
                            </m:ctrlPr>
                          </m:mPr>
                          <m:mr>
                            <m:e>
                              <m:r>
                                <m:rPr>
                                  <m:brk m:alnAt="7"/>
                                </m:rPr>
                                <a:rPr lang="en-US" sz="2400" b="0" i="1" smtClean="0">
                                  <a:latin typeface="Cambria Math" panose="02040503050406030204" pitchFamily="18" charset="0"/>
                                  <a:ea typeface="Source Sans Pro" panose="020B0503030403020204" pitchFamily="34" charset="0"/>
                                </a:rPr>
                                <m:t>0</m:t>
                              </m:r>
                            </m:e>
                            <m:e>
                              <m:r>
                                <a:rPr lang="en-US" sz="2400" b="0" i="1" smtClean="0">
                                  <a:latin typeface="Cambria Math" panose="02040503050406030204" pitchFamily="18" charset="0"/>
                                  <a:ea typeface="Source Sans Pro" panose="020B0503030403020204" pitchFamily="34" charset="0"/>
                                </a:rPr>
                                <m:t>1</m:t>
                              </m:r>
                            </m:e>
                          </m:mr>
                          <m:mr>
                            <m:e>
                              <m:r>
                                <a:rPr lang="en-US" sz="2400" b="0" i="1" smtClean="0">
                                  <a:latin typeface="Cambria Math" panose="02040503050406030204" pitchFamily="18" charset="0"/>
                                  <a:ea typeface="Source Sans Pro" panose="020B0503030403020204" pitchFamily="34" charset="0"/>
                                </a:rPr>
                                <m:t>−</m:t>
                              </m:r>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Cambria Math" panose="02040503050406030204" pitchFamily="18" charset="0"/>
                                    </a:rPr>
                                    <m:t>𝜅</m:t>
                                  </m:r>
                                </m:e>
                                <m:sub>
                                  <m:r>
                                    <a:rPr lang="en-US" sz="2400" i="1">
                                      <a:latin typeface="Cambria Math" panose="02040503050406030204" pitchFamily="18" charset="0"/>
                                      <a:ea typeface="Source Sans Pro" panose="020B0503030403020204" pitchFamily="34" charset="0"/>
                                    </a:rPr>
                                    <m:t>𝑝</m:t>
                                  </m:r>
                                </m:sub>
                              </m:sSub>
                            </m:e>
                            <m:e>
                              <m:r>
                                <a:rPr lang="en-US" sz="2400" b="0" i="1" smtClean="0">
                                  <a:latin typeface="Cambria Math" panose="02040503050406030204" pitchFamily="18" charset="0"/>
                                  <a:ea typeface="Source Sans Pro" panose="020B0503030403020204" pitchFamily="34" charset="0"/>
                                </a:rPr>
                                <m:t>−</m:t>
                              </m:r>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Cambria Math" panose="02040503050406030204" pitchFamily="18" charset="0"/>
                                    </a:rPr>
                                    <m:t>𝑑</m:t>
                                  </m:r>
                                </m:sub>
                              </m:sSub>
                            </m:e>
                          </m:mr>
                        </m:m>
                      </m:e>
                    </m:d>
                    <m:r>
                      <a:rPr lang="en-US" sz="2400" b="0" i="1" smtClean="0">
                        <a:latin typeface="Cambria Math" panose="02040503050406030204" pitchFamily="18" charset="0"/>
                        <a:ea typeface="Source Sans Pro" panose="020B0503030403020204" pitchFamily="34" charset="0"/>
                      </a:rPr>
                      <m:t>𝑥</m:t>
                    </m:r>
                  </m:oMath>
                </a14:m>
                <a:br>
                  <a:rPr lang="en-US" sz="2400">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with eigenvalues </a:t>
                </a:r>
                <a14:m>
                  <m:oMath xmlns:m="http://schemas.openxmlformats.org/officeDocument/2006/math">
                    <m:r>
                      <a:rPr lang="en-US" sz="240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m:t>
                    </m:r>
                    <m:box>
                      <m:boxPr>
                        <m:ctrlPr>
                          <a:rPr lang="en-US" sz="2400" b="0" i="1" smtClean="0">
                            <a:latin typeface="Cambria Math" panose="02040503050406030204" pitchFamily="18" charset="0"/>
                            <a:ea typeface="Cambria Math" panose="02040503050406030204" pitchFamily="18" charset="0"/>
                          </a:rPr>
                        </m:ctrlPr>
                      </m:boxPr>
                      <m:e>
                        <m:argPr>
                          <m:argSz m:val="-1"/>
                        </m:argPr>
                        <m:f>
                          <m:fPr>
                            <m:ctrlPr>
                              <a:rPr lang="en-US" sz="2400" b="0" i="1" smtClean="0">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Cambria Math" panose="02040503050406030204" pitchFamily="18" charset="0"/>
                                  </a:rPr>
                                  <m:t>𝑑</m:t>
                                </m:r>
                              </m:sub>
                            </m:sSub>
                          </m:num>
                          <m:den>
                            <m:r>
                              <a:rPr lang="en-US" sz="2400" b="0" i="1" smtClean="0">
                                <a:latin typeface="Cambria Math" panose="02040503050406030204" pitchFamily="18" charset="0"/>
                                <a:ea typeface="Cambria Math" panose="02040503050406030204" pitchFamily="18" charset="0"/>
                              </a:rPr>
                              <m:t>2</m:t>
                            </m:r>
                          </m:den>
                        </m:f>
                      </m:e>
                    </m:box>
                    <m:r>
                      <a:rPr lang="en-US" sz="2400" b="0" i="1" smtClean="0">
                        <a:latin typeface="Cambria Math" panose="02040503050406030204" pitchFamily="18" charset="0"/>
                        <a:ea typeface="Cambria Math" panose="02040503050406030204" pitchFamily="18" charset="0"/>
                      </a:rPr>
                      <m:t>±</m:t>
                    </m:r>
                    <m:box>
                      <m:boxPr>
                        <m:ctrlPr>
                          <a:rPr lang="en-US" sz="2400" b="0" i="1" smtClean="0">
                            <a:latin typeface="Cambria Math" panose="02040503050406030204" pitchFamily="18" charset="0"/>
                            <a:ea typeface="Cambria Math" panose="02040503050406030204" pitchFamily="18" charset="0"/>
                          </a:rPr>
                        </m:ctrlPr>
                      </m:boxPr>
                      <m:e>
                        <m:argPr>
                          <m:argSz m:val="-1"/>
                        </m:argP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2</m:t>
                            </m:r>
                          </m:den>
                        </m:f>
                      </m:e>
                    </m:box>
                    <m:rad>
                      <m:radPr>
                        <m:degHide m:val="on"/>
                        <m:ctrlPr>
                          <a:rPr lang="en-US" sz="2400" b="0" i="1" smtClean="0">
                            <a:latin typeface="Cambria Math" panose="02040503050406030204" pitchFamily="18" charset="0"/>
                            <a:ea typeface="Cambria Math" panose="02040503050406030204" pitchFamily="18" charset="0"/>
                          </a:rPr>
                        </m:ctrlPr>
                      </m:radPr>
                      <m:deg/>
                      <m:e>
                        <m:sSup>
                          <m:sSupPr>
                            <m:ctrlPr>
                              <a:rPr lang="en-US" sz="2400" b="0" i="1" smtClean="0">
                                <a:latin typeface="Cambria Math" panose="02040503050406030204" pitchFamily="18" charset="0"/>
                                <a:ea typeface="Cambria Math" panose="02040503050406030204" pitchFamily="18" charset="0"/>
                              </a:rPr>
                            </m:ctrlPr>
                          </m:sSupPr>
                          <m:e>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Cambria Math" panose="02040503050406030204" pitchFamily="18" charset="0"/>
                                  </a:rPr>
                                  <m:t>𝑑</m:t>
                                </m:r>
                              </m:sub>
                            </m:sSub>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−4</m:t>
                        </m:r>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Cambria Math" panose="02040503050406030204" pitchFamily="18" charset="0"/>
                              </a:rPr>
                              <m:t>𝜅</m:t>
                            </m:r>
                          </m:e>
                          <m:sub>
                            <m:r>
                              <a:rPr lang="en-US" sz="2400" i="1">
                                <a:latin typeface="Cambria Math" panose="02040503050406030204" pitchFamily="18" charset="0"/>
                                <a:ea typeface="Source Sans Pro" panose="020B0503030403020204" pitchFamily="34" charset="0"/>
                              </a:rPr>
                              <m:t>𝑝</m:t>
                            </m:r>
                          </m:sub>
                        </m:sSub>
                      </m:e>
                    </m:rad>
                  </m:oMath>
                </a14:m>
                <a:r>
                  <a:rPr lang="en-US" sz="2400">
                    <a:latin typeface="Source Sans Pro" panose="020B0503030403020204" pitchFamily="34" charset="0"/>
                    <a:ea typeface="Source Sans Pro" panose="020B0503030403020204" pitchFamily="34" charset="0"/>
                  </a:rPr>
                  <a:t>. If </a:t>
                </a:r>
                <a14:m>
                  <m:oMath xmlns:m="http://schemas.openxmlformats.org/officeDocument/2006/math">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Cambria Math" panose="02040503050406030204" pitchFamily="18" charset="0"/>
                          </a:rPr>
                          <m:t>𝜅</m:t>
                        </m:r>
                      </m:e>
                      <m:sub>
                        <m:r>
                          <a:rPr lang="en-US" sz="2400" i="1">
                            <a:latin typeface="Cambria Math" panose="02040503050406030204" pitchFamily="18" charset="0"/>
                            <a:ea typeface="Source Sans Pro" panose="020B0503030403020204" pitchFamily="34" charset="0"/>
                          </a:rPr>
                          <m:t>𝑝</m:t>
                        </m:r>
                      </m:sub>
                    </m:sSub>
                    <m:r>
                      <a:rPr lang="en-US" sz="2400" b="0" i="1" smtClean="0">
                        <a:latin typeface="Cambria Math" panose="02040503050406030204" pitchFamily="18" charset="0"/>
                        <a:ea typeface="Cambria Math" panose="02040503050406030204" pitchFamily="18" charset="0"/>
                      </a:rPr>
                      <m:t>&gt;0</m:t>
                    </m:r>
                  </m:oMath>
                </a14:m>
                <a:r>
                  <a:rPr lang="en-US" sz="2400">
                    <a:latin typeface="Source Sans Pro" panose="020B0503030403020204" pitchFamily="34" charset="0"/>
                    <a:ea typeface="Source Sans Pro" panose="020B0503030403020204" pitchFamily="34" charset="0"/>
                  </a:rPr>
                  <a:t> and </a:t>
                </a:r>
                <a14:m>
                  <m:oMath xmlns:m="http://schemas.openxmlformats.org/officeDocument/2006/math">
                    <m:sSub>
                      <m:sSubPr>
                        <m:ctrlPr>
                          <a:rPr lang="en-US" sz="2400" i="1" smtClean="0">
                            <a:latin typeface="Cambria Math" panose="02040503050406030204" pitchFamily="18" charset="0"/>
                            <a:ea typeface="Source Sans Pro" panose="020B0503030403020204" pitchFamily="34" charset="0"/>
                          </a:rPr>
                        </m:ctrlPr>
                      </m:sSubPr>
                      <m:e>
                        <m:r>
                          <a:rPr lang="en-US" sz="2400" i="1" smtClean="0">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Source Sans Pro" panose="020B0503030403020204" pitchFamily="34" charset="0"/>
                          </a:rPr>
                          <m:t>𝑑</m:t>
                        </m:r>
                      </m:sub>
                    </m:sSub>
                    <m:r>
                      <a:rPr lang="en-US" sz="2400" b="0" i="1" smtClean="0">
                        <a:latin typeface="Cambria Math" panose="02040503050406030204" pitchFamily="18" charset="0"/>
                        <a:ea typeface="Source Sans Pro" panose="020B0503030403020204" pitchFamily="34" charset="0"/>
                      </a:rPr>
                      <m:t>&gt;0</m:t>
                    </m:r>
                  </m:oMath>
                </a14:m>
                <a:r>
                  <a:rPr lang="en-US" sz="2400">
                    <a:latin typeface="Source Sans Pro" panose="020B0503030403020204" pitchFamily="34" charset="0"/>
                    <a:ea typeface="Source Sans Pro" panose="020B0503030403020204" pitchFamily="34" charset="0"/>
                  </a:rPr>
                  <a:t>, then</a:t>
                </a:r>
                <a:br>
                  <a:rPr lang="en-US" sz="2400">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 </a:t>
                </a:r>
                <a14:m>
                  <m:oMath xmlns:m="http://schemas.openxmlformats.org/officeDocument/2006/math">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Real</m:t>
                        </m:r>
                      </m:fName>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r>
                          <a:rPr lang="en-US" sz="2400" i="1">
                            <a:latin typeface="Cambria Math" panose="02040503050406030204" pitchFamily="18" charset="0"/>
                            <a:ea typeface="Cambria Math" panose="02040503050406030204" pitchFamily="18" charset="0"/>
                          </a:rPr>
                          <m:t>)</m:t>
                        </m:r>
                      </m:e>
                    </m:func>
                    <m:r>
                      <a:rPr lang="en-US" sz="2400" i="1">
                        <a:latin typeface="Cambria Math" panose="02040503050406030204" pitchFamily="18" charset="0"/>
                        <a:ea typeface="Cambria Math" panose="02040503050406030204" pitchFamily="18" charset="0"/>
                      </a:rPr>
                      <m:t>&lt;0</m:t>
                    </m:r>
                  </m:oMath>
                </a14:m>
                <a:r>
                  <a:rPr lang="en-US" sz="2400">
                    <a:latin typeface="Source Sans Pro" panose="020B0503030403020204" pitchFamily="34" charset="0"/>
                    <a:ea typeface="Source Sans Pro" panose="020B0503030403020204" pitchFamily="34" charset="0"/>
                  </a:rPr>
                  <a:t> for each eigenvalue , so the cart converges to a stand-still at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𝑠</m:t>
                    </m:r>
                    <m:r>
                      <a:rPr lang="en-US" sz="2400" b="0" i="1" smtClean="0">
                        <a:latin typeface="Cambria Math" panose="02040503050406030204" pitchFamily="18" charset="0"/>
                        <a:ea typeface="Source Sans Pro" panose="020B0503030403020204" pitchFamily="34" charset="0"/>
                      </a:rPr>
                      <m:t>=0</m:t>
                    </m:r>
                  </m:oMath>
                </a14:m>
                <a:endParaRPr lang="en-US" sz="2400" b="0">
                  <a:latin typeface="Source Sans Pro" panose="020B0503030403020204" pitchFamily="34" charset="0"/>
                  <a:ea typeface="Source Sans Pro" panose="020B0503030403020204" pitchFamily="34" charset="0"/>
                </a:endParaRPr>
              </a:p>
              <a:p>
                <a:pPr>
                  <a:lnSpc>
                    <a:spcPct val="100000"/>
                  </a:lnSpc>
                  <a:spcBef>
                    <a:spcPts val="400"/>
                  </a:spcBef>
                  <a:spcAft>
                    <a:spcPts val="1400"/>
                  </a:spcAft>
                </a:pPr>
                <a:r>
                  <a:rPr lang="en-US" sz="2400">
                    <a:latin typeface="Source Sans Pro" panose="020B0503030403020204" pitchFamily="34" charset="0"/>
                    <a:ea typeface="Source Sans Pro" panose="020B0503030403020204" pitchFamily="34" charset="0"/>
                  </a:rPr>
                  <a:t>This is nice, can we use linear control tools if the system is non-linear?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0515600" cy="4351338"/>
              </a:xfrm>
              <a:blipFill>
                <a:blip r:embed="rId3"/>
                <a:stretch>
                  <a:fillRect l="-724" t="-13663" b="-10465"/>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E7582314-DE07-9951-26D2-212FC7AB7B81}"/>
              </a:ext>
            </a:extLst>
          </p:cNvPr>
          <p:cNvGrpSpPr/>
          <p:nvPr/>
        </p:nvGrpSpPr>
        <p:grpSpPr>
          <a:xfrm>
            <a:off x="6255732" y="2283482"/>
            <a:ext cx="5003800" cy="1717812"/>
            <a:chOff x="6096000" y="1781505"/>
            <a:chExt cx="5003800" cy="1717812"/>
          </a:xfrm>
        </p:grpSpPr>
        <p:pic>
          <p:nvPicPr>
            <p:cNvPr id="8" name="Picture 7" descr="A diagram of a car on a log&#10;&#10;Description automatically generated">
              <a:extLst>
                <a:ext uri="{FF2B5EF4-FFF2-40B4-BE49-F238E27FC236}">
                  <a16:creationId xmlns:a16="http://schemas.microsoft.com/office/drawing/2014/main" id="{523CDCD2-306C-72C5-9F74-9825CA70ED4C}"/>
                </a:ext>
              </a:extLst>
            </p:cNvPr>
            <p:cNvPicPr>
              <a:picLocks noChangeAspect="1"/>
            </p:cNvPicPr>
            <p:nvPr/>
          </p:nvPicPr>
          <p:blipFill>
            <a:blip r:embed="rId4"/>
            <a:stretch>
              <a:fillRect/>
            </a:stretch>
          </p:blipFill>
          <p:spPr>
            <a:xfrm>
              <a:off x="6096000" y="1825625"/>
              <a:ext cx="5003800" cy="13589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3A75FD-3CC7-0E09-065E-229EA6159626}"/>
                    </a:ext>
                  </a:extLst>
                </p:cNvPr>
                <p:cNvSpPr txBox="1"/>
                <p:nvPr/>
              </p:nvSpPr>
              <p:spPr>
                <a:xfrm>
                  <a:off x="7429500" y="2976097"/>
                  <a:ext cx="43890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𝑠</m:t>
                        </m:r>
                      </m:oMath>
                    </m:oMathPara>
                  </a14:m>
                  <a:endParaRPr lang="en-US" sz="2800"/>
                </a:p>
              </p:txBody>
            </p:sp>
          </mc:Choice>
          <mc:Fallback xmlns="">
            <p:sp>
              <p:nvSpPr>
                <p:cNvPr id="9" name="TextBox 8">
                  <a:extLst>
                    <a:ext uri="{FF2B5EF4-FFF2-40B4-BE49-F238E27FC236}">
                      <a16:creationId xmlns:a16="http://schemas.microsoft.com/office/drawing/2014/main" id="{DE3A75FD-3CC7-0E09-065E-229EA6159626}"/>
                    </a:ext>
                  </a:extLst>
                </p:cNvPr>
                <p:cNvSpPr txBox="1">
                  <a:spLocks noRot="1" noChangeAspect="1" noMove="1" noResize="1" noEditPoints="1" noAdjustHandles="1" noChangeArrowheads="1" noChangeShapeType="1" noTextEdit="1"/>
                </p:cNvSpPr>
                <p:nvPr/>
              </p:nvSpPr>
              <p:spPr>
                <a:xfrm>
                  <a:off x="7429500" y="2976097"/>
                  <a:ext cx="43890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CF7058-F534-A2A1-05CB-85216CFD3067}"/>
                    </a:ext>
                  </a:extLst>
                </p:cNvPr>
                <p:cNvSpPr txBox="1"/>
                <p:nvPr/>
              </p:nvSpPr>
              <p:spPr>
                <a:xfrm>
                  <a:off x="8443677" y="1781505"/>
                  <a:ext cx="57393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𝑚</m:t>
                        </m:r>
                      </m:oMath>
                    </m:oMathPara>
                  </a14:m>
                  <a:endParaRPr lang="en-US" sz="2800"/>
                </a:p>
              </p:txBody>
            </p:sp>
          </mc:Choice>
          <mc:Fallback xmlns="">
            <p:sp>
              <p:nvSpPr>
                <p:cNvPr id="11" name="TextBox 10">
                  <a:extLst>
                    <a:ext uri="{FF2B5EF4-FFF2-40B4-BE49-F238E27FC236}">
                      <a16:creationId xmlns:a16="http://schemas.microsoft.com/office/drawing/2014/main" id="{05CF7058-F534-A2A1-05CB-85216CFD3067}"/>
                    </a:ext>
                  </a:extLst>
                </p:cNvPr>
                <p:cNvSpPr txBox="1">
                  <a:spLocks noRot="1" noChangeAspect="1" noMove="1" noResize="1" noEditPoints="1" noAdjustHandles="1" noChangeArrowheads="1" noChangeShapeType="1" noTextEdit="1"/>
                </p:cNvSpPr>
                <p:nvPr/>
              </p:nvSpPr>
              <p:spPr>
                <a:xfrm>
                  <a:off x="8443677" y="1781505"/>
                  <a:ext cx="573939"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0937846-4729-0393-CC97-28251A8D8A0F}"/>
                    </a:ext>
                  </a:extLst>
                </p:cNvPr>
                <p:cNvSpPr txBox="1"/>
                <p:nvPr/>
              </p:nvSpPr>
              <p:spPr>
                <a:xfrm>
                  <a:off x="7634841" y="2150785"/>
                  <a:ext cx="50007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𝐹</m:t>
                        </m:r>
                      </m:oMath>
                    </m:oMathPara>
                  </a14:m>
                  <a:endParaRPr lang="en-US" sz="2800"/>
                </a:p>
              </p:txBody>
            </p:sp>
          </mc:Choice>
          <mc:Fallback xmlns="">
            <p:sp>
              <p:nvSpPr>
                <p:cNvPr id="12" name="TextBox 11">
                  <a:extLst>
                    <a:ext uri="{FF2B5EF4-FFF2-40B4-BE49-F238E27FC236}">
                      <a16:creationId xmlns:a16="http://schemas.microsoft.com/office/drawing/2014/main" id="{B0937846-4729-0393-CC97-28251A8D8A0F}"/>
                    </a:ext>
                  </a:extLst>
                </p:cNvPr>
                <p:cNvSpPr txBox="1">
                  <a:spLocks noRot="1" noChangeAspect="1" noMove="1" noResize="1" noEditPoints="1" noAdjustHandles="1" noChangeArrowheads="1" noChangeShapeType="1" noTextEdit="1"/>
                </p:cNvSpPr>
                <p:nvPr/>
              </p:nvSpPr>
              <p:spPr>
                <a:xfrm>
                  <a:off x="7634841" y="2150785"/>
                  <a:ext cx="500072" cy="523220"/>
                </a:xfrm>
                <a:prstGeom prst="rect">
                  <a:avLst/>
                </a:prstGeom>
                <a:blipFill>
                  <a:blip r:embed="rId7"/>
                  <a:stretch>
                    <a:fillRect/>
                  </a:stretch>
                </a:blipFill>
              </p:spPr>
              <p:txBody>
                <a:bodyPr/>
                <a:lstStyle/>
                <a:p>
                  <a:r>
                    <a:rPr lang="en-US">
                      <a:noFill/>
                    </a:rPr>
                    <a:t> </a:t>
                  </a:r>
                </a:p>
              </p:txBody>
            </p:sp>
          </mc:Fallback>
        </mc:AlternateContent>
      </p:grpSp>
      <p:sp>
        <p:nvSpPr>
          <p:cNvPr id="4" name="Footer Placeholder 3">
            <a:extLst>
              <a:ext uri="{FF2B5EF4-FFF2-40B4-BE49-F238E27FC236}">
                <a16:creationId xmlns:a16="http://schemas.microsoft.com/office/drawing/2014/main" id="{72441335-5FC1-982A-5E74-68CB77ECFD21}"/>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E63D1209-56D1-A8DE-2928-F8E6F9480A12}"/>
              </a:ext>
            </a:extLst>
          </p:cNvPr>
          <p:cNvSpPr>
            <a:spLocks noGrp="1"/>
          </p:cNvSpPr>
          <p:nvPr>
            <p:ph type="dt" sz="half" idx="10"/>
          </p:nvPr>
        </p:nvSpPr>
        <p:spPr/>
        <p:txBody>
          <a:bodyPr/>
          <a:lstStyle/>
          <a:p>
            <a:fld id="{F78B19DA-FA2E-0546-AC12-D718A4408493}" type="datetime1">
              <a:rPr lang="en-US" smtClean="0"/>
              <a:t>12/20/2025</a:t>
            </a:fld>
            <a:endParaRPr lang="en-US"/>
          </a:p>
        </p:txBody>
      </p:sp>
      <p:sp>
        <p:nvSpPr>
          <p:cNvPr id="6" name="Slide Number Placeholder 5">
            <a:extLst>
              <a:ext uri="{FF2B5EF4-FFF2-40B4-BE49-F238E27FC236}">
                <a16:creationId xmlns:a16="http://schemas.microsoft.com/office/drawing/2014/main" id="{09C44AAF-1536-2292-0B4C-9290E50A91C1}"/>
              </a:ext>
            </a:extLst>
          </p:cNvPr>
          <p:cNvSpPr>
            <a:spLocks noGrp="1"/>
          </p:cNvSpPr>
          <p:nvPr>
            <p:ph type="sldNum" sz="quarter" idx="12"/>
          </p:nvPr>
        </p:nvSpPr>
        <p:spPr/>
        <p:txBody>
          <a:bodyPr/>
          <a:lstStyle/>
          <a:p>
            <a:fld id="{8AA1F273-EF2F-3941-BBF8-D365CB27DD6A}" type="slidenum">
              <a:rPr lang="en-US" smtClean="0"/>
              <a:t>14</a:t>
            </a:fld>
            <a:endParaRPr lang="en-US"/>
          </a:p>
        </p:txBody>
      </p:sp>
    </p:spTree>
    <p:extLst>
      <p:ext uri="{BB962C8B-B14F-4D97-AF65-F5344CB8AC3E}">
        <p14:creationId xmlns:p14="http://schemas.microsoft.com/office/powerpoint/2010/main" val="21137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0ADF8-1F5F-5DD9-1BA4-CD66C144F3F8}"/>
              </a:ext>
            </a:extLst>
          </p:cNvPr>
          <p:cNvSpPr>
            <a:spLocks noGrp="1"/>
          </p:cNvSpPr>
          <p:nvPr>
            <p:ph type="title"/>
          </p:nvPr>
        </p:nvSpPr>
        <p:spPr/>
        <p:txBody>
          <a:bodyPr/>
          <a:lstStyle/>
          <a:p>
            <a:r>
              <a:rPr lang="en-US"/>
              <a:t>Linearization</a:t>
            </a:r>
          </a:p>
        </p:txBody>
      </p:sp>
      <p:grpSp>
        <p:nvGrpSpPr>
          <p:cNvPr id="83" name="Group 82">
            <a:extLst>
              <a:ext uri="{FF2B5EF4-FFF2-40B4-BE49-F238E27FC236}">
                <a16:creationId xmlns:a16="http://schemas.microsoft.com/office/drawing/2014/main" id="{E6FA8678-2EBB-942D-480A-B539DB66F58A}"/>
              </a:ext>
            </a:extLst>
          </p:cNvPr>
          <p:cNvGrpSpPr/>
          <p:nvPr/>
        </p:nvGrpSpPr>
        <p:grpSpPr>
          <a:xfrm>
            <a:off x="5288544" y="1586752"/>
            <a:ext cx="6884505" cy="4359746"/>
            <a:chOff x="3849143" y="1447156"/>
            <a:chExt cx="6884505" cy="4359746"/>
          </a:xfrm>
        </p:grpSpPr>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F940F595-5ED9-11C3-AA6B-4DF3BB574E4B}"/>
                    </a:ext>
                  </a:extLst>
                </p:cNvPr>
                <p:cNvSpPr txBox="1"/>
                <p:nvPr/>
              </p:nvSpPr>
              <p:spPr>
                <a:xfrm>
                  <a:off x="5709400" y="2115029"/>
                  <a:ext cx="5024248" cy="45794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1"/>
                            </a:solidFill>
                            <a:latin typeface="Cambria Math" panose="02040503050406030204" pitchFamily="18" charset="0"/>
                          </a:rPr>
                          <m:t>𝑓</m:t>
                        </m:r>
                        <m:r>
                          <a:rPr lang="en-US" sz="2400" b="0" i="1" smtClean="0">
                            <a:solidFill>
                              <a:schemeClr val="accent1"/>
                            </a:solidFill>
                            <a:latin typeface="Cambria Math" panose="02040503050406030204" pitchFamily="18" charset="0"/>
                          </a:rPr>
                          <m:t>(</m:t>
                        </m:r>
                        <m:r>
                          <a:rPr lang="en-US" sz="2400" b="0" i="1" smtClean="0">
                            <a:solidFill>
                              <a:schemeClr val="accent1"/>
                            </a:solidFill>
                            <a:latin typeface="Cambria Math" panose="02040503050406030204" pitchFamily="18" charset="0"/>
                          </a:rPr>
                          <m:t>𝑥</m:t>
                        </m:r>
                        <m:r>
                          <a:rPr lang="en-US" sz="2400" b="0" i="1" smtClean="0">
                            <a:solidFill>
                              <a:schemeClr val="accent1"/>
                            </a:solidFill>
                            <a:latin typeface="Cambria Math" panose="02040503050406030204" pitchFamily="18" charset="0"/>
                          </a:rPr>
                          <m:t>)≈</m:t>
                        </m:r>
                        <m:r>
                          <a:rPr lang="en-US" sz="2400" b="0" i="1" smtClean="0">
                            <a:solidFill>
                              <a:schemeClr val="accent1"/>
                            </a:solidFill>
                            <a:latin typeface="Cambria Math" panose="02040503050406030204" pitchFamily="18" charset="0"/>
                          </a:rPr>
                          <m:t>𝑓</m:t>
                        </m:r>
                        <m:d>
                          <m:dPr>
                            <m:ctrlPr>
                              <a:rPr lang="en-US" sz="2400" i="1">
                                <a:solidFill>
                                  <a:schemeClr val="accent1"/>
                                </a:solidFill>
                                <a:latin typeface="Cambria Math" panose="02040503050406030204" pitchFamily="18" charset="0"/>
                              </a:rPr>
                            </m:ctrlPr>
                          </m:dPr>
                          <m:e>
                            <m:sSup>
                              <m:sSupPr>
                                <m:ctrlPr>
                                  <a:rPr lang="en-US" sz="2400" i="1">
                                    <a:solidFill>
                                      <a:schemeClr val="accent1"/>
                                    </a:solidFill>
                                    <a:latin typeface="Cambria Math" panose="02040503050406030204" pitchFamily="18" charset="0"/>
                                  </a:rPr>
                                </m:ctrlPr>
                              </m:sSupPr>
                              <m:e>
                                <m:acc>
                                  <m:accPr>
                                    <m:chr m:val="̅"/>
                                    <m:ctrlPr>
                                      <a:rPr lang="en-US" sz="2400" i="1">
                                        <a:solidFill>
                                          <a:schemeClr val="accent1"/>
                                        </a:solidFill>
                                        <a:latin typeface="Cambria Math" panose="02040503050406030204" pitchFamily="18" charset="0"/>
                                      </a:rPr>
                                    </m:ctrlPr>
                                  </m:accPr>
                                  <m:e>
                                    <m:r>
                                      <a:rPr lang="en-US" sz="2400" i="1">
                                        <a:solidFill>
                                          <a:schemeClr val="accent1"/>
                                        </a:solidFill>
                                        <a:latin typeface="Cambria Math" panose="02040503050406030204" pitchFamily="18" charset="0"/>
                                      </a:rPr>
                                      <m:t>𝑥</m:t>
                                    </m:r>
                                  </m:e>
                                </m:acc>
                              </m:e>
                              <m:sup>
                                <m:d>
                                  <m:dPr>
                                    <m:ctrlPr>
                                      <a:rPr lang="en-US" sz="2400" i="1">
                                        <a:solidFill>
                                          <a:schemeClr val="accent1"/>
                                        </a:solidFill>
                                        <a:latin typeface="Cambria Math" panose="02040503050406030204" pitchFamily="18" charset="0"/>
                                      </a:rPr>
                                    </m:ctrlPr>
                                  </m:dPr>
                                  <m:e>
                                    <m:r>
                                      <a:rPr lang="en-US" sz="2400" i="1">
                                        <a:solidFill>
                                          <a:schemeClr val="accent1"/>
                                        </a:solidFill>
                                        <a:latin typeface="Cambria Math" panose="02040503050406030204" pitchFamily="18" charset="0"/>
                                      </a:rPr>
                                      <m:t>2</m:t>
                                    </m:r>
                                  </m:e>
                                </m:d>
                              </m:sup>
                            </m:sSup>
                          </m:e>
                        </m:d>
                        <m:r>
                          <a:rPr lang="en-US" sz="2400" b="0" i="1" smtClean="0">
                            <a:solidFill>
                              <a:schemeClr val="accent1"/>
                            </a:solidFill>
                            <a:latin typeface="Cambria Math" panose="02040503050406030204" pitchFamily="18" charset="0"/>
                          </a:rPr>
                          <m:t>+</m:t>
                        </m:r>
                        <m:box>
                          <m:boxPr>
                            <m:ctrlPr>
                              <a:rPr lang="en-US" sz="2400" b="0" i="1" smtClean="0">
                                <a:solidFill>
                                  <a:schemeClr val="accent1"/>
                                </a:solidFill>
                                <a:latin typeface="Cambria Math" panose="02040503050406030204" pitchFamily="18" charset="0"/>
                              </a:rPr>
                            </m:ctrlPr>
                          </m:boxPr>
                          <m:e>
                            <m:argPr>
                              <m:argSz m:val="-1"/>
                            </m:argPr>
                            <m:f>
                              <m:fPr>
                                <m:ctrlPr>
                                  <a:rPr lang="en-US" sz="2400" b="0" i="1" smtClean="0">
                                    <a:solidFill>
                                      <a:schemeClr val="accent1"/>
                                    </a:solidFill>
                                    <a:latin typeface="Cambria Math" panose="02040503050406030204" pitchFamily="18" charset="0"/>
                                  </a:rPr>
                                </m:ctrlPr>
                              </m:fPr>
                              <m:num>
                                <m:r>
                                  <a:rPr lang="en-US" sz="2400" b="0" i="1" smtClean="0">
                                    <a:solidFill>
                                      <a:schemeClr val="accent1"/>
                                    </a:solidFill>
                                    <a:latin typeface="Cambria Math" panose="02040503050406030204" pitchFamily="18" charset="0"/>
                                    <a:ea typeface="Cambria Math" panose="02040503050406030204" pitchFamily="18" charset="0"/>
                                  </a:rPr>
                                  <m:t>𝜕</m:t>
                                </m:r>
                                <m:r>
                                  <a:rPr lang="en-US" sz="2400" b="0" i="1" smtClean="0">
                                    <a:solidFill>
                                      <a:schemeClr val="accent1"/>
                                    </a:solidFill>
                                    <a:latin typeface="Cambria Math" panose="02040503050406030204" pitchFamily="18" charset="0"/>
                                    <a:ea typeface="Cambria Math" panose="02040503050406030204" pitchFamily="18" charset="0"/>
                                  </a:rPr>
                                  <m:t>𝑓</m:t>
                                </m:r>
                              </m:num>
                              <m:den>
                                <m:r>
                                  <a:rPr lang="en-US" sz="2400" b="0" i="1" smtClean="0">
                                    <a:solidFill>
                                      <a:schemeClr val="accent1"/>
                                    </a:solidFill>
                                    <a:latin typeface="Cambria Math" panose="02040503050406030204" pitchFamily="18" charset="0"/>
                                    <a:ea typeface="Cambria Math" panose="02040503050406030204" pitchFamily="18" charset="0"/>
                                  </a:rPr>
                                  <m:t>𝜕</m:t>
                                </m:r>
                                <m:r>
                                  <a:rPr lang="en-US" sz="2400" b="0" i="1" smtClean="0">
                                    <a:solidFill>
                                      <a:schemeClr val="accent1"/>
                                    </a:solidFill>
                                    <a:latin typeface="Cambria Math" panose="02040503050406030204" pitchFamily="18" charset="0"/>
                                    <a:ea typeface="Cambria Math" panose="02040503050406030204" pitchFamily="18" charset="0"/>
                                  </a:rPr>
                                  <m:t>𝑥</m:t>
                                </m:r>
                              </m:den>
                            </m:f>
                          </m:e>
                        </m:box>
                        <m:d>
                          <m:dPr>
                            <m:ctrlPr>
                              <a:rPr lang="en-US" sz="2400" b="0" i="1" smtClean="0">
                                <a:solidFill>
                                  <a:schemeClr val="accent1"/>
                                </a:solidFill>
                                <a:latin typeface="Cambria Math" panose="02040503050406030204" pitchFamily="18" charset="0"/>
                              </a:rPr>
                            </m:ctrlPr>
                          </m:dPr>
                          <m:e>
                            <m:sSup>
                              <m:sSupPr>
                                <m:ctrlPr>
                                  <a:rPr lang="en-US" sz="2400" b="0" i="1" smtClean="0">
                                    <a:solidFill>
                                      <a:schemeClr val="accent1"/>
                                    </a:solidFill>
                                    <a:latin typeface="Cambria Math" panose="02040503050406030204" pitchFamily="18" charset="0"/>
                                  </a:rPr>
                                </m:ctrlPr>
                              </m:sSupPr>
                              <m:e>
                                <m:acc>
                                  <m:accPr>
                                    <m:chr m:val="̅"/>
                                    <m:ctrlPr>
                                      <a:rPr lang="en-US" sz="2400" i="1">
                                        <a:solidFill>
                                          <a:schemeClr val="accent1"/>
                                        </a:solidFill>
                                        <a:latin typeface="Cambria Math" panose="02040503050406030204" pitchFamily="18" charset="0"/>
                                      </a:rPr>
                                    </m:ctrlPr>
                                  </m:accPr>
                                  <m:e>
                                    <m:r>
                                      <a:rPr lang="en-US" sz="2400" i="1">
                                        <a:solidFill>
                                          <a:schemeClr val="accent1"/>
                                        </a:solidFill>
                                        <a:latin typeface="Cambria Math" panose="02040503050406030204" pitchFamily="18" charset="0"/>
                                      </a:rPr>
                                      <m:t>𝑥</m:t>
                                    </m:r>
                                  </m:e>
                                </m:acc>
                              </m:e>
                              <m:sup>
                                <m:d>
                                  <m:dPr>
                                    <m:ctrlPr>
                                      <a:rPr lang="en-US" sz="2400" b="0" i="1" smtClean="0">
                                        <a:solidFill>
                                          <a:schemeClr val="accent1"/>
                                        </a:solidFill>
                                        <a:latin typeface="Cambria Math" panose="02040503050406030204" pitchFamily="18" charset="0"/>
                                      </a:rPr>
                                    </m:ctrlPr>
                                  </m:dPr>
                                  <m:e>
                                    <m:r>
                                      <a:rPr lang="en-US" sz="2400" b="0" i="1" smtClean="0">
                                        <a:solidFill>
                                          <a:schemeClr val="accent1"/>
                                        </a:solidFill>
                                        <a:latin typeface="Cambria Math" panose="02040503050406030204" pitchFamily="18" charset="0"/>
                                      </a:rPr>
                                      <m:t>2</m:t>
                                    </m:r>
                                  </m:e>
                                </m:d>
                              </m:sup>
                            </m:sSup>
                          </m:e>
                        </m:d>
                        <m:d>
                          <m:dPr>
                            <m:ctrlPr>
                              <a:rPr lang="en-US" sz="2400" b="0" i="1" smtClean="0">
                                <a:solidFill>
                                  <a:schemeClr val="accent1"/>
                                </a:solidFill>
                                <a:latin typeface="Cambria Math" panose="02040503050406030204" pitchFamily="18" charset="0"/>
                              </a:rPr>
                            </m:ctrlPr>
                          </m:dPr>
                          <m:e>
                            <m:r>
                              <a:rPr lang="en-US" sz="2400" b="0" i="1" smtClean="0">
                                <a:solidFill>
                                  <a:schemeClr val="accent1"/>
                                </a:solidFill>
                                <a:latin typeface="Cambria Math" panose="02040503050406030204" pitchFamily="18" charset="0"/>
                              </a:rPr>
                              <m:t>𝑥</m:t>
                            </m:r>
                            <m:r>
                              <a:rPr lang="en-US" sz="2400" b="0" i="1" smtClean="0">
                                <a:solidFill>
                                  <a:schemeClr val="accent1"/>
                                </a:solidFill>
                                <a:latin typeface="Cambria Math" panose="02040503050406030204" pitchFamily="18" charset="0"/>
                              </a:rPr>
                              <m:t>−</m:t>
                            </m:r>
                            <m:sSup>
                              <m:sSupPr>
                                <m:ctrlPr>
                                  <a:rPr lang="en-US" sz="2400" b="0" i="1" smtClean="0">
                                    <a:solidFill>
                                      <a:schemeClr val="accent1"/>
                                    </a:solidFill>
                                    <a:latin typeface="Cambria Math" panose="02040503050406030204" pitchFamily="18" charset="0"/>
                                  </a:rPr>
                                </m:ctrlPr>
                              </m:sSupPr>
                              <m:e>
                                <m:acc>
                                  <m:accPr>
                                    <m:chr m:val="̅"/>
                                    <m:ctrlPr>
                                      <a:rPr lang="en-US" sz="2400" i="1">
                                        <a:solidFill>
                                          <a:schemeClr val="accent1"/>
                                        </a:solidFill>
                                        <a:latin typeface="Cambria Math" panose="02040503050406030204" pitchFamily="18" charset="0"/>
                                      </a:rPr>
                                    </m:ctrlPr>
                                  </m:accPr>
                                  <m:e>
                                    <m:r>
                                      <a:rPr lang="en-US" sz="2400" i="1">
                                        <a:solidFill>
                                          <a:schemeClr val="accent1"/>
                                        </a:solidFill>
                                        <a:latin typeface="Cambria Math" panose="02040503050406030204" pitchFamily="18" charset="0"/>
                                      </a:rPr>
                                      <m:t>𝑥</m:t>
                                    </m:r>
                                  </m:e>
                                </m:acc>
                              </m:e>
                              <m:sup>
                                <m:d>
                                  <m:dPr>
                                    <m:ctrlPr>
                                      <a:rPr lang="en-US" sz="2400" b="0" i="1" smtClean="0">
                                        <a:solidFill>
                                          <a:schemeClr val="accent1"/>
                                        </a:solidFill>
                                        <a:latin typeface="Cambria Math" panose="02040503050406030204" pitchFamily="18" charset="0"/>
                                      </a:rPr>
                                    </m:ctrlPr>
                                  </m:dPr>
                                  <m:e>
                                    <m:r>
                                      <a:rPr lang="en-US" sz="2400" b="0" i="1" smtClean="0">
                                        <a:solidFill>
                                          <a:schemeClr val="accent1"/>
                                        </a:solidFill>
                                        <a:latin typeface="Cambria Math" panose="02040503050406030204" pitchFamily="18" charset="0"/>
                                      </a:rPr>
                                      <m:t>2</m:t>
                                    </m:r>
                                  </m:e>
                                </m:d>
                              </m:sup>
                            </m:sSup>
                          </m:e>
                        </m:d>
                      </m:oMath>
                    </m:oMathPara>
                  </a14:m>
                  <a:endParaRPr lang="en-US" sz="2400">
                    <a:solidFill>
                      <a:schemeClr val="accent1"/>
                    </a:solidFill>
                  </a:endParaRPr>
                </a:p>
              </p:txBody>
            </p:sp>
          </mc:Choice>
          <mc:Fallback xmlns="">
            <p:sp>
              <p:nvSpPr>
                <p:cNvPr id="65" name="TextBox 64">
                  <a:extLst>
                    <a:ext uri="{FF2B5EF4-FFF2-40B4-BE49-F238E27FC236}">
                      <a16:creationId xmlns:a16="http://schemas.microsoft.com/office/drawing/2014/main" id="{F940F595-5ED9-11C3-AA6B-4DF3BB574E4B}"/>
                    </a:ext>
                  </a:extLst>
                </p:cNvPr>
                <p:cNvSpPr txBox="1">
                  <a:spLocks noRot="1" noChangeAspect="1" noMove="1" noResize="1" noEditPoints="1" noAdjustHandles="1" noChangeArrowheads="1" noChangeShapeType="1" noTextEdit="1"/>
                </p:cNvSpPr>
                <p:nvPr/>
              </p:nvSpPr>
              <p:spPr>
                <a:xfrm>
                  <a:off x="5709400" y="2115029"/>
                  <a:ext cx="5024248" cy="457946"/>
                </a:xfrm>
                <a:prstGeom prst="rect">
                  <a:avLst/>
                </a:prstGeom>
                <a:blipFill>
                  <a:blip r:embed="rId2"/>
                  <a:stretch>
                    <a:fillRect b="-16216"/>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4787D1D4-135B-9AC3-E292-DAB1E1AC36A7}"/>
                </a:ext>
              </a:extLst>
            </p:cNvPr>
            <p:cNvCxnSpPr/>
            <p:nvPr/>
          </p:nvCxnSpPr>
          <p:spPr>
            <a:xfrm>
              <a:off x="4690500" y="1781818"/>
              <a:ext cx="0" cy="3600000"/>
            </a:xfrm>
            <a:prstGeom prst="line">
              <a:avLst/>
            </a:prstGeom>
            <a:ln w="25400">
              <a:headEnd type="triangle" w="lg" len="lg"/>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532E58B4-986E-8434-5D67-A20011FF1CC9}"/>
                </a:ext>
              </a:extLst>
            </p:cNvPr>
            <p:cNvCxnSpPr>
              <a:cxnSpLocks/>
            </p:cNvCxnSpPr>
            <p:nvPr/>
          </p:nvCxnSpPr>
          <p:spPr>
            <a:xfrm>
              <a:off x="4690500" y="5381818"/>
              <a:ext cx="4890941" cy="0"/>
            </a:xfrm>
            <a:prstGeom prst="line">
              <a:avLst/>
            </a:prstGeom>
            <a:ln w="25400">
              <a:tailEnd type="triangle" w="lg" len="lg"/>
            </a:ln>
          </p:spPr>
          <p:style>
            <a:lnRef idx="1">
              <a:schemeClr val="dk1"/>
            </a:lnRef>
            <a:fillRef idx="0">
              <a:schemeClr val="dk1"/>
            </a:fillRef>
            <a:effectRef idx="0">
              <a:schemeClr val="dk1"/>
            </a:effectRef>
            <a:fontRef idx="minor">
              <a:schemeClr val="tx1"/>
            </a:fontRef>
          </p:style>
        </p:cxnSp>
        <p:sp>
          <p:nvSpPr>
            <p:cNvPr id="14" name="Freeform 13">
              <a:extLst>
                <a:ext uri="{FF2B5EF4-FFF2-40B4-BE49-F238E27FC236}">
                  <a16:creationId xmlns:a16="http://schemas.microsoft.com/office/drawing/2014/main" id="{6D000164-7433-A2E3-0DCA-A652C067EC64}"/>
                </a:ext>
              </a:extLst>
            </p:cNvPr>
            <p:cNvSpPr/>
            <p:nvPr/>
          </p:nvSpPr>
          <p:spPr>
            <a:xfrm>
              <a:off x="4892884" y="2813457"/>
              <a:ext cx="4116650" cy="1794511"/>
            </a:xfrm>
            <a:custGeom>
              <a:avLst/>
              <a:gdLst>
                <a:gd name="connsiteX0" fmla="*/ 0 w 2239108"/>
                <a:gd name="connsiteY0" fmla="*/ 780253 h 1404690"/>
                <a:gd name="connsiteX1" fmla="*/ 621323 w 2239108"/>
                <a:gd name="connsiteY1" fmla="*/ 1378129 h 1404690"/>
                <a:gd name="connsiteX2" fmla="*/ 1524000 w 2239108"/>
                <a:gd name="connsiteY2" fmla="*/ 6529 h 1404690"/>
                <a:gd name="connsiteX3" fmla="*/ 2239108 w 2239108"/>
                <a:gd name="connsiteY3" fmla="*/ 956099 h 1404690"/>
                <a:gd name="connsiteX0" fmla="*/ 0 w 2778369"/>
                <a:gd name="connsiteY0" fmla="*/ 780253 h 1404690"/>
                <a:gd name="connsiteX1" fmla="*/ 1160584 w 2778369"/>
                <a:gd name="connsiteY1" fmla="*/ 1378129 h 1404690"/>
                <a:gd name="connsiteX2" fmla="*/ 2063261 w 2778369"/>
                <a:gd name="connsiteY2" fmla="*/ 6529 h 1404690"/>
                <a:gd name="connsiteX3" fmla="*/ 2778369 w 2778369"/>
                <a:gd name="connsiteY3" fmla="*/ 956099 h 1404690"/>
                <a:gd name="connsiteX0" fmla="*/ 0 w 2778369"/>
                <a:gd name="connsiteY0" fmla="*/ 780253 h 1825847"/>
                <a:gd name="connsiteX1" fmla="*/ 926122 w 2778369"/>
                <a:gd name="connsiteY1" fmla="*/ 1811883 h 1825847"/>
                <a:gd name="connsiteX2" fmla="*/ 2063261 w 2778369"/>
                <a:gd name="connsiteY2" fmla="*/ 6529 h 1825847"/>
                <a:gd name="connsiteX3" fmla="*/ 2778369 w 2778369"/>
                <a:gd name="connsiteY3" fmla="*/ 956099 h 1825847"/>
                <a:gd name="connsiteX0" fmla="*/ 0 w 2791856"/>
                <a:gd name="connsiteY0" fmla="*/ 1608724 h 2687807"/>
                <a:gd name="connsiteX1" fmla="*/ 926122 w 2791856"/>
                <a:gd name="connsiteY1" fmla="*/ 2640354 h 2687807"/>
                <a:gd name="connsiteX2" fmla="*/ 2696307 w 2791856"/>
                <a:gd name="connsiteY2" fmla="*/ 2662 h 2687807"/>
                <a:gd name="connsiteX3" fmla="*/ 2778369 w 2791856"/>
                <a:gd name="connsiteY3" fmla="*/ 1784570 h 2687807"/>
                <a:gd name="connsiteX0" fmla="*/ 0 w 3892061"/>
                <a:gd name="connsiteY0" fmla="*/ 1610772 h 2689855"/>
                <a:gd name="connsiteX1" fmla="*/ 926122 w 3892061"/>
                <a:gd name="connsiteY1" fmla="*/ 2642402 h 2689855"/>
                <a:gd name="connsiteX2" fmla="*/ 2696307 w 3892061"/>
                <a:gd name="connsiteY2" fmla="*/ 4710 h 2689855"/>
                <a:gd name="connsiteX3" fmla="*/ 3892061 w 3892061"/>
                <a:gd name="connsiteY3" fmla="*/ 1177018 h 2689855"/>
                <a:gd name="connsiteX0" fmla="*/ 0 w 3892169"/>
                <a:gd name="connsiteY0" fmla="*/ 1610913 h 2689996"/>
                <a:gd name="connsiteX1" fmla="*/ 926122 w 3892169"/>
                <a:gd name="connsiteY1" fmla="*/ 2642543 h 2689996"/>
                <a:gd name="connsiteX2" fmla="*/ 2696307 w 3892169"/>
                <a:gd name="connsiteY2" fmla="*/ 4851 h 2689996"/>
                <a:gd name="connsiteX3" fmla="*/ 3892061 w 3892169"/>
                <a:gd name="connsiteY3" fmla="*/ 1177159 h 2689996"/>
                <a:gd name="connsiteX0" fmla="*/ 0 w 3892169"/>
                <a:gd name="connsiteY0" fmla="*/ 1610913 h 2689996"/>
                <a:gd name="connsiteX1" fmla="*/ 926122 w 3892169"/>
                <a:gd name="connsiteY1" fmla="*/ 2642543 h 2689996"/>
                <a:gd name="connsiteX2" fmla="*/ 2696307 w 3892169"/>
                <a:gd name="connsiteY2" fmla="*/ 4851 h 2689996"/>
                <a:gd name="connsiteX3" fmla="*/ 3892061 w 3892169"/>
                <a:gd name="connsiteY3" fmla="*/ 1177159 h 2689996"/>
                <a:gd name="connsiteX0" fmla="*/ 0 w 3892203"/>
                <a:gd name="connsiteY0" fmla="*/ 1616154 h 2695237"/>
                <a:gd name="connsiteX1" fmla="*/ 926122 w 3892203"/>
                <a:gd name="connsiteY1" fmla="*/ 2647784 h 2695237"/>
                <a:gd name="connsiteX2" fmla="*/ 2696307 w 3892203"/>
                <a:gd name="connsiteY2" fmla="*/ 10092 h 2695237"/>
                <a:gd name="connsiteX3" fmla="*/ 3892061 w 3892203"/>
                <a:gd name="connsiteY3" fmla="*/ 1182400 h 2695237"/>
                <a:gd name="connsiteX0" fmla="*/ 0 w 3892203"/>
                <a:gd name="connsiteY0" fmla="*/ 1616154 h 2762843"/>
                <a:gd name="connsiteX1" fmla="*/ 1254368 w 3892203"/>
                <a:gd name="connsiteY1" fmla="*/ 2718122 h 2762843"/>
                <a:gd name="connsiteX2" fmla="*/ 2696307 w 3892203"/>
                <a:gd name="connsiteY2" fmla="*/ 10092 h 2762843"/>
                <a:gd name="connsiteX3" fmla="*/ 3892061 w 3892203"/>
                <a:gd name="connsiteY3" fmla="*/ 1182400 h 2762843"/>
                <a:gd name="connsiteX0" fmla="*/ 0 w 3892203"/>
                <a:gd name="connsiteY0" fmla="*/ 1616154 h 2722211"/>
                <a:gd name="connsiteX1" fmla="*/ 1254368 w 3892203"/>
                <a:gd name="connsiteY1" fmla="*/ 2718122 h 2722211"/>
                <a:gd name="connsiteX2" fmla="*/ 2696307 w 3892203"/>
                <a:gd name="connsiteY2" fmla="*/ 10092 h 2722211"/>
                <a:gd name="connsiteX3" fmla="*/ 3892061 w 3892203"/>
                <a:gd name="connsiteY3" fmla="*/ 1182400 h 2722211"/>
                <a:gd name="connsiteX0" fmla="*/ 0 w 3892355"/>
                <a:gd name="connsiteY0" fmla="*/ 1203970 h 2332964"/>
                <a:gd name="connsiteX1" fmla="*/ 1254368 w 3892355"/>
                <a:gd name="connsiteY1" fmla="*/ 2305938 h 2332964"/>
                <a:gd name="connsiteX2" fmla="*/ 3071445 w 3892355"/>
                <a:gd name="connsiteY2" fmla="*/ 19939 h 2332964"/>
                <a:gd name="connsiteX3" fmla="*/ 3892061 w 3892355"/>
                <a:gd name="connsiteY3" fmla="*/ 770216 h 2332964"/>
                <a:gd name="connsiteX0" fmla="*/ 0 w 3892355"/>
                <a:gd name="connsiteY0" fmla="*/ 1203970 h 2117094"/>
                <a:gd name="connsiteX1" fmla="*/ 1101968 w 3892355"/>
                <a:gd name="connsiteY1" fmla="*/ 2083199 h 2117094"/>
                <a:gd name="connsiteX2" fmla="*/ 3071445 w 3892355"/>
                <a:gd name="connsiteY2" fmla="*/ 19939 h 2117094"/>
                <a:gd name="connsiteX3" fmla="*/ 3892061 w 3892355"/>
                <a:gd name="connsiteY3" fmla="*/ 770216 h 2117094"/>
                <a:gd name="connsiteX0" fmla="*/ 0 w 3892420"/>
                <a:gd name="connsiteY0" fmla="*/ 1563771 h 2494909"/>
                <a:gd name="connsiteX1" fmla="*/ 1101968 w 3892420"/>
                <a:gd name="connsiteY1" fmla="*/ 2443000 h 2494909"/>
                <a:gd name="connsiteX2" fmla="*/ 3135614 w 3892420"/>
                <a:gd name="connsiteY2" fmla="*/ 10772 h 2494909"/>
                <a:gd name="connsiteX3" fmla="*/ 3892061 w 3892420"/>
                <a:gd name="connsiteY3" fmla="*/ 1130017 h 2494909"/>
                <a:gd name="connsiteX0" fmla="*/ 0 w 4116852"/>
                <a:gd name="connsiteY0" fmla="*/ 1563350 h 2494488"/>
                <a:gd name="connsiteX1" fmla="*/ 1101968 w 4116852"/>
                <a:gd name="connsiteY1" fmla="*/ 2442579 h 2494488"/>
                <a:gd name="connsiteX2" fmla="*/ 3135614 w 4116852"/>
                <a:gd name="connsiteY2" fmla="*/ 10351 h 2494488"/>
                <a:gd name="connsiteX3" fmla="*/ 4116650 w 4116852"/>
                <a:gd name="connsiteY3" fmla="*/ 1161680 h 2494488"/>
                <a:gd name="connsiteX0" fmla="*/ 0 w 4116650"/>
                <a:gd name="connsiteY0" fmla="*/ 1562613 h 2493751"/>
                <a:gd name="connsiteX1" fmla="*/ 1101968 w 4116650"/>
                <a:gd name="connsiteY1" fmla="*/ 2441842 h 2493751"/>
                <a:gd name="connsiteX2" fmla="*/ 3135614 w 4116650"/>
                <a:gd name="connsiteY2" fmla="*/ 9614 h 2493751"/>
                <a:gd name="connsiteX3" fmla="*/ 4116650 w 4116650"/>
                <a:gd name="connsiteY3" fmla="*/ 1160943 h 2493751"/>
                <a:gd name="connsiteX0" fmla="*/ 0 w 4116650"/>
                <a:gd name="connsiteY0" fmla="*/ 1562613 h 2493751"/>
                <a:gd name="connsiteX1" fmla="*/ 1101968 w 4116650"/>
                <a:gd name="connsiteY1" fmla="*/ 2441842 h 2493751"/>
                <a:gd name="connsiteX2" fmla="*/ 3135614 w 4116650"/>
                <a:gd name="connsiteY2" fmla="*/ 9614 h 2493751"/>
                <a:gd name="connsiteX3" fmla="*/ 4116650 w 4116650"/>
                <a:gd name="connsiteY3" fmla="*/ 1160943 h 2493751"/>
                <a:gd name="connsiteX0" fmla="*/ 0 w 4116650"/>
                <a:gd name="connsiteY0" fmla="*/ 1659065 h 2595272"/>
                <a:gd name="connsiteX1" fmla="*/ 1101968 w 4116650"/>
                <a:gd name="connsiteY1" fmla="*/ 2538294 h 2595272"/>
                <a:gd name="connsiteX2" fmla="*/ 3159365 w 4116650"/>
                <a:gd name="connsiteY2" fmla="*/ 8654 h 2595272"/>
                <a:gd name="connsiteX3" fmla="*/ 4116650 w 4116650"/>
                <a:gd name="connsiteY3" fmla="*/ 1257395 h 2595272"/>
                <a:gd name="connsiteX0" fmla="*/ 0 w 4116650"/>
                <a:gd name="connsiteY0" fmla="*/ 1650473 h 2586681"/>
                <a:gd name="connsiteX1" fmla="*/ 1101968 w 4116650"/>
                <a:gd name="connsiteY1" fmla="*/ 2529702 h 2586681"/>
                <a:gd name="connsiteX2" fmla="*/ 3159365 w 4116650"/>
                <a:gd name="connsiteY2" fmla="*/ 62 h 2586681"/>
                <a:gd name="connsiteX3" fmla="*/ 4116650 w 4116650"/>
                <a:gd name="connsiteY3" fmla="*/ 1248803 h 2586681"/>
                <a:gd name="connsiteX0" fmla="*/ 0 w 4116650"/>
                <a:gd name="connsiteY0" fmla="*/ 1650473 h 2617395"/>
                <a:gd name="connsiteX1" fmla="*/ 1173220 w 4116650"/>
                <a:gd name="connsiteY1" fmla="*/ 2562174 h 2617395"/>
                <a:gd name="connsiteX2" fmla="*/ 3159365 w 4116650"/>
                <a:gd name="connsiteY2" fmla="*/ 62 h 2617395"/>
                <a:gd name="connsiteX3" fmla="*/ 4116650 w 4116650"/>
                <a:gd name="connsiteY3" fmla="*/ 1248803 h 2617395"/>
                <a:gd name="connsiteX0" fmla="*/ 0 w 4116650"/>
                <a:gd name="connsiteY0" fmla="*/ 1650473 h 2563409"/>
                <a:gd name="connsiteX1" fmla="*/ 1173220 w 4116650"/>
                <a:gd name="connsiteY1" fmla="*/ 2562174 h 2563409"/>
                <a:gd name="connsiteX2" fmla="*/ 3159365 w 4116650"/>
                <a:gd name="connsiteY2" fmla="*/ 62 h 2563409"/>
                <a:gd name="connsiteX3" fmla="*/ 4116650 w 4116650"/>
                <a:gd name="connsiteY3" fmla="*/ 1248803 h 2563409"/>
                <a:gd name="connsiteX0" fmla="*/ 0 w 4116650"/>
                <a:gd name="connsiteY0" fmla="*/ 1650473 h 2741717"/>
                <a:gd name="connsiteX1" fmla="*/ 888212 w 4116650"/>
                <a:gd name="connsiteY1" fmla="*/ 2740762 h 2741717"/>
                <a:gd name="connsiteX2" fmla="*/ 3159365 w 4116650"/>
                <a:gd name="connsiteY2" fmla="*/ 62 h 2741717"/>
                <a:gd name="connsiteX3" fmla="*/ 4116650 w 4116650"/>
                <a:gd name="connsiteY3" fmla="*/ 1248803 h 2741717"/>
                <a:gd name="connsiteX0" fmla="*/ 0 w 4116650"/>
                <a:gd name="connsiteY0" fmla="*/ 1650473 h 2742320"/>
                <a:gd name="connsiteX1" fmla="*/ 888212 w 4116650"/>
                <a:gd name="connsiteY1" fmla="*/ 2740762 h 2742320"/>
                <a:gd name="connsiteX2" fmla="*/ 3159365 w 4116650"/>
                <a:gd name="connsiteY2" fmla="*/ 62 h 2742320"/>
                <a:gd name="connsiteX3" fmla="*/ 4116650 w 4116650"/>
                <a:gd name="connsiteY3" fmla="*/ 1248803 h 2742320"/>
                <a:gd name="connsiteX0" fmla="*/ 0 w 4116650"/>
                <a:gd name="connsiteY0" fmla="*/ 1650473 h 2676332"/>
                <a:gd name="connsiteX1" fmla="*/ 1051714 w 4116650"/>
                <a:gd name="connsiteY1" fmla="*/ 2674530 h 2676332"/>
                <a:gd name="connsiteX2" fmla="*/ 3159365 w 4116650"/>
                <a:gd name="connsiteY2" fmla="*/ 62 h 2676332"/>
                <a:gd name="connsiteX3" fmla="*/ 4116650 w 4116650"/>
                <a:gd name="connsiteY3" fmla="*/ 1248803 h 2676332"/>
                <a:gd name="connsiteX0" fmla="*/ 0 w 4116650"/>
                <a:gd name="connsiteY0" fmla="*/ 1650473 h 2742522"/>
                <a:gd name="connsiteX1" fmla="*/ 1051714 w 4116650"/>
                <a:gd name="connsiteY1" fmla="*/ 2674530 h 2742522"/>
                <a:gd name="connsiteX2" fmla="*/ 3159365 w 4116650"/>
                <a:gd name="connsiteY2" fmla="*/ 62 h 2742522"/>
                <a:gd name="connsiteX3" fmla="*/ 4116650 w 4116650"/>
                <a:gd name="connsiteY3" fmla="*/ 1248803 h 2742522"/>
                <a:gd name="connsiteX0" fmla="*/ 0 w 4116650"/>
                <a:gd name="connsiteY0" fmla="*/ 1650473 h 2742522"/>
                <a:gd name="connsiteX1" fmla="*/ 1051714 w 4116650"/>
                <a:gd name="connsiteY1" fmla="*/ 2674530 h 2742522"/>
                <a:gd name="connsiteX2" fmla="*/ 2050082 w 4116650"/>
                <a:gd name="connsiteY2" fmla="*/ 1255641 h 2742522"/>
                <a:gd name="connsiteX3" fmla="*/ 3159365 w 4116650"/>
                <a:gd name="connsiteY3" fmla="*/ 62 h 2742522"/>
                <a:gd name="connsiteX4" fmla="*/ 4116650 w 4116650"/>
                <a:gd name="connsiteY4" fmla="*/ 1248803 h 2742522"/>
                <a:gd name="connsiteX0" fmla="*/ 0 w 4116650"/>
                <a:gd name="connsiteY0" fmla="*/ 1650473 h 2742522"/>
                <a:gd name="connsiteX1" fmla="*/ 1051714 w 4116650"/>
                <a:gd name="connsiteY1" fmla="*/ 2674530 h 2742522"/>
                <a:gd name="connsiteX2" fmla="*/ 2050082 w 4116650"/>
                <a:gd name="connsiteY2" fmla="*/ 1255641 h 2742522"/>
                <a:gd name="connsiteX3" fmla="*/ 3159365 w 4116650"/>
                <a:gd name="connsiteY3" fmla="*/ 62 h 2742522"/>
                <a:gd name="connsiteX4" fmla="*/ 4116650 w 4116650"/>
                <a:gd name="connsiteY4" fmla="*/ 1248803 h 2742522"/>
                <a:gd name="connsiteX0" fmla="*/ 0 w 4116650"/>
                <a:gd name="connsiteY0" fmla="*/ 1650473 h 2742522"/>
                <a:gd name="connsiteX1" fmla="*/ 1051714 w 4116650"/>
                <a:gd name="connsiteY1" fmla="*/ 2674530 h 2742522"/>
                <a:gd name="connsiteX2" fmla="*/ 2050082 w 4116650"/>
                <a:gd name="connsiteY2" fmla="*/ 1255641 h 2742522"/>
                <a:gd name="connsiteX3" fmla="*/ 3159365 w 4116650"/>
                <a:gd name="connsiteY3" fmla="*/ 62 h 2742522"/>
                <a:gd name="connsiteX4" fmla="*/ 4116650 w 4116650"/>
                <a:gd name="connsiteY4" fmla="*/ 1248803 h 2742522"/>
                <a:gd name="connsiteX0" fmla="*/ 0 w 4116650"/>
                <a:gd name="connsiteY0" fmla="*/ 1650473 h 2681991"/>
                <a:gd name="connsiteX1" fmla="*/ 1051714 w 4116650"/>
                <a:gd name="connsiteY1" fmla="*/ 2674530 h 2681991"/>
                <a:gd name="connsiteX2" fmla="*/ 2131003 w 4116650"/>
                <a:gd name="connsiteY2" fmla="*/ 1233516 h 2681991"/>
                <a:gd name="connsiteX3" fmla="*/ 3159365 w 4116650"/>
                <a:gd name="connsiteY3" fmla="*/ 62 h 2681991"/>
                <a:gd name="connsiteX4" fmla="*/ 4116650 w 4116650"/>
                <a:gd name="connsiteY4" fmla="*/ 1248803 h 2681991"/>
                <a:gd name="connsiteX0" fmla="*/ 0 w 4116650"/>
                <a:gd name="connsiteY0" fmla="*/ 1650473 h 2681991"/>
                <a:gd name="connsiteX1" fmla="*/ 1051714 w 4116650"/>
                <a:gd name="connsiteY1" fmla="*/ 2674530 h 2681991"/>
                <a:gd name="connsiteX2" fmla="*/ 2131003 w 4116650"/>
                <a:gd name="connsiteY2" fmla="*/ 1233516 h 2681991"/>
                <a:gd name="connsiteX3" fmla="*/ 3159365 w 4116650"/>
                <a:gd name="connsiteY3" fmla="*/ 62 h 2681991"/>
                <a:gd name="connsiteX4" fmla="*/ 4116650 w 4116650"/>
                <a:gd name="connsiteY4" fmla="*/ 1248803 h 2681991"/>
                <a:gd name="connsiteX0" fmla="*/ 0 w 4116650"/>
                <a:gd name="connsiteY0" fmla="*/ 1650473 h 2729592"/>
                <a:gd name="connsiteX1" fmla="*/ 1051714 w 4116650"/>
                <a:gd name="connsiteY1" fmla="*/ 2674530 h 2729592"/>
                <a:gd name="connsiteX2" fmla="*/ 2131003 w 4116650"/>
                <a:gd name="connsiteY2" fmla="*/ 1233516 h 2729592"/>
                <a:gd name="connsiteX3" fmla="*/ 3159365 w 4116650"/>
                <a:gd name="connsiteY3" fmla="*/ 62 h 2729592"/>
                <a:gd name="connsiteX4" fmla="*/ 4116650 w 4116650"/>
                <a:gd name="connsiteY4" fmla="*/ 1248803 h 2729592"/>
                <a:gd name="connsiteX0" fmla="*/ 0 w 4116650"/>
                <a:gd name="connsiteY0" fmla="*/ 1650473 h 2743708"/>
                <a:gd name="connsiteX1" fmla="*/ 1051714 w 4116650"/>
                <a:gd name="connsiteY1" fmla="*/ 2674530 h 2743708"/>
                <a:gd name="connsiteX2" fmla="*/ 2131003 w 4116650"/>
                <a:gd name="connsiteY2" fmla="*/ 1233516 h 2743708"/>
                <a:gd name="connsiteX3" fmla="*/ 3159365 w 4116650"/>
                <a:gd name="connsiteY3" fmla="*/ 62 h 2743708"/>
                <a:gd name="connsiteX4" fmla="*/ 4116650 w 4116650"/>
                <a:gd name="connsiteY4" fmla="*/ 1248803 h 2743708"/>
                <a:gd name="connsiteX0" fmla="*/ 0 w 4116650"/>
                <a:gd name="connsiteY0" fmla="*/ 1650473 h 2519972"/>
                <a:gd name="connsiteX1" fmla="*/ 1227327 w 4116650"/>
                <a:gd name="connsiteY1" fmla="*/ 2426163 h 2519972"/>
                <a:gd name="connsiteX2" fmla="*/ 2131003 w 4116650"/>
                <a:gd name="connsiteY2" fmla="*/ 1233516 h 2519972"/>
                <a:gd name="connsiteX3" fmla="*/ 3159365 w 4116650"/>
                <a:gd name="connsiteY3" fmla="*/ 62 h 2519972"/>
                <a:gd name="connsiteX4" fmla="*/ 4116650 w 4116650"/>
                <a:gd name="connsiteY4" fmla="*/ 1248803 h 2519972"/>
                <a:gd name="connsiteX0" fmla="*/ 0 w 4116650"/>
                <a:gd name="connsiteY0" fmla="*/ 1650473 h 2749258"/>
                <a:gd name="connsiteX1" fmla="*/ 1227327 w 4116650"/>
                <a:gd name="connsiteY1" fmla="*/ 2426163 h 2749258"/>
                <a:gd name="connsiteX2" fmla="*/ 2131003 w 4116650"/>
                <a:gd name="connsiteY2" fmla="*/ 1233516 h 2749258"/>
                <a:gd name="connsiteX3" fmla="*/ 3159365 w 4116650"/>
                <a:gd name="connsiteY3" fmla="*/ 62 h 2749258"/>
                <a:gd name="connsiteX4" fmla="*/ 4116650 w 4116650"/>
                <a:gd name="connsiteY4" fmla="*/ 1248803 h 2749258"/>
                <a:gd name="connsiteX0" fmla="*/ 0 w 4116650"/>
                <a:gd name="connsiteY0" fmla="*/ 1650473 h 2456249"/>
                <a:gd name="connsiteX1" fmla="*/ 1227327 w 4116650"/>
                <a:gd name="connsiteY1" fmla="*/ 2426163 h 2456249"/>
                <a:gd name="connsiteX2" fmla="*/ 2131003 w 4116650"/>
                <a:gd name="connsiteY2" fmla="*/ 1233516 h 2456249"/>
                <a:gd name="connsiteX3" fmla="*/ 3159365 w 4116650"/>
                <a:gd name="connsiteY3" fmla="*/ 62 h 2456249"/>
                <a:gd name="connsiteX4" fmla="*/ 4116650 w 4116650"/>
                <a:gd name="connsiteY4" fmla="*/ 1248803 h 2456249"/>
                <a:gd name="connsiteX0" fmla="*/ 0 w 4116650"/>
                <a:gd name="connsiteY0" fmla="*/ 1650473 h 2456248"/>
                <a:gd name="connsiteX1" fmla="*/ 1227327 w 4116650"/>
                <a:gd name="connsiteY1" fmla="*/ 2426163 h 2456248"/>
                <a:gd name="connsiteX2" fmla="*/ 2131003 w 4116650"/>
                <a:gd name="connsiteY2" fmla="*/ 1233516 h 2456248"/>
                <a:gd name="connsiteX3" fmla="*/ 3159365 w 4116650"/>
                <a:gd name="connsiteY3" fmla="*/ 62 h 2456248"/>
                <a:gd name="connsiteX4" fmla="*/ 4116650 w 4116650"/>
                <a:gd name="connsiteY4" fmla="*/ 1248803 h 2456248"/>
                <a:gd name="connsiteX0" fmla="*/ 0 w 4116650"/>
                <a:gd name="connsiteY0" fmla="*/ 1650473 h 2479565"/>
                <a:gd name="connsiteX1" fmla="*/ 1227327 w 4116650"/>
                <a:gd name="connsiteY1" fmla="*/ 2426163 h 2479565"/>
                <a:gd name="connsiteX2" fmla="*/ 2519473 w 4116650"/>
                <a:gd name="connsiteY2" fmla="*/ 563521 h 2479565"/>
                <a:gd name="connsiteX3" fmla="*/ 3159365 w 4116650"/>
                <a:gd name="connsiteY3" fmla="*/ 62 h 2479565"/>
                <a:gd name="connsiteX4" fmla="*/ 4116650 w 4116650"/>
                <a:gd name="connsiteY4" fmla="*/ 1248803 h 2479565"/>
                <a:gd name="connsiteX0" fmla="*/ 0 w 4116650"/>
                <a:gd name="connsiteY0" fmla="*/ 1650473 h 2479564"/>
                <a:gd name="connsiteX1" fmla="*/ 1227327 w 4116650"/>
                <a:gd name="connsiteY1" fmla="*/ 2426163 h 2479564"/>
                <a:gd name="connsiteX2" fmla="*/ 2519473 w 4116650"/>
                <a:gd name="connsiteY2" fmla="*/ 563521 h 2479564"/>
                <a:gd name="connsiteX3" fmla="*/ 3159365 w 4116650"/>
                <a:gd name="connsiteY3" fmla="*/ 62 h 2479564"/>
                <a:gd name="connsiteX4" fmla="*/ 4116650 w 4116650"/>
                <a:gd name="connsiteY4" fmla="*/ 1248803 h 2479564"/>
                <a:gd name="connsiteX0" fmla="*/ 0 w 4116650"/>
                <a:gd name="connsiteY0" fmla="*/ 1650473 h 2479564"/>
                <a:gd name="connsiteX1" fmla="*/ 1227327 w 4116650"/>
                <a:gd name="connsiteY1" fmla="*/ 2426163 h 2479564"/>
                <a:gd name="connsiteX2" fmla="*/ 2519473 w 4116650"/>
                <a:gd name="connsiteY2" fmla="*/ 563521 h 2479564"/>
                <a:gd name="connsiteX3" fmla="*/ 3159365 w 4116650"/>
                <a:gd name="connsiteY3" fmla="*/ 62 h 2479564"/>
                <a:gd name="connsiteX4" fmla="*/ 4116650 w 4116650"/>
                <a:gd name="connsiteY4" fmla="*/ 1248803 h 2479564"/>
                <a:gd name="connsiteX0" fmla="*/ 0 w 4116650"/>
                <a:gd name="connsiteY0" fmla="*/ 1650473 h 2477490"/>
                <a:gd name="connsiteX1" fmla="*/ 1227327 w 4116650"/>
                <a:gd name="connsiteY1" fmla="*/ 2426163 h 2477490"/>
                <a:gd name="connsiteX2" fmla="*/ 2507520 w 4116650"/>
                <a:gd name="connsiteY2" fmla="*/ 596204 h 2477490"/>
                <a:gd name="connsiteX3" fmla="*/ 3159365 w 4116650"/>
                <a:gd name="connsiteY3" fmla="*/ 62 h 2477490"/>
                <a:gd name="connsiteX4" fmla="*/ 4116650 w 4116650"/>
                <a:gd name="connsiteY4" fmla="*/ 1248803 h 2477490"/>
                <a:gd name="connsiteX0" fmla="*/ 0 w 4116650"/>
                <a:gd name="connsiteY0" fmla="*/ 1650473 h 2477490"/>
                <a:gd name="connsiteX1" fmla="*/ 1227327 w 4116650"/>
                <a:gd name="connsiteY1" fmla="*/ 2426163 h 2477490"/>
                <a:gd name="connsiteX2" fmla="*/ 2507520 w 4116650"/>
                <a:gd name="connsiteY2" fmla="*/ 596204 h 2477490"/>
                <a:gd name="connsiteX3" fmla="*/ 3159365 w 4116650"/>
                <a:gd name="connsiteY3" fmla="*/ 62 h 2477490"/>
                <a:gd name="connsiteX4" fmla="*/ 4116650 w 4116650"/>
                <a:gd name="connsiteY4" fmla="*/ 1248803 h 2477490"/>
                <a:gd name="connsiteX0" fmla="*/ 0 w 4116650"/>
                <a:gd name="connsiteY0" fmla="*/ 1650473 h 2477490"/>
                <a:gd name="connsiteX1" fmla="*/ 1227327 w 4116650"/>
                <a:gd name="connsiteY1" fmla="*/ 2426163 h 2477490"/>
                <a:gd name="connsiteX2" fmla="*/ 2507520 w 4116650"/>
                <a:gd name="connsiteY2" fmla="*/ 596204 h 2477490"/>
                <a:gd name="connsiteX3" fmla="*/ 3159365 w 4116650"/>
                <a:gd name="connsiteY3" fmla="*/ 62 h 2477490"/>
                <a:gd name="connsiteX4" fmla="*/ 4116650 w 4116650"/>
                <a:gd name="connsiteY4" fmla="*/ 1248803 h 2477490"/>
                <a:gd name="connsiteX0" fmla="*/ 0 w 4116650"/>
                <a:gd name="connsiteY0" fmla="*/ 1650757 h 2477774"/>
                <a:gd name="connsiteX1" fmla="*/ 1227327 w 4116650"/>
                <a:gd name="connsiteY1" fmla="*/ 2426447 h 2477774"/>
                <a:gd name="connsiteX2" fmla="*/ 2507520 w 4116650"/>
                <a:gd name="connsiteY2" fmla="*/ 596488 h 2477774"/>
                <a:gd name="connsiteX3" fmla="*/ 3159365 w 4116650"/>
                <a:gd name="connsiteY3" fmla="*/ 346 h 2477774"/>
                <a:gd name="connsiteX4" fmla="*/ 4116650 w 4116650"/>
                <a:gd name="connsiteY4" fmla="*/ 1249087 h 2477774"/>
                <a:gd name="connsiteX0" fmla="*/ 0 w 4116650"/>
                <a:gd name="connsiteY0" fmla="*/ 1611180 h 2438197"/>
                <a:gd name="connsiteX1" fmla="*/ 1227327 w 4116650"/>
                <a:gd name="connsiteY1" fmla="*/ 2386870 h 2438197"/>
                <a:gd name="connsiteX2" fmla="*/ 2507520 w 4116650"/>
                <a:gd name="connsiteY2" fmla="*/ 556911 h 2438197"/>
                <a:gd name="connsiteX3" fmla="*/ 3209015 w 4116650"/>
                <a:gd name="connsiteY3" fmla="*/ 365 h 2438197"/>
                <a:gd name="connsiteX4" fmla="*/ 4116650 w 4116650"/>
                <a:gd name="connsiteY4" fmla="*/ 1209510 h 2438197"/>
                <a:gd name="connsiteX0" fmla="*/ 0 w 4116650"/>
                <a:gd name="connsiteY0" fmla="*/ 1626331 h 2453348"/>
                <a:gd name="connsiteX1" fmla="*/ 1227327 w 4116650"/>
                <a:gd name="connsiteY1" fmla="*/ 2402021 h 2453348"/>
                <a:gd name="connsiteX2" fmla="*/ 2507520 w 4116650"/>
                <a:gd name="connsiteY2" fmla="*/ 572062 h 2453348"/>
                <a:gd name="connsiteX3" fmla="*/ 3209015 w 4116650"/>
                <a:gd name="connsiteY3" fmla="*/ 15516 h 2453348"/>
                <a:gd name="connsiteX4" fmla="*/ 4116650 w 4116650"/>
                <a:gd name="connsiteY4" fmla="*/ 1224661 h 2453348"/>
                <a:gd name="connsiteX0" fmla="*/ 0 w 4116650"/>
                <a:gd name="connsiteY0" fmla="*/ 1626331 h 2453348"/>
                <a:gd name="connsiteX1" fmla="*/ 1227327 w 4116650"/>
                <a:gd name="connsiteY1" fmla="*/ 2402021 h 2453348"/>
                <a:gd name="connsiteX2" fmla="*/ 2507520 w 4116650"/>
                <a:gd name="connsiteY2" fmla="*/ 572062 h 2453348"/>
                <a:gd name="connsiteX3" fmla="*/ 3209015 w 4116650"/>
                <a:gd name="connsiteY3" fmla="*/ 15516 h 2453348"/>
                <a:gd name="connsiteX4" fmla="*/ 4116650 w 4116650"/>
                <a:gd name="connsiteY4" fmla="*/ 1224661 h 2453348"/>
                <a:gd name="connsiteX0" fmla="*/ 0 w 4116650"/>
                <a:gd name="connsiteY0" fmla="*/ 1626331 h 2453348"/>
                <a:gd name="connsiteX1" fmla="*/ 1227327 w 4116650"/>
                <a:gd name="connsiteY1" fmla="*/ 2402021 h 2453348"/>
                <a:gd name="connsiteX2" fmla="*/ 2507520 w 4116650"/>
                <a:gd name="connsiteY2" fmla="*/ 572062 h 2453348"/>
                <a:gd name="connsiteX3" fmla="*/ 3209015 w 4116650"/>
                <a:gd name="connsiteY3" fmla="*/ 15516 h 2453348"/>
                <a:gd name="connsiteX4" fmla="*/ 4116650 w 4116650"/>
                <a:gd name="connsiteY4" fmla="*/ 1224661 h 24533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6650" h="2453348">
                  <a:moveTo>
                    <a:pt x="0" y="1626331"/>
                  </a:moveTo>
                  <a:cubicBezTo>
                    <a:pt x="254913" y="2298215"/>
                    <a:pt x="809407" y="2577732"/>
                    <a:pt x="1227327" y="2402021"/>
                  </a:cubicBezTo>
                  <a:cubicBezTo>
                    <a:pt x="1645247" y="2226310"/>
                    <a:pt x="2149264" y="1138992"/>
                    <a:pt x="2507520" y="572062"/>
                  </a:cubicBezTo>
                  <a:cubicBezTo>
                    <a:pt x="2904122" y="-44906"/>
                    <a:pt x="3099178" y="-20839"/>
                    <a:pt x="3209015" y="15516"/>
                  </a:cubicBezTo>
                  <a:cubicBezTo>
                    <a:pt x="3461170" y="69983"/>
                    <a:pt x="3887742" y="755429"/>
                    <a:pt x="4116650" y="1224661"/>
                  </a:cubicBezTo>
                </a:path>
              </a:pathLst>
            </a:cu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DF21F836-9A6B-AED6-2411-C716172BD0A8}"/>
                </a:ext>
              </a:extLst>
            </p:cNvPr>
            <p:cNvCxnSpPr>
              <a:cxnSpLocks/>
            </p:cNvCxnSpPr>
            <p:nvPr/>
          </p:nvCxnSpPr>
          <p:spPr>
            <a:xfrm flipV="1">
              <a:off x="5260445" y="4193685"/>
              <a:ext cx="1934336" cy="679853"/>
            </a:xfrm>
            <a:prstGeom prst="line">
              <a:avLst/>
            </a:prstGeom>
            <a:ln w="38100">
              <a:solidFill>
                <a:srgbClr val="C00000"/>
              </a:solidFill>
              <a:prstDash val="dash"/>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2F464622-8BDA-B8EA-3BFC-678331102314}"/>
                </a:ext>
              </a:extLst>
            </p:cNvPr>
            <p:cNvCxnSpPr>
              <a:cxnSpLocks/>
            </p:cNvCxnSpPr>
            <p:nvPr/>
          </p:nvCxnSpPr>
          <p:spPr>
            <a:xfrm flipV="1">
              <a:off x="6676430" y="2497304"/>
              <a:ext cx="1307561" cy="1559245"/>
            </a:xfrm>
            <a:prstGeom prst="line">
              <a:avLst/>
            </a:prstGeom>
            <a:ln w="38100">
              <a:solidFill>
                <a:schemeClr val="accent1"/>
              </a:solidFill>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9F96DC1-CFA5-A046-F1CC-34EBA9561AB8}"/>
                    </a:ext>
                  </a:extLst>
                </p:cNvPr>
                <p:cNvSpPr txBox="1"/>
                <p:nvPr/>
              </p:nvSpPr>
              <p:spPr>
                <a:xfrm>
                  <a:off x="5831317" y="5422245"/>
                  <a:ext cx="577787"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solidFill>
                                  <a:srgbClr val="C00000"/>
                                </a:solidFill>
                                <a:latin typeface="Cambria Math" panose="02040503050406030204" pitchFamily="18" charset="0"/>
                              </a:rPr>
                            </m:ctrlPr>
                          </m:sSupPr>
                          <m:e>
                            <m:r>
                              <a:rPr lang="en-US" sz="2400" b="0" i="1" smtClean="0">
                                <a:solidFill>
                                  <a:srgbClr val="C00000"/>
                                </a:solidFill>
                                <a:latin typeface="Cambria Math" panose="02040503050406030204" pitchFamily="18" charset="0"/>
                              </a:rPr>
                              <m:t>𝑥</m:t>
                            </m:r>
                          </m:e>
                          <m:sup>
                            <m:r>
                              <a:rPr lang="en-US" sz="2400" b="0" i="1" smtClean="0">
                                <a:solidFill>
                                  <a:srgbClr val="C00000"/>
                                </a:solidFill>
                                <a:latin typeface="Cambria Math" panose="02040503050406030204" pitchFamily="18" charset="0"/>
                              </a:rPr>
                              <m:t>(1)</m:t>
                            </m:r>
                          </m:sup>
                        </m:sSup>
                      </m:oMath>
                    </m:oMathPara>
                  </a14:m>
                  <a:endParaRPr lang="en-US" sz="2400">
                    <a:solidFill>
                      <a:srgbClr val="C00000"/>
                    </a:solidFill>
                  </a:endParaRPr>
                </a:p>
              </p:txBody>
            </p:sp>
          </mc:Choice>
          <mc:Fallback xmlns="">
            <p:sp>
              <p:nvSpPr>
                <p:cNvPr id="51" name="TextBox 50">
                  <a:extLst>
                    <a:ext uri="{FF2B5EF4-FFF2-40B4-BE49-F238E27FC236}">
                      <a16:creationId xmlns:a16="http://schemas.microsoft.com/office/drawing/2014/main" id="{39F96DC1-CFA5-A046-F1CC-34EBA9561AB8}"/>
                    </a:ext>
                  </a:extLst>
                </p:cNvPr>
                <p:cNvSpPr txBox="1">
                  <a:spLocks noRot="1" noChangeAspect="1" noMove="1" noResize="1" noEditPoints="1" noAdjustHandles="1" noChangeArrowheads="1" noChangeShapeType="1" noTextEdit="1"/>
                </p:cNvSpPr>
                <p:nvPr/>
              </p:nvSpPr>
              <p:spPr>
                <a:xfrm>
                  <a:off x="5831317" y="5422245"/>
                  <a:ext cx="577787" cy="384657"/>
                </a:xfrm>
                <a:prstGeom prst="rect">
                  <a:avLst/>
                </a:prstGeom>
                <a:blipFill>
                  <a:blip r:embed="rId3"/>
                  <a:stretch>
                    <a:fillRect l="-6522" t="-6250" r="-108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0AED6298-AC9C-1E4E-7CF4-1FBD95B44474}"/>
                    </a:ext>
                  </a:extLst>
                </p:cNvPr>
                <p:cNvSpPr txBox="1"/>
                <p:nvPr/>
              </p:nvSpPr>
              <p:spPr>
                <a:xfrm>
                  <a:off x="7113885" y="5416397"/>
                  <a:ext cx="577787" cy="384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solidFill>
                                  <a:schemeClr val="accent1"/>
                                </a:solidFill>
                                <a:latin typeface="Cambria Math" panose="02040503050406030204" pitchFamily="18" charset="0"/>
                              </a:rPr>
                            </m:ctrlPr>
                          </m:sSupPr>
                          <m:e>
                            <m:r>
                              <a:rPr lang="en-US" sz="2400" b="0" i="1" smtClean="0">
                                <a:solidFill>
                                  <a:schemeClr val="accent1"/>
                                </a:solidFill>
                                <a:latin typeface="Cambria Math" panose="02040503050406030204" pitchFamily="18" charset="0"/>
                              </a:rPr>
                              <m:t>𝑥</m:t>
                            </m:r>
                          </m:e>
                          <m:sup>
                            <m:r>
                              <a:rPr lang="en-US" sz="2400" b="0" i="1" smtClean="0">
                                <a:solidFill>
                                  <a:schemeClr val="accent1"/>
                                </a:solidFill>
                                <a:latin typeface="Cambria Math" panose="02040503050406030204" pitchFamily="18" charset="0"/>
                              </a:rPr>
                              <m:t>(2)</m:t>
                            </m:r>
                          </m:sup>
                        </m:sSup>
                      </m:oMath>
                    </m:oMathPara>
                  </a14:m>
                  <a:endParaRPr lang="en-US" sz="2400">
                    <a:solidFill>
                      <a:schemeClr val="accent1"/>
                    </a:solidFill>
                  </a:endParaRPr>
                </a:p>
              </p:txBody>
            </p:sp>
          </mc:Choice>
          <mc:Fallback xmlns="">
            <p:sp>
              <p:nvSpPr>
                <p:cNvPr id="52" name="TextBox 51">
                  <a:extLst>
                    <a:ext uri="{FF2B5EF4-FFF2-40B4-BE49-F238E27FC236}">
                      <a16:creationId xmlns:a16="http://schemas.microsoft.com/office/drawing/2014/main" id="{0AED6298-AC9C-1E4E-7CF4-1FBD95B44474}"/>
                    </a:ext>
                  </a:extLst>
                </p:cNvPr>
                <p:cNvSpPr txBox="1">
                  <a:spLocks noRot="1" noChangeAspect="1" noMove="1" noResize="1" noEditPoints="1" noAdjustHandles="1" noChangeArrowheads="1" noChangeShapeType="1" noTextEdit="1"/>
                </p:cNvSpPr>
                <p:nvPr/>
              </p:nvSpPr>
              <p:spPr>
                <a:xfrm>
                  <a:off x="7113885" y="5416397"/>
                  <a:ext cx="577787" cy="384657"/>
                </a:xfrm>
                <a:prstGeom prst="rect">
                  <a:avLst/>
                </a:prstGeom>
                <a:blipFill>
                  <a:blip r:embed="rId4"/>
                  <a:stretch>
                    <a:fillRect l="-6383" t="-6250" r="-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1DA0C8D4-F87E-FE63-8AD6-61D16F9E8848}"/>
                    </a:ext>
                  </a:extLst>
                </p:cNvPr>
                <p:cNvSpPr txBox="1"/>
                <p:nvPr/>
              </p:nvSpPr>
              <p:spPr>
                <a:xfrm>
                  <a:off x="9545114" y="5197152"/>
                  <a:ext cx="437364"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rPr>
                          <m:t>𝑥</m:t>
                        </m:r>
                      </m:oMath>
                    </m:oMathPara>
                  </a14:m>
                  <a:endParaRPr lang="en-US" sz="2400">
                    <a:solidFill>
                      <a:schemeClr val="tx1"/>
                    </a:solidFill>
                  </a:endParaRPr>
                </a:p>
              </p:txBody>
            </p:sp>
          </mc:Choice>
          <mc:Fallback xmlns="">
            <p:sp>
              <p:nvSpPr>
                <p:cNvPr id="54" name="TextBox 53">
                  <a:extLst>
                    <a:ext uri="{FF2B5EF4-FFF2-40B4-BE49-F238E27FC236}">
                      <a16:creationId xmlns:a16="http://schemas.microsoft.com/office/drawing/2014/main" id="{1DA0C8D4-F87E-FE63-8AD6-61D16F9E8848}"/>
                    </a:ext>
                  </a:extLst>
                </p:cNvPr>
                <p:cNvSpPr txBox="1">
                  <a:spLocks noRot="1" noChangeAspect="1" noMove="1" noResize="1" noEditPoints="1" noAdjustHandles="1" noChangeArrowheads="1" noChangeShapeType="1" noTextEdit="1"/>
                </p:cNvSpPr>
                <p:nvPr/>
              </p:nvSpPr>
              <p:spPr>
                <a:xfrm>
                  <a:off x="9545114" y="5197152"/>
                  <a:ext cx="437364" cy="369332"/>
                </a:xfrm>
                <a:prstGeom prst="rect">
                  <a:avLst/>
                </a:prstGeom>
                <a:blipFill>
                  <a:blip r:embed="rId5"/>
                  <a:stretch>
                    <a:fillRect/>
                  </a:stretch>
                </a:blipFill>
              </p:spPr>
              <p:txBody>
                <a:bodyPr/>
                <a:lstStyle/>
                <a:p>
                  <a:r>
                    <a:rPr lang="en-US">
                      <a:noFill/>
                    </a:rPr>
                    <a:t> </a:t>
                  </a:r>
                </a:p>
              </p:txBody>
            </p:sp>
          </mc:Fallback>
        </mc:AlternateContent>
        <p:sp>
          <p:nvSpPr>
            <p:cNvPr id="56" name="Oval 55">
              <a:extLst>
                <a:ext uri="{FF2B5EF4-FFF2-40B4-BE49-F238E27FC236}">
                  <a16:creationId xmlns:a16="http://schemas.microsoft.com/office/drawing/2014/main" id="{A2027EFF-22C4-7025-691B-4856AC9CE6D4}"/>
                </a:ext>
              </a:extLst>
            </p:cNvPr>
            <p:cNvSpPr>
              <a:spLocks noChangeAspect="1"/>
            </p:cNvSpPr>
            <p:nvPr/>
          </p:nvSpPr>
          <p:spPr>
            <a:xfrm>
              <a:off x="5850210" y="4300424"/>
              <a:ext cx="540000" cy="540000"/>
            </a:xfrm>
            <a:prstGeom prst="ellipse">
              <a:avLst/>
            </a:prstGeom>
            <a:noFill/>
            <a:ln w="254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D0158D3-CAA1-7638-B8EE-193BBDEB6367}"/>
                </a:ext>
              </a:extLst>
            </p:cNvPr>
            <p:cNvSpPr>
              <a:spLocks noChangeAspect="1"/>
            </p:cNvSpPr>
            <p:nvPr/>
          </p:nvSpPr>
          <p:spPr>
            <a:xfrm>
              <a:off x="6030210" y="4480424"/>
              <a:ext cx="180000" cy="180000"/>
            </a:xfrm>
            <a:prstGeom prst="ellipse">
              <a:avLst/>
            </a:prstGeom>
            <a:solidFill>
              <a:srgbClr val="C00000"/>
            </a:solidFill>
            <a:ln w="2540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FFC1CD08-93B9-E3D5-674C-60FC1CF35542}"/>
                </a:ext>
              </a:extLst>
            </p:cNvPr>
            <p:cNvSpPr>
              <a:spLocks noChangeAspect="1"/>
            </p:cNvSpPr>
            <p:nvPr/>
          </p:nvSpPr>
          <p:spPr>
            <a:xfrm>
              <a:off x="7312780" y="3136040"/>
              <a:ext cx="180000" cy="180000"/>
            </a:xfrm>
            <a:prstGeom prst="ellipse">
              <a:avLst/>
            </a:prstGeom>
            <a:solidFill>
              <a:schemeClr val="accent1"/>
            </a:solidFill>
            <a:ln w="2540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1" name="Oval 60">
              <a:extLst>
                <a:ext uri="{FF2B5EF4-FFF2-40B4-BE49-F238E27FC236}">
                  <a16:creationId xmlns:a16="http://schemas.microsoft.com/office/drawing/2014/main" id="{722231F5-401B-5210-6C16-296EE80A61AD}"/>
                </a:ext>
              </a:extLst>
            </p:cNvPr>
            <p:cNvSpPr>
              <a:spLocks noChangeAspect="1"/>
            </p:cNvSpPr>
            <p:nvPr/>
          </p:nvSpPr>
          <p:spPr>
            <a:xfrm>
              <a:off x="6945239" y="2774481"/>
              <a:ext cx="915081" cy="915081"/>
            </a:xfrm>
            <a:prstGeom prst="ellipse">
              <a:avLst/>
            </a:prstGeom>
            <a:noFill/>
            <a:ln w="254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9CE957C9-60C2-BFB5-C687-F452A4EBA760}"/>
                    </a:ext>
                  </a:extLst>
                </p:cNvPr>
                <p:cNvSpPr txBox="1"/>
                <p:nvPr/>
              </p:nvSpPr>
              <p:spPr>
                <a:xfrm>
                  <a:off x="8796026" y="3658443"/>
                  <a:ext cx="1186174"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𝑓</m:t>
                        </m:r>
                        <m:r>
                          <a:rPr lang="en-US" sz="2400" b="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oMath>
                    </m:oMathPara>
                  </a14:m>
                  <a:endParaRPr lang="en-US" sz="2400">
                    <a:solidFill>
                      <a:schemeClr val="tx1"/>
                    </a:solidFill>
                  </a:endParaRPr>
                </a:p>
              </p:txBody>
            </p:sp>
          </mc:Choice>
          <mc:Fallback xmlns="">
            <p:sp>
              <p:nvSpPr>
                <p:cNvPr id="63" name="TextBox 62">
                  <a:extLst>
                    <a:ext uri="{FF2B5EF4-FFF2-40B4-BE49-F238E27FC236}">
                      <a16:creationId xmlns:a16="http://schemas.microsoft.com/office/drawing/2014/main" id="{9CE957C9-60C2-BFB5-C687-F452A4EBA760}"/>
                    </a:ext>
                  </a:extLst>
                </p:cNvPr>
                <p:cNvSpPr txBox="1">
                  <a:spLocks noRot="1" noChangeAspect="1" noMove="1" noResize="1" noEditPoints="1" noAdjustHandles="1" noChangeArrowheads="1" noChangeShapeType="1" noTextEdit="1"/>
                </p:cNvSpPr>
                <p:nvPr/>
              </p:nvSpPr>
              <p:spPr>
                <a:xfrm>
                  <a:off x="8796026" y="3658443"/>
                  <a:ext cx="1186174" cy="369332"/>
                </a:xfrm>
                <a:prstGeom prst="rect">
                  <a:avLst/>
                </a:prstGeom>
                <a:blipFill>
                  <a:blip r:embed="rId6"/>
                  <a:stretch>
                    <a:fillRect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3B6B2D21-F5D0-2544-2B0B-661A523651CB}"/>
                    </a:ext>
                  </a:extLst>
                </p:cNvPr>
                <p:cNvSpPr txBox="1"/>
                <p:nvPr/>
              </p:nvSpPr>
              <p:spPr>
                <a:xfrm>
                  <a:off x="4956239" y="4808735"/>
                  <a:ext cx="4890941" cy="45794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𝑓</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𝑥</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𝑓</m:t>
                        </m:r>
                        <m:d>
                          <m:dPr>
                            <m:ctrlPr>
                              <a:rPr lang="en-US" sz="2400" i="1">
                                <a:solidFill>
                                  <a:srgbClr val="C00000"/>
                                </a:solidFill>
                                <a:latin typeface="Cambria Math" panose="02040503050406030204" pitchFamily="18" charset="0"/>
                              </a:rPr>
                            </m:ctrlPr>
                          </m:dPr>
                          <m:e>
                            <m:sSup>
                              <m:sSupPr>
                                <m:ctrlPr>
                                  <a:rPr lang="en-US" sz="2400" i="1">
                                    <a:solidFill>
                                      <a:srgbClr val="C00000"/>
                                    </a:solidFill>
                                    <a:latin typeface="Cambria Math" panose="02040503050406030204" pitchFamily="18" charset="0"/>
                                  </a:rPr>
                                </m:ctrlPr>
                              </m:sSupPr>
                              <m:e>
                                <m:acc>
                                  <m:accPr>
                                    <m:chr m:val="̅"/>
                                    <m:ctrlPr>
                                      <a:rPr lang="en-US" sz="2400" i="1">
                                        <a:solidFill>
                                          <a:srgbClr val="C00000"/>
                                        </a:solidFill>
                                        <a:latin typeface="Cambria Math" panose="02040503050406030204" pitchFamily="18" charset="0"/>
                                      </a:rPr>
                                    </m:ctrlPr>
                                  </m:accPr>
                                  <m:e>
                                    <m:r>
                                      <a:rPr lang="en-US" sz="2400" i="1">
                                        <a:solidFill>
                                          <a:srgbClr val="C00000"/>
                                        </a:solidFill>
                                        <a:latin typeface="Cambria Math" panose="02040503050406030204" pitchFamily="18" charset="0"/>
                                      </a:rPr>
                                      <m:t>𝑥</m:t>
                                    </m:r>
                                  </m:e>
                                </m:acc>
                              </m:e>
                              <m:sup>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1</m:t>
                                    </m:r>
                                  </m:e>
                                </m:d>
                              </m:sup>
                            </m:sSup>
                          </m:e>
                        </m:d>
                        <m:r>
                          <a:rPr lang="en-US" sz="2400" b="0" i="1" smtClean="0">
                            <a:solidFill>
                              <a:srgbClr val="C00000"/>
                            </a:solidFill>
                            <a:latin typeface="Cambria Math" panose="02040503050406030204" pitchFamily="18" charset="0"/>
                          </a:rPr>
                          <m:t>+</m:t>
                        </m:r>
                        <m:box>
                          <m:boxPr>
                            <m:ctrlPr>
                              <a:rPr lang="en-US" sz="2400" b="0" i="1" smtClean="0">
                                <a:solidFill>
                                  <a:srgbClr val="C00000"/>
                                </a:solidFill>
                                <a:latin typeface="Cambria Math" panose="02040503050406030204" pitchFamily="18" charset="0"/>
                              </a:rPr>
                            </m:ctrlPr>
                          </m:boxPr>
                          <m:e>
                            <m:argPr>
                              <m:argSz m:val="-1"/>
                            </m:argPr>
                            <m:f>
                              <m:fPr>
                                <m:ctrlPr>
                                  <a:rPr lang="en-US" sz="2400" b="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𝑓</m:t>
                                </m:r>
                              </m:num>
                              <m:den>
                                <m:r>
                                  <a:rPr lang="en-US" sz="2400" b="0" i="1" smtClean="0">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𝑥</m:t>
                                </m:r>
                              </m:den>
                            </m:f>
                          </m:e>
                        </m:box>
                        <m:d>
                          <m:dPr>
                            <m:ctrlPr>
                              <a:rPr lang="en-US" sz="2400" b="0" i="1" smtClean="0">
                                <a:solidFill>
                                  <a:srgbClr val="C00000"/>
                                </a:solidFill>
                                <a:latin typeface="Cambria Math" panose="02040503050406030204" pitchFamily="18" charset="0"/>
                              </a:rPr>
                            </m:ctrlPr>
                          </m:dPr>
                          <m:e>
                            <m:sSup>
                              <m:sSupPr>
                                <m:ctrlPr>
                                  <a:rPr lang="en-US" sz="2400" b="0" i="1" smtClean="0">
                                    <a:solidFill>
                                      <a:srgbClr val="C00000"/>
                                    </a:solidFill>
                                    <a:latin typeface="Cambria Math" panose="02040503050406030204" pitchFamily="18" charset="0"/>
                                  </a:rPr>
                                </m:ctrlPr>
                              </m:sSupPr>
                              <m:e>
                                <m:acc>
                                  <m:accPr>
                                    <m:chr m:val="̅"/>
                                    <m:ctrlPr>
                                      <a:rPr lang="en-US" sz="2400" i="1">
                                        <a:solidFill>
                                          <a:srgbClr val="C00000"/>
                                        </a:solidFill>
                                        <a:latin typeface="Cambria Math" panose="02040503050406030204" pitchFamily="18" charset="0"/>
                                      </a:rPr>
                                    </m:ctrlPr>
                                  </m:accPr>
                                  <m:e>
                                    <m:r>
                                      <a:rPr lang="en-US" sz="2400" i="1">
                                        <a:solidFill>
                                          <a:srgbClr val="C00000"/>
                                        </a:solidFill>
                                        <a:latin typeface="Cambria Math" panose="02040503050406030204" pitchFamily="18" charset="0"/>
                                      </a:rPr>
                                      <m:t>𝑥</m:t>
                                    </m:r>
                                  </m:e>
                                </m:acc>
                              </m:e>
                              <m:sup>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1</m:t>
                                    </m:r>
                                  </m:e>
                                </m:d>
                              </m:sup>
                            </m:sSup>
                          </m:e>
                        </m:d>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𝑥</m:t>
                            </m:r>
                            <m:r>
                              <a:rPr lang="en-US" sz="2400" b="0" i="1" smtClean="0">
                                <a:solidFill>
                                  <a:srgbClr val="C00000"/>
                                </a:solidFill>
                                <a:latin typeface="Cambria Math" panose="02040503050406030204" pitchFamily="18" charset="0"/>
                              </a:rPr>
                              <m:t>−</m:t>
                            </m:r>
                            <m:sSup>
                              <m:sSupPr>
                                <m:ctrlPr>
                                  <a:rPr lang="en-US" sz="2400" b="0" i="1" smtClean="0">
                                    <a:solidFill>
                                      <a:srgbClr val="C00000"/>
                                    </a:solidFill>
                                    <a:latin typeface="Cambria Math" panose="02040503050406030204" pitchFamily="18" charset="0"/>
                                  </a:rPr>
                                </m:ctrlPr>
                              </m:sSupPr>
                              <m:e>
                                <m:acc>
                                  <m:accPr>
                                    <m:chr m:val="̅"/>
                                    <m:ctrlPr>
                                      <a:rPr lang="en-US" sz="2400" i="1">
                                        <a:solidFill>
                                          <a:srgbClr val="C00000"/>
                                        </a:solidFill>
                                        <a:latin typeface="Cambria Math" panose="02040503050406030204" pitchFamily="18" charset="0"/>
                                      </a:rPr>
                                    </m:ctrlPr>
                                  </m:accPr>
                                  <m:e>
                                    <m:r>
                                      <a:rPr lang="en-US" sz="2400" i="1">
                                        <a:solidFill>
                                          <a:srgbClr val="C00000"/>
                                        </a:solidFill>
                                        <a:latin typeface="Cambria Math" panose="02040503050406030204" pitchFamily="18" charset="0"/>
                                      </a:rPr>
                                      <m:t>𝑥</m:t>
                                    </m:r>
                                  </m:e>
                                </m:acc>
                              </m:e>
                              <m:sup>
                                <m:d>
                                  <m:dPr>
                                    <m:ctrlPr>
                                      <a:rPr lang="en-US" sz="2400" b="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1</m:t>
                                    </m:r>
                                  </m:e>
                                </m:d>
                              </m:sup>
                            </m:sSup>
                          </m:e>
                        </m:d>
                      </m:oMath>
                    </m:oMathPara>
                  </a14:m>
                  <a:endParaRPr lang="en-US" sz="2400">
                    <a:solidFill>
                      <a:srgbClr val="C00000"/>
                    </a:solidFill>
                  </a:endParaRPr>
                </a:p>
              </p:txBody>
            </p:sp>
          </mc:Choice>
          <mc:Fallback xmlns="">
            <p:sp>
              <p:nvSpPr>
                <p:cNvPr id="72" name="TextBox 71">
                  <a:extLst>
                    <a:ext uri="{FF2B5EF4-FFF2-40B4-BE49-F238E27FC236}">
                      <a16:creationId xmlns:a16="http://schemas.microsoft.com/office/drawing/2014/main" id="{3B6B2D21-F5D0-2544-2B0B-661A523651CB}"/>
                    </a:ext>
                  </a:extLst>
                </p:cNvPr>
                <p:cNvSpPr txBox="1">
                  <a:spLocks noRot="1" noChangeAspect="1" noMove="1" noResize="1" noEditPoints="1" noAdjustHandles="1" noChangeArrowheads="1" noChangeShapeType="1" noTextEdit="1"/>
                </p:cNvSpPr>
                <p:nvPr/>
              </p:nvSpPr>
              <p:spPr>
                <a:xfrm>
                  <a:off x="4956239" y="4808735"/>
                  <a:ext cx="4890941" cy="457946"/>
                </a:xfrm>
                <a:prstGeom prst="rect">
                  <a:avLst/>
                </a:prstGeom>
                <a:blipFill>
                  <a:blip r:embed="rId7"/>
                  <a:stretch>
                    <a:fillRect l="-777" b="-18919"/>
                  </a:stretch>
                </a:blipFill>
              </p:spPr>
              <p:txBody>
                <a:bodyPr/>
                <a:lstStyle/>
                <a:p>
                  <a:r>
                    <a:rPr lang="en-US">
                      <a:noFill/>
                    </a:rPr>
                    <a:t> </a:t>
                  </a:r>
                </a:p>
              </p:txBody>
            </p:sp>
          </mc:Fallback>
        </mc:AlternateContent>
        <p:sp>
          <p:nvSpPr>
            <p:cNvPr id="76" name="Left Brace 75">
              <a:extLst>
                <a:ext uri="{FF2B5EF4-FFF2-40B4-BE49-F238E27FC236}">
                  <a16:creationId xmlns:a16="http://schemas.microsoft.com/office/drawing/2014/main" id="{F0825D5A-CD92-384A-B716-154DEB765CB6}"/>
                </a:ext>
              </a:extLst>
            </p:cNvPr>
            <p:cNvSpPr/>
            <p:nvPr/>
          </p:nvSpPr>
          <p:spPr>
            <a:xfrm rot="5400000">
              <a:off x="8584406" y="1464474"/>
              <a:ext cx="260570" cy="1080290"/>
            </a:xfrm>
            <a:prstGeom prst="leftBrace">
              <a:avLst>
                <a:gd name="adj1" fmla="val 35228"/>
                <a:gd name="adj2" fmla="val 5065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Left Brace 76">
              <a:extLst>
                <a:ext uri="{FF2B5EF4-FFF2-40B4-BE49-F238E27FC236}">
                  <a16:creationId xmlns:a16="http://schemas.microsoft.com/office/drawing/2014/main" id="{48239348-3D76-1C00-7BB3-FE97DFEC43FD}"/>
                </a:ext>
              </a:extLst>
            </p:cNvPr>
            <p:cNvSpPr/>
            <p:nvPr/>
          </p:nvSpPr>
          <p:spPr>
            <a:xfrm rot="5400000">
              <a:off x="9797073" y="1409973"/>
              <a:ext cx="260570" cy="1200561"/>
            </a:xfrm>
            <a:prstGeom prst="leftBrace">
              <a:avLst>
                <a:gd name="adj1" fmla="val 35228"/>
                <a:gd name="adj2" fmla="val 5065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8" name="TextBox 77">
              <a:extLst>
                <a:ext uri="{FF2B5EF4-FFF2-40B4-BE49-F238E27FC236}">
                  <a16:creationId xmlns:a16="http://schemas.microsoft.com/office/drawing/2014/main" id="{D085F6BA-B9FC-6647-8869-AB5E00A057A9}"/>
                </a:ext>
              </a:extLst>
            </p:cNvPr>
            <p:cNvSpPr txBox="1"/>
            <p:nvPr/>
          </p:nvSpPr>
          <p:spPr>
            <a:xfrm>
              <a:off x="8286111" y="1458547"/>
              <a:ext cx="853119" cy="461665"/>
            </a:xfrm>
            <a:prstGeom prst="rect">
              <a:avLst/>
            </a:prstGeom>
            <a:noFill/>
          </p:spPr>
          <p:txBody>
            <a:bodyPr wrap="none" rtlCol="0">
              <a:spAutoFit/>
            </a:bodyPr>
            <a:lstStyle/>
            <a:p>
              <a:r>
                <a:rPr lang="en-US" sz="2400"/>
                <a:t>slope</a:t>
              </a:r>
            </a:p>
          </p:txBody>
        </p:sp>
        <p:sp>
          <p:nvSpPr>
            <p:cNvPr id="79" name="TextBox 78">
              <a:extLst>
                <a:ext uri="{FF2B5EF4-FFF2-40B4-BE49-F238E27FC236}">
                  <a16:creationId xmlns:a16="http://schemas.microsoft.com/office/drawing/2014/main" id="{8DC4D656-DB7D-BA15-600D-CA763CED5D6B}"/>
                </a:ext>
              </a:extLst>
            </p:cNvPr>
            <p:cNvSpPr txBox="1"/>
            <p:nvPr/>
          </p:nvSpPr>
          <p:spPr>
            <a:xfrm>
              <a:off x="9497261" y="1461704"/>
              <a:ext cx="817275" cy="461665"/>
            </a:xfrm>
            <a:prstGeom prst="rect">
              <a:avLst/>
            </a:prstGeom>
            <a:noFill/>
          </p:spPr>
          <p:txBody>
            <a:bodyPr wrap="none" rtlCol="0">
              <a:spAutoFit/>
            </a:bodyPr>
            <a:lstStyle/>
            <a:p>
              <a:r>
                <a:rPr lang="en-US" sz="2400"/>
                <a:t>delta</a:t>
              </a:r>
            </a:p>
          </p:txBody>
        </p:sp>
        <p:sp>
          <p:nvSpPr>
            <p:cNvPr id="80" name="TextBox 79">
              <a:extLst>
                <a:ext uri="{FF2B5EF4-FFF2-40B4-BE49-F238E27FC236}">
                  <a16:creationId xmlns:a16="http://schemas.microsoft.com/office/drawing/2014/main" id="{DA652400-E9B1-2C49-D128-70A56B07495C}"/>
                </a:ext>
              </a:extLst>
            </p:cNvPr>
            <p:cNvSpPr txBox="1"/>
            <p:nvPr/>
          </p:nvSpPr>
          <p:spPr>
            <a:xfrm>
              <a:off x="6897680" y="1447156"/>
              <a:ext cx="903709" cy="461665"/>
            </a:xfrm>
            <a:prstGeom prst="rect">
              <a:avLst/>
            </a:prstGeom>
            <a:noFill/>
          </p:spPr>
          <p:txBody>
            <a:bodyPr wrap="none" rtlCol="0">
              <a:spAutoFit/>
            </a:bodyPr>
            <a:lstStyle/>
            <a:p>
              <a:r>
                <a:rPr lang="en-US" sz="2400"/>
                <a:t>offset</a:t>
              </a:r>
            </a:p>
          </p:txBody>
        </p:sp>
        <p:sp>
          <p:nvSpPr>
            <p:cNvPr id="81" name="Left Brace 80">
              <a:extLst>
                <a:ext uri="{FF2B5EF4-FFF2-40B4-BE49-F238E27FC236}">
                  <a16:creationId xmlns:a16="http://schemas.microsoft.com/office/drawing/2014/main" id="{CA8D9E6B-0AD3-19E6-9CBB-570772D0DBB6}"/>
                </a:ext>
              </a:extLst>
            </p:cNvPr>
            <p:cNvSpPr/>
            <p:nvPr/>
          </p:nvSpPr>
          <p:spPr>
            <a:xfrm rot="5400000">
              <a:off x="7219248" y="1522524"/>
              <a:ext cx="260570" cy="983533"/>
            </a:xfrm>
            <a:prstGeom prst="leftBrace">
              <a:avLst>
                <a:gd name="adj1" fmla="val 35228"/>
                <a:gd name="adj2" fmla="val 5065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773D8837-CFD1-F063-1E69-4C3EA9220D56}"/>
                    </a:ext>
                  </a:extLst>
                </p:cNvPr>
                <p:cNvSpPr txBox="1"/>
                <p:nvPr/>
              </p:nvSpPr>
              <p:spPr>
                <a:xfrm>
                  <a:off x="3849143" y="1714212"/>
                  <a:ext cx="766456"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𝑓</m:t>
                        </m:r>
                        <m:r>
                          <a:rPr lang="en-US" sz="2400" b="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oMath>
                    </m:oMathPara>
                  </a14:m>
                  <a:endParaRPr lang="en-US" sz="2400">
                    <a:solidFill>
                      <a:schemeClr val="tx1"/>
                    </a:solidFill>
                  </a:endParaRPr>
                </a:p>
              </p:txBody>
            </p:sp>
          </mc:Choice>
          <mc:Fallback xmlns="">
            <p:sp>
              <p:nvSpPr>
                <p:cNvPr id="82" name="TextBox 81">
                  <a:extLst>
                    <a:ext uri="{FF2B5EF4-FFF2-40B4-BE49-F238E27FC236}">
                      <a16:creationId xmlns:a16="http://schemas.microsoft.com/office/drawing/2014/main" id="{773D8837-CFD1-F063-1E69-4C3EA9220D56}"/>
                    </a:ext>
                  </a:extLst>
                </p:cNvPr>
                <p:cNvSpPr txBox="1">
                  <a:spLocks noRot="1" noChangeAspect="1" noMove="1" noResize="1" noEditPoints="1" noAdjustHandles="1" noChangeArrowheads="1" noChangeShapeType="1" noTextEdit="1"/>
                </p:cNvSpPr>
                <p:nvPr/>
              </p:nvSpPr>
              <p:spPr>
                <a:xfrm>
                  <a:off x="3849143" y="1714212"/>
                  <a:ext cx="766456" cy="369332"/>
                </a:xfrm>
                <a:prstGeom prst="rect">
                  <a:avLst/>
                </a:prstGeom>
                <a:blipFill>
                  <a:blip r:embed="rId8"/>
                  <a:stretch>
                    <a:fillRect l="-8197" r="-8197" b="-3225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9214D0E0-6B8A-D790-72F2-D58202C0C5BE}"/>
                  </a:ext>
                </a:extLst>
              </p:cNvPr>
              <p:cNvSpPr>
                <a:spLocks noGrp="1"/>
              </p:cNvSpPr>
              <p:nvPr>
                <p:ph idx="1"/>
              </p:nvPr>
            </p:nvSpPr>
            <p:spPr>
              <a:xfrm>
                <a:off x="838200" y="1825625"/>
                <a:ext cx="4886603" cy="4351338"/>
              </a:xfrm>
            </p:spPr>
            <p:txBody>
              <a:bodyPr>
                <a:noAutofit/>
              </a:bodyPr>
              <a:lstStyle/>
              <a:p>
                <a:pPr>
                  <a:lnSpc>
                    <a:spcPct val="100000"/>
                  </a:lnSpc>
                  <a:spcAft>
                    <a:spcPts val="2000"/>
                  </a:spcAft>
                </a:pPr>
                <a:r>
                  <a:rPr lang="en-US" sz="2400" i="1">
                    <a:latin typeface="Source Sans Pro" panose="020B0503030403020204" pitchFamily="34" charset="0"/>
                    <a:ea typeface="Source Sans Pro" panose="020B0503030403020204" pitchFamily="34" charset="0"/>
                  </a:rPr>
                  <a:t>Linearization</a:t>
                </a:r>
                <a:r>
                  <a:rPr lang="en-US" sz="2400">
                    <a:latin typeface="Source Sans Pro" panose="020B0503030403020204" pitchFamily="34" charset="0"/>
                    <a:ea typeface="Source Sans Pro" panose="020B0503030403020204" pitchFamily="34" charset="0"/>
                  </a:rPr>
                  <a:t> approximates a nonlinear function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𝑓</m:t>
                    </m:r>
                  </m:oMath>
                </a14:m>
                <a:r>
                  <a:rPr lang="en-US" sz="2400">
                    <a:latin typeface="Source Sans Pro" panose="020B0503030403020204" pitchFamily="34" charset="0"/>
                    <a:ea typeface="Source Sans Pro" panose="020B0503030403020204" pitchFamily="34" charset="0"/>
                  </a:rPr>
                  <a:t> near </a:t>
                </a:r>
                <a14:m>
                  <m:oMath xmlns:m="http://schemas.openxmlformats.org/officeDocument/2006/math">
                    <m:acc>
                      <m:accPr>
                        <m:chr m:val="̅"/>
                        <m:ctrlPr>
                          <a:rPr lang="en-US" sz="2400" b="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oMath>
                </a14:m>
                <a:r>
                  <a:rPr lang="en-US" sz="2400">
                    <a:latin typeface="Source Sans Pro" panose="020B0503030403020204" pitchFamily="34" charset="0"/>
                    <a:ea typeface="Source Sans Pro" panose="020B0503030403020204" pitchFamily="34" charset="0"/>
                  </a:rPr>
                  <a:t> by a line, i.e., linear function</a:t>
                </a:r>
              </a:p>
              <a:p>
                <a:pPr>
                  <a:lnSpc>
                    <a:spcPct val="100000"/>
                  </a:lnSpc>
                  <a:spcAft>
                    <a:spcPts val="2000"/>
                  </a:spcAft>
                </a:pPr>
                <a:r>
                  <a:rPr lang="en-US" sz="2400">
                    <a:latin typeface="Source Sans Pro" panose="020B0503030403020204" pitchFamily="34" charset="0"/>
                    <a:ea typeface="Source Sans Pro" panose="020B0503030403020204" pitchFamily="34" charset="0"/>
                  </a:rPr>
                  <a:t>The “slope” of the line is the derivative of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𝑓</m:t>
                    </m:r>
                  </m:oMath>
                </a14:m>
                <a:r>
                  <a:rPr lang="en-US" sz="2400">
                    <a:latin typeface="Source Sans Pro" panose="020B0503030403020204" pitchFamily="34" charset="0"/>
                    <a:ea typeface="Source Sans Pro" panose="020B0503030403020204" pitchFamily="34" charset="0"/>
                  </a:rPr>
                  <a:t> at </a:t>
                </a:r>
                <a14:m>
                  <m:oMath xmlns:m="http://schemas.openxmlformats.org/officeDocument/2006/math">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oMath>
                </a14:m>
                <a:r>
                  <a:rPr lang="en-US" sz="2400">
                    <a:latin typeface="Source Sans Pro" panose="020B0503030403020204" pitchFamily="34" charset="0"/>
                    <a:ea typeface="Source Sans Pro" panose="020B0503030403020204" pitchFamily="34" charset="0"/>
                  </a:rPr>
                  <a:t>. The change in </a:t>
                </a:r>
                <a14:m>
                  <m:oMath xmlns:m="http://schemas.openxmlformats.org/officeDocument/2006/math">
                    <m:r>
                      <a:rPr lang="en-US" sz="2400" i="1">
                        <a:latin typeface="Cambria Math" panose="02040503050406030204" pitchFamily="18" charset="0"/>
                        <a:ea typeface="Source Sans Pro" panose="020B0503030403020204" pitchFamily="34" charset="0"/>
                      </a:rPr>
                      <m:t>𝑓</m:t>
                    </m:r>
                    <m:r>
                      <a:rPr lang="en-US" sz="2400" i="1">
                        <a:latin typeface="Cambria Math" panose="02040503050406030204" pitchFamily="18" charset="0"/>
                        <a:ea typeface="Source Sans Pro" panose="020B0503030403020204" pitchFamily="34"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r>
                      <a:rPr lang="en-US" sz="2400" i="1">
                        <a:latin typeface="Cambria Math" panose="02040503050406030204" pitchFamily="18" charset="0"/>
                        <a:ea typeface="Source Sans Pro" panose="020B0503030403020204" pitchFamily="34" charset="0"/>
                      </a:rPr>
                      <m:t>)</m:t>
                    </m:r>
                  </m:oMath>
                </a14:m>
                <a:r>
                  <a:rPr lang="en-US" sz="2400">
                    <a:latin typeface="Source Sans Pro" panose="020B0503030403020204" pitchFamily="34" charset="0"/>
                    <a:ea typeface="Source Sans Pro" panose="020B0503030403020204" pitchFamily="34" charset="0"/>
                  </a:rPr>
                  <a:t> near </a:t>
                </a:r>
                <a14:m>
                  <m:oMath xmlns:m="http://schemas.openxmlformats.org/officeDocument/2006/math">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oMath>
                </a14:m>
                <a:r>
                  <a:rPr lang="en-US" sz="2400">
                    <a:latin typeface="Source Sans Pro" panose="020B0503030403020204" pitchFamily="34" charset="0"/>
                    <a:ea typeface="Source Sans Pro" panose="020B0503030403020204" pitchFamily="34" charset="0"/>
                  </a:rPr>
                  <a:t> is the slope multiplied by the distance from </a:t>
                </a:r>
                <a14:m>
                  <m:oMath xmlns:m="http://schemas.openxmlformats.org/officeDocument/2006/math">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oMath>
                </a14:m>
                <a:endParaRPr lang="en-US" sz="2400">
                  <a:latin typeface="Source Sans Pro" panose="020B0503030403020204" pitchFamily="34" charset="0"/>
                  <a:ea typeface="Source Sans Pro" panose="020B0503030403020204" pitchFamily="34" charset="0"/>
                </a:endParaRPr>
              </a:p>
              <a:p>
                <a:pPr>
                  <a:lnSpc>
                    <a:spcPct val="100000"/>
                  </a:lnSpc>
                  <a:spcAft>
                    <a:spcPts val="2000"/>
                  </a:spcAft>
                </a:pPr>
                <a:r>
                  <a:rPr lang="en-US" sz="2400">
                    <a:latin typeface="Source Sans Pro" panose="020B0503030403020204" pitchFamily="34" charset="0"/>
                    <a:ea typeface="Source Sans Pro" panose="020B0503030403020204" pitchFamily="34" charset="0"/>
                  </a:rPr>
                  <a:t>The quality of the approximation can vary with the linearization point </a:t>
                </a:r>
                <a14:m>
                  <m:oMath xmlns:m="http://schemas.openxmlformats.org/officeDocument/2006/math">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oMath>
                </a14:m>
                <a:r>
                  <a:rPr lang="en-US" sz="2400">
                    <a:latin typeface="Source Sans Pro" panose="020B0503030403020204" pitchFamily="34" charset="0"/>
                    <a:ea typeface="Source Sans Pro" panose="020B0503030403020204" pitchFamily="34" charset="0"/>
                  </a:rPr>
                  <a:t> and distance from </a:t>
                </a:r>
                <a14:m>
                  <m:oMath xmlns:m="http://schemas.openxmlformats.org/officeDocument/2006/math">
                    <m:acc>
                      <m:accPr>
                        <m:chr m:val="̅"/>
                        <m:ctrlPr>
                          <a:rPr lang="en-US" sz="2400" b="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oMath>
                </a14:m>
                <a:endParaRPr lang="en-US" sz="2400">
                  <a:latin typeface="Source Sans Pro" panose="020B0503030403020204" pitchFamily="34" charset="0"/>
                  <a:ea typeface="Source Sans Pro" panose="020B0503030403020204" pitchFamily="34" charset="0"/>
                </a:endParaRPr>
              </a:p>
            </p:txBody>
          </p:sp>
        </mc:Choice>
        <mc:Fallback xmlns="">
          <p:sp>
            <p:nvSpPr>
              <p:cNvPr id="84" name="Content Placeholder 2">
                <a:extLst>
                  <a:ext uri="{FF2B5EF4-FFF2-40B4-BE49-F238E27FC236}">
                    <a16:creationId xmlns:a16="http://schemas.microsoft.com/office/drawing/2014/main" id="{9214D0E0-6B8A-D790-72F2-D58202C0C5BE}"/>
                  </a:ext>
                </a:extLst>
              </p:cNvPr>
              <p:cNvSpPr>
                <a:spLocks noGrp="1" noRot="1" noChangeAspect="1" noMove="1" noResize="1" noEditPoints="1" noAdjustHandles="1" noChangeArrowheads="1" noChangeShapeType="1" noTextEdit="1"/>
              </p:cNvSpPr>
              <p:nvPr>
                <p:ph idx="1"/>
              </p:nvPr>
            </p:nvSpPr>
            <p:spPr>
              <a:xfrm>
                <a:off x="838200" y="1825625"/>
                <a:ext cx="4886603" cy="4351338"/>
              </a:xfrm>
              <a:blipFill>
                <a:blip r:embed="rId9"/>
                <a:stretch>
                  <a:fillRect l="-1818" t="-1163" r="-519" b="-6977"/>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F21DDF6B-6283-C681-C81C-BCB7E978B437}"/>
              </a:ext>
            </a:extLst>
          </p:cNvPr>
          <p:cNvSpPr>
            <a:spLocks noGrp="1"/>
          </p:cNvSpPr>
          <p:nvPr>
            <p:ph type="ftr" sz="quarter" idx="11"/>
          </p:nvPr>
        </p:nvSpPr>
        <p:spPr/>
        <p:txBody>
          <a:bodyPr/>
          <a:lstStyle/>
          <a:p>
            <a:r>
              <a:rPr lang="hr-HR"/>
              <a:t>AA 174A | Lecture 3 </a:t>
            </a:r>
            <a:endParaRPr lang="en-US"/>
          </a:p>
        </p:txBody>
      </p:sp>
      <p:sp>
        <p:nvSpPr>
          <p:cNvPr id="4" name="Date Placeholder 3">
            <a:extLst>
              <a:ext uri="{FF2B5EF4-FFF2-40B4-BE49-F238E27FC236}">
                <a16:creationId xmlns:a16="http://schemas.microsoft.com/office/drawing/2014/main" id="{F46369F5-567F-A5E3-840C-075327724C18}"/>
              </a:ext>
            </a:extLst>
          </p:cNvPr>
          <p:cNvSpPr>
            <a:spLocks noGrp="1"/>
          </p:cNvSpPr>
          <p:nvPr>
            <p:ph type="dt" sz="half" idx="10"/>
          </p:nvPr>
        </p:nvSpPr>
        <p:spPr/>
        <p:txBody>
          <a:bodyPr/>
          <a:lstStyle/>
          <a:p>
            <a:fld id="{B19F7CED-A969-7742-AD8C-1A77EFA95578}" type="datetime1">
              <a:rPr lang="en-US" smtClean="0"/>
              <a:t>12/20/2025</a:t>
            </a:fld>
            <a:endParaRPr lang="en-US"/>
          </a:p>
        </p:txBody>
      </p:sp>
      <p:sp>
        <p:nvSpPr>
          <p:cNvPr id="5" name="Slide Number Placeholder 4">
            <a:extLst>
              <a:ext uri="{FF2B5EF4-FFF2-40B4-BE49-F238E27FC236}">
                <a16:creationId xmlns:a16="http://schemas.microsoft.com/office/drawing/2014/main" id="{13CAA3C9-6DC5-577A-29C9-B251DA64839E}"/>
              </a:ext>
            </a:extLst>
          </p:cNvPr>
          <p:cNvSpPr>
            <a:spLocks noGrp="1"/>
          </p:cNvSpPr>
          <p:nvPr>
            <p:ph type="sldNum" sz="quarter" idx="12"/>
          </p:nvPr>
        </p:nvSpPr>
        <p:spPr/>
        <p:txBody>
          <a:bodyPr/>
          <a:lstStyle/>
          <a:p>
            <a:fld id="{8AA1F273-EF2F-3941-BBF8-D365CB27DD6A}" type="slidenum">
              <a:rPr lang="en-US" smtClean="0"/>
              <a:t>15</a:t>
            </a:fld>
            <a:endParaRPr lang="en-US"/>
          </a:p>
        </p:txBody>
      </p:sp>
    </p:spTree>
    <p:extLst>
      <p:ext uri="{BB962C8B-B14F-4D97-AF65-F5344CB8AC3E}">
        <p14:creationId xmlns:p14="http://schemas.microsoft.com/office/powerpoint/2010/main" val="2866316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636405" cy="1325563"/>
          </a:xfrm>
        </p:spPr>
        <p:txBody>
          <a:bodyPr/>
          <a:lstStyle/>
          <a:p>
            <a:r>
              <a:rPr lang="en-US"/>
              <a:t>Linearization of non-linear state-space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636404" cy="4351338"/>
              </a:xfrm>
            </p:spPr>
            <p:txBody>
              <a:bodyPr>
                <a:noAutofit/>
              </a:bodyPr>
              <a:lstStyle/>
              <a:p>
                <a:pPr>
                  <a:lnSpc>
                    <a:spcPct val="100000"/>
                  </a:lnSpc>
                  <a:spcBef>
                    <a:spcPts val="400"/>
                  </a:spcBef>
                  <a:spcAft>
                    <a:spcPts val="1400"/>
                  </a:spcAft>
                </a:pPr>
                <a:r>
                  <a:rPr lang="en-US" sz="2400">
                    <a:latin typeface="Source Sans Pro" panose="020B0503030403020204" pitchFamily="34" charset="0"/>
                    <a:ea typeface="Source Sans Pro" panose="020B0503030403020204" pitchFamily="34" charset="0"/>
                  </a:rPr>
                  <a:t>For the nonlinear system </a:t>
                </a: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𝑓</m:t>
                    </m:r>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 </m:t>
                        </m:r>
                        <m:r>
                          <a:rPr lang="en-US" sz="2400" b="0" i="1" smtClean="0">
                            <a:latin typeface="Cambria Math" panose="02040503050406030204" pitchFamily="18" charset="0"/>
                            <a:ea typeface="Source Sans Pro" panose="020B0503030403020204" pitchFamily="34" charset="0"/>
                          </a:rPr>
                          <m:t>𝑢</m:t>
                        </m:r>
                      </m:e>
                    </m:d>
                  </m:oMath>
                </a14:m>
                <a:r>
                  <a:rPr lang="en-US" sz="2400">
                    <a:latin typeface="Source Sans Pro" panose="020B0503030403020204" pitchFamily="34" charset="0"/>
                    <a:ea typeface="Source Sans Pro" panose="020B0503030403020204" pitchFamily="34" charset="0"/>
                  </a:rPr>
                  <a:t>, the linearization around  </a:t>
                </a:r>
                <a14:m>
                  <m:oMath xmlns:m="http://schemas.openxmlformats.org/officeDocument/2006/math">
                    <m:d>
                      <m:dPr>
                        <m:ctrlPr>
                          <a:rPr lang="en-US" sz="2400" b="0" i="1" smtClean="0">
                            <a:latin typeface="Cambria Math" panose="02040503050406030204" pitchFamily="18" charset="0"/>
                            <a:ea typeface="Source Sans Pro" panose="020B0503030403020204" pitchFamily="34" charset="0"/>
                          </a:rPr>
                        </m:ctrlPr>
                      </m:dPr>
                      <m:e>
                        <m:acc>
                          <m:accPr>
                            <m:chr m:val="̅"/>
                            <m:ctrlPr>
                              <a:rPr lang="en-US" sz="2400" b="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acc>
                          <m:accPr>
                            <m:chr m:val="̅"/>
                            <m:ctrlPr>
                              <a:rPr lang="en-US" sz="2400" b="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𝑢</m:t>
                            </m:r>
                          </m:e>
                        </m:acc>
                      </m:e>
                    </m:d>
                  </m:oMath>
                </a14:m>
                <a:r>
                  <a:rPr lang="en-US" sz="2400" i="1">
                    <a:latin typeface="Source Sans Pro" panose="020B0503030403020204" pitchFamily="34" charset="0"/>
                    <a:ea typeface="Source Sans Pro" panose="020B0503030403020204" pitchFamily="34" charset="0"/>
                  </a:rPr>
                  <a:t> </a:t>
                </a:r>
                <a:r>
                  <a:rPr lang="en-US" sz="2400">
                    <a:latin typeface="Source Sans Pro" panose="020B0503030403020204" pitchFamily="34" charset="0"/>
                    <a:ea typeface="Source Sans Pro" panose="020B0503030403020204" pitchFamily="34" charset="0"/>
                  </a:rPr>
                  <a:t>is</a:t>
                </a:r>
                <a:br>
                  <a:rPr lang="en-US" sz="2400" i="1">
                    <a:latin typeface="Source Sans Pro" panose="020B0503030403020204" pitchFamily="34" charset="0"/>
                    <a:ea typeface="Source Sans Pro" panose="020B0503030403020204" pitchFamily="34" charset="0"/>
                  </a:rPr>
                </a:b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𝑓</m:t>
                    </m:r>
                    <m:d>
                      <m:dPr>
                        <m:ctrlPr>
                          <a:rPr lang="en-US" sz="2400" b="0" i="1" smtClean="0">
                            <a:latin typeface="Cambria Math" panose="02040503050406030204" pitchFamily="18" charset="0"/>
                            <a:ea typeface="Cambria Math" panose="02040503050406030204" pitchFamily="18" charset="0"/>
                          </a:rPr>
                        </m:ctrlPr>
                      </m:dPr>
                      <m:e>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r>
                          <a:rPr lang="en-US" sz="2400" i="1">
                            <a:latin typeface="Cambria Math" panose="02040503050406030204" pitchFamily="18" charset="0"/>
                            <a:ea typeface="Source Sans Pro" panose="020B0503030403020204" pitchFamily="34"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𝑢</m:t>
                            </m:r>
                          </m:e>
                        </m:acc>
                      </m:e>
                    </m:d>
                    <m:r>
                      <a:rPr lang="en-US" sz="2400" b="0" i="1" smtClean="0">
                        <a:latin typeface="Cambria Math" panose="02040503050406030204" pitchFamily="18" charset="0"/>
                        <a:ea typeface="Source Sans Pro" panose="020B0503030403020204" pitchFamily="34" charset="0"/>
                      </a:rPr>
                      <m:t>+</m:t>
                    </m:r>
                    <m:limLow>
                      <m:limLowPr>
                        <m:ctrlPr>
                          <a:rPr lang="en-US" sz="2400" b="0" i="1" smtClean="0">
                            <a:latin typeface="Cambria Math" panose="02040503050406030204" pitchFamily="18" charset="0"/>
                            <a:ea typeface="Source Sans Pro" panose="020B0503030403020204" pitchFamily="34" charset="0"/>
                          </a:rPr>
                        </m:ctrlPr>
                      </m:limLowPr>
                      <m:e>
                        <m:groupChr>
                          <m:groupChrPr>
                            <m:chr m:val="⏟"/>
                            <m:ctrlPr>
                              <a:rPr lang="en-US" sz="2400" b="0" i="1" smtClean="0">
                                <a:latin typeface="Cambria Math" panose="02040503050406030204" pitchFamily="18" charset="0"/>
                                <a:ea typeface="Source Sans Pro" panose="020B0503030403020204" pitchFamily="34" charset="0"/>
                              </a:rPr>
                            </m:ctrlPr>
                          </m:groupChrPr>
                          <m:e>
                            <m:f>
                              <m:fPr>
                                <m:ctrlPr>
                                  <a:rPr lang="en-US" sz="2400" i="1">
                                    <a:latin typeface="Cambria Math" panose="02040503050406030204" pitchFamily="18" charset="0"/>
                                    <a:ea typeface="Source Sans Pro" panose="020B0503030403020204" pitchFamily="34" charset="0"/>
                                  </a:rPr>
                                </m:ctrlPr>
                              </m:fPr>
                              <m:num>
                                <m:r>
                                  <a:rPr lang="en-US" sz="2400" i="1">
                                    <a:latin typeface="Cambria Math" panose="02040503050406030204" pitchFamily="18" charset="0"/>
                                    <a:ea typeface="Source Sans Pro" panose="020B0503030403020204" pitchFamily="34" charset="0"/>
                                  </a:rPr>
                                  <m:t>𝜕</m:t>
                                </m:r>
                                <m:r>
                                  <a:rPr lang="en-US" sz="2400" i="1">
                                    <a:latin typeface="Cambria Math" panose="02040503050406030204" pitchFamily="18" charset="0"/>
                                    <a:ea typeface="Source Sans Pro" panose="020B0503030403020204" pitchFamily="34" charset="0"/>
                                  </a:rPr>
                                  <m:t>𝑓</m:t>
                                </m:r>
                              </m:num>
                              <m:den>
                                <m:r>
                                  <a:rPr lang="en-US" sz="2400" i="1">
                                    <a:latin typeface="Cambria Math" panose="02040503050406030204" pitchFamily="18" charset="0"/>
                                    <a:ea typeface="Source Sans Pro" panose="020B0503030403020204" pitchFamily="34" charset="0"/>
                                  </a:rPr>
                                  <m:t>𝜕</m:t>
                                </m:r>
                                <m:r>
                                  <a:rPr lang="en-US" sz="2400" i="1">
                                    <a:latin typeface="Cambria Math" panose="02040503050406030204" pitchFamily="18" charset="0"/>
                                    <a:ea typeface="Source Sans Pro" panose="020B0503030403020204" pitchFamily="34" charset="0"/>
                                  </a:rPr>
                                  <m:t>𝑥</m:t>
                                </m:r>
                              </m:den>
                            </m:f>
                            <m:d>
                              <m:dPr>
                                <m:ctrlPr>
                                  <a:rPr lang="en-US" sz="2400" i="1">
                                    <a:latin typeface="Cambria Math" panose="02040503050406030204" pitchFamily="18" charset="0"/>
                                    <a:ea typeface="Source Sans Pro" panose="020B0503030403020204" pitchFamily="34" charset="0"/>
                                  </a:rPr>
                                </m:ctrlPr>
                              </m:dPr>
                              <m:e>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r>
                                  <a:rPr lang="en-US" sz="2400" i="1">
                                    <a:latin typeface="Cambria Math" panose="02040503050406030204" pitchFamily="18" charset="0"/>
                                    <a:ea typeface="Source Sans Pro" panose="020B0503030403020204" pitchFamily="34"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𝑢</m:t>
                                    </m:r>
                                  </m:e>
                                </m:acc>
                              </m:e>
                            </m:d>
                          </m:e>
                        </m:groupChr>
                      </m:e>
                      <m:lim>
                        <m:eqArr>
                          <m:eqArrPr>
                            <m:ctrlPr>
                              <a:rPr lang="en-US" sz="2400" b="0" i="1" smtClean="0">
                                <a:latin typeface="Cambria Math" panose="02040503050406030204" pitchFamily="18" charset="0"/>
                                <a:ea typeface="Source Sans Pro" panose="020B0503030403020204" pitchFamily="34" charset="0"/>
                              </a:rPr>
                            </m:ctrlPr>
                          </m:eqArrPr>
                          <m:e/>
                          <m:e>
                            <m:r>
                              <a:rPr lang="en-US" b="0" i="1" smtClean="0">
                                <a:latin typeface="Cambria Math" panose="02040503050406030204" pitchFamily="18" charset="0"/>
                              </a:rPr>
                              <m:t>𝐴</m:t>
                            </m:r>
                          </m:e>
                        </m:eqArr>
                      </m:lim>
                    </m:limLow>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e>
                    </m:d>
                    <m:r>
                      <a:rPr lang="en-US" sz="2400" b="0" i="1" smtClean="0">
                        <a:latin typeface="Cambria Math" panose="02040503050406030204" pitchFamily="18" charset="0"/>
                        <a:ea typeface="Cambria Math" panose="02040503050406030204" pitchFamily="18" charset="0"/>
                      </a:rPr>
                      <m:t>+</m:t>
                    </m:r>
                    <m:limLow>
                      <m:limLowPr>
                        <m:ctrlPr>
                          <a:rPr lang="en-US" sz="2400" b="0" i="1" smtClean="0">
                            <a:latin typeface="Cambria Math" panose="02040503050406030204" pitchFamily="18" charset="0"/>
                            <a:ea typeface="Cambria Math" panose="02040503050406030204" pitchFamily="18" charset="0"/>
                          </a:rPr>
                        </m:ctrlPr>
                      </m:limLowPr>
                      <m:e>
                        <m:groupChr>
                          <m:groupChrPr>
                            <m:chr m:val="⏟"/>
                            <m:ctrlPr>
                              <a:rPr lang="en-US" sz="2400" b="0" i="1" smtClean="0">
                                <a:latin typeface="Cambria Math" panose="02040503050406030204" pitchFamily="18" charset="0"/>
                                <a:ea typeface="Cambria Math" panose="02040503050406030204" pitchFamily="18" charset="0"/>
                              </a:rPr>
                            </m:ctrlPr>
                          </m:groupChrPr>
                          <m:e>
                            <m:f>
                              <m:fPr>
                                <m:ctrlPr>
                                  <a:rPr lang="en-US" sz="2400" i="1">
                                    <a:latin typeface="Cambria Math" panose="02040503050406030204" pitchFamily="18" charset="0"/>
                                    <a:ea typeface="Source Sans Pro" panose="020B0503030403020204" pitchFamily="34" charset="0"/>
                                  </a:rPr>
                                </m:ctrlPr>
                              </m:fPr>
                              <m:num>
                                <m:r>
                                  <a:rPr lang="en-US" sz="2400" i="1">
                                    <a:latin typeface="Cambria Math" panose="02040503050406030204" pitchFamily="18" charset="0"/>
                                    <a:ea typeface="Source Sans Pro" panose="020B0503030403020204" pitchFamily="34" charset="0"/>
                                  </a:rPr>
                                  <m:t>𝜕</m:t>
                                </m:r>
                                <m:r>
                                  <a:rPr lang="en-US" sz="2400" i="1">
                                    <a:latin typeface="Cambria Math" panose="02040503050406030204" pitchFamily="18" charset="0"/>
                                    <a:ea typeface="Source Sans Pro" panose="020B0503030403020204" pitchFamily="34" charset="0"/>
                                  </a:rPr>
                                  <m:t>𝑓</m:t>
                                </m:r>
                              </m:num>
                              <m:den>
                                <m:r>
                                  <a:rPr lang="en-US" sz="2400" i="1">
                                    <a:latin typeface="Cambria Math" panose="02040503050406030204" pitchFamily="18" charset="0"/>
                                    <a:ea typeface="Source Sans Pro" panose="020B0503030403020204" pitchFamily="34" charset="0"/>
                                  </a:rPr>
                                  <m:t>𝜕</m:t>
                                </m:r>
                                <m:r>
                                  <a:rPr lang="en-US" sz="2400" i="1">
                                    <a:latin typeface="Cambria Math" panose="02040503050406030204" pitchFamily="18" charset="0"/>
                                    <a:ea typeface="Source Sans Pro" panose="020B0503030403020204" pitchFamily="34" charset="0"/>
                                  </a:rPr>
                                  <m:t>𝑢</m:t>
                                </m:r>
                              </m:den>
                            </m:f>
                            <m:d>
                              <m:dPr>
                                <m:ctrlPr>
                                  <a:rPr lang="en-US" sz="2400" i="1">
                                    <a:latin typeface="Cambria Math" panose="02040503050406030204" pitchFamily="18" charset="0"/>
                                    <a:ea typeface="Source Sans Pro" panose="020B0503030403020204" pitchFamily="34" charset="0"/>
                                  </a:rPr>
                                </m:ctrlPr>
                              </m:dPr>
                              <m:e>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r>
                                  <a:rPr lang="en-US" sz="2400" i="1">
                                    <a:latin typeface="Cambria Math" panose="02040503050406030204" pitchFamily="18" charset="0"/>
                                    <a:ea typeface="Source Sans Pro" panose="020B0503030403020204" pitchFamily="34"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𝑢</m:t>
                                    </m:r>
                                  </m:e>
                                </m:acc>
                              </m:e>
                            </m:d>
                          </m:e>
                        </m:groupChr>
                      </m:e>
                      <m:lim>
                        <m:eqArr>
                          <m:eqArrPr>
                            <m:ctrlPr>
                              <a:rPr lang="en-US" sz="2400" b="0" i="1" smtClean="0">
                                <a:latin typeface="Cambria Math" panose="02040503050406030204" pitchFamily="18" charset="0"/>
                                <a:ea typeface="Cambria Math" panose="02040503050406030204" pitchFamily="18" charset="0"/>
                              </a:rPr>
                            </m:ctrlPr>
                          </m:eqArrPr>
                          <m:e/>
                          <m:e>
                            <m:r>
                              <a:rPr lang="en-US" b="0" i="1" smtClean="0">
                                <a:latin typeface="Cambria Math" panose="02040503050406030204" pitchFamily="18" charset="0"/>
                              </a:rPr>
                              <m:t>𝐵</m:t>
                            </m:r>
                          </m:e>
                        </m:eqArr>
                      </m:lim>
                    </m:limLow>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𝑢</m:t>
                        </m:r>
                        <m:r>
                          <a:rPr lang="en-US" sz="2400" i="1">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𝑢</m:t>
                            </m:r>
                          </m:e>
                        </m:acc>
                      </m:e>
                    </m:d>
                  </m:oMath>
                </a14:m>
                <a:br>
                  <a:rPr lang="en-US" sz="2400" i="1">
                    <a:latin typeface="Source Sans Pro" panose="020B0503030403020204" pitchFamily="34" charset="0"/>
                    <a:ea typeface="Source Sans Pro" panose="020B0503030403020204" pitchFamily="34" charset="0"/>
                  </a:rPr>
                </a:br>
                <a:r>
                  <a:rPr lang="en-US" sz="2400">
                    <a:latin typeface="Source Sans Pro" panose="020B0503030403020204" pitchFamily="34" charset="0"/>
                    <a:ea typeface="Source Sans Pro" panose="020B0503030403020204" pitchFamily="34" charset="0"/>
                  </a:rPr>
                  <a:t>Since </a:t>
                </a:r>
                <a14:m>
                  <m:oMath xmlns:m="http://schemas.openxmlformats.org/officeDocument/2006/math">
                    <m:r>
                      <a:rPr lang="en-US" sz="2400" i="1">
                        <a:latin typeface="Cambria Math" panose="02040503050406030204" pitchFamily="18" charset="0"/>
                        <a:ea typeface="Source Sans Pro" panose="020B0503030403020204" pitchFamily="34" charset="0"/>
                      </a:rPr>
                      <m:t>𝑥</m:t>
                    </m:r>
                  </m:oMath>
                </a14:m>
                <a:r>
                  <a:rPr lang="en-US" sz="2400">
                    <a:latin typeface="Source Sans Pro" panose="020B0503030403020204" pitchFamily="34" charset="0"/>
                    <a:ea typeface="Source Sans Pro" panose="020B0503030403020204" pitchFamily="34" charset="0"/>
                  </a:rPr>
                  <a:t> and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𝑢</m:t>
                    </m:r>
                  </m:oMath>
                </a14:m>
                <a:r>
                  <a:rPr lang="en-US" sz="2400">
                    <a:latin typeface="Source Sans Pro" panose="020B0503030403020204" pitchFamily="34" charset="0"/>
                    <a:ea typeface="Source Sans Pro" panose="020B0503030403020204" pitchFamily="34" charset="0"/>
                  </a:rPr>
                  <a:t> can be vectors, we generalize derivatives to Jacobian matrices</a:t>
                </a:r>
              </a:p>
              <a:p>
                <a:pPr>
                  <a:lnSpc>
                    <a:spcPct val="100000"/>
                  </a:lnSpc>
                  <a:spcBef>
                    <a:spcPts val="400"/>
                  </a:spcBef>
                  <a:spcAft>
                    <a:spcPts val="1400"/>
                  </a:spcAft>
                </a:pPr>
                <a:r>
                  <a:rPr lang="en-US" sz="2400">
                    <a:latin typeface="Source Sans Pro" panose="020B0503030403020204" pitchFamily="34" charset="0"/>
                    <a:ea typeface="Source Sans Pro" panose="020B0503030403020204" pitchFamily="34" charset="0"/>
                  </a:rPr>
                  <a:t>If </a:t>
                </a:r>
                <a14:m>
                  <m:oMath xmlns:m="http://schemas.openxmlformats.org/officeDocument/2006/math">
                    <m:d>
                      <m:dPr>
                        <m:ctrlPr>
                          <a:rPr lang="en-US" sz="2400" i="1">
                            <a:latin typeface="Cambria Math" panose="02040503050406030204" pitchFamily="18" charset="0"/>
                            <a:ea typeface="Cambria Math" panose="02040503050406030204" pitchFamily="18" charset="0"/>
                          </a:rPr>
                        </m:ctrlPr>
                      </m:dPr>
                      <m:e>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r>
                          <a:rPr lang="en-US" sz="2400" i="1">
                            <a:latin typeface="Cambria Math" panose="02040503050406030204" pitchFamily="18" charset="0"/>
                            <a:ea typeface="Source Sans Pro" panose="020B0503030403020204" pitchFamily="34"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𝑢</m:t>
                            </m:r>
                          </m:e>
                        </m:acc>
                      </m:e>
                    </m:d>
                  </m:oMath>
                </a14:m>
                <a:r>
                  <a:rPr lang="en-US" sz="2400">
                    <a:latin typeface="Source Sans Pro" panose="020B0503030403020204" pitchFamily="34" charset="0"/>
                    <a:ea typeface="Source Sans Pro" panose="020B0503030403020204" pitchFamily="34" charset="0"/>
                  </a:rPr>
                  <a:t> is an </a:t>
                </a:r>
                <a:r>
                  <a:rPr lang="en-US" sz="2400" i="1">
                    <a:latin typeface="Source Sans Pro" panose="020B0503030403020204" pitchFamily="34" charset="0"/>
                    <a:ea typeface="Source Sans Pro" panose="020B0503030403020204" pitchFamily="34" charset="0"/>
                  </a:rPr>
                  <a:t>equilibrium</a:t>
                </a:r>
                <a:r>
                  <a:rPr lang="en-US" sz="2400">
                    <a:latin typeface="Source Sans Pro" panose="020B0503030403020204" pitchFamily="34" charset="0"/>
                    <a:ea typeface="Source Sans Pro" panose="020B0503030403020204" pitchFamily="34" charset="0"/>
                  </a:rPr>
                  <a:t>, i.e., </a:t>
                </a:r>
                <a14:m>
                  <m:oMath xmlns:m="http://schemas.openxmlformats.org/officeDocument/2006/math">
                    <m:r>
                      <a:rPr lang="en-US" sz="2400" i="1">
                        <a:latin typeface="Cambria Math" panose="02040503050406030204" pitchFamily="18" charset="0"/>
                        <a:ea typeface="Cambria Math" panose="02040503050406030204" pitchFamily="18" charset="0"/>
                      </a:rPr>
                      <m:t>𝑓</m:t>
                    </m:r>
                    <m:d>
                      <m:dPr>
                        <m:ctrlPr>
                          <a:rPr lang="en-US" sz="2400" i="1">
                            <a:latin typeface="Cambria Math" panose="02040503050406030204" pitchFamily="18" charset="0"/>
                            <a:ea typeface="Cambria Math" panose="02040503050406030204" pitchFamily="18" charset="0"/>
                          </a:rPr>
                        </m:ctrlPr>
                      </m:dPr>
                      <m:e>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r>
                          <a:rPr lang="en-US" sz="2400" i="1">
                            <a:latin typeface="Cambria Math" panose="02040503050406030204" pitchFamily="18" charset="0"/>
                            <a:ea typeface="Source Sans Pro" panose="020B0503030403020204" pitchFamily="34"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𝑢</m:t>
                            </m:r>
                          </m:e>
                        </m:acc>
                      </m:e>
                    </m:d>
                    <m:r>
                      <a:rPr lang="en-US" sz="2400" b="0" i="1" smtClean="0">
                        <a:latin typeface="Cambria Math" panose="02040503050406030204" pitchFamily="18" charset="0"/>
                        <a:ea typeface="Source Sans Pro" panose="020B0503030403020204" pitchFamily="34" charset="0"/>
                      </a:rPr>
                      <m:t>=0</m:t>
                    </m:r>
                    <m:r>
                      <a:rPr lang="en-US" sz="2400" b="0" i="0" smtClean="0">
                        <a:latin typeface="Cambria Math" panose="02040503050406030204" pitchFamily="18" charset="0"/>
                        <a:ea typeface="Source Sans Pro" panose="020B0503030403020204" pitchFamily="34" charset="0"/>
                      </a:rPr>
                      <m:t>, </m:t>
                    </m:r>
                  </m:oMath>
                </a14:m>
                <a:r>
                  <a:rPr lang="en-US" sz="2400">
                    <a:latin typeface="Source Sans Pro" panose="020B0503030403020204" pitchFamily="34" charset="0"/>
                    <a:ea typeface="Source Sans Pro" panose="020B0503030403020204" pitchFamily="34" charset="0"/>
                  </a:rPr>
                  <a:t>we can consider an LTI approximation of the system near </a:t>
                </a:r>
                <a14:m>
                  <m:oMath xmlns:m="http://schemas.openxmlformats.org/officeDocument/2006/math">
                    <m:d>
                      <m:dPr>
                        <m:ctrlPr>
                          <a:rPr lang="en-US" sz="2400" i="1">
                            <a:latin typeface="Cambria Math" panose="02040503050406030204" pitchFamily="18" charset="0"/>
                            <a:ea typeface="Cambria Math" panose="02040503050406030204" pitchFamily="18" charset="0"/>
                          </a:rPr>
                        </m:ctrlPr>
                      </m:dPr>
                      <m:e>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r>
                          <a:rPr lang="en-US" sz="2400" i="1">
                            <a:latin typeface="Cambria Math" panose="02040503050406030204" pitchFamily="18" charset="0"/>
                            <a:ea typeface="Source Sans Pro" panose="020B0503030403020204" pitchFamily="34"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𝑢</m:t>
                            </m:r>
                          </m:e>
                        </m:acc>
                      </m:e>
                    </m:d>
                  </m:oMath>
                </a14:m>
                <a:r>
                  <a:rPr lang="en-US" sz="2400">
                    <a:latin typeface="Source Sans Pro" panose="020B0503030403020204" pitchFamily="34" charset="0"/>
                    <a:ea typeface="Source Sans Pro" panose="020B0503030403020204" pitchFamily="34" charset="0"/>
                  </a:rPr>
                  <a:t>, with state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𝑥</m:t>
                        </m:r>
                      </m:e>
                    </m:acc>
                  </m:oMath>
                </a14:m>
                <a:r>
                  <a:rPr lang="en-US" sz="2400">
                    <a:latin typeface="Source Sans Pro" panose="020B0503030403020204" pitchFamily="34" charset="0"/>
                    <a:ea typeface="Source Sans Pro" panose="020B0503030403020204" pitchFamily="34" charset="0"/>
                  </a:rPr>
                  <a:t> and input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𝑢</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𝑢</m:t>
                    </m:r>
                    <m:r>
                      <a:rPr lang="en-US" sz="2400" i="1">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𝑢</m:t>
                        </m:r>
                      </m:e>
                    </m:acc>
                    <m:r>
                      <a:rPr lang="en-US" sz="2400" b="0" i="0" smtClean="0">
                        <a:latin typeface="Cambria Math" panose="02040503050406030204" pitchFamily="18" charset="0"/>
                        <a:ea typeface="Cambria Math" panose="02040503050406030204" pitchFamily="18" charset="0"/>
                      </a:rPr>
                      <m:t>:</m:t>
                    </m:r>
                  </m:oMath>
                </a14:m>
                <a:endParaRPr lang="en-US" sz="2400" b="0">
                  <a:latin typeface="Source Sans Pro" panose="020B0503030403020204" pitchFamily="34" charset="0"/>
                  <a:ea typeface="Cambria Math" panose="02040503050406030204" pitchFamily="18" charset="0"/>
                </a:endParaRPr>
              </a:p>
              <a:p>
                <a:pPr marL="0" indent="0" algn="ctr">
                  <a:lnSpc>
                    <a:spcPct val="100000"/>
                  </a:lnSpc>
                  <a:spcBef>
                    <a:spcPts val="400"/>
                  </a:spcBef>
                  <a:spcAft>
                    <a:spcPts val="1400"/>
                  </a:spcAft>
                  <a:buNone/>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m:rPr>
                              <m:sty m:val="p"/>
                            </m:rPr>
                            <a:rPr lang="en-US" sz="2400" b="0" i="0" smtClean="0">
                              <a:latin typeface="Cambria Math" panose="02040503050406030204" pitchFamily="18" charset="0"/>
                              <a:ea typeface="Source Sans Pro" panose="020B0503030403020204" pitchFamily="34" charset="0"/>
                            </a:rPr>
                            <m:t>Δ</m:t>
                          </m:r>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𝐴</m:t>
                      </m:r>
                      <m:r>
                        <m:rPr>
                          <m:sty m:val="p"/>
                        </m:rPr>
                        <a:rPr lang="en-US" sz="2400" b="0" i="0" smtClean="0">
                          <a:latin typeface="Cambria Math" panose="02040503050406030204" pitchFamily="18" charset="0"/>
                          <a:ea typeface="Source Sans Pro" panose="020B0503030403020204" pitchFamily="34" charset="0"/>
                        </a:rPr>
                        <m:t>Δ</m:t>
                      </m:r>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𝐵</m:t>
                      </m:r>
                      <m:r>
                        <m:rPr>
                          <m:sty m:val="p"/>
                        </m:rPr>
                        <a:rPr lang="en-US" sz="2400" b="0" i="0" smtClean="0">
                          <a:latin typeface="Cambria Math" panose="02040503050406030204" pitchFamily="18" charset="0"/>
                          <a:ea typeface="Source Sans Pro" panose="020B0503030403020204" pitchFamily="34" charset="0"/>
                        </a:rPr>
                        <m:t>Δ</m:t>
                      </m:r>
                      <m:r>
                        <a:rPr lang="en-US" sz="2400" b="0" i="1" smtClean="0">
                          <a:latin typeface="Cambria Math" panose="02040503050406030204" pitchFamily="18" charset="0"/>
                          <a:ea typeface="Source Sans Pro" panose="020B0503030403020204" pitchFamily="34" charset="0"/>
                        </a:rPr>
                        <m:t>𝑢</m:t>
                      </m:r>
                    </m:oMath>
                  </m:oMathPara>
                </a14:m>
                <a:endParaRPr lang="en-US" sz="2400">
                  <a:latin typeface="Source Sans Pro" panose="020B0503030403020204" pitchFamily="34" charset="0"/>
                  <a:ea typeface="Source Sans Pro" panose="020B0503030403020204" pitchFamily="34" charset="0"/>
                </a:endParaRPr>
              </a:p>
              <a:p>
                <a:pPr>
                  <a:lnSpc>
                    <a:spcPct val="100000"/>
                  </a:lnSpc>
                  <a:spcBef>
                    <a:spcPts val="400"/>
                  </a:spcBef>
                  <a:spcAft>
                    <a:spcPts val="1400"/>
                  </a:spcAft>
                </a:pPr>
                <a:r>
                  <a:rPr lang="en-US" sz="2400">
                    <a:latin typeface="Source Sans Pro" panose="020B0503030403020204" pitchFamily="34" charset="0"/>
                    <a:ea typeface="Source Sans Pro" panose="020B0503030403020204" pitchFamily="34" charset="0"/>
                  </a:rPr>
                  <a:t>When </a:t>
                </a:r>
                <a14:m>
                  <m:oMath xmlns:m="http://schemas.openxmlformats.org/officeDocument/2006/math">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𝑢</m:t>
                    </m:r>
                    <m:r>
                      <a:rPr lang="en-US" sz="2400" b="0" i="1" smtClean="0">
                        <a:latin typeface="Cambria Math" panose="02040503050406030204" pitchFamily="18" charset="0"/>
                        <a:ea typeface="Source Sans Pro" panose="020B0503030403020204" pitchFamily="34" charset="0"/>
                      </a:rPr>
                      <m:t>)</m:t>
                    </m:r>
                  </m:oMath>
                </a14:m>
                <a:r>
                  <a:rPr lang="en-US" sz="2400">
                    <a:latin typeface="Source Sans Pro" panose="020B0503030403020204" pitchFamily="34" charset="0"/>
                    <a:ea typeface="Source Sans Pro" panose="020B0503030403020204" pitchFamily="34" charset="0"/>
                  </a:rPr>
                  <a:t> is near </a:t>
                </a:r>
                <a14:m>
                  <m:oMath xmlns:m="http://schemas.openxmlformats.org/officeDocument/2006/math">
                    <m:d>
                      <m:dPr>
                        <m:ctrlPr>
                          <a:rPr lang="en-US" sz="2400" i="1">
                            <a:latin typeface="Cambria Math" panose="02040503050406030204" pitchFamily="18" charset="0"/>
                            <a:ea typeface="Cambria Math" panose="02040503050406030204" pitchFamily="18" charset="0"/>
                          </a:rPr>
                        </m:ctrlPr>
                      </m:dPr>
                      <m:e>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𝑥</m:t>
                            </m:r>
                          </m:e>
                        </m:acc>
                        <m:r>
                          <a:rPr lang="en-US" sz="2400" i="1">
                            <a:latin typeface="Cambria Math" panose="02040503050406030204" pitchFamily="18" charset="0"/>
                            <a:ea typeface="Source Sans Pro" panose="020B0503030403020204" pitchFamily="34" charset="0"/>
                          </a:rPr>
                          <m:t>,</m:t>
                        </m:r>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Source Sans Pro" panose="020B0503030403020204" pitchFamily="34" charset="0"/>
                              </a:rPr>
                              <m:t>𝑢</m:t>
                            </m:r>
                          </m:e>
                        </m:acc>
                      </m:e>
                    </m:d>
                  </m:oMath>
                </a14:m>
                <a:r>
                  <a:rPr lang="en-US" sz="2400">
                    <a:latin typeface="Source Sans Pro" panose="020B0503030403020204" pitchFamily="34" charset="0"/>
                    <a:ea typeface="Source Sans Pro" panose="020B0503030403020204" pitchFamily="34" charset="0"/>
                  </a:rPr>
                  <a:t>, we can use tools from linear systems analysis and control on nonlinear systems -- more on this later with LQR control!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636404" cy="4351338"/>
              </a:xfrm>
              <a:blipFill>
                <a:blip r:embed="rId3"/>
                <a:stretch>
                  <a:fillRect l="-835" t="-1163" r="-955" b="-814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5212D67-FA61-5571-1856-EDDEEC22CC89}"/>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B0828C96-7A56-626B-4349-DE1C48396433}"/>
              </a:ext>
            </a:extLst>
          </p:cNvPr>
          <p:cNvSpPr>
            <a:spLocks noGrp="1"/>
          </p:cNvSpPr>
          <p:nvPr>
            <p:ph type="dt" sz="half" idx="10"/>
          </p:nvPr>
        </p:nvSpPr>
        <p:spPr/>
        <p:txBody>
          <a:bodyPr/>
          <a:lstStyle/>
          <a:p>
            <a:fld id="{BDD68D6C-ED24-9F47-AE37-F49149E5FE36}" type="datetime1">
              <a:rPr lang="en-US" smtClean="0"/>
              <a:t>12/20/2025</a:t>
            </a:fld>
            <a:endParaRPr lang="en-US"/>
          </a:p>
        </p:txBody>
      </p:sp>
      <p:sp>
        <p:nvSpPr>
          <p:cNvPr id="6" name="Slide Number Placeholder 5">
            <a:extLst>
              <a:ext uri="{FF2B5EF4-FFF2-40B4-BE49-F238E27FC236}">
                <a16:creationId xmlns:a16="http://schemas.microsoft.com/office/drawing/2014/main" id="{8B88A5F5-B1D6-3CF7-6449-53675CF61AB3}"/>
              </a:ext>
            </a:extLst>
          </p:cNvPr>
          <p:cNvSpPr>
            <a:spLocks noGrp="1"/>
          </p:cNvSpPr>
          <p:nvPr>
            <p:ph type="sldNum" sz="quarter" idx="12"/>
          </p:nvPr>
        </p:nvSpPr>
        <p:spPr/>
        <p:txBody>
          <a:bodyPr/>
          <a:lstStyle/>
          <a:p>
            <a:fld id="{8AA1F273-EF2F-3941-BBF8-D365CB27DD6A}" type="slidenum">
              <a:rPr lang="en-US" smtClean="0"/>
              <a:t>16</a:t>
            </a:fld>
            <a:endParaRPr lang="en-US"/>
          </a:p>
        </p:txBody>
      </p:sp>
    </p:spTree>
    <p:extLst>
      <p:ext uri="{BB962C8B-B14F-4D97-AF65-F5344CB8AC3E}">
        <p14:creationId xmlns:p14="http://schemas.microsoft.com/office/powerpoint/2010/main" val="3792176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Inverted pendulum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a:lnSpc>
                    <a:spcPct val="100000"/>
                  </a:lnSpc>
                  <a:spcAft>
                    <a:spcPts val="2000"/>
                  </a:spcAft>
                </a:pPr>
                <a:r>
                  <a:rPr lang="en-US" sz="2400">
                    <a:latin typeface="Source Sans Pro" panose="020B0503030403020204" pitchFamily="34" charset="0"/>
                    <a:ea typeface="Source Sans Pro" panose="020B0503030403020204" pitchFamily="34" charset="0"/>
                  </a:rPr>
                  <a:t>The dynamics are described by </a:t>
                </a:r>
                <a14:m>
                  <m:oMath xmlns:m="http://schemas.openxmlformats.org/officeDocument/2006/math">
                    <m:r>
                      <a:rPr lang="en-US" sz="2400" b="0" i="1" smtClean="0">
                        <a:latin typeface="Cambria Math" panose="02040503050406030204" pitchFamily="18" charset="0"/>
                        <a:ea typeface="Cambria Math" panose="02040503050406030204" pitchFamily="18" charset="0"/>
                      </a:rPr>
                      <m:t>𝑚</m:t>
                    </m:r>
                    <m:sSup>
                      <m:sSupPr>
                        <m:ctrlPr>
                          <a:rPr lang="en-US" sz="2400" b="0" i="1" smtClean="0">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ℓ</m:t>
                        </m:r>
                      </m:e>
                      <m:sup>
                        <m:r>
                          <a:rPr lang="en-US" sz="2400" b="0" i="1" smtClean="0">
                            <a:latin typeface="Cambria Math" panose="02040503050406030204" pitchFamily="18" charset="0"/>
                            <a:ea typeface="Cambria Math" panose="02040503050406030204" pitchFamily="18" charset="0"/>
                          </a:rPr>
                          <m:t>2</m:t>
                        </m:r>
                      </m:sup>
                    </m:sSup>
                    <m:acc>
                      <m:accPr>
                        <m:chr m:val="̈"/>
                        <m:ctrlPr>
                          <a:rPr lang="en-US" sz="2400" i="1" smtClean="0">
                            <a:latin typeface="Cambria Math" panose="02040503050406030204" pitchFamily="18" charset="0"/>
                            <a:ea typeface="Cambria Math" panose="02040503050406030204" pitchFamily="18" charset="0"/>
                          </a:rPr>
                        </m:ctrlPr>
                      </m:accPr>
                      <m:e>
                        <m:r>
                          <a:rPr lang="en-US" sz="2400" i="1" smtClean="0">
                            <a:latin typeface="Cambria Math" panose="02040503050406030204" pitchFamily="18" charset="0"/>
                            <a:ea typeface="Cambria Math" panose="02040503050406030204" pitchFamily="18" charset="0"/>
                          </a:rPr>
                          <m:t>𝜃</m:t>
                        </m:r>
                      </m:e>
                    </m:acc>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𝑚𝑔</m:t>
                    </m:r>
                    <m:r>
                      <a:rPr lang="en-US" sz="2400" i="1">
                        <a:latin typeface="Cambria Math" panose="02040503050406030204" pitchFamily="18" charset="0"/>
                        <a:ea typeface="Cambria Math" panose="02040503050406030204" pitchFamily="18" charset="0"/>
                      </a:rPr>
                      <m:t>ℓ</m:t>
                    </m:r>
                    <m:func>
                      <m:funcPr>
                        <m:ctrlPr>
                          <a:rPr lang="en-US" sz="2400" i="1" smtClean="0">
                            <a:latin typeface="Cambria Math" panose="02040503050406030204" pitchFamily="18" charset="0"/>
                            <a:ea typeface="Cambria Math" panose="02040503050406030204" pitchFamily="18" charset="0"/>
                          </a:rPr>
                        </m:ctrlPr>
                      </m:funcPr>
                      <m:fName>
                        <m:r>
                          <m:rPr>
                            <m:sty m:val="p"/>
                          </m:rPr>
                          <a:rPr lang="en-US" sz="2400" i="0" smtClean="0">
                            <a:latin typeface="Cambria Math" panose="02040503050406030204" pitchFamily="18" charset="0"/>
                            <a:ea typeface="Cambria Math" panose="02040503050406030204" pitchFamily="18" charset="0"/>
                          </a:rPr>
                          <m:t>sin</m:t>
                        </m:r>
                      </m:fName>
                      <m:e>
                        <m:r>
                          <a:rPr lang="en-US" sz="2400" i="1" smtClean="0">
                            <a:latin typeface="Cambria Math" panose="02040503050406030204" pitchFamily="18" charset="0"/>
                            <a:ea typeface="Cambria Math" panose="02040503050406030204" pitchFamily="18" charset="0"/>
                          </a:rPr>
                          <m:t>𝜃</m:t>
                        </m:r>
                      </m:e>
                    </m:func>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𝑢</m:t>
                    </m:r>
                  </m:oMath>
                </a14:m>
                <a:r>
                  <a:rPr lang="en-US" sz="2400">
                    <a:latin typeface="Cambria Math" panose="02040503050406030204" pitchFamily="18" charset="0"/>
                    <a:ea typeface="Cambria Math" panose="02040503050406030204" pitchFamily="18" charset="0"/>
                  </a:rPr>
                  <a:t>.</a:t>
                </a:r>
                <a:br>
                  <a:rPr lang="en-US" sz="2400">
                    <a:latin typeface="Cambria Math" panose="02040503050406030204" pitchFamily="18" charset="0"/>
                    <a:ea typeface="Cambria Math" panose="02040503050406030204" pitchFamily="18" charset="0"/>
                  </a:rPr>
                </a:br>
                <a:r>
                  <a:rPr lang="en-US" sz="2400">
                    <a:latin typeface="Source Sans Pro" panose="020B0503030403020204" pitchFamily="34" charset="0"/>
                    <a:ea typeface="Source Sans Pro" panose="020B0503030403020204" pitchFamily="34" charset="0"/>
                  </a:rPr>
                  <a:t>In state space form with </a:t>
                </a:r>
                <a14:m>
                  <m:oMath xmlns:m="http://schemas.openxmlformats.org/officeDocument/2006/math">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𝜃</m:t>
                        </m:r>
                      </m:e>
                    </m:acc>
                    <m:r>
                      <a:rPr lang="en-US" sz="2400" b="0" i="1" smtClean="0">
                        <a:latin typeface="Cambria Math" panose="02040503050406030204" pitchFamily="18" charset="0"/>
                        <a:ea typeface="Source Sans Pro" panose="020B0503030403020204" pitchFamily="34" charset="0"/>
                      </a:rPr>
                      <m:t>)</m:t>
                    </m:r>
                  </m:oMath>
                </a14:m>
                <a:r>
                  <a:rPr lang="en-US" sz="2400">
                    <a:latin typeface="Source Sans Pro" panose="020B0503030403020204" pitchFamily="34" charset="0"/>
                    <a:ea typeface="Source Sans Pro" panose="020B0503030403020204" pitchFamily="34" charset="0"/>
                  </a:rPr>
                  <a:t>, they are</a:t>
                </a:r>
                <a:br>
                  <a:rPr lang="en-US" sz="2400">
                    <a:latin typeface="Source Sans Pro" panose="020B0503030403020204" pitchFamily="34" charset="0"/>
                    <a:ea typeface="Source Sans Pro" panose="020B0503030403020204" pitchFamily="34" charset="0"/>
                  </a:rPr>
                </a:b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𝑓</m:t>
                    </m:r>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𝑢</m:t>
                        </m:r>
                      </m:e>
                    </m:d>
                    <m:r>
                      <a:rPr lang="en-US" sz="2400" b="0" i="1" smtClean="0">
                        <a:latin typeface="Cambria Math" panose="02040503050406030204" pitchFamily="18" charset="0"/>
                        <a:ea typeface="Source Sans Pro" panose="020B0503030403020204" pitchFamily="34" charset="0"/>
                      </a:rPr>
                      <m:t>=</m:t>
                    </m:r>
                    <m:d>
                      <m:dPr>
                        <m:ctrlPr>
                          <a:rPr lang="en-US" sz="2400" b="0" i="1" smtClean="0">
                            <a:latin typeface="Cambria Math" panose="02040503050406030204" pitchFamily="18" charset="0"/>
                            <a:ea typeface="Source Sans Pro" panose="020B0503030403020204" pitchFamily="34" charset="0"/>
                          </a:rPr>
                        </m:ctrlPr>
                      </m:dPr>
                      <m:e>
                        <m:m>
                          <m:mPr>
                            <m:mcs>
                              <m:mc>
                                <m:mcPr>
                                  <m:count m:val="1"/>
                                  <m:mcJc m:val="center"/>
                                </m:mcPr>
                              </m:mc>
                            </m:mcs>
                            <m:ctrlPr>
                              <a:rPr lang="en-US" sz="2400" b="0" i="1" smtClean="0">
                                <a:latin typeface="Cambria Math" panose="02040503050406030204" pitchFamily="18" charset="0"/>
                                <a:ea typeface="Source Sans Pro" panose="020B0503030403020204" pitchFamily="34" charset="0"/>
                              </a:rPr>
                            </m:ctrlPr>
                          </m:mPr>
                          <m:mr>
                            <m:e>
                              <m:sSub>
                                <m:sSubPr>
                                  <m:ctrlPr>
                                    <a:rPr lang="en-US" sz="2400" b="0" i="1" smtClean="0">
                                      <a:latin typeface="Cambria Math" panose="02040503050406030204" pitchFamily="18" charset="0"/>
                                      <a:ea typeface="Source Sans Pro" panose="020B0503030403020204" pitchFamily="34" charset="0"/>
                                    </a:rPr>
                                  </m:ctrlPr>
                                </m:sSubPr>
                                <m:e>
                                  <m:r>
                                    <m:rPr>
                                      <m:brk m:alnAt="7"/>
                                    </m:rPr>
                                    <a:rPr lang="en-US" sz="2400" b="0" i="1" smtClean="0">
                                      <a:latin typeface="Cambria Math" panose="02040503050406030204" pitchFamily="18" charset="0"/>
                                      <a:ea typeface="Source Sans Pro" panose="020B0503030403020204" pitchFamily="34" charset="0"/>
                                    </a:rPr>
                                    <m:t>𝑥</m:t>
                                  </m:r>
                                </m:e>
                                <m:sub>
                                  <m:r>
                                    <m:rPr>
                                      <m:brk m:alnAt="7"/>
                                    </m:rPr>
                                    <a:rPr lang="en-US" sz="2400" b="0" i="1" smtClean="0">
                                      <a:latin typeface="Cambria Math" panose="02040503050406030204" pitchFamily="18" charset="0"/>
                                      <a:ea typeface="Source Sans Pro" panose="020B0503030403020204" pitchFamily="34" charset="0"/>
                                    </a:rPr>
                                    <m:t>2</m:t>
                                  </m:r>
                                </m:sub>
                              </m:sSub>
                            </m:e>
                          </m:mr>
                          <m:mr>
                            <m:e>
                              <m:box>
                                <m:boxPr>
                                  <m:ctrlPr>
                                    <a:rPr lang="en-US" sz="2400" b="0" i="1" smtClean="0">
                                      <a:latin typeface="Cambria Math" panose="02040503050406030204" pitchFamily="18" charset="0"/>
                                      <a:ea typeface="Source Sans Pro" panose="020B0503030403020204" pitchFamily="34" charset="0"/>
                                    </a:rPr>
                                  </m:ctrlPr>
                                </m:boxPr>
                                <m:e>
                                  <m:argPr>
                                    <m:argSz m:val="-1"/>
                                  </m:argPr>
                                  <m:f>
                                    <m:fPr>
                                      <m:ctrlPr>
                                        <a:rPr lang="en-US" sz="2400" b="0" i="1" smtClean="0">
                                          <a:latin typeface="Cambria Math" panose="02040503050406030204" pitchFamily="18" charset="0"/>
                                          <a:ea typeface="Source Sans Pro" panose="020B0503030403020204" pitchFamily="34" charset="0"/>
                                        </a:rPr>
                                      </m:ctrlPr>
                                    </m:fPr>
                                    <m:num>
                                      <m:r>
                                        <a:rPr lang="en-US" sz="2400" b="0" i="1" smtClean="0">
                                          <a:latin typeface="Cambria Math" panose="02040503050406030204" pitchFamily="18" charset="0"/>
                                          <a:ea typeface="Source Sans Pro" panose="020B0503030403020204" pitchFamily="34" charset="0"/>
                                        </a:rPr>
                                        <m:t>𝑔</m:t>
                                      </m:r>
                                    </m:num>
                                    <m:den>
                                      <m:r>
                                        <a:rPr lang="en-US" sz="2400" i="1">
                                          <a:latin typeface="Cambria Math" panose="02040503050406030204" pitchFamily="18" charset="0"/>
                                          <a:ea typeface="Cambria Math" panose="02040503050406030204" pitchFamily="18" charset="0"/>
                                        </a:rPr>
                                        <m:t>ℓ</m:t>
                                      </m:r>
                                    </m:den>
                                  </m:f>
                                </m:e>
                              </m:box>
                              <m:func>
                                <m:funcPr>
                                  <m:ctrlPr>
                                    <a:rPr lang="en-US" sz="2400" b="0" i="1" smtClean="0">
                                      <a:latin typeface="Cambria Math" panose="02040503050406030204" pitchFamily="18" charset="0"/>
                                      <a:ea typeface="Source Sans Pro" panose="020B0503030403020204" pitchFamily="34" charset="0"/>
                                    </a:rPr>
                                  </m:ctrlPr>
                                </m:funcPr>
                                <m:fName>
                                  <m:r>
                                    <m:rPr>
                                      <m:sty m:val="p"/>
                                    </m:rPr>
                                    <a:rPr lang="en-US" sz="2400" b="0" i="0" smtClean="0">
                                      <a:latin typeface="Cambria Math" panose="02040503050406030204" pitchFamily="18" charset="0"/>
                                      <a:ea typeface="Source Sans Pro" panose="020B0503030403020204" pitchFamily="34" charset="0"/>
                                    </a:rPr>
                                    <m:t>sin</m:t>
                                  </m:r>
                                </m:fName>
                                <m:e>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Source Sans Pro" panose="020B0503030403020204" pitchFamily="34" charset="0"/>
                                        </a:rPr>
                                        <m:t>𝑥</m:t>
                                      </m:r>
                                    </m:e>
                                    <m:sub>
                                      <m:r>
                                        <a:rPr lang="en-US" sz="2400" b="0" i="1" smtClean="0">
                                          <a:latin typeface="Cambria Math" panose="02040503050406030204" pitchFamily="18" charset="0"/>
                                          <a:ea typeface="Source Sans Pro" panose="020B0503030403020204" pitchFamily="34" charset="0"/>
                                        </a:rPr>
                                        <m:t>1</m:t>
                                      </m:r>
                                    </m:sub>
                                  </m:sSub>
                                </m:e>
                              </m:func>
                              <m:r>
                                <a:rPr lang="en-US" sz="2400" b="0" i="1" smtClean="0">
                                  <a:latin typeface="Cambria Math" panose="02040503050406030204" pitchFamily="18" charset="0"/>
                                  <a:ea typeface="Source Sans Pro" panose="020B0503030403020204" pitchFamily="34" charset="0"/>
                                </a:rPr>
                                <m:t>+</m:t>
                              </m:r>
                              <m:box>
                                <m:boxPr>
                                  <m:ctrlPr>
                                    <a:rPr lang="en-US" sz="2400" b="0" i="1" smtClean="0">
                                      <a:latin typeface="Cambria Math" panose="02040503050406030204" pitchFamily="18" charset="0"/>
                                      <a:ea typeface="Source Sans Pro" panose="020B0503030403020204" pitchFamily="34" charset="0"/>
                                    </a:rPr>
                                  </m:ctrlPr>
                                </m:boxPr>
                                <m:e>
                                  <m:argPr>
                                    <m:argSz m:val="-1"/>
                                  </m:argPr>
                                  <m:f>
                                    <m:fPr>
                                      <m:ctrlPr>
                                        <a:rPr lang="en-US" sz="2400" b="0" i="1" smtClean="0">
                                          <a:latin typeface="Cambria Math" panose="02040503050406030204" pitchFamily="18" charset="0"/>
                                          <a:ea typeface="Source Sans Pro" panose="020B0503030403020204" pitchFamily="34" charset="0"/>
                                        </a:rPr>
                                      </m:ctrlPr>
                                    </m:fPr>
                                    <m:num>
                                      <m:r>
                                        <a:rPr lang="en-US" sz="2400" b="0" i="1" smtClean="0">
                                          <a:latin typeface="Cambria Math" panose="02040503050406030204" pitchFamily="18" charset="0"/>
                                          <a:ea typeface="Source Sans Pro" panose="020B0503030403020204" pitchFamily="34" charset="0"/>
                                        </a:rPr>
                                        <m:t>1</m:t>
                                      </m:r>
                                    </m:num>
                                    <m:den>
                                      <m:r>
                                        <a:rPr lang="en-US" sz="2400" i="1">
                                          <a:latin typeface="Cambria Math" panose="02040503050406030204" pitchFamily="18" charset="0"/>
                                          <a:ea typeface="Cambria Math" panose="02040503050406030204" pitchFamily="18" charset="0"/>
                                        </a:rPr>
                                        <m:t>𝑚</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ℓ</m:t>
                                          </m:r>
                                        </m:e>
                                        <m:sup>
                                          <m:r>
                                            <a:rPr lang="en-US" sz="2400" i="1">
                                              <a:latin typeface="Cambria Math" panose="02040503050406030204" pitchFamily="18" charset="0"/>
                                              <a:ea typeface="Cambria Math" panose="02040503050406030204" pitchFamily="18" charset="0"/>
                                            </a:rPr>
                                            <m:t>2</m:t>
                                          </m:r>
                                        </m:sup>
                                      </m:sSup>
                                    </m:den>
                                  </m:f>
                                </m:e>
                              </m:box>
                              <m:r>
                                <a:rPr lang="en-US" sz="2400" b="0" i="1" smtClean="0">
                                  <a:latin typeface="Cambria Math" panose="02040503050406030204" pitchFamily="18" charset="0"/>
                                  <a:ea typeface="Source Sans Pro" panose="020B0503030403020204" pitchFamily="34" charset="0"/>
                                </a:rPr>
                                <m:t>𝑢</m:t>
                              </m:r>
                            </m:e>
                          </m:mr>
                        </m:m>
                      </m:e>
                    </m:d>
                  </m:oMath>
                </a14:m>
                <a:endParaRPr lang="en-US" sz="2400">
                  <a:latin typeface="Source Sans Pro" panose="020B0503030403020204" pitchFamily="34" charset="0"/>
                  <a:ea typeface="Source Sans Pro" panose="020B0503030403020204" pitchFamily="34" charset="0"/>
                </a:endParaRPr>
              </a:p>
              <a:p>
                <a:pPr>
                  <a:lnSpc>
                    <a:spcPct val="100000"/>
                  </a:lnSpc>
                  <a:spcAft>
                    <a:spcPts val="2000"/>
                  </a:spcAft>
                </a:pPr>
                <a:r>
                  <a:rPr lang="en-US" sz="2400">
                    <a:latin typeface="Source Sans Pro" panose="020B0503030403020204" pitchFamily="34" charset="0"/>
                    <a:ea typeface="Source Sans Pro" panose="020B0503030403020204" pitchFamily="34" charset="0"/>
                  </a:rPr>
                  <a:t>Since </a:t>
                </a:r>
                <a14:m>
                  <m:oMath xmlns:m="http://schemas.openxmlformats.org/officeDocument/2006/math">
                    <m:d>
                      <m:dPr>
                        <m:ctrlPr>
                          <a:rPr lang="en-US" sz="2400" b="0" i="1" smtClean="0">
                            <a:latin typeface="Cambria Math" panose="02040503050406030204" pitchFamily="18" charset="0"/>
                            <a:ea typeface="Source Sans Pro" panose="020B0503030403020204" pitchFamily="34" charset="0"/>
                          </a:rPr>
                        </m:ctrlPr>
                      </m:dPr>
                      <m:e>
                        <m:r>
                          <a:rPr lang="en-US" sz="2400" b="0" i="1" smtClean="0">
                            <a:latin typeface="Cambria Math" panose="02040503050406030204" pitchFamily="18" charset="0"/>
                            <a:ea typeface="Source Sans Pro" panose="020B0503030403020204" pitchFamily="34" charset="0"/>
                          </a:rPr>
                          <m:t>𝑥</m:t>
                        </m:r>
                        <m:r>
                          <a:rPr lang="en-US" sz="2400" b="0" i="1" smtClean="0">
                            <a:latin typeface="Cambria Math" panose="02040503050406030204" pitchFamily="18" charset="0"/>
                            <a:ea typeface="Source Sans Pro" panose="020B0503030403020204" pitchFamily="34" charset="0"/>
                          </a:rPr>
                          <m:t>,</m:t>
                        </m:r>
                        <m:r>
                          <a:rPr lang="en-US" sz="2400" b="0" i="1" smtClean="0">
                            <a:latin typeface="Cambria Math" panose="02040503050406030204" pitchFamily="18" charset="0"/>
                            <a:ea typeface="Source Sans Pro" panose="020B0503030403020204" pitchFamily="34" charset="0"/>
                          </a:rPr>
                          <m:t>𝑢</m:t>
                        </m:r>
                      </m:e>
                    </m:d>
                    <m:r>
                      <a:rPr lang="en-US" sz="2400" b="0" i="1" smtClean="0">
                        <a:latin typeface="Cambria Math" panose="02040503050406030204" pitchFamily="18" charset="0"/>
                        <a:ea typeface="Source Sans Pro" panose="020B0503030403020204" pitchFamily="34" charset="0"/>
                      </a:rPr>
                      <m:t>=0</m:t>
                    </m:r>
                  </m:oMath>
                </a14:m>
                <a:r>
                  <a:rPr lang="en-US" sz="2400">
                    <a:latin typeface="Source Sans Pro" panose="020B0503030403020204" pitchFamily="34" charset="0"/>
                    <a:ea typeface="Source Sans Pro" panose="020B0503030403020204" pitchFamily="34" charset="0"/>
                  </a:rPr>
                  <a:t> is an equilibrium, the linearization here is </a:t>
                </a:r>
                <a:br>
                  <a:rPr lang="en-US" sz="2400">
                    <a:latin typeface="Source Sans Pro" panose="020B0503030403020204" pitchFamily="34" charset="0"/>
                    <a:ea typeface="Source Sans Pro" panose="020B0503030403020204" pitchFamily="34" charset="0"/>
                  </a:rPr>
                </a:br>
                <a14:m>
                  <m:oMath xmlns:m="http://schemas.openxmlformats.org/officeDocument/2006/math">
                    <m:acc>
                      <m:accPr>
                        <m:chr m:val="̇"/>
                        <m:ctrlPr>
                          <a:rPr lang="en-US" sz="2400" i="1" smtClean="0">
                            <a:latin typeface="Cambria Math" panose="02040503050406030204" pitchFamily="18" charset="0"/>
                            <a:ea typeface="Source Sans Pro" panose="020B0503030403020204" pitchFamily="34" charset="0"/>
                          </a:rPr>
                        </m:ctrlPr>
                      </m:accPr>
                      <m:e>
                        <m:r>
                          <a:rPr lang="en-US" sz="2400" b="0" i="1" smtClean="0">
                            <a:latin typeface="Cambria Math" panose="02040503050406030204" pitchFamily="18" charset="0"/>
                            <a:ea typeface="Source Sans Pro" panose="020B0503030403020204" pitchFamily="34" charset="0"/>
                          </a:rPr>
                          <m:t>𝑥</m:t>
                        </m:r>
                      </m:e>
                    </m:acc>
                    <m:r>
                      <a:rPr lang="en-US" sz="240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Source Sans Pro" panose="020B0503030403020204" pitchFamily="34" charset="0"/>
                          </a:rPr>
                        </m:ctrlPr>
                      </m:dPr>
                      <m:e>
                        <m:m>
                          <m:mPr>
                            <m:mcs>
                              <m:mc>
                                <m:mcPr>
                                  <m:count m:val="1"/>
                                  <m:mcJc m:val="center"/>
                                </m:mcPr>
                              </m:mc>
                            </m:mcs>
                            <m:ctrlPr>
                              <a:rPr lang="en-US" sz="2400" i="1">
                                <a:latin typeface="Cambria Math" panose="02040503050406030204" pitchFamily="18" charset="0"/>
                                <a:ea typeface="Source Sans Pro" panose="020B0503030403020204" pitchFamily="34" charset="0"/>
                              </a:rPr>
                            </m:ctrlPr>
                          </m:mPr>
                          <m:mr>
                            <m:e>
                              <m:acc>
                                <m:accPr>
                                  <m:chr m:val="̇"/>
                                  <m:ctrlPr>
                                    <a:rPr lang="en-US" sz="2400" i="1">
                                      <a:latin typeface="Cambria Math" panose="02040503050406030204" pitchFamily="18" charset="0"/>
                                      <a:ea typeface="Source Sans Pro" panose="020B0503030403020204" pitchFamily="34" charset="0"/>
                                    </a:rPr>
                                  </m:ctrlPr>
                                </m:accPr>
                                <m:e>
                                  <m:r>
                                    <a:rPr lang="en-US" sz="2400" i="1">
                                      <a:latin typeface="Cambria Math" panose="02040503050406030204" pitchFamily="18" charset="0"/>
                                      <a:ea typeface="Cambria Math" panose="02040503050406030204" pitchFamily="18" charset="0"/>
                                    </a:rPr>
                                    <m:t>𝜃</m:t>
                                  </m:r>
                                </m:e>
                              </m:acc>
                            </m:e>
                          </m:mr>
                          <m:mr>
                            <m:e>
                              <m:box>
                                <m:boxPr>
                                  <m:ctrlPr>
                                    <a:rPr lang="en-US" sz="2400" i="1">
                                      <a:latin typeface="Cambria Math" panose="02040503050406030204" pitchFamily="18" charset="0"/>
                                      <a:ea typeface="Source Sans Pro" panose="020B0503030403020204" pitchFamily="34" charset="0"/>
                                    </a:rPr>
                                  </m:ctrlPr>
                                </m:boxPr>
                                <m:e>
                                  <m:argPr>
                                    <m:argSz m:val="-1"/>
                                  </m:argPr>
                                  <m:f>
                                    <m:fPr>
                                      <m:ctrlPr>
                                        <a:rPr lang="en-US" sz="2400" i="1">
                                          <a:latin typeface="Cambria Math" panose="02040503050406030204" pitchFamily="18" charset="0"/>
                                          <a:ea typeface="Source Sans Pro" panose="020B0503030403020204" pitchFamily="34" charset="0"/>
                                        </a:rPr>
                                      </m:ctrlPr>
                                    </m:fPr>
                                    <m:num>
                                      <m:r>
                                        <a:rPr lang="en-US" sz="2400" i="1">
                                          <a:latin typeface="Cambria Math" panose="02040503050406030204" pitchFamily="18" charset="0"/>
                                          <a:ea typeface="Source Sans Pro" panose="020B0503030403020204" pitchFamily="34" charset="0"/>
                                        </a:rPr>
                                        <m:t>𝑔</m:t>
                                      </m:r>
                                    </m:num>
                                    <m:den>
                                      <m:r>
                                        <a:rPr lang="en-US" sz="2400" i="1">
                                          <a:latin typeface="Cambria Math" panose="02040503050406030204" pitchFamily="18" charset="0"/>
                                          <a:ea typeface="Cambria Math" panose="02040503050406030204" pitchFamily="18" charset="0"/>
                                        </a:rPr>
                                        <m:t>ℓ</m:t>
                                      </m:r>
                                    </m:den>
                                  </m:f>
                                </m:e>
                              </m:box>
                              <m:r>
                                <a:rPr lang="en-US" sz="240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𝑢</m:t>
                              </m:r>
                            </m:e>
                          </m:mr>
                        </m:m>
                      </m:e>
                    </m:d>
                    <m:r>
                      <a:rPr lang="en-US" sz="2400" b="0" i="1" smtClean="0">
                        <a:latin typeface="Cambria Math" panose="02040503050406030204" pitchFamily="18" charset="0"/>
                        <a:ea typeface="Cambria Math" panose="02040503050406030204" pitchFamily="18" charset="0"/>
                      </a:rPr>
                      <m:t>=</m:t>
                    </m:r>
                    <m:d>
                      <m:dPr>
                        <m:begChr m:val="["/>
                        <m:endChr m:val="]"/>
                        <m:ctrlPr>
                          <a:rPr lang="en-US" sz="2400"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0</m:t>
                              </m:r>
                            </m:e>
                            <m:e>
                              <m:r>
                                <a:rPr lang="en-US" sz="2400" b="0" i="1" smtClean="0">
                                  <a:latin typeface="Cambria Math" panose="02040503050406030204" pitchFamily="18" charset="0"/>
                                  <a:ea typeface="Cambria Math" panose="02040503050406030204" pitchFamily="18" charset="0"/>
                                </a:rPr>
                                <m:t>1</m:t>
                              </m:r>
                            </m:e>
                          </m:mr>
                          <m:mr>
                            <m:e>
                              <m:box>
                                <m:boxPr>
                                  <m:ctrlPr>
                                    <a:rPr lang="en-US" sz="2400" b="0" i="1" smtClean="0">
                                      <a:latin typeface="Cambria Math" panose="02040503050406030204" pitchFamily="18" charset="0"/>
                                      <a:ea typeface="Cambria Math" panose="02040503050406030204" pitchFamily="18" charset="0"/>
                                    </a:rPr>
                                  </m:ctrlPr>
                                </m:boxPr>
                                <m:e>
                                  <m:argPr>
                                    <m:argSz m:val="-1"/>
                                  </m:argPr>
                                  <m:f>
                                    <m:fPr>
                                      <m:type m:val="skw"/>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𝑔</m:t>
                                      </m:r>
                                    </m:num>
                                    <m:den>
                                      <m:r>
                                        <a:rPr lang="en-US" sz="2400" i="1">
                                          <a:latin typeface="Cambria Math" panose="02040503050406030204" pitchFamily="18" charset="0"/>
                                          <a:ea typeface="Cambria Math" panose="02040503050406030204" pitchFamily="18" charset="0"/>
                                        </a:rPr>
                                        <m:t>ℓ</m:t>
                                      </m:r>
                                    </m:den>
                                  </m:f>
                                </m:e>
                              </m:box>
                            </m:e>
                            <m:e>
                              <m:r>
                                <a:rPr lang="en-US" sz="2400" b="0" i="1" smtClean="0">
                                  <a:latin typeface="Cambria Math" panose="02040503050406030204" pitchFamily="18" charset="0"/>
                                  <a:ea typeface="Cambria Math" panose="02040503050406030204" pitchFamily="18" charset="0"/>
                                </a:rPr>
                                <m:t>0</m:t>
                              </m:r>
                            </m:e>
                          </m:mr>
                        </m:m>
                      </m:e>
                    </m:d>
                    <m:r>
                      <a:rPr lang="en-US" sz="2400" b="0" i="1" smtClean="0">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Source Sans Pro" panose="020B0503030403020204" pitchFamily="34" charset="0"/>
                      </a:rPr>
                      <m:t>+</m:t>
                    </m:r>
                    <m:d>
                      <m:dPr>
                        <m:begChr m:val="["/>
                        <m:endChr m:val="]"/>
                        <m:ctrlPr>
                          <a:rPr lang="en-US" sz="2400" i="1">
                            <a:latin typeface="Cambria Math" panose="02040503050406030204" pitchFamily="18" charset="0"/>
                            <a:ea typeface="Source Sans Pro" panose="020B0503030403020204" pitchFamily="34" charset="0"/>
                          </a:rPr>
                        </m:ctrlPr>
                      </m:dPr>
                      <m:e>
                        <m:m>
                          <m:mPr>
                            <m:mcs>
                              <m:mc>
                                <m:mcPr>
                                  <m:count m:val="1"/>
                                  <m:mcJc m:val="center"/>
                                </m:mcPr>
                              </m:mc>
                            </m:mcs>
                            <m:ctrlPr>
                              <a:rPr lang="en-US" sz="2400" i="1">
                                <a:latin typeface="Cambria Math" panose="02040503050406030204" pitchFamily="18" charset="0"/>
                                <a:ea typeface="Source Sans Pro" panose="020B0503030403020204" pitchFamily="34" charset="0"/>
                              </a:rPr>
                            </m:ctrlPr>
                          </m:mPr>
                          <m:mr>
                            <m:e>
                              <m:r>
                                <m:rPr>
                                  <m:brk m:alnAt="7"/>
                                </m:rPr>
                                <a:rPr lang="en-US" sz="2400" i="1">
                                  <a:latin typeface="Cambria Math" panose="02040503050406030204" pitchFamily="18" charset="0"/>
                                  <a:ea typeface="Source Sans Pro" panose="020B0503030403020204" pitchFamily="34" charset="0"/>
                                </a:rPr>
                                <m:t>0</m:t>
                              </m:r>
                            </m:e>
                          </m:mr>
                          <m:mr>
                            <m:e>
                              <m:box>
                                <m:boxPr>
                                  <m:ctrlPr>
                                    <a:rPr lang="en-US" sz="2400" i="1" smtClean="0">
                                      <a:latin typeface="Cambria Math" panose="02040503050406030204" pitchFamily="18" charset="0"/>
                                      <a:ea typeface="Source Sans Pro" panose="020B0503030403020204" pitchFamily="34" charset="0"/>
                                    </a:rPr>
                                  </m:ctrlPr>
                                </m:boxPr>
                                <m:e>
                                  <m:argPr>
                                    <m:argSz m:val="-1"/>
                                  </m:argPr>
                                  <m:f>
                                    <m:fPr>
                                      <m:type m:val="skw"/>
                                      <m:ctrlPr>
                                        <a:rPr lang="en-US" sz="2400" b="0" i="1" smtClean="0">
                                          <a:latin typeface="Cambria Math" panose="02040503050406030204" pitchFamily="18" charset="0"/>
                                          <a:ea typeface="Source Sans Pro" panose="020B0503030403020204" pitchFamily="34" charset="0"/>
                                        </a:rPr>
                                      </m:ctrlPr>
                                    </m:fPr>
                                    <m:num>
                                      <m:r>
                                        <a:rPr lang="en-US" sz="2400" b="0" i="1" smtClean="0">
                                          <a:latin typeface="Cambria Math" panose="02040503050406030204" pitchFamily="18" charset="0"/>
                                          <a:ea typeface="Source Sans Pro" panose="020B0503030403020204" pitchFamily="34" charset="0"/>
                                        </a:rPr>
                                        <m:t>1</m:t>
                                      </m:r>
                                    </m:num>
                                    <m:den>
                                      <m:r>
                                        <a:rPr lang="en-US" sz="2400" i="1">
                                          <a:latin typeface="Cambria Math" panose="02040503050406030204" pitchFamily="18" charset="0"/>
                                          <a:ea typeface="Cambria Math" panose="02040503050406030204" pitchFamily="18" charset="0"/>
                                        </a:rPr>
                                        <m:t>𝑚</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ℓ</m:t>
                                          </m:r>
                                        </m:e>
                                        <m:sup>
                                          <m:r>
                                            <a:rPr lang="en-US" sz="2400" i="1">
                                              <a:latin typeface="Cambria Math" panose="02040503050406030204" pitchFamily="18" charset="0"/>
                                              <a:ea typeface="Cambria Math" panose="02040503050406030204" pitchFamily="18" charset="0"/>
                                            </a:rPr>
                                            <m:t>2</m:t>
                                          </m:r>
                                        </m:sup>
                                      </m:sSup>
                                    </m:den>
                                  </m:f>
                                </m:e>
                              </m:box>
                            </m:e>
                          </m:mr>
                        </m:m>
                      </m:e>
                    </m:d>
                    <m:r>
                      <a:rPr lang="en-US" sz="2400" i="1">
                        <a:latin typeface="Cambria Math" panose="02040503050406030204" pitchFamily="18" charset="0"/>
                        <a:ea typeface="Source Sans Pro" panose="020B0503030403020204" pitchFamily="34" charset="0"/>
                      </a:rPr>
                      <m:t>𝑢</m:t>
                    </m:r>
                  </m:oMath>
                </a14:m>
                <a:endParaRPr lang="en-US" sz="2400">
                  <a:latin typeface="Source Sans Pro" panose="020B0503030403020204" pitchFamily="34" charset="0"/>
                  <a:ea typeface="Source Sans Pro" panose="020B0503030403020204" pitchFamily="34" charset="0"/>
                </a:endParaRPr>
              </a:p>
              <a:p>
                <a:pPr>
                  <a:lnSpc>
                    <a:spcPct val="100000"/>
                  </a:lnSpc>
                  <a:spcAft>
                    <a:spcPts val="2000"/>
                  </a:spcAft>
                </a:pPr>
                <a:r>
                  <a:rPr lang="en-US" sz="2400">
                    <a:latin typeface="Source Sans Pro" panose="020B0503030403020204" pitchFamily="34" charset="0"/>
                    <a:ea typeface="Source Sans Pro" panose="020B0503030403020204" pitchFamily="34" charset="0"/>
                  </a:rPr>
                  <a:t>This is close to a double-integrator! We could try </a:t>
                </a:r>
                <a14:m>
                  <m:oMath xmlns:m="http://schemas.openxmlformats.org/officeDocument/2006/math">
                    <m:box>
                      <m:boxPr>
                        <m:ctrlPr>
                          <a:rPr lang="en-US" sz="2400" i="1">
                            <a:latin typeface="Cambria Math" panose="02040503050406030204" pitchFamily="18" charset="0"/>
                            <a:ea typeface="Source Sans Pro" panose="020B0503030403020204" pitchFamily="34" charset="0"/>
                          </a:rPr>
                        </m:ctrlPr>
                      </m:boxPr>
                      <m:e>
                        <m:argPr>
                          <m:argSz m:val="-1"/>
                        </m:argPr>
                        <m:f>
                          <m:fPr>
                            <m:ctrlPr>
                              <a:rPr lang="en-US" sz="2400" i="1">
                                <a:latin typeface="Cambria Math" panose="02040503050406030204" pitchFamily="18" charset="0"/>
                                <a:ea typeface="Source Sans Pro" panose="020B0503030403020204" pitchFamily="34" charset="0"/>
                              </a:rPr>
                            </m:ctrlPr>
                          </m:fPr>
                          <m:num>
                            <m:r>
                              <a:rPr lang="en-US" sz="2400" i="1">
                                <a:latin typeface="Cambria Math" panose="02040503050406030204" pitchFamily="18" charset="0"/>
                                <a:ea typeface="Source Sans Pro" panose="020B0503030403020204" pitchFamily="34" charset="0"/>
                              </a:rPr>
                              <m:t>1</m:t>
                            </m:r>
                          </m:num>
                          <m:den>
                            <m:r>
                              <a:rPr lang="en-US" sz="2400" i="1">
                                <a:latin typeface="Cambria Math" panose="02040503050406030204" pitchFamily="18" charset="0"/>
                                <a:ea typeface="Cambria Math" panose="02040503050406030204" pitchFamily="18" charset="0"/>
                              </a:rPr>
                              <m:t>𝑚</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ℓ</m:t>
                                </m:r>
                              </m:e>
                              <m:sup>
                                <m:r>
                                  <a:rPr lang="en-US" sz="2400" i="1">
                                    <a:latin typeface="Cambria Math" panose="02040503050406030204" pitchFamily="18" charset="0"/>
                                    <a:ea typeface="Cambria Math" panose="02040503050406030204" pitchFamily="18" charset="0"/>
                                  </a:rPr>
                                  <m:t>2</m:t>
                                </m:r>
                              </m:sup>
                            </m:sSup>
                          </m:den>
                        </m:f>
                      </m:e>
                    </m:box>
                    <m:r>
                      <a:rPr lang="en-US" sz="2400" b="0" i="1" smtClean="0">
                        <a:latin typeface="Cambria Math" panose="02040503050406030204" pitchFamily="18" charset="0"/>
                        <a:ea typeface="Source Sans Pro" panose="020B0503030403020204" pitchFamily="34" charset="0"/>
                      </a:rPr>
                      <m:t>𝑢</m:t>
                    </m:r>
                    <m:r>
                      <a:rPr lang="en-US" sz="2400" b="0" i="1" smtClean="0">
                        <a:latin typeface="Cambria Math" panose="02040503050406030204" pitchFamily="18" charset="0"/>
                        <a:ea typeface="Source Sans Pro" panose="020B0503030403020204" pitchFamily="34" charset="0"/>
                      </a:rPr>
                      <m:t>=−</m:t>
                    </m:r>
                    <m:d>
                      <m:dPr>
                        <m:ctrlPr>
                          <a:rPr lang="en-US" sz="2400" b="0" i="1" smtClean="0">
                            <a:latin typeface="Cambria Math" panose="02040503050406030204" pitchFamily="18" charset="0"/>
                            <a:ea typeface="Source Sans Pro" panose="020B0503030403020204" pitchFamily="34" charset="0"/>
                          </a:rPr>
                        </m:ctrlPr>
                      </m:dPr>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𝑔</m:t>
                            </m:r>
                          </m:num>
                          <m:den>
                            <m:r>
                              <a:rPr lang="en-US" sz="2400" i="1">
                                <a:latin typeface="Cambria Math" panose="02040503050406030204" pitchFamily="18" charset="0"/>
                                <a:ea typeface="Cambria Math" panose="02040503050406030204" pitchFamily="18" charset="0"/>
                              </a:rPr>
                              <m:t>ℓ</m:t>
                            </m:r>
                          </m:den>
                        </m:f>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Source Sans Pro" panose="020B0503030403020204" pitchFamily="34" charset="0"/>
                              </a:rPr>
                              <m:t>𝑝</m:t>
                            </m:r>
                          </m:sub>
                        </m:sSub>
                      </m:e>
                    </m:d>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Source Sans Pro" panose="020B0503030403020204" pitchFamily="34" charset="0"/>
                      </a:rPr>
                      <m:t>−</m:t>
                    </m:r>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Cambria Math" panose="02040503050406030204" pitchFamily="18" charset="0"/>
                          </a:rPr>
                          <m:t>𝑑</m:t>
                        </m:r>
                      </m:sub>
                    </m:s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𝜃</m:t>
                        </m:r>
                      </m:e>
                    </m:acc>
                  </m:oMath>
                </a14:m>
                <a:r>
                  <a:rPr lang="en-US" sz="2400">
                    <a:latin typeface="Source Sans Pro" panose="020B0503030403020204" pitchFamily="34" charset="0"/>
                    <a:ea typeface="Source Sans Pro" panose="020B0503030403020204" pitchFamily="34" charset="0"/>
                  </a:rPr>
                  <a:t> to stabilize the pendulum near the upright equilibrium</a:t>
                </a:r>
                <a:br>
                  <a:rPr lang="en-US" sz="2400">
                    <a:latin typeface="Source Sans Pro" panose="020B0503030403020204" pitchFamily="34" charset="0"/>
                    <a:ea typeface="Source Sans Pro" panose="020B0503030403020204" pitchFamily="34" charset="0"/>
                  </a:rPr>
                </a:br>
                <a:endParaRPr lang="en-US" sz="2400" i="1">
                  <a:latin typeface="Cambria Math" panose="02040503050406030204" pitchFamily="18" charset="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44" t="-872" r="-483" b="-291"/>
                </a:stretch>
              </a:blipFill>
            </p:spPr>
            <p:txBody>
              <a:bodyPr/>
              <a:lstStyle/>
              <a:p>
                <a:r>
                  <a:rPr lang="en-US">
                    <a:noFill/>
                  </a:rPr>
                  <a:t> </a:t>
                </a:r>
              </a:p>
            </p:txBody>
          </p:sp>
        </mc:Fallback>
      </mc:AlternateContent>
      <p:grpSp>
        <p:nvGrpSpPr>
          <p:cNvPr id="40" name="Group 39">
            <a:extLst>
              <a:ext uri="{FF2B5EF4-FFF2-40B4-BE49-F238E27FC236}">
                <a16:creationId xmlns:a16="http://schemas.microsoft.com/office/drawing/2014/main" id="{B0916A13-EEE9-1834-E520-4751082AD3FD}"/>
              </a:ext>
            </a:extLst>
          </p:cNvPr>
          <p:cNvGrpSpPr>
            <a:grpSpLocks noChangeAspect="1"/>
          </p:cNvGrpSpPr>
          <p:nvPr/>
        </p:nvGrpSpPr>
        <p:grpSpPr>
          <a:xfrm>
            <a:off x="8548561" y="1757479"/>
            <a:ext cx="3643439" cy="4602048"/>
            <a:chOff x="4445673" y="2937710"/>
            <a:chExt cx="1818213" cy="2296595"/>
          </a:xfrm>
        </p:grpSpPr>
        <p:cxnSp>
          <p:nvCxnSpPr>
            <p:cNvPr id="8" name="Straight Connector 7">
              <a:extLst>
                <a:ext uri="{FF2B5EF4-FFF2-40B4-BE49-F238E27FC236}">
                  <a16:creationId xmlns:a16="http://schemas.microsoft.com/office/drawing/2014/main" id="{32E9C2B6-C4DD-2A0E-E15C-9398EB15703E}"/>
                </a:ext>
              </a:extLst>
            </p:cNvPr>
            <p:cNvCxnSpPr>
              <a:cxnSpLocks/>
            </p:cNvCxnSpPr>
            <p:nvPr/>
          </p:nvCxnSpPr>
          <p:spPr>
            <a:xfrm flipH="1" flipV="1">
              <a:off x="4808317" y="3081710"/>
              <a:ext cx="546463" cy="1252595"/>
            </a:xfrm>
            <a:prstGeom prst="line">
              <a:avLst/>
            </a:prstGeom>
            <a:ln w="25400"/>
          </p:spPr>
          <p:style>
            <a:lnRef idx="1">
              <a:schemeClr val="dk1"/>
            </a:lnRef>
            <a:fillRef idx="0">
              <a:schemeClr val="dk1"/>
            </a:fillRef>
            <a:effectRef idx="0">
              <a:schemeClr val="dk1"/>
            </a:effectRef>
            <a:fontRef idx="minor">
              <a:schemeClr val="tx1"/>
            </a:fontRef>
          </p:style>
        </p:cxnSp>
        <p:sp>
          <p:nvSpPr>
            <p:cNvPr id="21" name="Arc 20">
              <a:extLst>
                <a:ext uri="{FF2B5EF4-FFF2-40B4-BE49-F238E27FC236}">
                  <a16:creationId xmlns:a16="http://schemas.microsoft.com/office/drawing/2014/main" id="{048FEF1B-5984-64D2-5B87-61262C5F3771}"/>
                </a:ext>
              </a:extLst>
            </p:cNvPr>
            <p:cNvSpPr>
              <a:spLocks noChangeAspect="1"/>
            </p:cNvSpPr>
            <p:nvPr/>
          </p:nvSpPr>
          <p:spPr>
            <a:xfrm>
              <a:off x="4445673" y="3434305"/>
              <a:ext cx="1818213" cy="1800000"/>
            </a:xfrm>
            <a:prstGeom prst="arc">
              <a:avLst>
                <a:gd name="adj1" fmla="val 14812507"/>
                <a:gd name="adj2" fmla="val 16172983"/>
              </a:avLst>
            </a:prstGeom>
            <a:ln>
              <a:head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Oval 10">
              <a:extLst>
                <a:ext uri="{FF2B5EF4-FFF2-40B4-BE49-F238E27FC236}">
                  <a16:creationId xmlns:a16="http://schemas.microsoft.com/office/drawing/2014/main" id="{9593CE5A-88D6-4550-742B-9071FBF824E4}"/>
                </a:ext>
              </a:extLst>
            </p:cNvPr>
            <p:cNvSpPr/>
            <p:nvPr/>
          </p:nvSpPr>
          <p:spPr>
            <a:xfrm>
              <a:off x="4682316" y="2955709"/>
              <a:ext cx="251999" cy="2519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8BCD1CE0-9CCF-048B-C0A7-0B4255C64EA8}"/>
                </a:ext>
              </a:extLst>
            </p:cNvPr>
            <p:cNvCxnSpPr>
              <a:cxnSpLocks/>
            </p:cNvCxnSpPr>
            <p:nvPr/>
          </p:nvCxnSpPr>
          <p:spPr>
            <a:xfrm flipV="1">
              <a:off x="5354780" y="2937710"/>
              <a:ext cx="0" cy="1396595"/>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DF1100C7-9665-121D-A7BB-D6D1DAAC8625}"/>
                </a:ext>
              </a:extLst>
            </p:cNvPr>
            <p:cNvCxnSpPr>
              <a:cxnSpLocks/>
            </p:cNvCxnSpPr>
            <p:nvPr/>
          </p:nvCxnSpPr>
          <p:spPr>
            <a:xfrm flipH="1">
              <a:off x="4980377" y="4334305"/>
              <a:ext cx="748806" cy="0"/>
            </a:xfrm>
            <a:prstGeom prst="line">
              <a:avLst/>
            </a:prstGeom>
            <a:ln w="25400"/>
          </p:spPr>
          <p:style>
            <a:lnRef idx="1">
              <a:schemeClr val="dk1"/>
            </a:lnRef>
            <a:fillRef idx="0">
              <a:schemeClr val="dk1"/>
            </a:fillRef>
            <a:effectRef idx="0">
              <a:schemeClr val="dk1"/>
            </a:effectRef>
            <a:fontRef idx="minor">
              <a:schemeClr val="tx1"/>
            </a:fontRef>
          </p:style>
        </p:cxnSp>
        <p:sp>
          <p:nvSpPr>
            <p:cNvPr id="20" name="Pie 19">
              <a:extLst>
                <a:ext uri="{FF2B5EF4-FFF2-40B4-BE49-F238E27FC236}">
                  <a16:creationId xmlns:a16="http://schemas.microsoft.com/office/drawing/2014/main" id="{ACE88303-991F-A6B6-2CD2-4DA30D18D3C8}"/>
                </a:ext>
              </a:extLst>
            </p:cNvPr>
            <p:cNvSpPr/>
            <p:nvPr/>
          </p:nvSpPr>
          <p:spPr>
            <a:xfrm>
              <a:off x="5264781" y="4246868"/>
              <a:ext cx="180000" cy="180000"/>
            </a:xfrm>
            <a:prstGeom prst="pie">
              <a:avLst>
                <a:gd name="adj1" fmla="val 10867896"/>
                <a:gd name="adj2" fmla="val 2155119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cxnSp>
          <p:nvCxnSpPr>
            <p:cNvPr id="22" name="Straight Connector 21">
              <a:extLst>
                <a:ext uri="{FF2B5EF4-FFF2-40B4-BE49-F238E27FC236}">
                  <a16:creationId xmlns:a16="http://schemas.microsoft.com/office/drawing/2014/main" id="{19DC287D-15B7-B814-B2C1-DA8C92C19ED9}"/>
                </a:ext>
              </a:extLst>
            </p:cNvPr>
            <p:cNvCxnSpPr>
              <a:cxnSpLocks/>
            </p:cNvCxnSpPr>
            <p:nvPr/>
          </p:nvCxnSpPr>
          <p:spPr>
            <a:xfrm flipV="1">
              <a:off x="4808315" y="3081708"/>
              <a:ext cx="0" cy="468826"/>
            </a:xfrm>
            <a:prstGeom prst="line">
              <a:avLst/>
            </a:prstGeom>
            <a:ln w="12700">
              <a:prstDash val="solid"/>
              <a:headEnd type="triangle"/>
            </a:ln>
          </p:spPr>
          <p:style>
            <a:lnRef idx="1">
              <a:schemeClr val="dk1"/>
            </a:lnRef>
            <a:fillRef idx="0">
              <a:schemeClr val="dk1"/>
            </a:fillRef>
            <a:effectRef idx="0">
              <a:schemeClr val="dk1"/>
            </a:effectRef>
            <a:fontRef idx="minor">
              <a:schemeClr val="tx1"/>
            </a:fontRef>
          </p:style>
        </p:cxnSp>
        <p:sp>
          <p:nvSpPr>
            <p:cNvPr id="28" name="Arc 27">
              <a:extLst>
                <a:ext uri="{FF2B5EF4-FFF2-40B4-BE49-F238E27FC236}">
                  <a16:creationId xmlns:a16="http://schemas.microsoft.com/office/drawing/2014/main" id="{22C8E2A7-1945-EF2B-E6DD-0D2312457DE0}"/>
                </a:ext>
              </a:extLst>
            </p:cNvPr>
            <p:cNvSpPr>
              <a:spLocks noChangeAspect="1"/>
            </p:cNvSpPr>
            <p:nvPr/>
          </p:nvSpPr>
          <p:spPr>
            <a:xfrm>
              <a:off x="5136595" y="4118305"/>
              <a:ext cx="436371" cy="432000"/>
            </a:xfrm>
            <a:prstGeom prst="arc">
              <a:avLst>
                <a:gd name="adj1" fmla="val 12272034"/>
                <a:gd name="adj2" fmla="val 18663804"/>
              </a:avLst>
            </a:prstGeom>
            <a:ln>
              <a:head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2B44F7F-F235-7342-EFE0-4DD3FBE694FD}"/>
                    </a:ext>
                  </a:extLst>
                </p:cNvPr>
                <p:cNvSpPr txBox="1"/>
                <p:nvPr/>
              </p:nvSpPr>
              <p:spPr>
                <a:xfrm>
                  <a:off x="4495563" y="3275046"/>
                  <a:ext cx="259411" cy="184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𝑚𝑔</m:t>
                        </m:r>
                      </m:oMath>
                    </m:oMathPara>
                  </a14:m>
                  <a:endParaRPr lang="en-US" sz="2400"/>
                </a:p>
              </p:txBody>
            </p:sp>
          </mc:Choice>
          <mc:Fallback xmlns="">
            <p:sp>
              <p:nvSpPr>
                <p:cNvPr id="33" name="TextBox 32">
                  <a:extLst>
                    <a:ext uri="{FF2B5EF4-FFF2-40B4-BE49-F238E27FC236}">
                      <a16:creationId xmlns:a16="http://schemas.microsoft.com/office/drawing/2014/main" id="{C2B44F7F-F235-7342-EFE0-4DD3FBE694FD}"/>
                    </a:ext>
                  </a:extLst>
                </p:cNvPr>
                <p:cNvSpPr txBox="1">
                  <a:spLocks noRot="1" noChangeAspect="1" noMove="1" noResize="1" noEditPoints="1" noAdjustHandles="1" noChangeArrowheads="1" noChangeShapeType="1" noTextEdit="1"/>
                </p:cNvSpPr>
                <p:nvPr/>
              </p:nvSpPr>
              <p:spPr>
                <a:xfrm>
                  <a:off x="4495563" y="3275046"/>
                  <a:ext cx="259411" cy="184311"/>
                </a:xfrm>
                <a:prstGeom prst="rect">
                  <a:avLst/>
                </a:prstGeom>
                <a:blipFill>
                  <a:blip r:embed="rId4"/>
                  <a:stretch>
                    <a:fillRect l="-14634" r="-12195"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4542E29-AB34-7018-CA34-3BF40957B84A}"/>
                    </a:ext>
                  </a:extLst>
                </p:cNvPr>
                <p:cNvSpPr txBox="1"/>
                <p:nvPr/>
              </p:nvSpPr>
              <p:spPr>
                <a:xfrm>
                  <a:off x="5103476" y="3258658"/>
                  <a:ext cx="125305" cy="184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𝜃</m:t>
                        </m:r>
                      </m:oMath>
                    </m:oMathPara>
                  </a14:m>
                  <a:endParaRPr lang="en-US" sz="2400"/>
                </a:p>
              </p:txBody>
            </p:sp>
          </mc:Choice>
          <mc:Fallback xmlns="">
            <p:sp>
              <p:nvSpPr>
                <p:cNvPr id="34" name="TextBox 33">
                  <a:extLst>
                    <a:ext uri="{FF2B5EF4-FFF2-40B4-BE49-F238E27FC236}">
                      <a16:creationId xmlns:a16="http://schemas.microsoft.com/office/drawing/2014/main" id="{E4542E29-AB34-7018-CA34-3BF40957B84A}"/>
                    </a:ext>
                  </a:extLst>
                </p:cNvPr>
                <p:cNvSpPr txBox="1">
                  <a:spLocks noRot="1" noChangeAspect="1" noMove="1" noResize="1" noEditPoints="1" noAdjustHandles="1" noChangeArrowheads="1" noChangeShapeType="1" noTextEdit="1"/>
                </p:cNvSpPr>
                <p:nvPr/>
              </p:nvSpPr>
              <p:spPr>
                <a:xfrm>
                  <a:off x="5103476" y="3258658"/>
                  <a:ext cx="125305" cy="184311"/>
                </a:xfrm>
                <a:prstGeom prst="rect">
                  <a:avLst/>
                </a:prstGeom>
                <a:blipFill>
                  <a:blip r:embed="rId5"/>
                  <a:stretch>
                    <a:fillRect l="-30000" r="-25000"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465F024-E38F-0B38-4ECA-72A942F7DA69}"/>
                    </a:ext>
                  </a:extLst>
                </p:cNvPr>
                <p:cNvSpPr txBox="1"/>
                <p:nvPr/>
              </p:nvSpPr>
              <p:spPr>
                <a:xfrm>
                  <a:off x="5401035" y="3928204"/>
                  <a:ext cx="126297" cy="184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oMath>
                    </m:oMathPara>
                  </a14:m>
                  <a:endParaRPr lang="en-US" sz="2400"/>
                </a:p>
              </p:txBody>
            </p:sp>
          </mc:Choice>
          <mc:Fallback xmlns="">
            <p:sp>
              <p:nvSpPr>
                <p:cNvPr id="36" name="TextBox 35">
                  <a:extLst>
                    <a:ext uri="{FF2B5EF4-FFF2-40B4-BE49-F238E27FC236}">
                      <a16:creationId xmlns:a16="http://schemas.microsoft.com/office/drawing/2014/main" id="{F465F024-E38F-0B38-4ECA-72A942F7DA69}"/>
                    </a:ext>
                  </a:extLst>
                </p:cNvPr>
                <p:cNvSpPr txBox="1">
                  <a:spLocks noRot="1" noChangeAspect="1" noMove="1" noResize="1" noEditPoints="1" noAdjustHandles="1" noChangeArrowheads="1" noChangeShapeType="1" noTextEdit="1"/>
                </p:cNvSpPr>
                <p:nvPr/>
              </p:nvSpPr>
              <p:spPr>
                <a:xfrm>
                  <a:off x="5401035" y="3928204"/>
                  <a:ext cx="126297" cy="184311"/>
                </a:xfrm>
                <a:prstGeom prst="rect">
                  <a:avLst/>
                </a:prstGeom>
                <a:blipFill>
                  <a:blip r:embed="rId6"/>
                  <a:stretch>
                    <a:fillRect l="-14286" r="-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FE9495D-FBF2-6B0C-4FDA-D9A55ECAD3A6}"/>
                    </a:ext>
                  </a:extLst>
                </p:cNvPr>
                <p:cNvSpPr txBox="1"/>
                <p:nvPr/>
              </p:nvSpPr>
              <p:spPr>
                <a:xfrm>
                  <a:off x="4934315" y="3708007"/>
                  <a:ext cx="113594" cy="184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ℓ</m:t>
                        </m:r>
                      </m:oMath>
                    </m:oMathPara>
                  </a14:m>
                  <a:endParaRPr lang="en-US" sz="2400"/>
                </a:p>
              </p:txBody>
            </p:sp>
          </mc:Choice>
          <mc:Fallback xmlns="">
            <p:sp>
              <p:nvSpPr>
                <p:cNvPr id="37" name="TextBox 36">
                  <a:extLst>
                    <a:ext uri="{FF2B5EF4-FFF2-40B4-BE49-F238E27FC236}">
                      <a16:creationId xmlns:a16="http://schemas.microsoft.com/office/drawing/2014/main" id="{5FE9495D-FBF2-6B0C-4FDA-D9A55ECAD3A6}"/>
                    </a:ext>
                  </a:extLst>
                </p:cNvPr>
                <p:cNvSpPr txBox="1">
                  <a:spLocks noRot="1" noChangeAspect="1" noMove="1" noResize="1" noEditPoints="1" noAdjustHandles="1" noChangeArrowheads="1" noChangeShapeType="1" noTextEdit="1"/>
                </p:cNvSpPr>
                <p:nvPr/>
              </p:nvSpPr>
              <p:spPr>
                <a:xfrm>
                  <a:off x="4934315" y="3708007"/>
                  <a:ext cx="113594" cy="184311"/>
                </a:xfrm>
                <a:prstGeom prst="rect">
                  <a:avLst/>
                </a:prstGeom>
                <a:blipFill>
                  <a:blip r:embed="rId7"/>
                  <a:stretch>
                    <a:fillRect l="-33333" r="-38889" b="-10345"/>
                  </a:stretch>
                </a:blipFill>
              </p:spPr>
              <p:txBody>
                <a:bodyPr/>
                <a:lstStyle/>
                <a:p>
                  <a:r>
                    <a:rPr lang="en-US">
                      <a:noFill/>
                    </a:rPr>
                    <a:t> </a:t>
                  </a:r>
                </a:p>
              </p:txBody>
            </p:sp>
          </mc:Fallback>
        </mc:AlternateContent>
      </p:grpSp>
      <p:sp>
        <p:nvSpPr>
          <p:cNvPr id="4" name="Footer Placeholder 3">
            <a:extLst>
              <a:ext uri="{FF2B5EF4-FFF2-40B4-BE49-F238E27FC236}">
                <a16:creationId xmlns:a16="http://schemas.microsoft.com/office/drawing/2014/main" id="{15B10970-239F-B4C3-623A-F2C9A9B09B7B}"/>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D4CD8E96-56D0-62A4-CE92-5C454F589BE3}"/>
              </a:ext>
            </a:extLst>
          </p:cNvPr>
          <p:cNvSpPr>
            <a:spLocks noGrp="1"/>
          </p:cNvSpPr>
          <p:nvPr>
            <p:ph type="dt" sz="half" idx="10"/>
          </p:nvPr>
        </p:nvSpPr>
        <p:spPr/>
        <p:txBody>
          <a:bodyPr/>
          <a:lstStyle/>
          <a:p>
            <a:fld id="{D69AF312-95BE-4342-9718-4F5E709A247F}" type="datetime1">
              <a:rPr lang="en-US" smtClean="0"/>
              <a:t>12/20/2025</a:t>
            </a:fld>
            <a:endParaRPr lang="en-US"/>
          </a:p>
        </p:txBody>
      </p:sp>
      <p:sp>
        <p:nvSpPr>
          <p:cNvPr id="6" name="Slide Number Placeholder 5">
            <a:extLst>
              <a:ext uri="{FF2B5EF4-FFF2-40B4-BE49-F238E27FC236}">
                <a16:creationId xmlns:a16="http://schemas.microsoft.com/office/drawing/2014/main" id="{F70FAF78-DD86-7A4A-C110-D0B0BF8A50D6}"/>
              </a:ext>
            </a:extLst>
          </p:cNvPr>
          <p:cNvSpPr>
            <a:spLocks noGrp="1"/>
          </p:cNvSpPr>
          <p:nvPr>
            <p:ph type="sldNum" sz="quarter" idx="12"/>
          </p:nvPr>
        </p:nvSpPr>
        <p:spPr/>
        <p:txBody>
          <a:bodyPr/>
          <a:lstStyle/>
          <a:p>
            <a:fld id="{8AA1F273-EF2F-3941-BBF8-D365CB27DD6A}" type="slidenum">
              <a:rPr lang="en-US" smtClean="0"/>
              <a:t>17</a:t>
            </a:fld>
            <a:endParaRPr lang="en-US"/>
          </a:p>
        </p:txBody>
      </p:sp>
    </p:spTree>
    <p:extLst>
      <p:ext uri="{BB962C8B-B14F-4D97-AF65-F5344CB8AC3E}">
        <p14:creationId xmlns:p14="http://schemas.microsoft.com/office/powerpoint/2010/main" val="3975127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1" y="1825625"/>
                <a:ext cx="6800054" cy="4351338"/>
              </a:xfrm>
            </p:spPr>
            <p:txBody>
              <a:bodyPr>
                <a:noAutofit/>
              </a:bodyPr>
              <a:lstStyle/>
              <a:p>
                <a:pPr>
                  <a:lnSpc>
                    <a:spcPct val="100000"/>
                  </a:lnSpc>
                  <a:spcAft>
                    <a:spcPts val="2000"/>
                  </a:spcAft>
                </a:pPr>
                <a:r>
                  <a:rPr lang="en-US" sz="2400">
                    <a:latin typeface="Source Sans Pro" panose="020B0503030403020204" pitchFamily="34" charset="0"/>
                    <a:ea typeface="Source Sans Pro" panose="020B0503030403020204" pitchFamily="34" charset="0"/>
                  </a:rPr>
                  <a:t>We try </a:t>
                </a:r>
                <a14:m>
                  <m:oMath xmlns:m="http://schemas.openxmlformats.org/officeDocument/2006/math">
                    <m:box>
                      <m:boxPr>
                        <m:ctrlPr>
                          <a:rPr lang="en-US" sz="2400" i="1">
                            <a:latin typeface="Cambria Math" panose="02040503050406030204" pitchFamily="18" charset="0"/>
                            <a:ea typeface="Source Sans Pro" panose="020B0503030403020204" pitchFamily="34" charset="0"/>
                          </a:rPr>
                        </m:ctrlPr>
                      </m:boxPr>
                      <m:e>
                        <m:argPr>
                          <m:argSz m:val="-1"/>
                        </m:argPr>
                        <m:f>
                          <m:fPr>
                            <m:ctrlPr>
                              <a:rPr lang="en-US" sz="2400" i="1">
                                <a:latin typeface="Cambria Math" panose="02040503050406030204" pitchFamily="18" charset="0"/>
                                <a:ea typeface="Source Sans Pro" panose="020B0503030403020204" pitchFamily="34" charset="0"/>
                              </a:rPr>
                            </m:ctrlPr>
                          </m:fPr>
                          <m:num>
                            <m:r>
                              <a:rPr lang="en-US" sz="2400" i="1">
                                <a:latin typeface="Cambria Math" panose="02040503050406030204" pitchFamily="18" charset="0"/>
                                <a:ea typeface="Source Sans Pro" panose="020B0503030403020204" pitchFamily="34" charset="0"/>
                              </a:rPr>
                              <m:t>1</m:t>
                            </m:r>
                          </m:num>
                          <m:den>
                            <m:r>
                              <a:rPr lang="en-US" sz="2400" i="1">
                                <a:latin typeface="Cambria Math" panose="02040503050406030204" pitchFamily="18" charset="0"/>
                                <a:ea typeface="Cambria Math" panose="02040503050406030204" pitchFamily="18" charset="0"/>
                              </a:rPr>
                              <m:t>𝑚</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ℓ</m:t>
                                </m:r>
                              </m:e>
                              <m:sup>
                                <m:r>
                                  <a:rPr lang="en-US" sz="2400" i="1">
                                    <a:latin typeface="Cambria Math" panose="02040503050406030204" pitchFamily="18" charset="0"/>
                                    <a:ea typeface="Cambria Math" panose="02040503050406030204" pitchFamily="18" charset="0"/>
                                  </a:rPr>
                                  <m:t>2</m:t>
                                </m:r>
                              </m:sup>
                            </m:sSup>
                          </m:den>
                        </m:f>
                      </m:e>
                    </m:box>
                    <m:r>
                      <a:rPr lang="en-US" sz="2400" b="0" i="1" smtClean="0">
                        <a:latin typeface="Cambria Math" panose="02040503050406030204" pitchFamily="18" charset="0"/>
                        <a:ea typeface="Source Sans Pro" panose="020B0503030403020204" pitchFamily="34" charset="0"/>
                      </a:rPr>
                      <m:t>𝑢</m:t>
                    </m:r>
                    <m:r>
                      <a:rPr lang="en-US" sz="2400" b="0" i="1" smtClean="0">
                        <a:latin typeface="Cambria Math" panose="02040503050406030204" pitchFamily="18" charset="0"/>
                        <a:ea typeface="Source Sans Pro" panose="020B0503030403020204" pitchFamily="34" charset="0"/>
                      </a:rPr>
                      <m:t>=−</m:t>
                    </m:r>
                    <m:d>
                      <m:dPr>
                        <m:ctrlPr>
                          <a:rPr lang="en-US" sz="2400" b="0" i="1" smtClean="0">
                            <a:latin typeface="Cambria Math" panose="02040503050406030204" pitchFamily="18" charset="0"/>
                            <a:ea typeface="Source Sans Pro" panose="020B0503030403020204" pitchFamily="34" charset="0"/>
                          </a:rPr>
                        </m:ctrlPr>
                      </m:dPr>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𝑔</m:t>
                            </m:r>
                          </m:num>
                          <m:den>
                            <m:r>
                              <a:rPr lang="en-US" sz="2400" i="1">
                                <a:latin typeface="Cambria Math" panose="02040503050406030204" pitchFamily="18" charset="0"/>
                                <a:ea typeface="Cambria Math" panose="02040503050406030204" pitchFamily="18" charset="0"/>
                              </a:rPr>
                              <m:t>ℓ</m:t>
                            </m:r>
                          </m:den>
                        </m:f>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Source Sans Pro" panose="020B0503030403020204" pitchFamily="34" charset="0"/>
                              </a:rPr>
                            </m:ctrlPr>
                          </m:sSubPr>
                          <m:e>
                            <m:r>
                              <a:rPr lang="en-US" sz="2400" b="0" i="1" smtClean="0">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Source Sans Pro" panose="020B0503030403020204" pitchFamily="34" charset="0"/>
                              </a:rPr>
                              <m:t>𝑝</m:t>
                            </m:r>
                          </m:sub>
                        </m:sSub>
                      </m:e>
                    </m:d>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Source Sans Pro" panose="020B0503030403020204" pitchFamily="34" charset="0"/>
                      </a:rPr>
                      <m:t>−</m:t>
                    </m:r>
                    <m:sSub>
                      <m:sSubPr>
                        <m:ctrlPr>
                          <a:rPr lang="en-US" sz="2400" i="1">
                            <a:latin typeface="Cambria Math" panose="02040503050406030204" pitchFamily="18" charset="0"/>
                            <a:ea typeface="Source Sans Pro" panose="020B0503030403020204" pitchFamily="34" charset="0"/>
                          </a:rPr>
                        </m:ctrlPr>
                      </m:sSubPr>
                      <m:e>
                        <m:r>
                          <a:rPr lang="en-US" sz="2400" i="1">
                            <a:latin typeface="Cambria Math" panose="02040503050406030204" pitchFamily="18" charset="0"/>
                            <a:ea typeface="Cambria Math" panose="02040503050406030204" pitchFamily="18" charset="0"/>
                          </a:rPr>
                          <m:t>𝜅</m:t>
                        </m:r>
                      </m:e>
                      <m:sub>
                        <m:r>
                          <a:rPr lang="en-US" sz="2400" b="0" i="1" smtClean="0">
                            <a:latin typeface="Cambria Math" panose="02040503050406030204" pitchFamily="18" charset="0"/>
                            <a:ea typeface="Cambria Math" panose="02040503050406030204" pitchFamily="18" charset="0"/>
                          </a:rPr>
                          <m:t>𝑑</m:t>
                        </m:r>
                      </m:sub>
                    </m:s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𝜃</m:t>
                        </m:r>
                      </m:e>
                    </m:acc>
                  </m:oMath>
                </a14:m>
                <a:r>
                  <a:rPr lang="en-US" sz="2400">
                    <a:latin typeface="Source Sans Pro" panose="020B0503030403020204" pitchFamily="34" charset="0"/>
                    <a:ea typeface="Source Sans Pro" panose="020B0503030403020204" pitchFamily="34" charset="0"/>
                  </a:rPr>
                  <a:t> to stabilize the pendulum near the upright equilibrium:</a:t>
                </a:r>
                <a:br>
                  <a:rPr lang="en-US" sz="2400">
                    <a:latin typeface="Source Sans Pro" panose="020B0503030403020204" pitchFamily="34" charset="0"/>
                    <a:ea typeface="Source Sans Pro" panose="020B0503030403020204" pitchFamily="34" charset="0"/>
                  </a:rPr>
                </a:br>
                <a:br>
                  <a:rPr lang="en-US" sz="2400">
                    <a:latin typeface="Source Sans Pro" panose="020B0503030403020204" pitchFamily="34" charset="0"/>
                    <a:ea typeface="Source Sans Pro" panose="020B0503030403020204" pitchFamily="34" charset="0"/>
                  </a:rPr>
                </a:br>
                <a:br>
                  <a:rPr lang="en-US" sz="2400">
                    <a:latin typeface="Source Sans Pro" panose="020B0503030403020204" pitchFamily="34" charset="0"/>
                    <a:ea typeface="Source Sans Pro" panose="020B0503030403020204" pitchFamily="34" charset="0"/>
                  </a:rPr>
                </a:br>
                <a:br>
                  <a:rPr lang="en-US" sz="2400">
                    <a:latin typeface="Source Sans Pro" panose="020B0503030403020204" pitchFamily="34" charset="0"/>
                    <a:ea typeface="Source Sans Pro" panose="020B0503030403020204" pitchFamily="34" charset="0"/>
                  </a:rPr>
                </a:br>
                <a:br>
                  <a:rPr lang="en-US" sz="2400">
                    <a:latin typeface="Source Sans Pro" panose="020B0503030403020204" pitchFamily="34" charset="0"/>
                    <a:ea typeface="Source Sans Pro" panose="020B0503030403020204" pitchFamily="34" charset="0"/>
                  </a:rPr>
                </a:br>
                <a:br>
                  <a:rPr lang="en-US" sz="2400">
                    <a:latin typeface="Source Sans Pro" panose="020B0503030403020204" pitchFamily="34" charset="0"/>
                    <a:ea typeface="Source Sans Pro" panose="020B0503030403020204" pitchFamily="34" charset="0"/>
                  </a:rPr>
                </a:br>
                <a:endParaRPr lang="en-US" sz="2400">
                  <a:latin typeface="Source Sans Pro" panose="020B0503030403020204" pitchFamily="34" charset="0"/>
                  <a:ea typeface="Source Sans Pro" panose="020B0503030403020204" pitchFamily="34" charset="0"/>
                </a:endParaRPr>
              </a:p>
              <a:p>
                <a:pPr>
                  <a:lnSpc>
                    <a:spcPct val="100000"/>
                  </a:lnSpc>
                  <a:spcAft>
                    <a:spcPts val="2000"/>
                  </a:spcAft>
                </a:pPr>
                <a:r>
                  <a:rPr lang="en-US" sz="2400">
                    <a:latin typeface="Source Sans Pro" panose="020B0503030403020204" pitchFamily="34" charset="0"/>
                    <a:ea typeface="Source Sans Pro" panose="020B0503030403020204" pitchFamily="34" charset="0"/>
                  </a:rPr>
                  <a:t>We will later discuss how we actually simulate this system on a computer</a:t>
                </a:r>
                <a:br>
                  <a:rPr lang="en-US" sz="2400">
                    <a:latin typeface="Source Sans Pro" panose="020B0503030403020204" pitchFamily="34" charset="0"/>
                    <a:ea typeface="Source Sans Pro" panose="020B0503030403020204" pitchFamily="34" charset="0"/>
                  </a:rPr>
                </a:br>
                <a:endParaRPr lang="en-US" sz="2400" i="1">
                  <a:latin typeface="Cambria Math" panose="02040503050406030204" pitchFamily="18" charset="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1" y="1825625"/>
                <a:ext cx="6800054" cy="4351338"/>
              </a:xfrm>
              <a:blipFill>
                <a:blip r:embed="rId3"/>
                <a:stretch>
                  <a:fillRect l="-1256" b="-2381"/>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E0AB796E-6060-CA86-BE01-C45BEBE9FB3D}"/>
              </a:ext>
            </a:extLst>
          </p:cNvPr>
          <p:cNvPicPr>
            <a:picLocks noChangeAspect="1"/>
          </p:cNvPicPr>
          <p:nvPr/>
        </p:nvPicPr>
        <p:blipFill>
          <a:blip r:embed="rId4"/>
          <a:stretch>
            <a:fillRect/>
          </a:stretch>
        </p:blipFill>
        <p:spPr>
          <a:xfrm>
            <a:off x="1798241" y="2839579"/>
            <a:ext cx="4928603" cy="2565179"/>
          </a:xfrm>
          <a:prstGeom prst="rect">
            <a:avLst/>
          </a:prstGeom>
        </p:spPr>
      </p:pic>
      <p:sp>
        <p:nvSpPr>
          <p:cNvPr id="2" name="Title 1"/>
          <p:cNvSpPr>
            <a:spLocks noGrp="1"/>
          </p:cNvSpPr>
          <p:nvPr>
            <p:ph type="title"/>
          </p:nvPr>
        </p:nvSpPr>
        <p:spPr/>
        <p:txBody>
          <a:bodyPr/>
          <a:lstStyle/>
          <a:p>
            <a:r>
              <a:rPr lang="en-US"/>
              <a:t>Example: Inverted pendulum</a:t>
            </a:r>
          </a:p>
        </p:txBody>
      </p:sp>
      <p:grpSp>
        <p:nvGrpSpPr>
          <p:cNvPr id="40" name="Group 39">
            <a:extLst>
              <a:ext uri="{FF2B5EF4-FFF2-40B4-BE49-F238E27FC236}">
                <a16:creationId xmlns:a16="http://schemas.microsoft.com/office/drawing/2014/main" id="{B0916A13-EEE9-1834-E520-4751082AD3FD}"/>
              </a:ext>
            </a:extLst>
          </p:cNvPr>
          <p:cNvGrpSpPr>
            <a:grpSpLocks noChangeAspect="1"/>
          </p:cNvGrpSpPr>
          <p:nvPr/>
        </p:nvGrpSpPr>
        <p:grpSpPr>
          <a:xfrm>
            <a:off x="8548561" y="1757479"/>
            <a:ext cx="3643439" cy="4602048"/>
            <a:chOff x="4445673" y="2937710"/>
            <a:chExt cx="1818213" cy="2296595"/>
          </a:xfrm>
        </p:grpSpPr>
        <p:cxnSp>
          <p:nvCxnSpPr>
            <p:cNvPr id="8" name="Straight Connector 7">
              <a:extLst>
                <a:ext uri="{FF2B5EF4-FFF2-40B4-BE49-F238E27FC236}">
                  <a16:creationId xmlns:a16="http://schemas.microsoft.com/office/drawing/2014/main" id="{32E9C2B6-C4DD-2A0E-E15C-9398EB15703E}"/>
                </a:ext>
              </a:extLst>
            </p:cNvPr>
            <p:cNvCxnSpPr>
              <a:cxnSpLocks/>
            </p:cNvCxnSpPr>
            <p:nvPr/>
          </p:nvCxnSpPr>
          <p:spPr>
            <a:xfrm flipH="1" flipV="1">
              <a:off x="4808317" y="3081710"/>
              <a:ext cx="546463" cy="1252595"/>
            </a:xfrm>
            <a:prstGeom prst="line">
              <a:avLst/>
            </a:prstGeom>
            <a:ln w="25400"/>
          </p:spPr>
          <p:style>
            <a:lnRef idx="1">
              <a:schemeClr val="dk1"/>
            </a:lnRef>
            <a:fillRef idx="0">
              <a:schemeClr val="dk1"/>
            </a:fillRef>
            <a:effectRef idx="0">
              <a:schemeClr val="dk1"/>
            </a:effectRef>
            <a:fontRef idx="minor">
              <a:schemeClr val="tx1"/>
            </a:fontRef>
          </p:style>
        </p:cxnSp>
        <p:sp>
          <p:nvSpPr>
            <p:cNvPr id="21" name="Arc 20">
              <a:extLst>
                <a:ext uri="{FF2B5EF4-FFF2-40B4-BE49-F238E27FC236}">
                  <a16:creationId xmlns:a16="http://schemas.microsoft.com/office/drawing/2014/main" id="{048FEF1B-5984-64D2-5B87-61262C5F3771}"/>
                </a:ext>
              </a:extLst>
            </p:cNvPr>
            <p:cNvSpPr>
              <a:spLocks noChangeAspect="1"/>
            </p:cNvSpPr>
            <p:nvPr/>
          </p:nvSpPr>
          <p:spPr>
            <a:xfrm>
              <a:off x="4445673" y="3434305"/>
              <a:ext cx="1818213" cy="1800000"/>
            </a:xfrm>
            <a:prstGeom prst="arc">
              <a:avLst>
                <a:gd name="adj1" fmla="val 14812507"/>
                <a:gd name="adj2" fmla="val 16172983"/>
              </a:avLst>
            </a:prstGeom>
            <a:ln>
              <a:head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Oval 10">
              <a:extLst>
                <a:ext uri="{FF2B5EF4-FFF2-40B4-BE49-F238E27FC236}">
                  <a16:creationId xmlns:a16="http://schemas.microsoft.com/office/drawing/2014/main" id="{9593CE5A-88D6-4550-742B-9071FBF824E4}"/>
                </a:ext>
              </a:extLst>
            </p:cNvPr>
            <p:cNvSpPr/>
            <p:nvPr/>
          </p:nvSpPr>
          <p:spPr>
            <a:xfrm>
              <a:off x="4682316" y="2955709"/>
              <a:ext cx="251999" cy="2519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8BCD1CE0-9CCF-048B-C0A7-0B4255C64EA8}"/>
                </a:ext>
              </a:extLst>
            </p:cNvPr>
            <p:cNvCxnSpPr>
              <a:cxnSpLocks/>
            </p:cNvCxnSpPr>
            <p:nvPr/>
          </p:nvCxnSpPr>
          <p:spPr>
            <a:xfrm flipV="1">
              <a:off x="5354780" y="2937710"/>
              <a:ext cx="0" cy="1396595"/>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DF1100C7-9665-121D-A7BB-D6D1DAAC8625}"/>
                </a:ext>
              </a:extLst>
            </p:cNvPr>
            <p:cNvCxnSpPr>
              <a:cxnSpLocks/>
            </p:cNvCxnSpPr>
            <p:nvPr/>
          </p:nvCxnSpPr>
          <p:spPr>
            <a:xfrm flipH="1">
              <a:off x="4980377" y="4334305"/>
              <a:ext cx="748806" cy="0"/>
            </a:xfrm>
            <a:prstGeom prst="line">
              <a:avLst/>
            </a:prstGeom>
            <a:ln w="25400"/>
          </p:spPr>
          <p:style>
            <a:lnRef idx="1">
              <a:schemeClr val="dk1"/>
            </a:lnRef>
            <a:fillRef idx="0">
              <a:schemeClr val="dk1"/>
            </a:fillRef>
            <a:effectRef idx="0">
              <a:schemeClr val="dk1"/>
            </a:effectRef>
            <a:fontRef idx="minor">
              <a:schemeClr val="tx1"/>
            </a:fontRef>
          </p:style>
        </p:cxnSp>
        <p:sp>
          <p:nvSpPr>
            <p:cNvPr id="20" name="Pie 19">
              <a:extLst>
                <a:ext uri="{FF2B5EF4-FFF2-40B4-BE49-F238E27FC236}">
                  <a16:creationId xmlns:a16="http://schemas.microsoft.com/office/drawing/2014/main" id="{ACE88303-991F-A6B6-2CD2-4DA30D18D3C8}"/>
                </a:ext>
              </a:extLst>
            </p:cNvPr>
            <p:cNvSpPr/>
            <p:nvPr/>
          </p:nvSpPr>
          <p:spPr>
            <a:xfrm>
              <a:off x="5264781" y="4246868"/>
              <a:ext cx="180000" cy="180000"/>
            </a:xfrm>
            <a:prstGeom prst="pie">
              <a:avLst>
                <a:gd name="adj1" fmla="val 10867896"/>
                <a:gd name="adj2" fmla="val 2155119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cxnSp>
          <p:nvCxnSpPr>
            <p:cNvPr id="22" name="Straight Connector 21">
              <a:extLst>
                <a:ext uri="{FF2B5EF4-FFF2-40B4-BE49-F238E27FC236}">
                  <a16:creationId xmlns:a16="http://schemas.microsoft.com/office/drawing/2014/main" id="{19DC287D-15B7-B814-B2C1-DA8C92C19ED9}"/>
                </a:ext>
              </a:extLst>
            </p:cNvPr>
            <p:cNvCxnSpPr>
              <a:cxnSpLocks/>
            </p:cNvCxnSpPr>
            <p:nvPr/>
          </p:nvCxnSpPr>
          <p:spPr>
            <a:xfrm flipV="1">
              <a:off x="4808315" y="3081708"/>
              <a:ext cx="0" cy="468826"/>
            </a:xfrm>
            <a:prstGeom prst="line">
              <a:avLst/>
            </a:prstGeom>
            <a:ln w="12700">
              <a:prstDash val="solid"/>
              <a:headEnd type="triangle"/>
            </a:ln>
          </p:spPr>
          <p:style>
            <a:lnRef idx="1">
              <a:schemeClr val="dk1"/>
            </a:lnRef>
            <a:fillRef idx="0">
              <a:schemeClr val="dk1"/>
            </a:fillRef>
            <a:effectRef idx="0">
              <a:schemeClr val="dk1"/>
            </a:effectRef>
            <a:fontRef idx="minor">
              <a:schemeClr val="tx1"/>
            </a:fontRef>
          </p:style>
        </p:cxnSp>
        <p:sp>
          <p:nvSpPr>
            <p:cNvPr id="28" name="Arc 27">
              <a:extLst>
                <a:ext uri="{FF2B5EF4-FFF2-40B4-BE49-F238E27FC236}">
                  <a16:creationId xmlns:a16="http://schemas.microsoft.com/office/drawing/2014/main" id="{22C8E2A7-1945-EF2B-E6DD-0D2312457DE0}"/>
                </a:ext>
              </a:extLst>
            </p:cNvPr>
            <p:cNvSpPr>
              <a:spLocks noChangeAspect="1"/>
            </p:cNvSpPr>
            <p:nvPr/>
          </p:nvSpPr>
          <p:spPr>
            <a:xfrm>
              <a:off x="5136595" y="4118305"/>
              <a:ext cx="436371" cy="432000"/>
            </a:xfrm>
            <a:prstGeom prst="arc">
              <a:avLst>
                <a:gd name="adj1" fmla="val 12272034"/>
                <a:gd name="adj2" fmla="val 18663804"/>
              </a:avLst>
            </a:prstGeom>
            <a:ln>
              <a:head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2B44F7F-F235-7342-EFE0-4DD3FBE694FD}"/>
                    </a:ext>
                  </a:extLst>
                </p:cNvPr>
                <p:cNvSpPr txBox="1"/>
                <p:nvPr/>
              </p:nvSpPr>
              <p:spPr>
                <a:xfrm>
                  <a:off x="4495563" y="3275046"/>
                  <a:ext cx="259411" cy="184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𝑚𝑔</m:t>
                        </m:r>
                      </m:oMath>
                    </m:oMathPara>
                  </a14:m>
                  <a:endParaRPr lang="en-US" sz="2400"/>
                </a:p>
              </p:txBody>
            </p:sp>
          </mc:Choice>
          <mc:Fallback xmlns="">
            <p:sp>
              <p:nvSpPr>
                <p:cNvPr id="33" name="TextBox 32">
                  <a:extLst>
                    <a:ext uri="{FF2B5EF4-FFF2-40B4-BE49-F238E27FC236}">
                      <a16:creationId xmlns:a16="http://schemas.microsoft.com/office/drawing/2014/main" id="{C2B44F7F-F235-7342-EFE0-4DD3FBE694FD}"/>
                    </a:ext>
                  </a:extLst>
                </p:cNvPr>
                <p:cNvSpPr txBox="1">
                  <a:spLocks noRot="1" noChangeAspect="1" noMove="1" noResize="1" noEditPoints="1" noAdjustHandles="1" noChangeArrowheads="1" noChangeShapeType="1" noTextEdit="1"/>
                </p:cNvSpPr>
                <p:nvPr/>
              </p:nvSpPr>
              <p:spPr>
                <a:xfrm>
                  <a:off x="4495563" y="3275046"/>
                  <a:ext cx="259411" cy="184311"/>
                </a:xfrm>
                <a:prstGeom prst="rect">
                  <a:avLst/>
                </a:prstGeom>
                <a:blipFill>
                  <a:blip r:embed="rId5"/>
                  <a:stretch>
                    <a:fillRect l="-14118" r="-14118"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4542E29-AB34-7018-CA34-3BF40957B84A}"/>
                    </a:ext>
                  </a:extLst>
                </p:cNvPr>
                <p:cNvSpPr txBox="1"/>
                <p:nvPr/>
              </p:nvSpPr>
              <p:spPr>
                <a:xfrm>
                  <a:off x="5103476" y="3258658"/>
                  <a:ext cx="125305" cy="184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𝜃</m:t>
                        </m:r>
                      </m:oMath>
                    </m:oMathPara>
                  </a14:m>
                  <a:endParaRPr lang="en-US" sz="2400"/>
                </a:p>
              </p:txBody>
            </p:sp>
          </mc:Choice>
          <mc:Fallback xmlns="">
            <p:sp>
              <p:nvSpPr>
                <p:cNvPr id="34" name="TextBox 33">
                  <a:extLst>
                    <a:ext uri="{FF2B5EF4-FFF2-40B4-BE49-F238E27FC236}">
                      <a16:creationId xmlns:a16="http://schemas.microsoft.com/office/drawing/2014/main" id="{E4542E29-AB34-7018-CA34-3BF40957B84A}"/>
                    </a:ext>
                  </a:extLst>
                </p:cNvPr>
                <p:cNvSpPr txBox="1">
                  <a:spLocks noRot="1" noChangeAspect="1" noMove="1" noResize="1" noEditPoints="1" noAdjustHandles="1" noChangeArrowheads="1" noChangeShapeType="1" noTextEdit="1"/>
                </p:cNvSpPr>
                <p:nvPr/>
              </p:nvSpPr>
              <p:spPr>
                <a:xfrm>
                  <a:off x="5103476" y="3258658"/>
                  <a:ext cx="125305" cy="184311"/>
                </a:xfrm>
                <a:prstGeom prst="rect">
                  <a:avLst/>
                </a:prstGeom>
                <a:blipFill>
                  <a:blip r:embed="rId6"/>
                  <a:stretch>
                    <a:fillRect l="-29268" r="-2439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465F024-E38F-0B38-4ECA-72A942F7DA69}"/>
                    </a:ext>
                  </a:extLst>
                </p:cNvPr>
                <p:cNvSpPr txBox="1"/>
                <p:nvPr/>
              </p:nvSpPr>
              <p:spPr>
                <a:xfrm>
                  <a:off x="5401035" y="3928204"/>
                  <a:ext cx="126297" cy="184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oMath>
                    </m:oMathPara>
                  </a14:m>
                  <a:endParaRPr lang="en-US" sz="2400"/>
                </a:p>
              </p:txBody>
            </p:sp>
          </mc:Choice>
          <mc:Fallback xmlns="">
            <p:sp>
              <p:nvSpPr>
                <p:cNvPr id="36" name="TextBox 35">
                  <a:extLst>
                    <a:ext uri="{FF2B5EF4-FFF2-40B4-BE49-F238E27FC236}">
                      <a16:creationId xmlns:a16="http://schemas.microsoft.com/office/drawing/2014/main" id="{F465F024-E38F-0B38-4ECA-72A942F7DA69}"/>
                    </a:ext>
                  </a:extLst>
                </p:cNvPr>
                <p:cNvSpPr txBox="1">
                  <a:spLocks noRot="1" noChangeAspect="1" noMove="1" noResize="1" noEditPoints="1" noAdjustHandles="1" noChangeArrowheads="1" noChangeShapeType="1" noTextEdit="1"/>
                </p:cNvSpPr>
                <p:nvPr/>
              </p:nvSpPr>
              <p:spPr>
                <a:xfrm>
                  <a:off x="5401035" y="3928204"/>
                  <a:ext cx="126297" cy="184311"/>
                </a:xfrm>
                <a:prstGeom prst="rect">
                  <a:avLst/>
                </a:prstGeom>
                <a:blipFill>
                  <a:blip r:embed="rId7"/>
                  <a:stretch>
                    <a:fillRect l="-14286" r="-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FE9495D-FBF2-6B0C-4FDA-D9A55ECAD3A6}"/>
                    </a:ext>
                  </a:extLst>
                </p:cNvPr>
                <p:cNvSpPr txBox="1"/>
                <p:nvPr/>
              </p:nvSpPr>
              <p:spPr>
                <a:xfrm>
                  <a:off x="4934315" y="3708007"/>
                  <a:ext cx="113594" cy="1843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ℓ</m:t>
                        </m:r>
                      </m:oMath>
                    </m:oMathPara>
                  </a14:m>
                  <a:endParaRPr lang="en-US" sz="2400"/>
                </a:p>
              </p:txBody>
            </p:sp>
          </mc:Choice>
          <mc:Fallback xmlns="">
            <p:sp>
              <p:nvSpPr>
                <p:cNvPr id="37" name="TextBox 36">
                  <a:extLst>
                    <a:ext uri="{FF2B5EF4-FFF2-40B4-BE49-F238E27FC236}">
                      <a16:creationId xmlns:a16="http://schemas.microsoft.com/office/drawing/2014/main" id="{5FE9495D-FBF2-6B0C-4FDA-D9A55ECAD3A6}"/>
                    </a:ext>
                  </a:extLst>
                </p:cNvPr>
                <p:cNvSpPr txBox="1">
                  <a:spLocks noRot="1" noChangeAspect="1" noMove="1" noResize="1" noEditPoints="1" noAdjustHandles="1" noChangeArrowheads="1" noChangeShapeType="1" noTextEdit="1"/>
                </p:cNvSpPr>
                <p:nvPr/>
              </p:nvSpPr>
              <p:spPr>
                <a:xfrm>
                  <a:off x="4934315" y="3708007"/>
                  <a:ext cx="113594" cy="184311"/>
                </a:xfrm>
                <a:prstGeom prst="rect">
                  <a:avLst/>
                </a:prstGeom>
                <a:blipFill>
                  <a:blip r:embed="rId8"/>
                  <a:stretch>
                    <a:fillRect l="-32432" r="-35135" b="-8333"/>
                  </a:stretch>
                </a:blipFill>
              </p:spPr>
              <p:txBody>
                <a:bodyPr/>
                <a:lstStyle/>
                <a:p>
                  <a:r>
                    <a:rPr lang="en-US">
                      <a:noFill/>
                    </a:rPr>
                    <a:t> </a:t>
                  </a:r>
                </a:p>
              </p:txBody>
            </p:sp>
          </mc:Fallback>
        </mc:AlternateContent>
      </p:grpSp>
      <p:sp>
        <p:nvSpPr>
          <p:cNvPr id="4" name="Footer Placeholder 3">
            <a:extLst>
              <a:ext uri="{FF2B5EF4-FFF2-40B4-BE49-F238E27FC236}">
                <a16:creationId xmlns:a16="http://schemas.microsoft.com/office/drawing/2014/main" id="{C3A61247-B6B1-35A1-43DD-F345322C85C3}"/>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3254F818-A17F-0E64-89A9-DAE9D44E391D}"/>
              </a:ext>
            </a:extLst>
          </p:cNvPr>
          <p:cNvSpPr>
            <a:spLocks noGrp="1"/>
          </p:cNvSpPr>
          <p:nvPr>
            <p:ph type="dt" sz="half" idx="10"/>
          </p:nvPr>
        </p:nvSpPr>
        <p:spPr/>
        <p:txBody>
          <a:bodyPr/>
          <a:lstStyle/>
          <a:p>
            <a:fld id="{660E93ED-92BB-6B43-BC0E-85DBE05849CC}" type="datetime1">
              <a:rPr lang="en-US" smtClean="0"/>
              <a:t>12/20/2025</a:t>
            </a:fld>
            <a:endParaRPr lang="en-US"/>
          </a:p>
        </p:txBody>
      </p:sp>
      <p:sp>
        <p:nvSpPr>
          <p:cNvPr id="6" name="Slide Number Placeholder 5">
            <a:extLst>
              <a:ext uri="{FF2B5EF4-FFF2-40B4-BE49-F238E27FC236}">
                <a16:creationId xmlns:a16="http://schemas.microsoft.com/office/drawing/2014/main" id="{75C920E5-CA71-EB73-8A7B-1E2F765D16FF}"/>
              </a:ext>
            </a:extLst>
          </p:cNvPr>
          <p:cNvSpPr>
            <a:spLocks noGrp="1"/>
          </p:cNvSpPr>
          <p:nvPr>
            <p:ph type="sldNum" sz="quarter" idx="12"/>
          </p:nvPr>
        </p:nvSpPr>
        <p:spPr/>
        <p:txBody>
          <a:bodyPr/>
          <a:lstStyle/>
          <a:p>
            <a:fld id="{8AA1F273-EF2F-3941-BBF8-D365CB27DD6A}" type="slidenum">
              <a:rPr lang="en-US" smtClean="0"/>
              <a:t>18</a:t>
            </a:fld>
            <a:endParaRPr lang="en-US"/>
          </a:p>
        </p:txBody>
      </p:sp>
    </p:spTree>
    <p:extLst>
      <p:ext uri="{BB962C8B-B14F-4D97-AF65-F5344CB8AC3E}">
        <p14:creationId xmlns:p14="http://schemas.microsoft.com/office/powerpoint/2010/main" val="3932887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Next time</a:t>
            </a:r>
          </a:p>
        </p:txBody>
      </p:sp>
      <p:pic>
        <p:nvPicPr>
          <p:cNvPr id="3" name="Picture 2" descr="A graph of a function&#10;&#10;Description automatically generated">
            <a:extLst>
              <a:ext uri="{FF2B5EF4-FFF2-40B4-BE49-F238E27FC236}">
                <a16:creationId xmlns:a16="http://schemas.microsoft.com/office/drawing/2014/main" id="{E2E31690-1591-61C7-B7D4-5ADF3A6B98EC}"/>
              </a:ext>
            </a:extLst>
          </p:cNvPr>
          <p:cNvPicPr>
            <a:picLocks noChangeAspect="1"/>
          </p:cNvPicPr>
          <p:nvPr/>
        </p:nvPicPr>
        <p:blipFill>
          <a:blip r:embed="rId3"/>
          <a:stretch>
            <a:fillRect/>
          </a:stretch>
        </p:blipFill>
        <p:spPr>
          <a:xfrm>
            <a:off x="2812883" y="1690688"/>
            <a:ext cx="6566233" cy="4669139"/>
          </a:xfrm>
          <a:prstGeom prst="rect">
            <a:avLst/>
          </a:prstGeom>
        </p:spPr>
      </p:pic>
      <p:sp>
        <p:nvSpPr>
          <p:cNvPr id="4" name="Footer Placeholder 3">
            <a:extLst>
              <a:ext uri="{FF2B5EF4-FFF2-40B4-BE49-F238E27FC236}">
                <a16:creationId xmlns:a16="http://schemas.microsoft.com/office/drawing/2014/main" id="{A39EFE47-83EA-1894-B2D7-A146C7D2F71D}"/>
              </a:ext>
            </a:extLst>
          </p:cNvPr>
          <p:cNvSpPr>
            <a:spLocks noGrp="1"/>
          </p:cNvSpPr>
          <p:nvPr>
            <p:ph type="ftr" sz="quarter" idx="11"/>
          </p:nvPr>
        </p:nvSpPr>
        <p:spPr/>
        <p:txBody>
          <a:bodyPr/>
          <a:lstStyle/>
          <a:p>
            <a:r>
              <a:rPr lang="hr-HR"/>
              <a:t>AA 174A | Lecture 3 </a:t>
            </a:r>
            <a:endParaRPr lang="en-US"/>
          </a:p>
        </p:txBody>
      </p:sp>
      <p:sp>
        <p:nvSpPr>
          <p:cNvPr id="5" name="Date Placeholder 4">
            <a:extLst>
              <a:ext uri="{FF2B5EF4-FFF2-40B4-BE49-F238E27FC236}">
                <a16:creationId xmlns:a16="http://schemas.microsoft.com/office/drawing/2014/main" id="{55569907-DEEB-FE3A-320E-FE79524BD083}"/>
              </a:ext>
            </a:extLst>
          </p:cNvPr>
          <p:cNvSpPr>
            <a:spLocks noGrp="1"/>
          </p:cNvSpPr>
          <p:nvPr>
            <p:ph type="dt" sz="half" idx="10"/>
          </p:nvPr>
        </p:nvSpPr>
        <p:spPr/>
        <p:txBody>
          <a:bodyPr/>
          <a:lstStyle/>
          <a:p>
            <a:fld id="{FCA396A7-D606-374B-9265-E10448C84F06}" type="datetime1">
              <a:rPr lang="en-US" smtClean="0"/>
              <a:t>12/20/2025</a:t>
            </a:fld>
            <a:endParaRPr lang="en-US"/>
          </a:p>
        </p:txBody>
      </p:sp>
      <p:sp>
        <p:nvSpPr>
          <p:cNvPr id="6" name="Slide Number Placeholder 5">
            <a:extLst>
              <a:ext uri="{FF2B5EF4-FFF2-40B4-BE49-F238E27FC236}">
                <a16:creationId xmlns:a16="http://schemas.microsoft.com/office/drawing/2014/main" id="{D7DDEFD1-9990-A7AA-02AE-1B7594CDC281}"/>
              </a:ext>
            </a:extLst>
          </p:cNvPr>
          <p:cNvSpPr>
            <a:spLocks noGrp="1"/>
          </p:cNvSpPr>
          <p:nvPr>
            <p:ph type="sldNum" sz="quarter" idx="12"/>
          </p:nvPr>
        </p:nvSpPr>
        <p:spPr/>
        <p:txBody>
          <a:bodyPr/>
          <a:lstStyle/>
          <a:p>
            <a:fld id="{8AA1F273-EF2F-3941-BBF8-D365CB27DD6A}" type="slidenum">
              <a:rPr lang="en-US" smtClean="0"/>
              <a:t>19</a:t>
            </a:fld>
            <a:endParaRPr lang="en-US"/>
          </a:p>
        </p:txBody>
      </p:sp>
    </p:spTree>
    <p:extLst>
      <p:ext uri="{BB962C8B-B14F-4D97-AF65-F5344CB8AC3E}">
        <p14:creationId xmlns:p14="http://schemas.microsoft.com/office/powerpoint/2010/main" val="913217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FF78D-9689-806A-A23B-2929294956D0}"/>
              </a:ext>
            </a:extLst>
          </p:cNvPr>
          <p:cNvSpPr>
            <a:spLocks noGrp="1"/>
          </p:cNvSpPr>
          <p:nvPr>
            <p:ph type="title"/>
          </p:nvPr>
        </p:nvSpPr>
        <p:spPr/>
        <p:txBody>
          <a:bodyPr/>
          <a:lstStyle/>
          <a:p>
            <a:r>
              <a:rPr lang="en-US" dirty="0">
                <a:ea typeface="Calibri Light"/>
                <a:cs typeface="Calibri Light"/>
              </a:rPr>
              <a:t>Attendance Form</a:t>
            </a:r>
            <a:endParaRPr lang="en-US" dirty="0"/>
          </a:p>
        </p:txBody>
      </p:sp>
      <p:pic>
        <p:nvPicPr>
          <p:cNvPr id="7" name="Content Placeholder 6" descr="A qr code with black squares&#10;&#10;AI-generated content may be incorrect.">
            <a:extLst>
              <a:ext uri="{FF2B5EF4-FFF2-40B4-BE49-F238E27FC236}">
                <a16:creationId xmlns:a16="http://schemas.microsoft.com/office/drawing/2014/main" id="{04E28637-E63C-B501-DC94-F1C030F26DB9}"/>
              </a:ext>
            </a:extLst>
          </p:cNvPr>
          <p:cNvPicPr>
            <a:picLocks noGrp="1" noChangeAspect="1"/>
          </p:cNvPicPr>
          <p:nvPr>
            <p:ph idx="1"/>
          </p:nvPr>
        </p:nvPicPr>
        <p:blipFill>
          <a:blip r:embed="rId2"/>
          <a:stretch>
            <a:fillRect/>
          </a:stretch>
        </p:blipFill>
        <p:spPr>
          <a:xfrm>
            <a:off x="4038600" y="1943894"/>
            <a:ext cx="4114800" cy="4114800"/>
          </a:xfrm>
          <a:prstGeom prst="rect">
            <a:avLst/>
          </a:prstGeom>
        </p:spPr>
      </p:pic>
      <p:sp>
        <p:nvSpPr>
          <p:cNvPr id="4" name="Date Placeholder 3">
            <a:extLst>
              <a:ext uri="{FF2B5EF4-FFF2-40B4-BE49-F238E27FC236}">
                <a16:creationId xmlns:a16="http://schemas.microsoft.com/office/drawing/2014/main" id="{1520C107-668C-E019-8CC8-04DAC23A9179}"/>
              </a:ext>
            </a:extLst>
          </p:cNvPr>
          <p:cNvSpPr>
            <a:spLocks noGrp="1"/>
          </p:cNvSpPr>
          <p:nvPr>
            <p:ph type="dt" sz="half" idx="10"/>
          </p:nvPr>
        </p:nvSpPr>
        <p:spPr/>
        <p:txBody>
          <a:bodyPr/>
          <a:lstStyle/>
          <a:p>
            <a:fld id="{A558A9F6-D5E6-2845-9990-457223861935}" type="datetime1">
              <a:rPr lang="en-US" smtClean="0"/>
              <a:t>12/20/2025</a:t>
            </a:fld>
            <a:endParaRPr lang="en-US"/>
          </a:p>
        </p:txBody>
      </p:sp>
      <p:sp>
        <p:nvSpPr>
          <p:cNvPr id="5" name="Footer Placeholder 4">
            <a:extLst>
              <a:ext uri="{FF2B5EF4-FFF2-40B4-BE49-F238E27FC236}">
                <a16:creationId xmlns:a16="http://schemas.microsoft.com/office/drawing/2014/main" id="{3735BFD2-37C8-12FB-A598-F90288F50E43}"/>
              </a:ext>
            </a:extLst>
          </p:cNvPr>
          <p:cNvSpPr>
            <a:spLocks noGrp="1"/>
          </p:cNvSpPr>
          <p:nvPr>
            <p:ph type="ftr" sz="quarter" idx="11"/>
          </p:nvPr>
        </p:nvSpPr>
        <p:spPr/>
        <p:txBody>
          <a:bodyPr/>
          <a:lstStyle/>
          <a:p>
            <a:r>
              <a:rPr lang="hr-HR"/>
              <a:t>AA 174A | Lecture 3 </a:t>
            </a:r>
            <a:endParaRPr lang="en-US"/>
          </a:p>
        </p:txBody>
      </p:sp>
      <p:sp>
        <p:nvSpPr>
          <p:cNvPr id="6" name="Slide Number Placeholder 5">
            <a:extLst>
              <a:ext uri="{FF2B5EF4-FFF2-40B4-BE49-F238E27FC236}">
                <a16:creationId xmlns:a16="http://schemas.microsoft.com/office/drawing/2014/main" id="{E01D5E8B-69CC-93CF-FA87-A3AD3AE05C8E}"/>
              </a:ext>
            </a:extLst>
          </p:cNvPr>
          <p:cNvSpPr>
            <a:spLocks noGrp="1"/>
          </p:cNvSpPr>
          <p:nvPr>
            <p:ph type="sldNum" sz="quarter" idx="12"/>
          </p:nvPr>
        </p:nvSpPr>
        <p:spPr/>
        <p:txBody>
          <a:bodyPr/>
          <a:lstStyle/>
          <a:p>
            <a:fld id="{8AA1F273-EF2F-3941-BBF8-D365CB27DD6A}" type="slidenum">
              <a:rPr lang="en-US" smtClean="0"/>
              <a:t>20</a:t>
            </a:fld>
            <a:endParaRPr lang="en-US"/>
          </a:p>
        </p:txBody>
      </p:sp>
    </p:spTree>
    <p:extLst>
      <p:ext uri="{BB962C8B-B14F-4D97-AF65-F5344CB8AC3E}">
        <p14:creationId xmlns:p14="http://schemas.microsoft.com/office/powerpoint/2010/main" val="3086676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4015</Words>
  <Application>Microsoft Office PowerPoint</Application>
  <PresentationFormat>Widescreen</PresentationFormat>
  <Paragraphs>362</Paragraphs>
  <Slides>20</Slides>
  <Notes>16</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Principles of Robot Autonomy I</vt:lpstr>
      <vt:lpstr>Attendance Form</vt:lpstr>
      <vt:lpstr>For urgent questions</vt:lpstr>
      <vt:lpstr>Agenda</vt:lpstr>
      <vt:lpstr>State space models</vt:lpstr>
      <vt:lpstr>Example: double-integrator</vt:lpstr>
      <vt:lpstr>Kinematic models</vt:lpstr>
      <vt:lpstr>Holonomic and nonholonomic constraints</vt:lpstr>
      <vt:lpstr>Back to unicycle example</vt:lpstr>
      <vt:lpstr>Unicycle and differential drive models</vt:lpstr>
      <vt:lpstr>Simple car model</vt:lpstr>
      <vt:lpstr>From kinematic to dynamic models</vt:lpstr>
      <vt:lpstr>Linear time-invariant models</vt:lpstr>
      <vt:lpstr>Example: PD control for a double-integrator</vt:lpstr>
      <vt:lpstr>Linearization</vt:lpstr>
      <vt:lpstr>Linearization of non-linear state-space models</vt:lpstr>
      <vt:lpstr>Example: Inverted pendulum</vt:lpstr>
      <vt:lpstr>Example: Inverted pendulum</vt:lpstr>
      <vt:lpstr>Next time</vt:lpstr>
      <vt:lpstr>Attendance 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 274 Principles of Robotic Autonomy</dc:title>
  <dc:creator>Marco Pavone</dc:creator>
  <cp:lastModifiedBy>Marco Pavone</cp:lastModifiedBy>
  <cp:revision>2</cp:revision>
  <cp:lastPrinted>2019-01-07T20:05:58Z</cp:lastPrinted>
  <dcterms:created xsi:type="dcterms:W3CDTF">2017-01-06T12:29:52Z</dcterms:created>
  <dcterms:modified xsi:type="dcterms:W3CDTF">2025-12-20T20:23:25Z</dcterms:modified>
</cp:coreProperties>
</file>