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 bookmarkIdSeed="2">
  <p:sldMasterIdLst>
    <p:sldMasterId id="2147483648" r:id="rId1"/>
  </p:sldMasterIdLst>
  <p:notesMasterIdLst>
    <p:notesMasterId r:id="rId25"/>
  </p:notesMasterIdLst>
  <p:sldIdLst>
    <p:sldId id="256" r:id="rId2"/>
    <p:sldId id="374" r:id="rId3"/>
    <p:sldId id="453" r:id="rId4"/>
    <p:sldId id="1544" r:id="rId5"/>
    <p:sldId id="454" r:id="rId6"/>
    <p:sldId id="455" r:id="rId7"/>
    <p:sldId id="410" r:id="rId8"/>
    <p:sldId id="411" r:id="rId9"/>
    <p:sldId id="412" r:id="rId10"/>
    <p:sldId id="413" r:id="rId11"/>
    <p:sldId id="414" r:id="rId12"/>
    <p:sldId id="415" r:id="rId13"/>
    <p:sldId id="416" r:id="rId14"/>
    <p:sldId id="417" r:id="rId15"/>
    <p:sldId id="418" r:id="rId16"/>
    <p:sldId id="419" r:id="rId17"/>
    <p:sldId id="420" r:id="rId18"/>
    <p:sldId id="421" r:id="rId19"/>
    <p:sldId id="422" r:id="rId20"/>
    <p:sldId id="423" r:id="rId21"/>
    <p:sldId id="424" r:id="rId22"/>
    <p:sldId id="457" r:id="rId23"/>
    <p:sldId id="345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CC25E8B-7885-9143-B6A6-C663038D90BB}">
          <p14:sldIdLst>
            <p14:sldId id="256"/>
            <p14:sldId id="374"/>
            <p14:sldId id="453"/>
            <p14:sldId id="1544"/>
            <p14:sldId id="454"/>
            <p14:sldId id="455"/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  <p14:sldId id="420"/>
            <p14:sldId id="421"/>
            <p14:sldId id="422"/>
            <p14:sldId id="423"/>
            <p14:sldId id="424"/>
            <p14:sldId id="457"/>
            <p14:sldId id="34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972D41-95A5-374A-BE45-310EDAC28298}" v="2" dt="2025-11-13T00:12:00.2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395"/>
    <p:restoredTop sz="67334"/>
  </p:normalViewPr>
  <p:slideViewPr>
    <p:cSldViewPr snapToGrid="0" snapToObjects="1">
      <p:cViewPr varScale="1">
        <p:scale>
          <a:sx n="82" d="100"/>
          <a:sy n="82" d="100"/>
        </p:scale>
        <p:origin x="12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6F028-2067-3740-AA48-A91E93570B1D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B2D7EC-928D-0645-AAE8-498D7443D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2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arginal_probability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en.wikipedia.org/wiki/Conditional_probabilities" TargetMode="Externa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131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r>
              <a:rPr lang="en-US" dirty="0"/>
              <a:t>Navigation is one of the most challenging competences required of a mobile robot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Success in navigation requires success at the four building blocks of navigation: </a:t>
            </a:r>
          </a:p>
          <a:p>
            <a:pPr marL="228600" indent="-228600">
              <a:buFont typeface="+mj-lt"/>
              <a:buAutoNum type="arabicPeriod"/>
            </a:pPr>
            <a:r>
              <a:rPr lang="en-US" dirty="0"/>
              <a:t>perception (the robot must interpret its sensors to extract meaningful data); </a:t>
            </a:r>
          </a:p>
          <a:p>
            <a:pPr marL="228600" indent="-228600">
              <a:buFont typeface="+mj-lt"/>
              <a:buAutoNum type="arabicPeriod"/>
            </a:pPr>
            <a:r>
              <a:rPr lang="en-US" dirty="0"/>
              <a:t>localization (the robot must determine its position in the environment)</a:t>
            </a:r>
          </a:p>
          <a:p>
            <a:pPr marL="228600" indent="-228600">
              <a:buFont typeface="+mj-lt"/>
              <a:buAutoNum type="arabicPeriod"/>
            </a:pPr>
            <a:r>
              <a:rPr lang="en-US" dirty="0"/>
              <a:t>cognition (the robot must decide how to act to achieve its goals)</a:t>
            </a:r>
          </a:p>
          <a:p>
            <a:pPr marL="228600" indent="-228600">
              <a:buFont typeface="+mj-lt"/>
              <a:buAutoNum type="arabicPeriod"/>
            </a:pPr>
            <a:r>
              <a:rPr lang="en-US" dirty="0"/>
              <a:t>and motion control (the robot must modulate its motor outputs to achieve the desired trajectory).</a:t>
            </a:r>
          </a:p>
          <a:p>
            <a:pPr marL="228600" indent="-228600">
              <a:buFont typeface="Arial" charset="0"/>
              <a:buChar char="•"/>
            </a:pPr>
            <a:r>
              <a:rPr lang="en-US" dirty="0"/>
              <a:t>In the next few lectures</a:t>
            </a:r>
            <a:r>
              <a:rPr lang="en-US" baseline="0" dirty="0"/>
              <a:t> we will focus on localization </a:t>
            </a:r>
          </a:p>
          <a:p>
            <a:pPr marL="228600" indent="-228600">
              <a:buFont typeface="Arial" charset="0"/>
              <a:buChar char="•"/>
            </a:pPr>
            <a:endParaRPr lang="en-US" baseline="0" dirty="0"/>
          </a:p>
          <a:p>
            <a:pPr marL="228600" indent="-228600">
              <a:buFont typeface="Arial" charset="0"/>
              <a:buChar char="•"/>
            </a:pPr>
            <a:r>
              <a:rPr lang="en-US" baseline="0" dirty="0"/>
              <a:t>%%definition of independence + example of conditional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01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" name="Google Shape;3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40270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+mj-lt"/>
              <a:buAutoNum type="arabicPeriod"/>
            </a:pPr>
            <a:r>
              <a:rPr lang="en-US" dirty="0"/>
              <a:t>Map-based approaches: the robot explicitly attempts to localize by collecting sensor data, then updating some belief about its position with respect to a map of the environment. </a:t>
            </a:r>
          </a:p>
          <a:p>
            <a:pPr marL="6858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Advantages:</a:t>
            </a:r>
            <a:r>
              <a:rPr lang="en-US" baseline="0" dirty="0"/>
              <a:t> General</a:t>
            </a:r>
          </a:p>
          <a:p>
            <a:pPr marL="685800" lvl="1" indent="-228600">
              <a:buFont typeface="Arial" charset="0"/>
              <a:buChar char="•"/>
            </a:pPr>
            <a:r>
              <a:rPr lang="en-US" dirty="0"/>
              <a:t>Disadvantage: more up-front development effort </a:t>
            </a:r>
          </a:p>
          <a:p>
            <a:pPr marL="228600" lvl="0" indent="-228600">
              <a:buFont typeface="Arial" charset="0"/>
              <a:buChar char="•"/>
            </a:pPr>
            <a:r>
              <a:rPr lang="en-US" dirty="0"/>
              <a:t>The fundamental issue that differentiates various map-based localization systems is the issue of </a:t>
            </a:r>
            <a:r>
              <a:rPr lang="en-US" i="1" dirty="0"/>
              <a:t>representation</a:t>
            </a:r>
            <a:r>
              <a:rPr lang="en-US" i="0" dirty="0"/>
              <a:t> </a:t>
            </a:r>
          </a:p>
          <a:p>
            <a:pPr marL="228600" lvl="0" indent="-228600">
              <a:buFont typeface="Arial" charset="0"/>
              <a:buChar char="•"/>
            </a:pPr>
            <a:r>
              <a:rPr lang="en-US" dirty="0"/>
              <a:t>There are two specific concepts that the robot must represent</a:t>
            </a:r>
            <a:endParaRPr lang="en-US" i="1" dirty="0"/>
          </a:p>
          <a:p>
            <a:pPr marL="685800" lvl="1" indent="-228600">
              <a:buFont typeface="+mj-lt"/>
              <a:buAutoNum type="arabicPeriod"/>
            </a:pPr>
            <a:r>
              <a:rPr lang="en-US" dirty="0"/>
              <a:t>The robot must have a representation (a model) of the environment, or a map. -&gt; map representation </a:t>
            </a:r>
          </a:p>
          <a:p>
            <a:pPr marL="685800" lvl="1" indent="-228600">
              <a:buFont typeface="+mj-lt"/>
              <a:buAutoNum type="arabicPeriod"/>
            </a:pPr>
            <a:r>
              <a:rPr lang="en-US" dirty="0"/>
              <a:t>The robot must also have a representation of its belief regarding its position on the map. -&gt; belief representation (due to the fact that the state cannot be measured directly.)</a:t>
            </a:r>
          </a:p>
          <a:p>
            <a:pPr marL="685800" lvl="1" indent="-228600">
              <a:buFont typeface="+mj-lt"/>
              <a:buAutoNum type="arabicPeriod"/>
            </a:pPr>
            <a:endParaRPr lang="en-US" dirty="0"/>
          </a:p>
          <a:p>
            <a:pPr marL="457200" lvl="1" indent="0">
              <a:buFont typeface="+mj-lt"/>
              <a:buNone/>
            </a:pPr>
            <a:r>
              <a:rPr lang="en-US" dirty="0"/>
              <a:t>%%</a:t>
            </a:r>
          </a:p>
          <a:p>
            <a:pPr marL="457200" lvl="1" indent="0">
              <a:buFont typeface="+mj-lt"/>
              <a:buNone/>
            </a:pPr>
            <a:r>
              <a:rPr lang="en-US" dirty="0"/>
              <a:t>Behavioral approach: design a set of behaviors that together result in the desired robot motion (no need for a map)</a:t>
            </a:r>
          </a:p>
          <a:p>
            <a:pPr marL="685800" lvl="1" indent="-228600">
              <a:buFont typeface="+mj-lt"/>
              <a:buAutoNum type="arabicPeriod"/>
            </a:pPr>
            <a:endParaRPr lang="en-US" dirty="0"/>
          </a:p>
          <a:p>
            <a:pPr marL="685800" lvl="1" indent="-228600">
              <a:buFont typeface="+mj-lt"/>
              <a:buAutoNum type="arabicPeriod"/>
            </a:pPr>
            <a:endParaRPr lang="en-US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159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r>
              <a:rPr lang="en-US" dirty="0"/>
              <a:t>The key idea is to represent a belief as a probability distribution,</a:t>
            </a:r>
            <a:r>
              <a:rPr lang="en-US" baseline="0" dirty="0"/>
              <a:t> this allows one to </a:t>
            </a:r>
          </a:p>
          <a:p>
            <a:pPr marL="685800" lvl="1" indent="-228600">
              <a:buFont typeface="+mj-lt"/>
              <a:buAutoNum type="arabicPeriod"/>
            </a:pPr>
            <a:r>
              <a:rPr lang="en-US" baseline="0" dirty="0"/>
              <a:t>Encode a sense of position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dirty="0"/>
              <a:t>Maintain notion of robot’s uncertainty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The single-hypothesis belief representation is the most direct possible postulation of mobile robot position. (e.g., single Gaussian centered at a single continuous value)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Continuous map with multiple-hypothesis belief, </a:t>
            </a:r>
            <a:r>
              <a:rPr lang="en-US" dirty="0" err="1"/>
              <a:t>e.g</a:t>
            </a:r>
            <a:r>
              <a:rPr lang="en-US" dirty="0"/>
              <a:t>;. multiple Gaussians centered at multiple continuous values.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Continuous versus discrete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baseline="0" dirty="0"/>
              <a:t>Key aspect: how to update a belief based on a set of measurements: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baseline="0" dirty="0"/>
              <a:t>Key tool Bayes </a:t>
            </a:r>
            <a:r>
              <a:rPr lang="en-US" baseline="0" dirty="0" err="1"/>
              <a:t>flitering</a:t>
            </a:r>
            <a:endParaRPr lang="en-US" baseline="0" dirty="0"/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dirty="0"/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dirty="0"/>
          </a:p>
          <a:p>
            <a:pPr marL="171450" indent="-171450">
              <a:buFont typeface="Arial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432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b="0" i="0" dirty="0">
                <a:solidFill>
                  <a:srgbClr val="3C4043"/>
                </a:solidFill>
                <a:effectLst/>
                <a:latin typeface="Roboto" panose="020F0502020204030204" pitchFamily="34" charset="0"/>
              </a:rPr>
              <a:t>A random variable is </a:t>
            </a:r>
            <a:r>
              <a:rPr lang="en-US" b="1" i="0" dirty="0">
                <a:solidFill>
                  <a:srgbClr val="5F6368"/>
                </a:solidFill>
                <a:effectLst/>
                <a:latin typeface="Roboto" panose="02000000000000000000" pitchFamily="2" charset="0"/>
              </a:rPr>
              <a:t>a variable that takes on different values determined by chance</a:t>
            </a:r>
            <a:r>
              <a:rPr lang="en-US" b="0" i="0" dirty="0">
                <a:solidFill>
                  <a:srgbClr val="3C4043"/>
                </a:solidFill>
                <a:effectLst/>
                <a:latin typeface="Roboto" panose="02000000000000000000" pitchFamily="2" charset="0"/>
              </a:rPr>
              <a:t>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If the space of all values that X can take on is discrete, as is the case if X is the outcome of a coin flip, we write as ..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To simplify the notation, we will usually omit explicit mention of the random variable whenever possible, and instead use the common abbreviation p(x) instead of writing p(X = x).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Discrete probabilities sum to one, that is,..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Most techniques we will discuss  address estimation and decision making in continuous spaces. Continuous spaces are characterized by random variables that can take on a continuum of values.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A pdf allows</a:t>
            </a:r>
            <a:r>
              <a:rPr lang="en-US" baseline="0" dirty="0"/>
              <a:t> to compute the probability that a </a:t>
            </a:r>
            <a:r>
              <a:rPr lang="en-US" baseline="0" dirty="0" err="1"/>
              <a:t>conitnuous</a:t>
            </a:r>
            <a:r>
              <a:rPr lang="en-US" baseline="0" dirty="0"/>
              <a:t> RV falls in a given range </a:t>
            </a:r>
            <a:endParaRPr lang="en-US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a PDF always integrates to 1: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P(a\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leq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X\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leq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b) 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int_a^b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p(x)\,dx,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_{-\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infty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}^{\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infty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p(x)\,dx=1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quad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(\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}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)),\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sum_x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)=1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8459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The joint distribution of two random variables X and Y is given by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If X and Y are independent, we have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Often, random variables carry information about other random variables. Suppose we already know that Y ’s value is y, and we would like to know the probability that X’s value is x conditioned on that fact. Such a probability will be denoted </a:t>
            </a:r>
            <a:r>
              <a:rPr lang="hr-HR" dirty="0"/>
              <a:t>p(x | y) </a:t>
            </a:r>
            <a:r>
              <a:rPr lang="en-US" dirty="0"/>
              <a:t>and is called conditional probability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If p(y) &gt; 0, then the conditional probability is defined as [</a:t>
            </a:r>
            <a:r>
              <a:rPr lang="is-IS" dirty="0"/>
              <a:t>…</a:t>
            </a:r>
            <a:r>
              <a:rPr lang="en-US" dirty="0"/>
              <a:t>]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Note that this is a definition but not a theoretical result.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definition of conditional probability clarifies the definition of conditional independence</a:t>
            </a:r>
            <a:endParaRPr lang="hr-HR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p(x \,| \,y) := p(x)!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p(x \,| \,y) :=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{p(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)}{p(y)}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p(x)p(y)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:=p(X=x\text{ and } Y=y) 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1551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An interesting fact, which follows from the definition of conditional probability and the axioms of probability measures, is often referred to as theorem of total probability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The </a:t>
            </a:r>
            <a:r>
              <a:rPr lang="en-US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law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(or </a:t>
            </a:r>
            <a:r>
              <a:rPr lang="en-US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formula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) </a:t>
            </a:r>
            <a:r>
              <a:rPr lang="en-US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of total probability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is a fundamental rule relating </a:t>
            </a:r>
            <a:r>
              <a:rPr lang="en-US" b="0" i="0" u="none" strike="noStrike" dirty="0">
                <a:effectLst/>
                <a:latin typeface="Arial" panose="020B0604020202020204" pitchFamily="34" charset="0"/>
                <a:hlinkClick r:id="rId3" tooltip="Marginal probability"/>
              </a:rPr>
              <a:t>marginal probabilities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to </a:t>
            </a:r>
            <a:r>
              <a:rPr lang="en-US" b="0" i="0" u="none" strike="noStrike" dirty="0">
                <a:effectLst/>
                <a:latin typeface="Arial" panose="020B0604020202020204" pitchFamily="34" charset="0"/>
                <a:hlinkClick r:id="rId4" tooltip="Conditional probabilities"/>
              </a:rPr>
              <a:t>conditional probabilities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b="0" i="0" dirty="0">
                <a:solidFill>
                  <a:srgbClr val="474747"/>
                </a:solidFill>
                <a:effectLst/>
                <a:latin typeface="Roboto" panose="020F0502020204030204" pitchFamily="34" charset="0"/>
              </a:rPr>
              <a:t>Practically, the </a:t>
            </a:r>
            <a:r>
              <a:rPr lang="en-US" b="1" i="0" dirty="0">
                <a:effectLst/>
                <a:latin typeface="Roboto" panose="02000000000000000000" pitchFamily="2" charset="0"/>
              </a:rPr>
              <a:t>rule</a:t>
            </a:r>
            <a:r>
              <a:rPr lang="en-US" b="0" i="0" dirty="0">
                <a:solidFill>
                  <a:srgbClr val="474747"/>
                </a:solidFill>
                <a:effectLst/>
                <a:latin typeface="Roboto" panose="02000000000000000000" pitchFamily="2" charset="0"/>
              </a:rPr>
              <a:t> states that if the </a:t>
            </a:r>
            <a:r>
              <a:rPr lang="en-US" b="1" i="0" dirty="0">
                <a:effectLst/>
                <a:latin typeface="Roboto" panose="02000000000000000000" pitchFamily="2" charset="0"/>
              </a:rPr>
              <a:t>probability</a:t>
            </a:r>
            <a:r>
              <a:rPr lang="en-US" b="0" i="0" dirty="0">
                <a:solidFill>
                  <a:srgbClr val="474747"/>
                </a:solidFill>
                <a:effectLst/>
                <a:latin typeface="Roboto" panose="02000000000000000000" pitchFamily="2" charset="0"/>
              </a:rPr>
              <a:t> of an event is unknown, it can be calculated using the known </a:t>
            </a:r>
            <a:r>
              <a:rPr lang="en-US" b="1" i="0" dirty="0">
                <a:effectLst/>
                <a:latin typeface="Roboto" panose="02000000000000000000" pitchFamily="2" charset="0"/>
              </a:rPr>
              <a:t>probabilities</a:t>
            </a:r>
            <a:r>
              <a:rPr lang="en-US" b="0" i="0" dirty="0">
                <a:solidFill>
                  <a:srgbClr val="474747"/>
                </a:solidFill>
                <a:effectLst/>
                <a:latin typeface="Roboto" panose="02000000000000000000" pitchFamily="2" charset="0"/>
              </a:rPr>
              <a:t> of several distinct events.</a:t>
            </a:r>
            <a:endParaRPr lang="en-US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p(x) 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p(x, y)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 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p(x\, | \, y)p(y)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p(x) 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sum_y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p(x, y) = 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sum_y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p(x\, | \, y)p(y)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684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Equally important is Bayes rule, which relates conditionals of the type p(x | y) to their “inverse,” p(y | x). The rule, as stated here, requires p(y) &gt; 0:</a:t>
            </a: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p(x\, | \, y) = 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{p(y\, | \, x)p(x)}{p(y)} = 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{p(y\, | \, x)p(x)}{\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p(y\, | \, x^{\prime})p(x^{\prime}) \, dx^{\prime} }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p(x\, | \, y) = 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{p(y\, | \, x)p(x)}{p(y)} = 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{p(y\, | \, x)p(x)}{\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_{x^{\prime}} p(y\, | \, x^{\prime})p(x^{\prime})  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498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Bayes rule plays a predominant role in probabilistic robotics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Assume we are interested in inferring a quantity x from sensor data y, 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the probability p(x) will be referred to as </a:t>
            </a:r>
            <a:r>
              <a:rPr lang="en-US" i="1" dirty="0"/>
              <a:t>prior probability </a:t>
            </a:r>
            <a:r>
              <a:rPr lang="en-US" dirty="0"/>
              <a:t>distribution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y is called the data (e.g., a sensor measurement)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Bayes rule allows us to do so through the inverse probability, which specifies the probability of data y assuming that x was the case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The distribution p(x) summarizes the knowledge we have regarding X prior to incorporating the data y. 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The probability p(x | y) is called the posterior probability distribution over X.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Bayes rule provides a convenient way to compute a posterior p(x | y) using the “inverse” conditional probability p(y | x) along with the prior probability p(x)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An important observation is that the denominator of Bayes rule, p(y), does not depend on x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. Thus, the factor p(y) ^{−1} in the equation will be the same for any value x in the posterior p(x | y).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For this reason, p(y) ^{−1} is often written as a normalizer variable, and generically denoted </a:t>
            </a:r>
            <a:r>
              <a:rPr lang="en-US" dirty="0" err="1"/>
              <a:t>η</a:t>
            </a:r>
            <a:r>
              <a:rPr lang="en-US" dirty="0"/>
              <a:t>: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p(x\, | \, y) = 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eta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 p(y\, | \, x)p(x)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p(x\, | \, y) = 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{p(y\, | \, x)p(x)}{\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p(y\, | \, x^{\prime})p(x^{\prime}) \, dx^{\prime} 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2285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, we notice that it is perfectly fine to condition any of the rules discussed so far on arbitrary other random variables, such as the variable Z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For example, conditioning Bayes rule on Z = z gives us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Similarly, we can condition the rule for combining probabilities of independent random variables on other variables z:</a:t>
            </a: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Conditional independence plays an important role in probabilistic robotics. It applies whenever a variable y carries no information about a variable x if another variable’s value z is known</a:t>
            </a: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Conditional independence does not imply (absolute) independence, that is,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The converse is also in general untrue: absolute independence does not imply conditional independence:</a:t>
            </a: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p(x)p(y)\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centernot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implies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\, | \, z) = p(x\, | \, z)p(y\, | \, z) </a:t>
            </a:r>
          </a:p>
          <a:p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\, | \, z) = p(x\, | \, z)p(y\, | \, z), 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 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equivalent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} 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cases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p(x\, | \, z)= p(x\, | \, 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z,y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)\\</a:t>
            </a:r>
          </a:p>
          <a:p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p(y\, | \, z)= p(y\, | \, 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z,x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cases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p(x\, | \, 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y,z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{p(y\, | \, 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x,z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)p(x \, | \, z)}{p(y \, | \, z)}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189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The expectation of a random variable X is given by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The expectation is a linear function of a random variable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Expectation of a vector of RVs is simply  the vector of expectations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Covariance is a measure of the joint variability of two random variables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Covariance is a measure of the joint variability of two random variables, and is defined </a:t>
            </a:r>
            <a:r>
              <a:rPr lang="en-US"/>
              <a:t>as  a </a:t>
            </a:r>
            <a:r>
              <a:rPr lang="en-US" dirty="0"/>
              <a:t>matrix whose element in the </a:t>
            </a:r>
            <a:r>
              <a:rPr lang="en-US" dirty="0" err="1"/>
              <a:t>i</a:t>
            </a:r>
            <a:r>
              <a:rPr lang="en-US" dirty="0"/>
              <a:t>, j position is the covariance between the </a:t>
            </a:r>
            <a:r>
              <a:rPr lang="en-US" dirty="0" err="1"/>
              <a:t>i-th</a:t>
            </a:r>
            <a:r>
              <a:rPr lang="en-US" dirty="0"/>
              <a:t> element of a random vector and j-</a:t>
            </a:r>
            <a:r>
              <a:rPr lang="en-US" dirty="0" err="1"/>
              <a:t>th</a:t>
            </a:r>
            <a:r>
              <a:rPr lang="en-US" dirty="0"/>
              <a:t> element of another random vector.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The covariance is obtained as follows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cov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}(X,Y) = E[(X-E[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])(Y-E[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])^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 = E[XY^T] - E[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]E[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]^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E[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aX+b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 = a\, E[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]+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481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Two fundamental types of robot-environment interactions: the robot can influence </a:t>
            </a:r>
            <a:r>
              <a:rPr lang="en-US" dirty="0">
                <a:solidFill>
                  <a:srgbClr val="C00000"/>
                </a:solidFill>
              </a:rPr>
              <a:t>the state </a:t>
            </a:r>
            <a:r>
              <a:rPr lang="en-US" dirty="0"/>
              <a:t>of its environment through </a:t>
            </a:r>
            <a:r>
              <a:rPr lang="en-US" dirty="0">
                <a:solidFill>
                  <a:srgbClr val="C00000"/>
                </a:solidFill>
              </a:rPr>
              <a:t>control actions, </a:t>
            </a:r>
            <a:r>
              <a:rPr lang="en-US" dirty="0"/>
              <a:t>and gather information about the </a:t>
            </a:r>
            <a:r>
              <a:rPr lang="en-US" dirty="0">
                <a:solidFill>
                  <a:srgbClr val="C00000"/>
                </a:solidFill>
              </a:rPr>
              <a:t>state </a:t>
            </a:r>
            <a:r>
              <a:rPr lang="en-US" dirty="0"/>
              <a:t>through</a:t>
            </a:r>
            <a:r>
              <a:rPr lang="en-US" dirty="0">
                <a:solidFill>
                  <a:srgbClr val="C00000"/>
                </a:solidFill>
              </a:rPr>
              <a:t> measurements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state as the collection of all aspects of the robot and its environment that can impact the future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completeness entails that knowledge of past states, measurements, or controls carry no additional information that would help us to predict the future more accurately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It it important to notice that our definition of completeness does not require the future to be a deterministic function of the state. The future may be stochastic, but no variables prior to </a:t>
            </a:r>
            <a:r>
              <a:rPr lang="en-US" dirty="0" err="1"/>
              <a:t>xt</a:t>
            </a:r>
            <a:r>
              <a:rPr lang="en-US" dirty="0"/>
              <a:t> may influence the stochastic evolution of future states, unless this dependence is mediated through the state </a:t>
            </a:r>
            <a:r>
              <a:rPr lang="en-US" dirty="0" err="1"/>
              <a:t>xt</a:t>
            </a:r>
            <a:endParaRPr lang="en-US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Temporal processes that meet these conditions are commonly known as Markov chains.</a:t>
            </a:r>
            <a:endParaRPr lang="en-US" dirty="0">
              <a:solidFill>
                <a:srgbClr val="C00000"/>
              </a:solidFill>
            </a:endParaRP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x_{t_1:t_2}:=x_{t_1}, x_{t_1+1}, x_{t_1+2},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ldots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x_{t_2}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4456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r>
              <a:rPr lang="en-US" dirty="0"/>
              <a:t>Measurement data provides information about a momentary state of the environment. Examples of measurement data include camera images, range scans, and so on. 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Control data carry information about the change of state in the environment.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z_{t_1:t_2}:=z_{t_1}, z_{t_1+1}, z_{t_1+2},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ldots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z_{t_2}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2977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/>
                  <a:t>The evolution of state and measurements is governed by probabilistic laws. 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/>
                  <a:t>In general, the state at time </a:t>
                </a:r>
                <a:r>
                  <a:rPr lang="en-US" dirty="0" err="1"/>
                  <a:t>xt</a:t>
                </a:r>
                <a:r>
                  <a:rPr lang="en-US" dirty="0"/>
                  <a:t> is generated stochastically. Thus, it makes sense to specify the probability distribution from which </a:t>
                </a:r>
                <a:r>
                  <a:rPr lang="en-US" dirty="0" err="1"/>
                  <a:t>xt</a:t>
                </a:r>
                <a:r>
                  <a:rPr lang="en-US" dirty="0"/>
                  <a:t> is generated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/>
                  <a:t>At first glance, the emergence of state </a:t>
                </a:r>
                <a:r>
                  <a:rPr lang="en-US" dirty="0" err="1"/>
                  <a:t>xt</a:t>
                </a:r>
                <a:r>
                  <a:rPr lang="en-US" dirty="0"/>
                  <a:t> might be conditioned on all past states, measurements, and controls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/>
                  <a:t>Hence, the probabilistic law characterizing the evolution of state might be given by a probability distribution of the following form</a:t>
                </a:r>
                <a:r>
                  <a:rPr lang="en-US" baseline="0" dirty="0"/>
                  <a:t> [..]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/>
                  <a:t>Notice that through no particular motivation we assume here that the robot executes a control action </a:t>
                </a:r>
                <a:r>
                  <a:rPr lang="en-US" dirty="0" err="1"/>
                  <a:t>u_t</a:t>
                </a:r>
                <a:r>
                  <a:rPr lang="en-US" dirty="0"/>
                  <a:t> first, and then takes a measurement 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However, if the state is complete, </a:t>
                </a:r>
                <a:r>
                  <a:rPr lang="en-US" dirty="0"/>
                  <a:t>then it is a sufficient summary of all that happened in previous time steps.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/>
                  <a:t>In particular, xt−1 is a sufficient statistic of all previous controls and measurements up to this point, that is, u1:t−1 and z1:t−1.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/>
                  <a:t>The probability p(</a:t>
                </a:r>
                <a:r>
                  <a:rPr lang="en-US" dirty="0" err="1"/>
                  <a:t>xt</a:t>
                </a:r>
                <a:r>
                  <a:rPr lang="en-US" dirty="0"/>
                  <a:t> | xt−1, </a:t>
                </a:r>
                <a:r>
                  <a:rPr lang="en-US" dirty="0" err="1"/>
                  <a:t>ut</a:t>
                </a:r>
                <a:r>
                  <a:rPr lang="en-US" dirty="0"/>
                  <a:t>) is the state transition probability.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/>
                  <a:t>From all the variables in the expression above, only the control </a:t>
                </a:r>
                <a:r>
                  <a:rPr lang="en-US" dirty="0" err="1"/>
                  <a:t>ut</a:t>
                </a:r>
                <a:r>
                  <a:rPr lang="en-US" dirty="0"/>
                  <a:t> matters if we know the state xt−1. In probabilistic terms, this insight is expressed by [..]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/>
                  <a:t>In other words, we assume </a:t>
                </a:r>
                <a:r>
                  <a:rPr lang="en-US" i="1" dirty="0"/>
                  <a:t>conditional independence</a:t>
                </a:r>
                <a:r>
                  <a:rPr lang="en-US" dirty="0"/>
                  <a:t>, with respect to conditioning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dirty="0"/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endParaRPr lang="hr-HR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hr-HR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hr-HR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p(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x_t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\, | \, x_{0:t-1}, \, z_{1:t-1}, \, u_{1:t}) = p(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x_t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\,  | \, x_{t-1}, 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u_t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</a:p>
              <a:p>
                <a:endParaRPr lang="hr-HR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 smtClean="0"/>
                  <a:t>The evolution of state and measurements is governed by probabilistic laws. I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 smtClean="0"/>
                  <a:t>In general, the state at time </a:t>
                </a:r>
                <a:r>
                  <a:rPr lang="en-US" dirty="0" err="1" smtClean="0"/>
                  <a:t>xt</a:t>
                </a:r>
                <a:r>
                  <a:rPr lang="en-US" dirty="0" smtClean="0"/>
                  <a:t> is generated stochastically. Thus, it makes sense to specify the probability distribution from which </a:t>
                </a:r>
                <a:r>
                  <a:rPr lang="en-US" dirty="0" err="1" smtClean="0"/>
                  <a:t>xt</a:t>
                </a:r>
                <a:r>
                  <a:rPr lang="en-US" dirty="0" smtClean="0"/>
                  <a:t> is generated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 smtClean="0"/>
                  <a:t>At first glance, the emergence of state </a:t>
                </a:r>
                <a:r>
                  <a:rPr lang="en-US" dirty="0" err="1" smtClean="0"/>
                  <a:t>xt</a:t>
                </a:r>
                <a:r>
                  <a:rPr lang="en-US" dirty="0" smtClean="0"/>
                  <a:t> might be conditioned on all past states, measurements, and controls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 smtClean="0"/>
                  <a:t>Hence, the probabilistic law characterizing the evolution of state might be given by a probability distribution of the following form</a:t>
                </a:r>
                <a:r>
                  <a:rPr lang="en-US" baseline="0" dirty="0" smtClean="0"/>
                  <a:t> [..]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 smtClean="0"/>
                  <a:t>Notice that through no particular motivation we assume here that the robot executes a control action u1 first, and then takes a measurement 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However, if the state is complete, </a:t>
                </a:r>
                <a:r>
                  <a:rPr lang="en-US" dirty="0" smtClean="0"/>
                  <a:t>then it is a sufficient summary of all that happened in previous time steps.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 smtClean="0"/>
                  <a:t>In particular, xt−1 is a sufficient statistic of all previous controls and measurements up to this point, that is, u1:t−1 and z1:t−1.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 smtClean="0"/>
                  <a:t>The probability p(</a:t>
                </a:r>
                <a:r>
                  <a:rPr lang="en-US" dirty="0" err="1" smtClean="0"/>
                  <a:t>xt</a:t>
                </a:r>
                <a:r>
                  <a:rPr lang="en-US" dirty="0" smtClean="0"/>
                  <a:t> | xt−1, </a:t>
                </a:r>
                <a:r>
                  <a:rPr lang="en-US" dirty="0" err="1" smtClean="0"/>
                  <a:t>ut</a:t>
                </a:r>
                <a:r>
                  <a:rPr lang="en-US" dirty="0" smtClean="0"/>
                  <a:t>) is the state transition probability.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 smtClean="0"/>
                  <a:t>From all the variables in the expression above, only the control </a:t>
                </a:r>
                <a:r>
                  <a:rPr lang="en-US" dirty="0" err="1" smtClean="0"/>
                  <a:t>ut</a:t>
                </a:r>
                <a:r>
                  <a:rPr lang="en-US" dirty="0" smtClean="0"/>
                  <a:t> matters if we know the state xt−1. In probabilistic terms, this insight is expressed by [..]</a:t>
                </a:r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r>
                  <a:rPr lang="en-US" dirty="0" smtClean="0"/>
                  <a:t>In other words, we assume </a:t>
                </a:r>
                <a:r>
                  <a:rPr lang="en-US" i="1" dirty="0" smtClean="0"/>
                  <a:t>conditional independence</a:t>
                </a:r>
                <a:r>
                  <a:rPr lang="en-US" dirty="0" smtClean="0"/>
                  <a:t>, with respect to conditioning on </a:t>
                </a:r>
                <a:r>
                  <a:rPr lang="en-US" b="0" i="0" smtClean="0">
                    <a:latin typeface="Cambria Math" charset="0"/>
                  </a:rPr>
                  <a:t>𝑥_(𝑡−1)</a:t>
                </a:r>
                <a:endParaRPr lang="en-US" dirty="0" smtClean="0"/>
              </a:p>
              <a:p>
                <a:pPr marL="171450" marR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charset="0"/>
                  <a:buChar char="•"/>
                  <a:tabLst/>
                  <a:defRPr/>
                </a:pPr>
                <a:endParaRPr lang="hr-HR" sz="1200" kern="1200" dirty="0" smtClean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hr-HR" sz="1200" kern="1200" dirty="0" smtClean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hr-HR" sz="1200" kern="1200" dirty="0" smtClean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p(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x_t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\, | \, x_{0:t-1}, \, z_{1:t-1}, \, u_{1:t}) = p(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x_t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\,  | \, x_{t-1}, 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u_t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</a:p>
              <a:p>
                <a:endParaRPr lang="hr-HR" sz="1200" kern="1200" dirty="0" smtClean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6725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r>
              <a:rPr lang="en-US" dirty="0"/>
              <a:t>Similarly, one might want to model the process by which measurements are being generated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Again, if </a:t>
            </a:r>
            <a:r>
              <a:rPr lang="en-US" dirty="0" err="1"/>
              <a:t>xt</a:t>
            </a:r>
            <a:r>
              <a:rPr lang="en-US" dirty="0"/>
              <a:t> is complete, we have an important conditional independence: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The probability p(</a:t>
            </a:r>
            <a:r>
              <a:rPr lang="en-US" dirty="0" err="1"/>
              <a:t>zt</a:t>
            </a:r>
            <a:r>
              <a:rPr lang="en-US" dirty="0"/>
              <a:t> | </a:t>
            </a:r>
            <a:r>
              <a:rPr lang="en-US" dirty="0" err="1"/>
              <a:t>xt</a:t>
            </a:r>
            <a:r>
              <a:rPr lang="en-US" dirty="0"/>
              <a:t>) is called the measurement probability.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Such a temporal generative model is also known as hidden Markov model (HMM) or dynamic Bayes network (DBN)</a:t>
            </a: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 | \, x_{0:t}, \, z_{1:t-1}, \, u_{1:t}) = p(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  | \, 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 | \, x_{0:t-1}, \, z_{1:t-1}, \, u_{1:t}) = p(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  | \, 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3247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r>
              <a:rPr lang="en-US" dirty="0"/>
              <a:t>Another key concept in probabilistic robotics is that of a belief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A belief reflects the robot’s internal knowledge about the state of the environment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A belief distribution assigns a probability (or density value) to each possible hypothesis with regards to the true state.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Belief distributions are posterior probabilities over state variables conditioned on the available data.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notice that we silently assume that the belief is taken after incorporating the measurement </a:t>
            </a:r>
            <a:r>
              <a:rPr lang="en-US" dirty="0" err="1"/>
              <a:t>zt</a:t>
            </a:r>
            <a:r>
              <a:rPr lang="en-US" dirty="0"/>
              <a:t>.</a:t>
            </a:r>
          </a:p>
          <a:p>
            <a:pPr marL="171450" indent="-171450">
              <a:buFont typeface="Arial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Similarly, we can define the prediction  distribution 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Calculating bel(</a:t>
            </a:r>
            <a:r>
              <a:rPr lang="en-US" dirty="0" err="1"/>
              <a:t>xt</a:t>
            </a:r>
            <a:r>
              <a:rPr lang="en-US" dirty="0"/>
              <a:t>) from bel(</a:t>
            </a:r>
            <a:r>
              <a:rPr lang="en-US" dirty="0" err="1"/>
              <a:t>xt</a:t>
            </a:r>
            <a:r>
              <a:rPr lang="en-US" dirty="0"/>
              <a:t>) is called correction or the measurement update.</a:t>
            </a:r>
            <a:endParaRPr lang="es-ES_tradnl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_tradnl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s-ES_tradn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s-ES_tradn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s-ES_tradn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{bel}(</a:t>
            </a:r>
            <a:r>
              <a:rPr lang="es-ES_tradn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s-ES_tradn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:= p(</a:t>
            </a:r>
            <a:r>
              <a:rPr lang="es-ES_tradnl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s-ES_tradn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  | \, {\color{red} z_{1:t-1}},\, u_{1:t})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:= p(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  | \, z_{1:t},\, u_{1:t})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4424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dirty="0"/>
              <a:t>The most general algorithm for calculating beliefs is given by the Bayes filter algorithm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The Bayes filter is recursive, that is, the belief bel(</a:t>
            </a:r>
            <a:r>
              <a:rPr lang="en-US" dirty="0" err="1"/>
              <a:t>xt</a:t>
            </a:r>
            <a:r>
              <a:rPr lang="en-US" dirty="0"/>
              <a:t>) at time t is calculated from the belief bel(xt−1) at time t−1.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Its input is the belief bel at time t−1, along with the most recent control </a:t>
            </a:r>
            <a:r>
              <a:rPr lang="en-US" dirty="0" err="1"/>
              <a:t>ut</a:t>
            </a:r>
            <a:r>
              <a:rPr lang="en-US" dirty="0"/>
              <a:t> and the most recent measurement </a:t>
            </a:r>
            <a:r>
              <a:rPr lang="en-US" dirty="0" err="1"/>
              <a:t>zt</a:t>
            </a:r>
            <a:r>
              <a:rPr lang="en-US" dirty="0"/>
              <a:t>.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Its output is the belief bel(</a:t>
            </a:r>
            <a:r>
              <a:rPr lang="en-US" dirty="0" err="1"/>
              <a:t>xt</a:t>
            </a:r>
            <a:r>
              <a:rPr lang="en-US" dirty="0"/>
              <a:t>) at time t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The Bayes filter algorithm possesses two essential steps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The first step (</a:t>
            </a:r>
            <a:r>
              <a:rPr lang="en-US" dirty="0" err="1"/>
              <a:t>prediciotn</a:t>
            </a:r>
            <a:r>
              <a:rPr lang="en-US" dirty="0"/>
              <a:t>) is to processes the control </a:t>
            </a:r>
            <a:r>
              <a:rPr lang="en-US" dirty="0" err="1"/>
              <a:t>ut</a:t>
            </a:r>
            <a:endParaRPr lang="en-US" dirty="0"/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In particular, the belief \</a:t>
            </a:r>
            <a:r>
              <a:rPr lang="en-US" dirty="0" err="1"/>
              <a:t>overline</a:t>
            </a:r>
            <a:r>
              <a:rPr lang="en-US" dirty="0"/>
              <a:t>{bel}(</a:t>
            </a:r>
            <a:r>
              <a:rPr lang="en-US" dirty="0" err="1"/>
              <a:t>xt</a:t>
            </a:r>
            <a:r>
              <a:rPr lang="en-US" dirty="0"/>
              <a:t>) that the robot assigns to state </a:t>
            </a:r>
            <a:r>
              <a:rPr lang="en-US" dirty="0" err="1"/>
              <a:t>xt</a:t>
            </a:r>
            <a:r>
              <a:rPr lang="en-US" dirty="0"/>
              <a:t> is obtained by the integral (sum) of the product of two distributions: the prior assigned to xt−1, and the probability that control </a:t>
            </a:r>
            <a:r>
              <a:rPr lang="en-US" dirty="0" err="1"/>
              <a:t>ut</a:t>
            </a:r>
            <a:r>
              <a:rPr lang="en-US" dirty="0"/>
              <a:t> induces a transition from xt−1 to </a:t>
            </a:r>
            <a:r>
              <a:rPr lang="en-US" dirty="0" err="1"/>
              <a:t>xt.</a:t>
            </a:r>
            <a:endParaRPr lang="en-US" dirty="0"/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The second step of the Bayes filter is called the measurement update.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the Bayes filter algorithm multiplies the belief \overline{bel}{</a:t>
            </a:r>
            <a:r>
              <a:rPr lang="en-US" dirty="0" err="1"/>
              <a:t>x_t</a:t>
            </a:r>
            <a:r>
              <a:rPr lang="en-US" dirty="0"/>
              <a:t>}  by the probability that the measurement </a:t>
            </a:r>
            <a:r>
              <a:rPr lang="en-US" dirty="0" err="1"/>
              <a:t>zt</a:t>
            </a:r>
            <a:r>
              <a:rPr lang="en-US" dirty="0"/>
              <a:t> may have been observed. It does so for each hypothetical posterior state </a:t>
            </a:r>
            <a:r>
              <a:rPr lang="en-US" dirty="0" err="1"/>
              <a:t>xt.</a:t>
            </a:r>
            <a:endParaRPr lang="en-US" dirty="0"/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the algorithm requires an initial belief bel(x0) at time t = 0 as boundary condition.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The algorithm Bayes filter can only be implemented in the form stated here for very simple estimation problems.</a:t>
            </a:r>
          </a:p>
          <a:p>
            <a:pPr marL="171450" indent="-171450">
              <a:buFont typeface="Arial" charset="0"/>
              <a:buChar char="•"/>
            </a:pPr>
            <a:endParaRPr lang="en-US" dirty="0"/>
          </a:p>
          <a:p>
            <a:pPr marL="171450" indent="-171450">
              <a:buFont typeface="Arial" charset="0"/>
              <a:buChar char="•"/>
            </a:pPr>
            <a:endParaRPr lang="en-US" dirty="0"/>
          </a:p>
          <a:p>
            <a:endParaRPr lang="en-US" dirty="0"/>
          </a:p>
          <a:p>
            <a:r>
              <a:rPr lang="en-US" dirty="0"/>
              <a:t>\begin{algorithm}[H] \</a:t>
            </a:r>
            <a:r>
              <a:rPr lang="en-US" dirty="0" err="1"/>
              <a:t>KwData</a:t>
            </a:r>
            <a:r>
              <a:rPr lang="en-US" dirty="0"/>
              <a:t>{$bel(x_{t-1}), </a:t>
            </a:r>
            <a:r>
              <a:rPr lang="en-US" dirty="0" err="1"/>
              <a:t>u_t</a:t>
            </a:r>
            <a:r>
              <a:rPr lang="en-US" dirty="0"/>
              <a:t>, </a:t>
            </a:r>
            <a:r>
              <a:rPr lang="en-US" dirty="0" err="1"/>
              <a:t>z_t</a:t>
            </a:r>
            <a:r>
              <a:rPr lang="en-US" dirty="0"/>
              <a:t>$} \</a:t>
            </a:r>
            <a:r>
              <a:rPr lang="en-US" dirty="0" err="1"/>
              <a:t>KwResult</a:t>
            </a:r>
            <a:r>
              <a:rPr lang="en-US" dirty="0"/>
              <a:t>{$bel(</a:t>
            </a:r>
            <a:r>
              <a:rPr lang="en-US" dirty="0" err="1"/>
              <a:t>x_t</a:t>
            </a:r>
            <a:r>
              <a:rPr lang="en-US" dirty="0"/>
              <a:t>)$} \</a:t>
            </a:r>
            <a:r>
              <a:rPr lang="en-US" dirty="0" err="1"/>
              <a:t>ForEach</a:t>
            </a:r>
            <a:r>
              <a:rPr lang="en-US" dirty="0"/>
              <a:t>{$</a:t>
            </a:r>
            <a:r>
              <a:rPr lang="en-US" dirty="0" err="1"/>
              <a:t>x_t</a:t>
            </a:r>
            <a:r>
              <a:rPr lang="en-US" dirty="0"/>
              <a:t>$}{%$\</a:t>
            </a:r>
            <a:r>
              <a:rPr lang="en-US" dirty="0" err="1"/>
              <a:t>overline</a:t>
            </a:r>
            <a:r>
              <a:rPr lang="en-US" dirty="0"/>
              <a:t>{bel}(</a:t>
            </a:r>
            <a:r>
              <a:rPr lang="en-US" dirty="0" err="1"/>
              <a:t>x_t</a:t>
            </a:r>
            <a:r>
              <a:rPr lang="en-US" dirty="0"/>
              <a:t>) = \</a:t>
            </a:r>
            <a:r>
              <a:rPr lang="en-US" dirty="0" err="1"/>
              <a:t>int</a:t>
            </a:r>
            <a:r>
              <a:rPr lang="en-US" dirty="0"/>
              <a:t> p(</a:t>
            </a:r>
            <a:r>
              <a:rPr lang="en-US" dirty="0" err="1"/>
              <a:t>x_t</a:t>
            </a:r>
            <a:r>
              <a:rPr lang="en-US" dirty="0"/>
              <a:t> \, | \, </a:t>
            </a:r>
            <a:r>
              <a:rPr lang="en-US" dirty="0" err="1"/>
              <a:t>u_t</a:t>
            </a:r>
            <a:r>
              <a:rPr lang="en-US" dirty="0"/>
              <a:t>, x_{t-1}) \, bel(x_{t-1})\, dx_{t-1}$\;$bel(</a:t>
            </a:r>
            <a:r>
              <a:rPr lang="en-US" dirty="0" err="1"/>
              <a:t>x_t</a:t>
            </a:r>
            <a:r>
              <a:rPr lang="en-US" dirty="0"/>
              <a:t>) = \eta p(</a:t>
            </a:r>
            <a:r>
              <a:rPr lang="en-US" dirty="0" err="1"/>
              <a:t>z_t</a:t>
            </a:r>
            <a:r>
              <a:rPr lang="en-US" dirty="0"/>
              <a:t> \, | \, x_{t})\</a:t>
            </a:r>
            <a:r>
              <a:rPr lang="en-US" dirty="0" err="1"/>
              <a:t>overline</a:t>
            </a:r>
            <a:r>
              <a:rPr lang="en-US" dirty="0"/>
              <a:t>{bel}(x_{t})$\;} Return $bel(</a:t>
            </a:r>
            <a:r>
              <a:rPr lang="en-US" dirty="0" err="1"/>
              <a:t>x_t</a:t>
            </a:r>
            <a:r>
              <a:rPr lang="en-US" dirty="0"/>
              <a:t>)$\end{algorithm}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5480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charset="0"/>
              <a:buChar char="•"/>
            </a:pPr>
            <a:r>
              <a:rPr lang="en-US" dirty="0"/>
              <a:t>The most general algorithm for calculating beliefs is given by the Bayes filter algorithm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This algorithm calculates the belief distribution bel from measurement and control data.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The correctness of the Bayes filter algorithm is shown by induction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The first step of our derivation involves the application of Bayes rule to the target posterior: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We now exploit the assumption that our state is complete</a:t>
            </a:r>
          </a:p>
          <a:p>
            <a:pPr marL="171450" indent="-171450">
              <a:buFont typeface="Arial" charset="0"/>
              <a:buChar char="•"/>
            </a:pPr>
            <a:r>
              <a:rPr lang="en-US" dirty="0"/>
              <a:t>In particular, if we (hypothetically) knew the state </a:t>
            </a:r>
            <a:r>
              <a:rPr lang="en-US" dirty="0" err="1"/>
              <a:t>xt</a:t>
            </a:r>
            <a:r>
              <a:rPr lang="en-US" dirty="0"/>
              <a:t> and were interested in predicting the measurement </a:t>
            </a:r>
            <a:r>
              <a:rPr lang="en-US" dirty="0" err="1"/>
              <a:t>zt</a:t>
            </a:r>
            <a:r>
              <a:rPr lang="en-US" dirty="0"/>
              <a:t>, no past measurement or control would provide us additional information. In mathematical terms </a:t>
            </a:r>
            <a:r>
              <a:rPr lang="hr-HR" dirty="0"/>
              <a:t>p(</a:t>
            </a:r>
            <a:r>
              <a:rPr lang="hr-HR" dirty="0" err="1"/>
              <a:t>zt</a:t>
            </a:r>
            <a:r>
              <a:rPr lang="hr-HR" dirty="0"/>
              <a:t> | </a:t>
            </a:r>
            <a:r>
              <a:rPr lang="hr-HR" dirty="0" err="1"/>
              <a:t>xt</a:t>
            </a:r>
            <a:r>
              <a:rPr lang="hr-HR" dirty="0"/>
              <a:t>, z1:t−1, u1:t) = p(</a:t>
            </a:r>
            <a:r>
              <a:rPr lang="hr-HR" dirty="0" err="1"/>
              <a:t>zt</a:t>
            </a:r>
            <a:r>
              <a:rPr lang="hr-HR" dirty="0"/>
              <a:t> | </a:t>
            </a:r>
            <a:r>
              <a:rPr lang="hr-HR" dirty="0" err="1"/>
              <a:t>xt</a:t>
            </a:r>
            <a:r>
              <a:rPr lang="hr-HR" dirty="0"/>
              <a:t>) 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charset="0"/>
              <a:buChar char="•"/>
            </a:pPr>
            <a:b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&amp;= p(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  | \, z_{1:t},\, u_{1:t})\\</a:t>
            </a:r>
          </a:p>
          <a:p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&amp;=\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{p(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 | \, 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z_{1:t-1},\, u_{1:t})\,  p(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  | \, z_{1:t-1},\, u_{1:t})}{\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underbrace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{p(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 | \, z_{1:t-1},\, u_{1:t})}_{:=\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eta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^{-1}}}\\</a:t>
            </a:r>
          </a:p>
          <a:p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&amp; = 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eta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 p(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 | \, 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)\, 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underbrace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{p(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  | \, z_{1:t-1},\, u_{1:t})}_{=\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{bel(</a:t>
            </a:r>
            <a:r>
              <a:rPr lang="hr-H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)}}</a:t>
            </a:r>
          </a:p>
          <a:p>
            <a:b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hr-H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hr-H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0571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charset="0"/>
                  <a:buChar char="•"/>
                </a:pP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First 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step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total 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probaility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</a:p>
              <a:p>
                <a:pPr marL="171450" indent="-171450">
                  <a:buFont typeface="Arial" charset="0"/>
                  <a:buChar char="•"/>
                </a:pP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Second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step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en-US" dirty="0"/>
                  <a:t>This implies if we know xt−1, past measurements and controls convey no information regarding the state </a:t>
                </a:r>
                <a:r>
                  <a:rPr lang="en-US" dirty="0" err="1"/>
                  <a:t>xt</a:t>
                </a:r>
                <a:endParaRPr lang="en-US" dirty="0"/>
              </a:p>
              <a:p>
                <a:pPr marL="171450" indent="-171450">
                  <a:buFont typeface="Arial" charset="0"/>
                  <a:buChar char="•"/>
                </a:pPr>
                <a:r>
                  <a:rPr 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Third step: </a:t>
                </a:r>
                <a:r>
                  <a:rPr lang="en-US" dirty="0"/>
                  <a:t>For general output  feedback</a:t>
                </a:r>
                <a:r>
                  <a:rPr lang="en-US" baseline="0" dirty="0"/>
                  <a:t> </a:t>
                </a:r>
                <a:r>
                  <a:rPr lang="en-US" dirty="0"/>
                  <a:t>policies,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does not provide </a:t>
                </a:r>
                <a:r>
                  <a:rPr lang="en-US" baseline="0" dirty="0"/>
                  <a:t> </a:t>
                </a:r>
                <a:r>
                  <a:rPr lang="en-US" dirty="0"/>
                  <a:t>additional information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 (trivial,</a:t>
                </a:r>
                <a:r>
                  <a:rPr lang="en-US" baseline="0" dirty="0"/>
                  <a:t> given our model that </a:t>
                </a:r>
                <a:r>
                  <a:rPr lang="en-US" baseline="0" dirty="0" err="1"/>
                  <a:t>u_t</a:t>
                </a:r>
                <a:r>
                  <a:rPr lang="en-US" baseline="0" dirty="0"/>
                  <a:t> depends on z_(t-1)</a:t>
                </a:r>
                <a:r>
                  <a:rPr lang="en-US" dirty="0"/>
                  <a:t>)</a:t>
                </a:r>
              </a:p>
              <a:p>
                <a:pPr marL="171450" indent="-171450">
                  <a:buFont typeface="Arial" charset="0"/>
                  <a:buChar char="•"/>
                </a:pP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dirty="0"/>
                  <a:t>because </a:t>
                </a:r>
                <a:r>
                  <a:rPr lang="en-US" b="1" dirty="0"/>
                  <a:t>once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𝑥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−</m:t>
                        </m:r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1" dirty="0"/>
                  <a:t>is known</a:t>
                </a:r>
                <a:r>
                  <a:rPr lang="en-US" dirty="0"/>
                  <a:t>, the current control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𝑢</m:t>
                        </m:r>
                      </m:e>
                      <m:sub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has </a:t>
                </a:r>
                <a:r>
                  <a:rPr lang="en-US" b="1" dirty="0"/>
                  <a:t>no effect on the past</a:t>
                </a:r>
                <a:r>
                  <a:rPr lang="en-US" dirty="0"/>
                  <a:t> — the past is independent of future controls.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</a:p>
              <a:p>
                <a:endParaRPr lang="hr-HR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overline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{bel}(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x_t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&amp;= p(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x_t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\,  | \, z_{1:t-1},\, u_{1:t})\\</a:t>
                </a:r>
              </a:p>
              <a:p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&amp; = \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int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p(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x_t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\,  | \, x_{t-1}, \,  z_{1:t-1},\, u_{1:t}) \, p(x_{t-1} \,  | \,  z_{1:t-1},\, u_{1:t})\, dx_{t-1}\\</a:t>
                </a:r>
              </a:p>
              <a:p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&amp; = \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int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p(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x_t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\,  | \, x_{t-1}, \, u_{t}) \, p(x_{t-1} \,  | \,  z_{1:t-1},\, u_{1:t}) \, dx_{t-1}\\</a:t>
                </a:r>
              </a:p>
              <a:p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&amp; = \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int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p(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x_t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\,  | \, x_{t-1}, \, u_{t}) \, p(x_{t-1} \,  | \,  z_{1:t-1},\, {\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color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{red} u_{1:t-1}}) \, dx_{t-1}\\</a:t>
                </a:r>
              </a:p>
              <a:p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&amp; = \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int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p(</a:t>
                </a:r>
                <a:r>
                  <a:rPr lang="hr-H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x_t</a:t>
                </a:r>
                <a:r>
                  <a:rPr lang="hr-H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\,  | \, x_{t-1}, \, u_{t}) \, bel(x_{t-1})\, dx_{t-1}\\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charset="0"/>
                  <a:buChar char="•"/>
                </a:pP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First 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step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total 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probaility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</a:p>
              <a:p>
                <a:pPr marL="171450" indent="-171450">
                  <a:buFont typeface="Arial" charset="0"/>
                  <a:buChar char="•"/>
                </a:pP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Second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step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: </a:t>
                </a:r>
                <a:r>
                  <a:rPr lang="en-US" dirty="0" smtClean="0"/>
                  <a:t>This implies if we know xt−1, past measurements and controls convey no information regarding the state </a:t>
                </a:r>
                <a:r>
                  <a:rPr lang="en-US" dirty="0" err="1" smtClean="0"/>
                  <a:t>xt</a:t>
                </a:r>
                <a:endParaRPr lang="en-US" dirty="0" smtClean="0"/>
              </a:p>
              <a:p>
                <a:pPr marL="171450" indent="-171450">
                  <a:buFont typeface="Arial" charset="0"/>
                  <a:buChar char="•"/>
                </a:pPr>
                <a:r>
                  <a:rPr lang="en-US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Third step: </a:t>
                </a:r>
                <a:r>
                  <a:rPr lang="en-US" dirty="0" smtClean="0"/>
                  <a:t>For general output  feedback</a:t>
                </a:r>
                <a:r>
                  <a:rPr lang="en-US" baseline="0" dirty="0" smtClean="0"/>
                  <a:t> </a:t>
                </a:r>
                <a:r>
                  <a:rPr lang="en-US" dirty="0" smtClean="0"/>
                  <a:t>policies</a:t>
                </a:r>
                <a:r>
                  <a:rPr lang="en-US" dirty="0" smtClean="0"/>
                  <a:t>, </a:t>
                </a:r>
                <a:r>
                  <a:rPr lang="en-US" b="0" i="0" smtClean="0">
                    <a:latin typeface="Cambria Math" charset="0"/>
                  </a:rPr>
                  <a:t>𝑢_𝑡</a:t>
                </a:r>
                <a:r>
                  <a:rPr lang="en-US" dirty="0" smtClean="0"/>
                  <a:t> does not provide </a:t>
                </a:r>
                <a:r>
                  <a:rPr lang="en-US" baseline="0" dirty="0" smtClean="0"/>
                  <a:t> </a:t>
                </a:r>
                <a:r>
                  <a:rPr lang="en-US" dirty="0" smtClean="0"/>
                  <a:t>additional </a:t>
                </a:r>
                <a:r>
                  <a:rPr lang="en-US" dirty="0" smtClean="0"/>
                  <a:t>information on </a:t>
                </a:r>
                <a:r>
                  <a:rPr lang="en-US" b="0" i="0" smtClean="0">
                    <a:latin typeface="Cambria Math" charset="0"/>
                  </a:rPr>
                  <a:t>𝑥_(𝑡−1)</a:t>
                </a:r>
                <a:r>
                  <a:rPr lang="en-US" dirty="0" smtClean="0"/>
                  <a:t> </a:t>
                </a:r>
                <a:endParaRPr lang="en-US" dirty="0"/>
              </a:p>
              <a:p>
                <a:pPr marL="171450" indent="-171450">
                  <a:buFont typeface="Arial" charset="0"/>
                  <a:buChar char="•"/>
                </a:pPr>
                <a:endParaRPr lang="hr-HR" sz="1200" kern="1200" dirty="0" smtClean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hr-HR" sz="1200" kern="1200" dirty="0" smtClean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\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overline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{bel}(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x_t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&amp;= p(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x_t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\,  | \, z_{1:t-1},\, u_{1:t})\\</a:t>
                </a:r>
              </a:p>
              <a:p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&amp; = \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int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p(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x_t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\,  | \, x_{t-1}, \,  z_{1:t-1},\, u_{1:t}) \, p(x_{t-1} \,  | \,  z_{1:t-1},\, u_{1:t})\, dx_{t-1}\\</a:t>
                </a:r>
              </a:p>
              <a:p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&amp; = \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int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p(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x_t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\,  | \, x_{t-1}, \, u_{t}) \, p(x_{t-1} \,  | \,  z_{1:t-1},\, u_{1:t}) \, dx_{t-1}\\</a:t>
                </a:r>
              </a:p>
              <a:p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&amp; = \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int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p(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x_t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\,  | \, x_{t-1}, \, u_{t}) \, p(x_{t-1} \,  | \,  z_{1:t-1},\, {\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color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{red} u_{1:t-1}}) \, dx_{t-1}\\</a:t>
                </a:r>
              </a:p>
              <a:p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&amp; = \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int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p(</a:t>
                </a:r>
                <a:r>
                  <a:rPr lang="hr-HR" sz="1200" kern="1200" dirty="0" err="1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x_t</a:t>
                </a:r>
                <a:r>
                  <a:rPr lang="hr-HR" sz="12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\,  | \, x_{t-1}, \, u_{t}) \, bel(x_{t-1})\, dx_{t-1}\\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5210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begin{algorithm}[H]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KwData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{$\{p_{k, t-1}\},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KwResult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{$\{p_{k, t}\}$}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ForEach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{$k$}{%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{p}_{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k,t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sum_i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\, | \,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X_{t-1} =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\, p_{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t-1}$\;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$p_{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k,t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= \eta \, p(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\, | \,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\,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{p}_{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k,t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}$\;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 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 $\{p_{k, t}\}$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\end{algorithm}</a:t>
            </a:r>
          </a:p>
          <a:p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4897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75AD3-0910-3144-A10D-32ACBA9BCF1D}" type="datetime1">
              <a:rPr lang="en-US" smtClean="0"/>
              <a:t>12/20/2025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013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542090"/>
            <a:ext cx="2743200" cy="365125"/>
          </a:xfrm>
        </p:spPr>
        <p:txBody>
          <a:bodyPr/>
          <a:lstStyle/>
          <a:p>
            <a:fld id="{4CFE8818-2FE3-FC40-9074-6991388A95C9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542090"/>
            <a:ext cx="2743200" cy="365125"/>
          </a:xfrm>
        </p:spPr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804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93F5CD-D329-1041-985F-2438ECB17AF3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r-HR"/>
              <a:t>AA 174A | Lecture 14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64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tif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tiff"/><Relationship Id="rId5" Type="http://schemas.openxmlformats.org/officeDocument/2006/relationships/image" Target="../media/image9.tiff"/><Relationship Id="rId4" Type="http://schemas.openxmlformats.org/officeDocument/2006/relationships/image" Target="../media/image8.tif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tiff"/><Relationship Id="rId4" Type="http://schemas.openxmlformats.org/officeDocument/2006/relationships/image" Target="../media/image12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tiff"/><Relationship Id="rId4" Type="http://schemas.openxmlformats.org/officeDocument/2006/relationships/image" Target="../media/image14.tif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tif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tiff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if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tiff"/><Relationship Id="rId5" Type="http://schemas.openxmlformats.org/officeDocument/2006/relationships/image" Target="../media/image20.tiff"/><Relationship Id="rId4" Type="http://schemas.openxmlformats.org/officeDocument/2006/relationships/image" Target="../media/image19.tif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tif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tiff"/><Relationship Id="rId5" Type="http://schemas.openxmlformats.org/officeDocument/2006/relationships/image" Target="../media/image24.tiff"/><Relationship Id="rId4" Type="http://schemas.openxmlformats.org/officeDocument/2006/relationships/image" Target="../media/image23.tif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tif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tiff"/><Relationship Id="rId4" Type="http://schemas.openxmlformats.org/officeDocument/2006/relationships/image" Target="../media/image27.tif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tiff"/><Relationship Id="rId4" Type="http://schemas.openxmlformats.org/officeDocument/2006/relationships/image" Target="../media/image29.tif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tiff"/><Relationship Id="rId5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tiff"/><Relationship Id="rId4" Type="http://schemas.openxmlformats.org/officeDocument/2006/relationships/image" Target="../media/image33.tif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tif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tif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tif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tif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>
                <a:latin typeface="Calibri Light" panose="020F0302020204030204" pitchFamily="34" charset="0"/>
                <a:cs typeface="Calibri Light" panose="020F0302020204030204" pitchFamily="34" charset="0"/>
              </a:rPr>
              <a:t>Principles of Robot Autonomy I</a:t>
            </a:r>
            <a:endParaRPr lang="en-US" sz="5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Introduction to state estimation and filtering theory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87942"/>
            <a:ext cx="12192000" cy="117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827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290B0-EB37-BE5C-04E7-4EA8696DA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9C11F-9CF3-5417-5DC4-4E4B8E15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Attendance Form</a:t>
            </a:r>
            <a:endParaRPr lang="en-US"/>
          </a:p>
        </p:txBody>
      </p:sp>
      <p:pic>
        <p:nvPicPr>
          <p:cNvPr id="7" name="Content Placeholder 6" descr="A qr code with black squares&#10;&#10;AI-generated content may be incorrect.">
            <a:extLst>
              <a:ext uri="{FF2B5EF4-FFF2-40B4-BE49-F238E27FC236}">
                <a16:creationId xmlns:a16="http://schemas.microsoft.com/office/drawing/2014/main" id="{6FC79A78-5555-5B36-D187-31F9DBD9AC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8600" y="1943894"/>
            <a:ext cx="4114800" cy="41148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03DC6-C8A8-2ACD-BAD1-55817AEB5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B71B4-BFE2-564B-A42B-4FB90E0E2562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5E3F-D2F3-70F1-92FC-D72CF33D9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024CE0-A3AD-110B-E6C1-9F11DABFC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591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see-think-act cycle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F4B4D2-C826-0040-91D3-529193546853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639" y="1485900"/>
            <a:ext cx="9482721" cy="473625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857500" y="1524000"/>
            <a:ext cx="1574800" cy="78740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159" y="2811463"/>
            <a:ext cx="2226960" cy="1212754"/>
          </a:xfrm>
          <a:prstGeom prst="rect">
            <a:avLst/>
          </a:prstGeom>
        </p:spPr>
      </p:pic>
      <p:cxnSp>
        <p:nvCxnSpPr>
          <p:cNvPr id="11" name="Straight Connector 10"/>
          <p:cNvCxnSpPr/>
          <p:nvPr/>
        </p:nvCxnSpPr>
        <p:spPr>
          <a:xfrm flipV="1">
            <a:off x="1824510" y="2311400"/>
            <a:ext cx="952500" cy="46990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B9C4A6-1CAC-E9FB-EF9F-DDC1A6F2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145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Agenda</a:t>
            </a:r>
            <a:endParaRPr dirty="0"/>
          </a:p>
        </p:txBody>
      </p:sp>
      <p:sp>
        <p:nvSpPr>
          <p:cNvPr id="43" name="Google Shape;43;p5"/>
          <p:cNvSpPr txBox="1">
            <a:spLocks noGrp="1"/>
          </p:cNvSpPr>
          <p:nvPr>
            <p:ph type="dt" idx="10"/>
          </p:nvPr>
        </p:nvSpPr>
        <p:spPr>
          <a:xfrm>
            <a:off x="838200" y="654209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B4DF9867-2FD8-664C-A3A3-177428B06C07}" type="datetime1">
              <a:rPr lang="en-US" smtClean="0"/>
              <a:t>12/20/2025</a:t>
            </a:fld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ftr" idx="11"/>
          </p:nvPr>
        </p:nvSpPr>
        <p:spPr>
          <a:xfrm>
            <a:off x="4038600" y="654209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AA 174A | Lecture 14</a:t>
            </a:r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body" idx="1"/>
          </p:nvPr>
        </p:nvSpPr>
        <p:spPr>
          <a:xfrm>
            <a:off x="838200" y="1690688"/>
            <a:ext cx="10829081" cy="3876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indent="-457200">
              <a:spcBef>
                <a:spcPts val="0"/>
              </a:spcBef>
              <a:buSzPts val="2800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Agenda</a:t>
            </a:r>
            <a:endParaRPr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Basic concepts about Bayesian filtering </a:t>
            </a: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endParaRPr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indent="-457200">
              <a:buSzPts val="2800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Readings: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lvl="1"/>
            <a:r>
              <a:rPr lang="en-US" dirty="0"/>
              <a:t>Chapter 13, sections 13.1 – 13.3 in D. </a:t>
            </a:r>
            <a:r>
              <a:rPr lang="en-US" dirty="0" err="1"/>
              <a:t>Gammelli</a:t>
            </a:r>
            <a:r>
              <a:rPr lang="en-US" dirty="0"/>
              <a:t>, J. Lorenzetti, K. Luo, G. </a:t>
            </a:r>
            <a:r>
              <a:rPr lang="en-US" dirty="0" err="1"/>
              <a:t>Zardini</a:t>
            </a:r>
            <a:r>
              <a:rPr lang="en-US" dirty="0"/>
              <a:t>, M. Pavone. </a:t>
            </a:r>
            <a:r>
              <a:rPr lang="en-US" i="1" dirty="0"/>
              <a:t>Principles of Robot Autonomy</a:t>
            </a:r>
            <a:r>
              <a:rPr lang="en-US" dirty="0"/>
              <a:t>. 2026.</a:t>
            </a: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AE1750-70DE-C777-A528-792E68E52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48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Map-based localization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Key idea</a:t>
            </a:r>
            <a:r>
              <a:rPr lang="en-US" dirty="0"/>
              <a:t>: robot </a:t>
            </a:r>
            <a:r>
              <a:rPr lang="en-US" i="1" dirty="0"/>
              <a:t>explicitly</a:t>
            </a:r>
            <a:r>
              <a:rPr lang="en-US" dirty="0"/>
              <a:t> attempts to localize by collecting sensor data, then updating belief about its position with respect to a map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r>
              <a:rPr lang="en-US" dirty="0"/>
              <a:t>Two main aspects:</a:t>
            </a:r>
          </a:p>
          <a:p>
            <a:pPr lvl="1"/>
            <a:r>
              <a:rPr lang="en-US" i="1" dirty="0"/>
              <a:t>Map representation</a:t>
            </a:r>
            <a:r>
              <a:rPr lang="en-US" dirty="0"/>
              <a:t>: how to represent the environment?</a:t>
            </a:r>
          </a:p>
          <a:p>
            <a:pPr lvl="1"/>
            <a:r>
              <a:rPr lang="en-US" i="1" dirty="0"/>
              <a:t>Belief representation</a:t>
            </a:r>
            <a:r>
              <a:rPr lang="en-US" dirty="0"/>
              <a:t>: how to model the belief regarding the position within the map? </a:t>
            </a:r>
          </a:p>
          <a:p>
            <a:pPr lvl="1"/>
            <a:endParaRPr lang="en-US" i="1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0C2155-D841-6742-9C0A-D49806522179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83BC7C-EBE1-C099-292F-7FD78D11B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0478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Probabilistic</a:t>
            </a:r>
            <a:r>
              <a:rPr lang="en-US" dirty="0"/>
              <a:t> map-based localization 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13A27-153F-A445-B35D-0A492F86182C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sp>
        <p:nvSpPr>
          <p:cNvPr id="10" name="Content Placeholder 2"/>
          <p:cNvSpPr txBox="1">
            <a:spLocks/>
          </p:cNvSpPr>
          <p:nvPr/>
        </p:nvSpPr>
        <p:spPr>
          <a:xfrm>
            <a:off x="838200" y="1825624"/>
            <a:ext cx="5219700" cy="47164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C00000"/>
                </a:solidFill>
              </a:rPr>
              <a:t>Key idea</a:t>
            </a:r>
            <a:r>
              <a:rPr lang="en-US" dirty="0"/>
              <a:t>: represent belief as a probability distribution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Encodes sense of position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Maintains notion of robot’s uncertainty</a:t>
            </a:r>
          </a:p>
          <a:p>
            <a:r>
              <a:rPr lang="en-US" dirty="0"/>
              <a:t>Belief representation: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Single-hypothesis vs. multiple hypothesis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Continuous vs. discretized</a:t>
            </a:r>
          </a:p>
          <a:p>
            <a:r>
              <a:rPr lang="en-US" dirty="0"/>
              <a:t>Today we will overview basic concepts in </a:t>
            </a:r>
            <a:r>
              <a:rPr lang="en-US" dirty="0">
                <a:solidFill>
                  <a:srgbClr val="C00000"/>
                </a:solidFill>
              </a:rPr>
              <a:t>Bayesian filtering</a:t>
            </a:r>
          </a:p>
        </p:txBody>
      </p:sp>
      <p:pic>
        <p:nvPicPr>
          <p:cNvPr id="14" name="Content Placeholder 1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6167" y="1600200"/>
            <a:ext cx="5183999" cy="4576763"/>
          </a:xfrm>
        </p:spPr>
      </p:pic>
      <p:sp>
        <p:nvSpPr>
          <p:cNvPr id="15" name="Rectangle 14"/>
          <p:cNvSpPr/>
          <p:nvPr/>
        </p:nvSpPr>
        <p:spPr>
          <a:xfrm>
            <a:off x="9093200" y="2055815"/>
            <a:ext cx="1828800" cy="6492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9067800" y="4940300"/>
            <a:ext cx="2732366" cy="444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A5241C-1C2C-C088-B094-E31CF48C7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6127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concepts in probability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7"/>
            <a:ext cx="10515600" cy="465710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Key idea</a:t>
            </a:r>
            <a:r>
              <a:rPr lang="en-US" dirty="0"/>
              <a:t>: quantities such as sensor measurements, states of a robot, and its environment are modeled as </a:t>
            </a:r>
            <a:r>
              <a:rPr lang="en-US" dirty="0">
                <a:solidFill>
                  <a:srgbClr val="C00000"/>
                </a:solidFill>
              </a:rPr>
              <a:t>random variables (RVs)</a:t>
            </a:r>
          </a:p>
          <a:p>
            <a:r>
              <a:rPr lang="en-US" dirty="0">
                <a:solidFill>
                  <a:srgbClr val="C00000"/>
                </a:solidFill>
              </a:rPr>
              <a:t>Discrete RV</a:t>
            </a:r>
            <a:r>
              <a:rPr lang="en-US" dirty="0"/>
              <a:t>: the space of all the values that a random variable </a:t>
            </a:r>
            <a:r>
              <a:rPr lang="en-US" i="1" dirty="0"/>
              <a:t>X </a:t>
            </a:r>
            <a:r>
              <a:rPr lang="en-US" dirty="0"/>
              <a:t>can take on is </a:t>
            </a:r>
            <a:r>
              <a:rPr lang="en-US" i="1" dirty="0"/>
              <a:t>discrete</a:t>
            </a:r>
            <a:r>
              <a:rPr lang="en-US" dirty="0"/>
              <a:t>; characterized by probability mass function (</a:t>
            </a:r>
            <a:r>
              <a:rPr lang="en-US" dirty="0" err="1"/>
              <a:t>pmf</a:t>
            </a:r>
            <a:r>
              <a:rPr lang="en-US" dirty="0"/>
              <a:t>)</a:t>
            </a:r>
          </a:p>
          <a:p>
            <a:endParaRPr lang="en-US" i="1" dirty="0"/>
          </a:p>
          <a:p>
            <a:endParaRPr lang="en-US" sz="18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C00000"/>
                </a:solidFill>
              </a:rPr>
              <a:t>Continuous RV</a:t>
            </a:r>
            <a:r>
              <a:rPr lang="en-US" dirty="0"/>
              <a:t>: the space of all the values that a random variable </a:t>
            </a:r>
            <a:r>
              <a:rPr lang="en-US" i="1" dirty="0"/>
              <a:t>X </a:t>
            </a:r>
            <a:r>
              <a:rPr lang="en-US" dirty="0"/>
              <a:t>can take on is </a:t>
            </a:r>
            <a:r>
              <a:rPr lang="en-US" i="1" dirty="0"/>
              <a:t>continuous; </a:t>
            </a:r>
            <a:r>
              <a:rPr lang="en-US" dirty="0"/>
              <a:t>characterized by probability density function (pdf)</a:t>
            </a:r>
            <a:endParaRPr lang="en-US" i="1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80900-9020-6A40-A361-0B48D03D7DB1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141" y="3565940"/>
            <a:ext cx="6849717" cy="777918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1249" y="5668596"/>
            <a:ext cx="7429499" cy="87349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79443" y="4041914"/>
            <a:ext cx="1768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Random variable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28147" y="4041914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Specific value</a:t>
            </a:r>
          </a:p>
        </p:txBody>
      </p:sp>
      <p:cxnSp>
        <p:nvCxnSpPr>
          <p:cNvPr id="22" name="Straight Arrow Connector 21"/>
          <p:cNvCxnSpPr>
            <a:stCxn id="19" idx="3"/>
          </p:cNvCxnSpPr>
          <p:nvPr/>
        </p:nvCxnSpPr>
        <p:spPr>
          <a:xfrm flipV="1">
            <a:off x="2947876" y="3954899"/>
            <a:ext cx="189349" cy="27168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20" idx="1"/>
          </p:cNvCxnSpPr>
          <p:nvPr/>
        </p:nvCxnSpPr>
        <p:spPr>
          <a:xfrm flipH="1" flipV="1">
            <a:off x="3938798" y="3954899"/>
            <a:ext cx="189349" cy="27168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8BCD824-2968-DFBA-8F9E-068A839A4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42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distribution, independence, and conditioning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Joint distribution of two random variables </a:t>
                </a:r>
                <a:r>
                  <a:rPr lang="en-US" i="1" dirty="0"/>
                  <a:t>X</a:t>
                </a:r>
                <a:r>
                  <a:rPr lang="en-US" dirty="0"/>
                  <a:t> and </a:t>
                </a:r>
                <a:r>
                  <a:rPr lang="en-US" i="1" dirty="0"/>
                  <a:t>Y</a:t>
                </a:r>
                <a:r>
                  <a:rPr lang="en-US" dirty="0"/>
                  <a:t> is denoted as</a:t>
                </a:r>
              </a:p>
              <a:p>
                <a:endParaRPr lang="en-US" dirty="0"/>
              </a:p>
              <a:p>
                <a:endParaRPr lang="en-US" sz="400" dirty="0"/>
              </a:p>
              <a:p>
                <a:r>
                  <a:rPr lang="en-US" dirty="0"/>
                  <a:t>If </a:t>
                </a:r>
                <a:r>
                  <a:rPr lang="en-US" i="1" dirty="0"/>
                  <a:t>X</a:t>
                </a:r>
                <a:r>
                  <a:rPr lang="en-US" dirty="0"/>
                  <a:t> and </a:t>
                </a:r>
                <a:r>
                  <a:rPr lang="en-US" i="1" dirty="0"/>
                  <a:t>Y</a:t>
                </a:r>
                <a:r>
                  <a:rPr lang="en-US" dirty="0"/>
                  <a:t> are independent </a:t>
                </a:r>
              </a:p>
              <a:p>
                <a:endParaRPr lang="en-US" dirty="0"/>
              </a:p>
              <a:p>
                <a:endParaRPr lang="en-US" sz="400" dirty="0"/>
              </a:p>
              <a:p>
                <a:r>
                  <a:rPr lang="en-US" dirty="0"/>
                  <a:t>Suppose we know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𝑌</m:t>
                    </m:r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r>
                      <a:rPr lang="en-US" b="0" i="1" smtClean="0">
                        <a:latin typeface="Cambria Math" charset="0"/>
                      </a:rPr>
                      <m:t>𝑦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(with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&gt;0</m:t>
                    </m:r>
                  </m:oMath>
                </a14:m>
                <a:r>
                  <a:rPr lang="en-US" dirty="0"/>
                  <a:t>); conditioned on this fact, the probability that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𝑋</m:t>
                    </m:r>
                  </m:oMath>
                </a14:m>
                <a:r>
                  <a:rPr lang="en-US" dirty="0"/>
                  <a:t>’s value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</m:oMath>
                </a14:m>
                <a:r>
                  <a:rPr lang="en-US" dirty="0"/>
                  <a:t> is given by</a:t>
                </a:r>
                <a:endParaRPr lang="en-US" i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EF3E3-4BF1-6948-9232-5B12892B0440}" type="datetime1">
              <a:rPr lang="en-US" smtClean="0"/>
              <a:t>12/20/2025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2467" y="2392183"/>
            <a:ext cx="5287065" cy="40585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6747" y="3591822"/>
            <a:ext cx="3194068" cy="4235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81156" y="6178019"/>
            <a:ext cx="2330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Conditional probability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 flipV="1">
            <a:off x="4780468" y="5905282"/>
            <a:ext cx="189349" cy="27168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3415" y="5114044"/>
            <a:ext cx="3040731" cy="9578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739532" y="5303167"/>
            <a:ext cx="3243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if </a:t>
            </a:r>
            <a:r>
              <a:rPr lang="en-US" i="1" dirty="0"/>
              <a:t>X </a:t>
            </a:r>
            <a:r>
              <a:rPr lang="en-US" dirty="0"/>
              <a:t>and</a:t>
            </a:r>
            <a:r>
              <a:rPr lang="en-US" i="1" dirty="0"/>
              <a:t> Y </a:t>
            </a:r>
            <a:r>
              <a:rPr lang="en-US"/>
              <a:t>are independent</a:t>
            </a:r>
            <a:endParaRPr lang="en-US" i="1" dirty="0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6265" y="5759340"/>
            <a:ext cx="1908492" cy="293005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B629B0-A642-928B-FB1C-3800A0484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282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Law of total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 discrete RVs: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For continuous RVs: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sz="400" dirty="0"/>
              </a:p>
              <a:p>
                <a:r>
                  <a:rPr lang="en-US" dirty="0"/>
                  <a:t>Note: 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r>
                      <a:rPr lang="en-US" i="1">
                        <a:latin typeface="Cambria Math" charset="0"/>
                      </a:rPr>
                      <m:t>0</m:t>
                    </m:r>
                  </m:oMath>
                </a14:m>
                <a:r>
                  <a:rPr lang="en-US" dirty="0"/>
                  <a:t>, define the product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 | </m:t>
                        </m:r>
                        <m:r>
                          <a:rPr lang="en-US" i="1">
                            <a:latin typeface="Cambria Math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r>
                      <a:rPr lang="en-US" i="1">
                        <a:latin typeface="Cambria Math" charset="0"/>
                      </a:rPr>
                      <m:t>0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C76DB-C198-704A-9F11-292411ED3F2E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1050" y="2428571"/>
            <a:ext cx="5549900" cy="81734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0683" y="3961538"/>
            <a:ext cx="6110633" cy="821598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1B537B-4A6C-2D09-F10F-2CCCF3547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327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Bayes’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51452" y="1825625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Key relation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  <m:r>
                          <a:rPr lang="en-US" i="1">
                            <a:latin typeface="Cambria Math" charset="0"/>
                          </a:rPr>
                          <m:t> | </m:t>
                        </m:r>
                        <m:r>
                          <a:rPr lang="en-US" i="1">
                            <a:latin typeface="Cambria Math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/>
                  <a:t> and its “inverse,”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charset="0"/>
                          </a:rPr>
                          <m:t>𝑦</m:t>
                        </m:r>
                        <m:r>
                          <a:rPr lang="en-US" i="1">
                            <a:latin typeface="Cambria Math" charset="0"/>
                          </a:rPr>
                          <m:t> | 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For discrete RVs: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sz="400" dirty="0"/>
              </a:p>
              <a:p>
                <a:r>
                  <a:rPr lang="en-US" dirty="0"/>
                  <a:t>For continuous RVs: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1452" y="1825625"/>
                <a:ext cx="10515600" cy="4351338"/>
              </a:xfrm>
              <a:blipFill rotWithShape="0"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C5060-BB6C-AA4B-8A0A-5BFB4ABCB723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7183" y="2925961"/>
            <a:ext cx="6922052" cy="91661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7183" y="4800369"/>
            <a:ext cx="6904935" cy="906917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E58396-46B5-2B3C-62D1-24D907AC3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97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Bayes’ rule and probabilistic inference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430D1-EB8C-1345-8D4C-B5B7FCB07C1C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650" y="3798042"/>
            <a:ext cx="5600700" cy="1117600"/>
          </a:xfrm>
          <a:prstGeom prst="rect">
            <a:avLst/>
          </a:prstGeom>
        </p:spPr>
      </p:pic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851452" y="1635124"/>
            <a:ext cx="10515600" cy="4906965"/>
          </a:xfrm>
        </p:spPr>
        <p:txBody>
          <a:bodyPr/>
          <a:lstStyle/>
          <a:p>
            <a:r>
              <a:rPr lang="en-US" dirty="0"/>
              <a:t>Assume </a:t>
            </a:r>
            <a:r>
              <a:rPr lang="en-US" i="1" dirty="0"/>
              <a:t>x </a:t>
            </a:r>
            <a:r>
              <a:rPr lang="en-US" dirty="0"/>
              <a:t>is a quantity we would like to infer from </a:t>
            </a:r>
            <a:r>
              <a:rPr lang="en-US" i="1" dirty="0"/>
              <a:t>y</a:t>
            </a:r>
            <a:r>
              <a:rPr lang="en-US" dirty="0"/>
              <a:t> </a:t>
            </a:r>
          </a:p>
          <a:p>
            <a:r>
              <a:rPr lang="en-US" dirty="0"/>
              <a:t>Bayes rule allows us to do so through the inverse probability, which specifies the probability of data </a:t>
            </a:r>
            <a:r>
              <a:rPr lang="en-US" i="1" dirty="0"/>
              <a:t>y </a:t>
            </a:r>
            <a:r>
              <a:rPr lang="en-US" dirty="0"/>
              <a:t>assuming that </a:t>
            </a:r>
            <a:r>
              <a:rPr lang="en-US" i="1" dirty="0"/>
              <a:t>x </a:t>
            </a:r>
            <a:r>
              <a:rPr lang="en-US" dirty="0"/>
              <a:t>was the cause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sz="1000" dirty="0"/>
          </a:p>
          <a:p>
            <a:r>
              <a:rPr lang="en-US" dirty="0"/>
              <a:t>Notational simplification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3400" y="3185997"/>
            <a:ext cx="2900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Prior </a:t>
            </a:r>
            <a:r>
              <a:rPr lang="en-US"/>
              <a:t>probability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7326" y="472887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1452" y="3200957"/>
            <a:ext cx="3294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Posterior probability distribution</a:t>
            </a:r>
          </a:p>
        </p:txBody>
      </p:sp>
      <p:cxnSp>
        <p:nvCxnSpPr>
          <p:cNvPr id="15" name="Straight Arrow Connector 14"/>
          <p:cNvCxnSpPr/>
          <p:nvPr/>
        </p:nvCxnSpPr>
        <p:spPr>
          <a:xfrm>
            <a:off x="2844800" y="3663490"/>
            <a:ext cx="450850" cy="48941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 flipH="1" flipV="1">
            <a:off x="4413452" y="4589174"/>
            <a:ext cx="145848" cy="13970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flipH="1">
            <a:off x="8175551" y="3503976"/>
            <a:ext cx="435049" cy="25596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/>
              <p:cNvSpPr txBox="1"/>
              <p:nvPr/>
            </p:nvSpPr>
            <p:spPr>
              <a:xfrm>
                <a:off x="9603540" y="4481749"/>
                <a:ext cx="218457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Normalizer, does not </a:t>
                </a:r>
              </a:p>
              <a:p>
                <a:r>
                  <a:rPr lang="en-US" dirty="0"/>
                  <a:t>depend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≔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charset="0"/>
                          </a:rPr>
                          <m:t>𝜂</m:t>
                        </m:r>
                      </m:e>
                      <m:sup>
                        <m:r>
                          <a:rPr lang="en-US" b="0" i="1" smtClean="0">
                            <a:latin typeface="Cambria Math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3540" y="4481749"/>
                <a:ext cx="2184572" cy="646331"/>
              </a:xfrm>
              <a:prstGeom prst="rect">
                <a:avLst/>
              </a:prstGeom>
              <a:blipFill rotWithShape="0">
                <a:blip r:embed="rId4"/>
                <a:stretch>
                  <a:fillRect l="-2228" t="-4717" r="-1393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/>
          <p:cNvCxnSpPr>
            <a:stCxn id="33" idx="1"/>
          </p:cNvCxnSpPr>
          <p:nvPr/>
        </p:nvCxnSpPr>
        <p:spPr>
          <a:xfrm flipH="1" flipV="1">
            <a:off x="8877300" y="4693527"/>
            <a:ext cx="726240" cy="11138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Pictur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4576" y="5936256"/>
            <a:ext cx="4109352" cy="43194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4C0451-2094-3E0C-5DC0-0B2208A0F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225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Bayes’ rule and 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73225"/>
            <a:ext cx="10515600" cy="4351338"/>
          </a:xfrm>
        </p:spPr>
        <p:txBody>
          <a:bodyPr/>
          <a:lstStyle/>
          <a:p>
            <a:r>
              <a:rPr lang="en-US" dirty="0"/>
              <a:t>Extension of Bayes rule: conditioning Bayes rule on </a:t>
            </a:r>
            <a:r>
              <a:rPr lang="en-US" i="1" dirty="0"/>
              <a:t>Z=z</a:t>
            </a:r>
            <a:r>
              <a:rPr lang="en-US" dirty="0"/>
              <a:t> gives</a:t>
            </a:r>
          </a:p>
          <a:p>
            <a:endParaRPr lang="en-US" dirty="0"/>
          </a:p>
          <a:p>
            <a:endParaRPr lang="en-US" sz="400" dirty="0"/>
          </a:p>
          <a:p>
            <a:endParaRPr lang="en-US" sz="400" dirty="0"/>
          </a:p>
          <a:p>
            <a:r>
              <a:rPr lang="en-US" dirty="0"/>
              <a:t>Extension of independence: </a:t>
            </a:r>
            <a:r>
              <a:rPr lang="en-US" i="1" dirty="0"/>
              <a:t>conditional independence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in general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8E9B1D-3171-6249-B3C2-14B945FA743B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2261529"/>
            <a:ext cx="4102100" cy="79455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0306" y="3626922"/>
            <a:ext cx="9391387" cy="98051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3344" y="5250412"/>
            <a:ext cx="7997693" cy="38084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3344" y="6058322"/>
            <a:ext cx="8001130" cy="381006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04353AE-A6F9-C8E4-2F57-45A0CAFAF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922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Expectation of a RV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99846"/>
            <a:ext cx="10515600" cy="4942244"/>
          </a:xfrm>
        </p:spPr>
        <p:txBody>
          <a:bodyPr>
            <a:normAutofit/>
          </a:bodyPr>
          <a:lstStyle/>
          <a:p>
            <a:r>
              <a:rPr lang="en-US" dirty="0"/>
              <a:t>Expectation for discrete RVs:</a:t>
            </a:r>
          </a:p>
          <a:p>
            <a:endParaRPr lang="en-US" sz="1800" dirty="0"/>
          </a:p>
          <a:p>
            <a:r>
              <a:rPr lang="en-US" dirty="0"/>
              <a:t>Expectation for continuous RVs:</a:t>
            </a:r>
          </a:p>
          <a:p>
            <a:endParaRPr lang="en-US" sz="1800" dirty="0"/>
          </a:p>
          <a:p>
            <a:r>
              <a:rPr lang="en-US" dirty="0"/>
              <a:t>Expectation is a linear operator:</a:t>
            </a:r>
          </a:p>
          <a:p>
            <a:endParaRPr lang="en-US" sz="1800" dirty="0"/>
          </a:p>
          <a:p>
            <a:r>
              <a:rPr lang="en-US" dirty="0"/>
              <a:t>Expectation of a vector of RVs is simply  the vector of expectations  </a:t>
            </a:r>
          </a:p>
          <a:p>
            <a:endParaRPr lang="en-US" sz="1800" dirty="0"/>
          </a:p>
          <a:p>
            <a:r>
              <a:rPr lang="en-US" dirty="0"/>
              <a:t>Covariance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9E3890-3964-C94C-A1BA-9D8E98381B8A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0" y="1617073"/>
            <a:ext cx="2628900" cy="72037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361497"/>
            <a:ext cx="2844800" cy="7413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445248"/>
            <a:ext cx="3625850" cy="361608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425" y="5806499"/>
            <a:ext cx="9963150" cy="393156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57B5CCC-65B3-8E79-77FE-A82D1BDFC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0134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for robot-environment interaction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685924"/>
                <a:ext cx="10908323" cy="495617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Two fundamental types of robot-environment interactions: the robot can influence </a:t>
                </a:r>
                <a:r>
                  <a:rPr lang="en-US" dirty="0">
                    <a:solidFill>
                      <a:srgbClr val="C00000"/>
                    </a:solidFill>
                  </a:rPr>
                  <a:t>the state </a:t>
                </a:r>
                <a:r>
                  <a:rPr lang="en-US" dirty="0"/>
                  <a:t>of its environment through </a:t>
                </a:r>
                <a:r>
                  <a:rPr lang="en-US" dirty="0">
                    <a:solidFill>
                      <a:srgbClr val="C00000"/>
                    </a:solidFill>
                  </a:rPr>
                  <a:t>control actions, </a:t>
                </a:r>
                <a:r>
                  <a:rPr lang="en-US" dirty="0"/>
                  <a:t>and gather information about the </a:t>
                </a:r>
                <a:r>
                  <a:rPr lang="en-US" dirty="0">
                    <a:solidFill>
                      <a:srgbClr val="C00000"/>
                    </a:solidFill>
                  </a:rPr>
                  <a:t>state </a:t>
                </a:r>
                <a:r>
                  <a:rPr lang="en-US" dirty="0"/>
                  <a:t>through</a:t>
                </a:r>
                <a:r>
                  <a:rPr lang="en-US" dirty="0">
                    <a:solidFill>
                      <a:srgbClr val="C00000"/>
                    </a:solidFill>
                  </a:rPr>
                  <a:t> measurements</a:t>
                </a: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: collection at time </a:t>
                </a:r>
                <a:r>
                  <a:rPr lang="en-US" i="1" dirty="0"/>
                  <a:t>t </a:t>
                </a:r>
                <a:r>
                  <a:rPr lang="en-US" dirty="0"/>
                  <a:t>of all aspects of the robot and its environment that can impact the future</a:t>
                </a:r>
              </a:p>
              <a:p>
                <a:pPr lvl="1"/>
                <a:r>
                  <a:rPr lang="en-US" dirty="0"/>
                  <a:t>Robot pose (e.g., robot location and orientation)</a:t>
                </a:r>
              </a:p>
              <a:p>
                <a:pPr lvl="1"/>
                <a:r>
                  <a:rPr lang="en-US" dirty="0"/>
                  <a:t>Robot velocity </a:t>
                </a:r>
              </a:p>
              <a:p>
                <a:pPr lvl="1"/>
                <a:r>
                  <a:rPr lang="en-US" dirty="0"/>
                  <a:t>Locations and features of surrounding objects in the environment, etc. </a:t>
                </a:r>
              </a:p>
              <a:p>
                <a:r>
                  <a:rPr lang="en-US" dirty="0"/>
                  <a:t>Useful notation: </a:t>
                </a:r>
                <a:endParaRPr lang="is-IS" dirty="0"/>
              </a:p>
              <a:p>
                <a:r>
                  <a:rPr lang="is-IS" dirty="0"/>
                  <a:t>A state</a:t>
                </a:r>
                <a:r>
                  <a:rPr lang="is-I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called </a:t>
                </a:r>
                <a:r>
                  <a:rPr lang="en-US" i="1" dirty="0"/>
                  <a:t>complete</a:t>
                </a:r>
                <a:r>
                  <a:rPr lang="en-US" dirty="0"/>
                  <a:t> if no variables prior to</a:t>
                </a:r>
                <a:r>
                  <a:rPr lang="is-I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can influence the evolution of future states </a:t>
                </a:r>
                <a:r>
                  <a:rPr lang="en-US" dirty="0">
                    <a:sym typeface="Wingdings" pitchFamily="2" charset="2"/>
                  </a:rPr>
                  <a:t>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rgbClr val="C00000"/>
                    </a:solidFill>
                  </a:rPr>
                  <a:t>Markov property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685924"/>
                <a:ext cx="10908323" cy="4956176"/>
              </a:xfrm>
              <a:blipFill>
                <a:blip r:embed="rId3"/>
                <a:stretch>
                  <a:fillRect l="-930" t="-2041" r="-15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B2A08-7B6F-0F4A-8FE0-2E0B24865C7C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8700" y="5179440"/>
            <a:ext cx="5219700" cy="258401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21E196B-F347-A065-CF1C-594F319A1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1106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Measurement and control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97866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Measurement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: information about state of the environment at time </a:t>
                </a:r>
                <a:r>
                  <a:rPr lang="en-US" i="1" dirty="0"/>
                  <a:t>t</a:t>
                </a:r>
                <a:r>
                  <a:rPr lang="en-US" dirty="0"/>
                  <a:t>; useful notation </a:t>
                </a:r>
              </a:p>
              <a:p>
                <a:endParaRPr lang="en-US" dirty="0"/>
              </a:p>
              <a:p>
                <a:endParaRPr lang="en-US" sz="1000" dirty="0">
                  <a:solidFill>
                    <a:srgbClr val="C00000"/>
                  </a:solidFill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Control data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charset="0"/>
                          </a:rPr>
                          <m:t>𝑢</m:t>
                        </m:r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: information about the change of state at time </a:t>
                </a:r>
                <a:r>
                  <a:rPr lang="en-US" i="1" dirty="0"/>
                  <a:t>t</a:t>
                </a:r>
                <a:r>
                  <a:rPr lang="en-US" dirty="0"/>
                  <a:t>; useful notation </a:t>
                </a:r>
              </a:p>
              <a:p>
                <a:endParaRPr lang="en-US" dirty="0"/>
              </a:p>
              <a:p>
                <a:endParaRPr lang="en-US" sz="10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978662" cy="4351338"/>
              </a:xfrm>
              <a:blipFill>
                <a:blip r:embed="rId3"/>
                <a:stretch>
                  <a:fillRect l="-1040" t="-2326" r="-6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50ED1-2F95-D34A-8AD9-FB3130ECD6E3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9800" y="2863935"/>
            <a:ext cx="5232400" cy="2691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9800" y="4615418"/>
            <a:ext cx="5232400" cy="259030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6D985-EA1C-D31D-8FC8-DB2CF2850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731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General probabilistic generative model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sz="1000" dirty="0"/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Key assumption</a:t>
                </a:r>
                <a:r>
                  <a:rPr lang="en-US" dirty="0"/>
                  <a:t>: state is complete (i.e., the Markov property holds)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In other words, we assume </a:t>
                </a:r>
                <a:r>
                  <a:rPr lang="en-US" i="1" dirty="0"/>
                  <a:t>conditional independence</a:t>
                </a:r>
                <a:r>
                  <a:rPr lang="en-US" dirty="0"/>
                  <a:t>, with respect to conditioning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−1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043" t="-2241" r="-986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F9CF7-E5DB-1549-A78B-653EFFCE34AF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2100" y="2480890"/>
            <a:ext cx="3987800" cy="3893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50646" y="2737736"/>
            <a:ext cx="34989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Convention: first take control </a:t>
            </a:r>
          </a:p>
          <a:p>
            <a:r>
              <a:rPr lang="en-US" dirty="0"/>
              <a:t>action and then take measurement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 flipH="1" flipV="1">
            <a:off x="8153400" y="2921000"/>
            <a:ext cx="368300" cy="13990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6400" y="4241922"/>
            <a:ext cx="6743700" cy="3850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47" y="4626979"/>
            <a:ext cx="2684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State </a:t>
            </a:r>
            <a:r>
              <a:rPr lang="en-US"/>
              <a:t>transition probability</a:t>
            </a:r>
            <a:endParaRPr lang="en-US" dirty="0"/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2209800" y="4487079"/>
            <a:ext cx="546548" cy="13990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AAF54D-DBEE-199F-F8BE-BEE80C9D6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9076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Measurement equation and </a:t>
            </a:r>
            <a:br>
              <a:rPr lang="en-US" dirty="0"/>
            </a:br>
            <a:r>
              <a:rPr lang="en-US" dirty="0"/>
              <a:t>overall stochastic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844377"/>
            <a:ext cx="4508500" cy="2569689"/>
          </a:xfrm>
        </p:spPr>
        <p:txBody>
          <a:bodyPr/>
          <a:lstStyle/>
          <a:p>
            <a:r>
              <a:rPr lang="en-US" dirty="0"/>
              <a:t>Overall dynamic Bayes network model (also referred to as hidden Markov model)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43A83-D3D0-0449-978E-1430428F8DED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25047" y="3022600"/>
            <a:ext cx="2575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Measurement probability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2692400" y="2882700"/>
            <a:ext cx="546548" cy="13990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6575" y="3727102"/>
            <a:ext cx="5073650" cy="277359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/>
              <p:cNvSpPr txBox="1">
                <a:spLocks/>
              </p:cNvSpPr>
              <p:nvPr/>
            </p:nvSpPr>
            <p:spPr>
              <a:xfrm>
                <a:off x="990600" y="2092325"/>
                <a:ext cx="10515600" cy="13377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Assuming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complete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2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2092325"/>
                <a:ext cx="10515600" cy="1337707"/>
              </a:xfrm>
              <a:prstGeom prst="rect">
                <a:avLst/>
              </a:prstGeom>
              <a:blipFill rotWithShape="0">
                <a:blip r:embed="rId5"/>
                <a:stretch>
                  <a:fillRect l="-1043" t="-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8350" y="2637064"/>
            <a:ext cx="5575300" cy="398236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2C4680-DD0D-F91E-C852-D25B276DB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1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Belief distribution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85924"/>
                <a:ext cx="10515600" cy="4879975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Belief distribution</a:t>
                </a:r>
                <a:r>
                  <a:rPr lang="en-US" dirty="0"/>
                  <a:t>: reflects internal knowledge about the state </a:t>
                </a:r>
              </a:p>
              <a:p>
                <a:r>
                  <a:rPr lang="en-US" dirty="0"/>
                  <a:t>A belief distribution assigns a probability to each possible hypothesis with regard to the true state </a:t>
                </a:r>
              </a:p>
              <a:p>
                <a:r>
                  <a:rPr lang="en-US" dirty="0"/>
                  <a:t>Formally, belief distributions are posterior probabilities over state variables conditioned on the available data </a:t>
                </a:r>
              </a:p>
              <a:p>
                <a:endParaRPr lang="en-US" dirty="0"/>
              </a:p>
              <a:p>
                <a:r>
                  <a:rPr lang="en-US" dirty="0"/>
                  <a:t>Similarly, the </a:t>
                </a:r>
                <a:r>
                  <a:rPr lang="en-US" i="1" dirty="0"/>
                  <a:t>prediction</a:t>
                </a:r>
                <a:r>
                  <a:rPr lang="en-US" dirty="0"/>
                  <a:t> distribution is defined as </a:t>
                </a:r>
              </a:p>
              <a:p>
                <a:endParaRPr lang="en-US" dirty="0"/>
              </a:p>
              <a:p>
                <a:r>
                  <a:rPr lang="en-US" dirty="0"/>
                  <a:t>Calculating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𝑏𝑒𝑙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charset="0"/>
                          </a:rPr>
                          <m:t>𝑏𝑒𝑙</m:t>
                        </m:r>
                      </m:e>
                    </m:acc>
                    <m:r>
                      <a:rPr lang="en-US" b="0" i="1" smtClean="0">
                        <a:latin typeface="Cambria Math" charset="0"/>
                      </a:rPr>
                      <m:t> 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dirty="0"/>
                  <a:t> is called correction or measurement update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85924"/>
                <a:ext cx="10515600" cy="4879975"/>
              </a:xfrm>
              <a:blipFill>
                <a:blip r:embed="rId3"/>
                <a:stretch>
                  <a:fillRect l="-965" t="-2078" r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3CF84-32EC-FC4C-A244-DE809E5FCBC4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6900" y="4033257"/>
            <a:ext cx="3898900" cy="37180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5046929"/>
            <a:ext cx="4400550" cy="412230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67F535-B441-4E45-D652-BADF469D2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0261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Bayes filter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00293"/>
          </a:xfrm>
        </p:spPr>
        <p:txBody>
          <a:bodyPr>
            <a:normAutofit fontScale="92500"/>
          </a:bodyPr>
          <a:lstStyle/>
          <a:p>
            <a:r>
              <a:rPr lang="en-US" dirty="0">
                <a:solidFill>
                  <a:srgbClr val="C00000"/>
                </a:solidFill>
              </a:rPr>
              <a:t>Bayes’ filter algorithm</a:t>
            </a:r>
            <a:r>
              <a:rPr lang="en-US" dirty="0"/>
              <a:t>: most general algorithm for calculating beliefs</a:t>
            </a:r>
          </a:p>
          <a:p>
            <a:r>
              <a:rPr lang="en-US" dirty="0">
                <a:solidFill>
                  <a:srgbClr val="C00000"/>
                </a:solidFill>
              </a:rPr>
              <a:t>Key assumption</a:t>
            </a:r>
            <a:r>
              <a:rPr lang="en-US" dirty="0"/>
              <a:t>: state is complete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D0231-77CA-CF47-B060-A50E367A7F50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4400" y="3485536"/>
            <a:ext cx="5963648" cy="259693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/>
              <p:cNvSpPr txBox="1">
                <a:spLocks/>
              </p:cNvSpPr>
              <p:nvPr/>
            </p:nvSpPr>
            <p:spPr>
              <a:xfrm>
                <a:off x="254000" y="3300754"/>
                <a:ext cx="5295452" cy="310004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Recursive algorithm</a:t>
                </a:r>
              </a:p>
              <a:p>
                <a:pPr lvl="1"/>
                <a:r>
                  <a:rPr lang="en-US" dirty="0"/>
                  <a:t>Step 1 (prediction):              compute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charset="0"/>
                          </a:rPr>
                          <m:t>𝑏𝑒𝑙</m:t>
                        </m:r>
                      </m:e>
                    </m:acc>
                    <m:r>
                      <a:rPr lang="en-US" i="1">
                        <a:latin typeface="Cambria Math" charset="0"/>
                      </a:rPr>
                      <m:t> 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Step 2 (measurement update): compute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𝑏𝑒𝑙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Algorithm initialized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charset="0"/>
                      </a:rPr>
                      <m:t>𝑏𝑒𝑙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(e.g., uniform or points mass) </a:t>
                </a:r>
              </a:p>
            </p:txBody>
          </p:sp>
        </mc:Choice>
        <mc:Fallback xmlns="">
          <p:sp>
            <p:nvSpPr>
              <p:cNvPr id="9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" y="3300754"/>
                <a:ext cx="5295452" cy="3100045"/>
              </a:xfrm>
              <a:prstGeom prst="rect">
                <a:avLst/>
              </a:prstGeom>
              <a:blipFill rotWithShape="0">
                <a:blip r:embed="rId4"/>
                <a:stretch>
                  <a:fillRect l="-2074" t="-3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9982228" y="2935858"/>
            <a:ext cx="1297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 rule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10096500" y="3300755"/>
            <a:ext cx="636779" cy="36956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9D17F4-7364-C336-BB1F-17AD239B8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6104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Derivation: measurement update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43D199-4C8A-2149-A6F8-A787C99AEBCD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9646307" y="3420027"/>
            <a:ext cx="1145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Bayes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307" y="4981058"/>
            <a:ext cx="18187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Markov property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8600" y="2614035"/>
            <a:ext cx="7747000" cy="330371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28CEB2-3520-E068-3644-C460CE1DE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0636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Derivation: correction update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5BF99-D661-EA46-82CB-BC4F5F2D8EC9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100" y="2007788"/>
            <a:ext cx="9318534" cy="41024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982200" y="2689673"/>
            <a:ext cx="11988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Total</a:t>
            </a:r>
          </a:p>
          <a:p>
            <a:r>
              <a:rPr lang="en-US" dirty="0"/>
              <a:t>probability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1360" y="3719047"/>
            <a:ext cx="894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Markov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9021360" y="4431595"/>
                <a:ext cx="3120534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For general output  feedback</a:t>
                </a:r>
              </a:p>
              <a:p>
                <a:r>
                  <a:rPr lang="en-US" dirty="0"/>
                  <a:t>policies,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𝑢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does not provide </a:t>
                </a:r>
              </a:p>
              <a:p>
                <a:r>
                  <a:rPr lang="en-US" dirty="0"/>
                  <a:t>additional information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1360" y="4431595"/>
                <a:ext cx="3120534" cy="923330"/>
              </a:xfrm>
              <a:prstGeom prst="rect">
                <a:avLst/>
              </a:prstGeom>
              <a:blipFill rotWithShape="0">
                <a:blip r:embed="rId4"/>
                <a:stretch>
                  <a:fillRect l="-1758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4C9774-53B2-D50F-01DA-325A97FC9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3237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Discrete Bayes’ filter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32865-A9C7-B14F-8BD5-9AB7AFE64954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90600" y="3233737"/>
                <a:ext cx="3695700" cy="2424110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Belief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charset="0"/>
                      </a:rPr>
                      <m:t>𝑏𝑒𝑙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represented as </a:t>
                </a:r>
                <a:r>
                  <a:rPr lang="en-US" dirty="0" err="1">
                    <a:solidFill>
                      <a:schemeClr val="tx1"/>
                    </a:solidFill>
                  </a:rPr>
                  <a:t>pmf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charset="0"/>
                      </a:rPr>
                      <m:t>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90600" y="3233737"/>
                <a:ext cx="3695700" cy="2424110"/>
              </a:xfrm>
              <a:blipFill rotWithShape="0">
                <a:blip r:embed="rId3"/>
                <a:stretch>
                  <a:fillRect l="-2970" t="-4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ontent Placeholder 2"/>
          <p:cNvSpPr txBox="1">
            <a:spLocks/>
          </p:cNvSpPr>
          <p:nvPr/>
        </p:nvSpPr>
        <p:spPr>
          <a:xfrm>
            <a:off x="990600" y="1978025"/>
            <a:ext cx="10515600" cy="968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rgbClr val="C00000"/>
                </a:solidFill>
              </a:rPr>
              <a:t>Discrete Bayes’ filter algorithm</a:t>
            </a:r>
            <a:r>
              <a:rPr lang="en-US"/>
              <a:t>: applies to problems with </a:t>
            </a:r>
            <a:r>
              <a:rPr lang="en-US" i="1"/>
              <a:t>finite</a:t>
            </a:r>
            <a:r>
              <a:rPr lang="en-US"/>
              <a:t> state spaces</a:t>
            </a:r>
            <a:endParaRPr lang="en-US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1200" y="3009773"/>
            <a:ext cx="6225144" cy="264807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6E250B-F080-EA91-013D-18629857C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0233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time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EC7B1-BE04-EA4B-A5BC-A3EFFF6EECF4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14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57338" y="5786438"/>
            <a:ext cx="2143125" cy="485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3" descr="ekf-linFunc">
            <a:extLst>
              <a:ext uri="{FF2B5EF4-FFF2-40B4-BE49-F238E27FC236}">
                <a16:creationId xmlns:a16="http://schemas.microsoft.com/office/drawing/2014/main" id="{59244186-854A-CD4F-B8E4-692101613F0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3444363" y="1364862"/>
            <a:ext cx="5303273" cy="49073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EC9D71-08B1-0051-1790-3F45AC59B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471771"/>
      </p:ext>
    </p:extLst>
  </p:cSld>
  <p:clrMapOvr>
    <a:masterClrMapping/>
  </p:clrMapOvr>
</p:sld>
</file>

<file path=ppt/theme/theme1.xml><?xml version="1.0" encoding="utf-8"?>
<a:theme xmlns:a="http://schemas.openxmlformats.org/drawingml/2006/main" name="AA274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35267</TotalTime>
  <Words>4785</Words>
  <Application>Microsoft Office PowerPoint</Application>
  <PresentationFormat>Widescreen</PresentationFormat>
  <Paragraphs>452</Paragraphs>
  <Slides>23</Slides>
  <Notes>21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AA274</vt:lpstr>
      <vt:lpstr>Principles of Robot Autonomy I</vt:lpstr>
      <vt:lpstr>Attendance Form</vt:lpstr>
      <vt:lpstr>The see-think-act cycle</vt:lpstr>
      <vt:lpstr>Agenda</vt:lpstr>
      <vt:lpstr>Map-based localization</vt:lpstr>
      <vt:lpstr>Probabilistic map-based localization </vt:lpstr>
      <vt:lpstr>Basic concepts in probability </vt:lpstr>
      <vt:lpstr>Joint distribution, independence, and conditioning</vt:lpstr>
      <vt:lpstr>Law of total probability</vt:lpstr>
      <vt:lpstr>Bayes’ rule</vt:lpstr>
      <vt:lpstr>Bayes’ rule and probabilistic inference</vt:lpstr>
      <vt:lpstr>More on Bayes’ rule and independence</vt:lpstr>
      <vt:lpstr>Expectation of a RV</vt:lpstr>
      <vt:lpstr>Model for robot-environment interaction</vt:lpstr>
      <vt:lpstr>Measurement and control data</vt:lpstr>
      <vt:lpstr>State equation</vt:lpstr>
      <vt:lpstr>Measurement equation and  overall stochastic model</vt:lpstr>
      <vt:lpstr>Belief distribution </vt:lpstr>
      <vt:lpstr>Bayes filter algorithm</vt:lpstr>
      <vt:lpstr>Derivation: measurement update</vt:lpstr>
      <vt:lpstr>Derivation: correction update</vt:lpstr>
      <vt:lpstr>Discrete Bayes’ filter</vt:lpstr>
      <vt:lpstr>Next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 274 Principles of Robotic Autonomy</dc:title>
  <dc:creator>Marco Pavone</dc:creator>
  <cp:lastModifiedBy>Marco Pavone</cp:lastModifiedBy>
  <cp:revision>625</cp:revision>
  <cp:lastPrinted>2018-02-12T21:23:19Z</cp:lastPrinted>
  <dcterms:created xsi:type="dcterms:W3CDTF">2017-01-06T12:29:52Z</dcterms:created>
  <dcterms:modified xsi:type="dcterms:W3CDTF">2025-12-20T20:19:04Z</dcterms:modified>
</cp:coreProperties>
</file>