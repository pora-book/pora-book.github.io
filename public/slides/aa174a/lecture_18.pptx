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bookmarkIdSeed="2">
  <p:sldMasterIdLst>
    <p:sldMasterId id="2147483648" r:id="rId1"/>
  </p:sldMasterIdLst>
  <p:notesMasterIdLst>
    <p:notesMasterId r:id="rId23"/>
  </p:notesMasterIdLst>
  <p:sldIdLst>
    <p:sldId id="256" r:id="rId2"/>
    <p:sldId id="374" r:id="rId3"/>
    <p:sldId id="522" r:id="rId4"/>
    <p:sldId id="478" r:id="rId5"/>
    <p:sldId id="479" r:id="rId6"/>
    <p:sldId id="480" r:id="rId7"/>
    <p:sldId id="481" r:id="rId8"/>
    <p:sldId id="482" r:id="rId9"/>
    <p:sldId id="484" r:id="rId10"/>
    <p:sldId id="485" r:id="rId11"/>
    <p:sldId id="486" r:id="rId12"/>
    <p:sldId id="487" r:id="rId13"/>
    <p:sldId id="488" r:id="rId14"/>
    <p:sldId id="489" r:id="rId15"/>
    <p:sldId id="497" r:id="rId16"/>
    <p:sldId id="490" r:id="rId17"/>
    <p:sldId id="483" r:id="rId18"/>
    <p:sldId id="495" r:id="rId19"/>
    <p:sldId id="518" r:id="rId20"/>
    <p:sldId id="521" r:id="rId21"/>
    <p:sldId id="523"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CC25E8B-7885-9143-B6A6-C663038D90BB}">
          <p14:sldIdLst>
            <p14:sldId id="256"/>
            <p14:sldId id="374"/>
            <p14:sldId id="522"/>
            <p14:sldId id="478"/>
            <p14:sldId id="479"/>
            <p14:sldId id="480"/>
            <p14:sldId id="481"/>
            <p14:sldId id="482"/>
            <p14:sldId id="484"/>
            <p14:sldId id="485"/>
            <p14:sldId id="486"/>
            <p14:sldId id="487"/>
            <p14:sldId id="488"/>
            <p14:sldId id="489"/>
            <p14:sldId id="497"/>
            <p14:sldId id="490"/>
            <p14:sldId id="483"/>
            <p14:sldId id="495"/>
            <p14:sldId id="518"/>
            <p14:sldId id="521"/>
            <p14:sldId id="52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6E81DB5-16DB-FE4E-917E-6AEC737E2C40}" v="3" dt="2025-12-04T16:20:01.4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2247"/>
  </p:normalViewPr>
  <p:slideViewPr>
    <p:cSldViewPr snapToGrid="0">
      <p:cViewPr varScale="1">
        <p:scale>
          <a:sx n="102" d="100"/>
          <a:sy n="102" d="100"/>
        </p:scale>
        <p:origin x="114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BD6F028-2067-3740-AA48-A91E93570B1D}" type="datetimeFigureOut">
              <a:rPr lang="en-US" smtClean="0"/>
              <a:t>12/20/2025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B2D7EC-928D-0645-AAE8-498D7443D60E}" type="slidenum">
              <a:rPr lang="en-US" smtClean="0"/>
              <a:t>‹#›</a:t>
            </a:fld>
            <a:endParaRPr lang="en-US"/>
          </a:p>
        </p:txBody>
      </p:sp>
    </p:spTree>
    <p:extLst>
      <p:ext uri="{BB962C8B-B14F-4D97-AF65-F5344CB8AC3E}">
        <p14:creationId xmlns:p14="http://schemas.microsoft.com/office/powerpoint/2010/main" val="3293729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en.wikipedia.org/wiki/Standard_deviations" TargetMode="External"/><Relationship Id="rId2" Type="http://schemas.openxmlformats.org/officeDocument/2006/relationships/slide" Target="../slides/slide17.xml"/><Relationship Id="rId1" Type="http://schemas.openxmlformats.org/officeDocument/2006/relationships/notesMaster" Target="../notesMasters/notesMaster1.xml"/><Relationship Id="rId5" Type="http://schemas.openxmlformats.org/officeDocument/2006/relationships/hyperlink" Target="https://en.wikipedia.org/wiki/Principal_component" TargetMode="External"/><Relationship Id="rId4" Type="http://schemas.openxmlformats.org/officeDocument/2006/relationships/hyperlink" Target="https://en.wikipedia.org/wiki/Mean" TargetMode="Externa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1</a:t>
            </a:fld>
            <a:endParaRPr lang="en-US"/>
          </a:p>
        </p:txBody>
      </p:sp>
    </p:spTree>
    <p:extLst>
      <p:ext uri="{BB962C8B-B14F-4D97-AF65-F5344CB8AC3E}">
        <p14:creationId xmlns:p14="http://schemas.microsoft.com/office/powerpoint/2010/main" val="17061316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3</a:t>
            </a:fld>
            <a:endParaRPr lang="en-US"/>
          </a:p>
        </p:txBody>
      </p:sp>
    </p:spTree>
    <p:extLst>
      <p:ext uri="{BB962C8B-B14F-4D97-AF65-F5344CB8AC3E}">
        <p14:creationId xmlns:p14="http://schemas.microsoft.com/office/powerpoint/2010/main" val="19672098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SLAM problems arise when the robot does not have access to a map of the environment; nor does it have access to its own poses.</a:t>
            </a:r>
          </a:p>
          <a:p>
            <a:pPr marL="171450" indent="-171450">
              <a:buFont typeface="Arial" charset="0"/>
              <a:buChar char="•"/>
            </a:pPr>
            <a:r>
              <a:rPr lang="en-US"/>
              <a:t>Instead, all it is given are measurements z1:t and controls u1:t.</a:t>
            </a:r>
          </a:p>
          <a:p>
            <a:pPr marL="171450" indent="-171450">
              <a:buFont typeface="Arial" charset="0"/>
              <a:buChar char="•"/>
            </a:pPr>
            <a:r>
              <a:rPr lang="en-US"/>
              <a:t>In SLAM, the robot acquires a map of its environment while simultaneously localizing itself relative to this map</a:t>
            </a:r>
          </a:p>
        </p:txBody>
      </p:sp>
      <p:sp>
        <p:nvSpPr>
          <p:cNvPr id="4" name="Slide Number Placeholder 3"/>
          <p:cNvSpPr>
            <a:spLocks noGrp="1"/>
          </p:cNvSpPr>
          <p:nvPr>
            <p:ph type="sldNum" sz="quarter" idx="10"/>
          </p:nvPr>
        </p:nvSpPr>
        <p:spPr/>
        <p:txBody>
          <a:bodyPr/>
          <a:lstStyle/>
          <a:p>
            <a:fld id="{63B2D7EC-928D-0645-AAE8-498D7443D60E}" type="slidenum">
              <a:rPr lang="en-US" smtClean="0"/>
              <a:t>4</a:t>
            </a:fld>
            <a:endParaRPr lang="en-US"/>
          </a:p>
        </p:txBody>
      </p:sp>
    </p:spTree>
    <p:extLst>
      <p:ext uri="{BB962C8B-B14F-4D97-AF65-F5344CB8AC3E}">
        <p14:creationId xmlns:p14="http://schemas.microsoft.com/office/powerpoint/2010/main" val="6524075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From a probabilistic perspective, there are two main forms of the SLAM problem, which are both of equal practical importance</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One is known as the online SLAM problem: It involves estimating the posterior over the momentary pose along with the map:</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The second SLAM problem is called the full SLAM problem. In full SLAM, we seek to calculate a posterior over the entire path x1:t along with the map, instead of just the current pose </a:t>
            </a:r>
            <a:r>
              <a:rPr lang="en-US" dirty="0" err="1"/>
              <a:t>xt</a:t>
            </a:r>
            <a:r>
              <a:rPr lang="en-US" dirty="0"/>
              <a:t>:</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In both versions of the SLAM problems—online and full—estimating the full posterior is the gold standard of SLAM.</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Problems arise from two sources: (1) the high dimensionality of the continuous parameter space, and (2) the large number of discrete correspondence variables.</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Many state-of-the-art SLAM algorithm construct maps with tens of thousands of features, or more. Even under known correspondences, the posterior over those maps alone involves probability distributions over spaces with 10^5 or more dimensions.</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This is in stark contrast to localization problems, in which posteriors were estimated over three-dimensional continuous spaces</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 The number of possible assignment to the vector of all correspondence variables, c1:t grows exponentially in the time t. Thus, practical SLAM algorithms that can cope with the correspondence problem must rely on approximations.</a:t>
            </a: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m \, | \, z_{1:t}, u_{1:t})</a:t>
            </a:r>
          </a:p>
          <a:p>
            <a:pPr marL="0" marR="0" indent="0" algn="l" defTabSz="914400" rtl="0" eaLnBrk="1" fontAlgn="auto" latinLnBrk="0" hangingPunct="1">
              <a:lnSpc>
                <a:spcPct val="100000"/>
              </a:lnSpc>
              <a:spcBef>
                <a:spcPts val="0"/>
              </a:spcBef>
              <a:spcAft>
                <a:spcPts val="0"/>
              </a:spcAft>
              <a:buClrTx/>
              <a:buSzTx/>
              <a:buFontTx/>
              <a:buNone/>
              <a:tabLst/>
              <a:defRPr/>
            </a:pPr>
            <a:r>
              <a:rPr lang="en-US" dirty="0"/>
              <a:t> </a:t>
            </a:r>
            <a:r>
              <a:rPr lang="hr-HR" sz="1200" kern="1200" dirty="0">
                <a:solidFill>
                  <a:schemeClr val="tx1"/>
                </a:solidFill>
                <a:effectLst/>
                <a:latin typeface="+mn-lt"/>
                <a:ea typeface="+mn-ea"/>
                <a:cs typeface="+mn-cs"/>
              </a:rPr>
              <a:t>p(</a:t>
            </a:r>
            <a:r>
              <a:rPr lang="hr-HR" sz="1200" kern="1200" dirty="0" err="1">
                <a:solidFill>
                  <a:schemeClr val="tx1"/>
                </a:solidFill>
                <a:effectLst/>
                <a:latin typeface="+mn-lt"/>
                <a:ea typeface="+mn-ea"/>
                <a:cs typeface="+mn-cs"/>
              </a:rPr>
              <a:t>x_t</a:t>
            </a:r>
            <a:r>
              <a:rPr lang="hr-HR" sz="1200" kern="1200" dirty="0">
                <a:solidFill>
                  <a:schemeClr val="tx1"/>
                </a:solidFill>
                <a:effectLst/>
                <a:latin typeface="+mn-lt"/>
                <a:ea typeface="+mn-ea"/>
                <a:cs typeface="+mn-cs"/>
              </a:rPr>
              <a:t>, m, </a:t>
            </a:r>
            <a:r>
              <a:rPr lang="hr-HR" sz="1200" kern="1200" dirty="0" err="1">
                <a:solidFill>
                  <a:schemeClr val="tx1"/>
                </a:solidFill>
                <a:effectLst/>
                <a:latin typeface="+mn-lt"/>
                <a:ea typeface="+mn-ea"/>
                <a:cs typeface="+mn-cs"/>
              </a:rPr>
              <a:t>c_t</a:t>
            </a:r>
            <a:r>
              <a:rPr lang="hr-HR" sz="1200" kern="1200" dirty="0">
                <a:solidFill>
                  <a:schemeClr val="tx1"/>
                </a:solidFill>
                <a:effectLst/>
                <a:latin typeface="+mn-lt"/>
                <a:ea typeface="+mn-ea"/>
                <a:cs typeface="+mn-cs"/>
              </a:rPr>
              <a:t> \, | \, z_{1:t}, u_{1:t})</a:t>
            </a: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dirty="0">
                <a:solidFill>
                  <a:schemeClr val="tx1"/>
                </a:solidFill>
                <a:effectLst/>
                <a:latin typeface="+mn-lt"/>
                <a:ea typeface="+mn-ea"/>
                <a:cs typeface="+mn-cs"/>
              </a:rPr>
              <a:t>p(x_{1:t}, m, </a:t>
            </a:r>
            <a:r>
              <a:rPr lang="hr-HR" sz="1200" kern="1200" dirty="0" err="1">
                <a:solidFill>
                  <a:schemeClr val="tx1"/>
                </a:solidFill>
                <a:effectLst/>
                <a:latin typeface="+mn-lt"/>
                <a:ea typeface="+mn-ea"/>
                <a:cs typeface="+mn-cs"/>
              </a:rPr>
              <a:t>c_t</a:t>
            </a:r>
            <a:r>
              <a:rPr lang="hr-HR" sz="1200" kern="1200" dirty="0">
                <a:solidFill>
                  <a:schemeClr val="tx1"/>
                </a:solidFill>
                <a:effectLst/>
                <a:latin typeface="+mn-lt"/>
                <a:ea typeface="+mn-ea"/>
                <a:cs typeface="+mn-cs"/>
              </a:rPr>
              <a:t> \, | \, z_{1:t}, u_{1:t})</a:t>
            </a: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5</a:t>
            </a:fld>
            <a:endParaRPr lang="en-US"/>
          </a:p>
        </p:txBody>
      </p:sp>
    </p:spTree>
    <p:extLst>
      <p:ext uri="{BB962C8B-B14F-4D97-AF65-F5344CB8AC3E}">
        <p14:creationId xmlns:p14="http://schemas.microsoft.com/office/powerpoint/2010/main" val="6316309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a:t>Historically the earliest, and perhaps the most influential SLAM algorithm is based on the extended Kalman filter, or EKF</a:t>
            </a:r>
          </a:p>
          <a:p>
            <a:pPr marL="171450" indent="-171450">
              <a:buFont typeface="Arial" charset="0"/>
              <a:buChar char="•"/>
            </a:pPr>
            <a:r>
              <a:rPr lang="en-US" dirty="0"/>
              <a:t>In a nutshell, the EKF SLAM algorithm applies the EKF to online SLAM using maximum likelihood data association</a:t>
            </a:r>
          </a:p>
          <a:p>
            <a:pPr marL="171450" indent="-171450">
              <a:buFont typeface="Arial" charset="0"/>
              <a:buChar char="•"/>
            </a:pPr>
            <a:r>
              <a:rPr lang="en-US" dirty="0"/>
              <a:t>As any EKF algorithm, EKF SLAM makes a Gaussian noise assumption for the robot motion and the perception. The amount of uncertainty in the posterior must be relatively small, since otherwise the linearization in EKFs tend to introduce intolerable errors.</a:t>
            </a:r>
          </a:p>
          <a:p>
            <a:pPr marL="171450" indent="-171450">
              <a:buFont typeface="Arial" charset="0"/>
              <a:buChar char="•"/>
            </a:pPr>
            <a:r>
              <a:rPr lang="en-US" dirty="0"/>
              <a:t>Maps, in the EKF, are composed of point landmarks. For computational reasons, the number of point landmarks is usually small (e.g., smaller than 1,000). Further, the EKF approach tends to work well the less ambiguous the landmarks are.</a:t>
            </a:r>
          </a:p>
        </p:txBody>
      </p:sp>
      <p:sp>
        <p:nvSpPr>
          <p:cNvPr id="4" name="Slide Number Placeholder 3"/>
          <p:cNvSpPr>
            <a:spLocks noGrp="1"/>
          </p:cNvSpPr>
          <p:nvPr>
            <p:ph type="sldNum" sz="quarter" idx="10"/>
          </p:nvPr>
        </p:nvSpPr>
        <p:spPr/>
        <p:txBody>
          <a:bodyPr/>
          <a:lstStyle/>
          <a:p>
            <a:fld id="{63B2D7EC-928D-0645-AAE8-498D7443D60E}" type="slidenum">
              <a:rPr lang="en-US" smtClean="0"/>
              <a:t>7</a:t>
            </a:fld>
            <a:endParaRPr lang="en-US"/>
          </a:p>
        </p:txBody>
      </p:sp>
    </p:spTree>
    <p:extLst>
      <p:ext uri="{BB962C8B-B14F-4D97-AF65-F5344CB8AC3E}">
        <p14:creationId xmlns:p14="http://schemas.microsoft.com/office/powerpoint/2010/main" val="1392185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Similar to EKF localization algorithm with known correspondences</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In addition to estimating the robot pose </a:t>
            </a:r>
            <a:r>
              <a:rPr lang="en-US" err="1"/>
              <a:t>xt</a:t>
            </a:r>
            <a:r>
              <a:rPr lang="en-US"/>
              <a:t>, the EKF SLAM algorithm also estimates the coordinates of all landmarks encountered along the way. This makes it necessary to include the landmark coordinates into the state vector.</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For convenience, let us call the state vector comprising robot pose and the map the combined state vector, and denote this vector </a:t>
            </a:r>
            <a:r>
              <a:rPr lang="en-US" err="1"/>
              <a:t>yt</a:t>
            </a:r>
            <a:r>
              <a:rPr lang="en-US"/>
              <a:t>. The combined vector is given by</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Here x, y, and </a:t>
            </a:r>
            <a:r>
              <a:rPr lang="en-US" err="1"/>
              <a:t>θ</a:t>
            </a:r>
            <a:r>
              <a:rPr lang="en-US"/>
              <a:t> denote the robot’s coordinates at time t, </a:t>
            </a:r>
            <a:r>
              <a:rPr lang="en-US" err="1"/>
              <a:t>mi,x</a:t>
            </a:r>
            <a:r>
              <a:rPr lang="en-US"/>
              <a:t>, </a:t>
            </a:r>
            <a:r>
              <a:rPr lang="en-US" err="1"/>
              <a:t>mi,y</a:t>
            </a:r>
            <a:r>
              <a:rPr lang="en-US"/>
              <a:t> are the coordinates of the </a:t>
            </a:r>
            <a:r>
              <a:rPr lang="en-US" err="1"/>
              <a:t>i-th</a:t>
            </a:r>
            <a:r>
              <a:rPr lang="en-US"/>
              <a:t> landmark, for </a:t>
            </a:r>
            <a:r>
              <a:rPr lang="en-US" err="1"/>
              <a:t>i</a:t>
            </a:r>
            <a:r>
              <a:rPr lang="en-US"/>
              <a:t> = 1, . . . , N,</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Clearly, for any reasonable number of N, this vector is significantly larger than the pose vector that has</a:t>
            </a:r>
            <a:r>
              <a:rPr lang="en-US" baseline="0"/>
              <a:t> been estimated </a:t>
            </a:r>
            <a:r>
              <a:rPr lang="en-US" baseline="0" err="1"/>
              <a:t>previosuly</a:t>
            </a:r>
            <a:endParaRPr lang="hr-HR" sz="1200" kern="120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hr-HR" sz="1200" kern="120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hr-HR" sz="1200" kern="1200">
                <a:solidFill>
                  <a:schemeClr val="tx1"/>
                </a:solidFill>
                <a:effectLst/>
                <a:latin typeface="+mn-lt"/>
                <a:ea typeface="+mn-ea"/>
                <a:cs typeface="+mn-cs"/>
              </a:rPr>
              <a:t>p(</a:t>
            </a:r>
            <a:r>
              <a:rPr lang="hr-HR" sz="1200" kern="1200" err="1">
                <a:solidFill>
                  <a:schemeClr val="tx1"/>
                </a:solidFill>
                <a:effectLst/>
                <a:latin typeface="+mn-lt"/>
                <a:ea typeface="+mn-ea"/>
                <a:cs typeface="+mn-cs"/>
              </a:rPr>
              <a:t>y_t</a:t>
            </a:r>
            <a:r>
              <a:rPr lang="hr-HR" sz="1200" kern="1200">
                <a:solidFill>
                  <a:schemeClr val="tx1"/>
                </a:solidFill>
                <a:effectLst/>
                <a:latin typeface="+mn-lt"/>
                <a:ea typeface="+mn-ea"/>
                <a:cs typeface="+mn-cs"/>
              </a:rPr>
              <a:t>, m \, | \, z_{1:t}, u_{1:t})</a:t>
            </a:r>
          </a:p>
          <a:p>
            <a:endParaRPr lang="de-DE" sz="1200" kern="1200">
              <a:solidFill>
                <a:schemeClr val="tx1"/>
              </a:solidFill>
              <a:effectLst/>
              <a:latin typeface="+mn-lt"/>
              <a:ea typeface="+mn-ea"/>
              <a:cs typeface="+mn-cs"/>
            </a:endParaRPr>
          </a:p>
          <a:p>
            <a:endParaRPr lang="de-DE" sz="1200" kern="1200">
              <a:solidFill>
                <a:schemeClr val="tx1"/>
              </a:solidFill>
              <a:effectLst/>
              <a:latin typeface="+mn-lt"/>
              <a:ea typeface="+mn-ea"/>
              <a:cs typeface="+mn-cs"/>
            </a:endParaRPr>
          </a:p>
          <a:p>
            <a:r>
              <a:rPr lang="de-DE" sz="1200" kern="1200" err="1">
                <a:solidFill>
                  <a:schemeClr val="tx1"/>
                </a:solidFill>
                <a:effectLst/>
                <a:latin typeface="+mn-lt"/>
                <a:ea typeface="+mn-ea"/>
                <a:cs typeface="+mn-cs"/>
              </a:rPr>
              <a:t>y_t</a:t>
            </a:r>
            <a:r>
              <a:rPr lang="de-DE" sz="1200" kern="1200">
                <a:solidFill>
                  <a:schemeClr val="tx1"/>
                </a:solidFill>
                <a:effectLst/>
                <a:latin typeface="+mn-lt"/>
                <a:ea typeface="+mn-ea"/>
                <a:cs typeface="+mn-cs"/>
              </a:rPr>
              <a:t> := \</a:t>
            </a:r>
            <a:r>
              <a:rPr lang="de-DE" sz="1200" kern="1200" err="1">
                <a:solidFill>
                  <a:schemeClr val="tx1"/>
                </a:solidFill>
                <a:effectLst/>
                <a:latin typeface="+mn-lt"/>
                <a:ea typeface="+mn-ea"/>
                <a:cs typeface="+mn-cs"/>
              </a:rPr>
              <a:t>begin</a:t>
            </a:r>
            <a:r>
              <a:rPr lang="de-DE" sz="1200" kern="1200">
                <a:solidFill>
                  <a:schemeClr val="tx1"/>
                </a:solidFill>
                <a:effectLst/>
                <a:latin typeface="+mn-lt"/>
                <a:ea typeface="+mn-ea"/>
                <a:cs typeface="+mn-cs"/>
              </a:rPr>
              <a:t>{</a:t>
            </a:r>
            <a:r>
              <a:rPr lang="de-DE" sz="1200" kern="1200" err="1">
                <a:solidFill>
                  <a:schemeClr val="tx1"/>
                </a:solidFill>
                <a:effectLst/>
                <a:latin typeface="+mn-lt"/>
                <a:ea typeface="+mn-ea"/>
                <a:cs typeface="+mn-cs"/>
              </a:rPr>
              <a:t>pmatrix</a:t>
            </a:r>
            <a:r>
              <a:rPr lang="de-DE" sz="1200" kern="1200">
                <a:solidFill>
                  <a:schemeClr val="tx1"/>
                </a:solidFill>
                <a:effectLst/>
                <a:latin typeface="+mn-lt"/>
                <a:ea typeface="+mn-ea"/>
                <a:cs typeface="+mn-cs"/>
              </a:rPr>
              <a:t>}</a:t>
            </a:r>
          </a:p>
          <a:p>
            <a:r>
              <a:rPr lang="de-DE" sz="1200" kern="1200" err="1">
                <a:solidFill>
                  <a:schemeClr val="tx1"/>
                </a:solidFill>
                <a:effectLst/>
                <a:latin typeface="+mn-lt"/>
                <a:ea typeface="+mn-ea"/>
                <a:cs typeface="+mn-cs"/>
              </a:rPr>
              <a:t>x_t</a:t>
            </a:r>
            <a:r>
              <a:rPr lang="de-DE" sz="1200" kern="1200">
                <a:solidFill>
                  <a:schemeClr val="tx1"/>
                </a:solidFill>
                <a:effectLst/>
                <a:latin typeface="+mn-lt"/>
                <a:ea typeface="+mn-ea"/>
                <a:cs typeface="+mn-cs"/>
              </a:rPr>
              <a:t>\\</a:t>
            </a:r>
          </a:p>
          <a:p>
            <a:r>
              <a:rPr lang="de-DE" sz="1200" kern="1200">
                <a:solidFill>
                  <a:schemeClr val="tx1"/>
                </a:solidFill>
                <a:effectLst/>
                <a:latin typeface="+mn-lt"/>
                <a:ea typeface="+mn-ea"/>
                <a:cs typeface="+mn-cs"/>
              </a:rPr>
              <a:t>m\end{</a:t>
            </a:r>
            <a:r>
              <a:rPr lang="de-DE" sz="1200" kern="1200" err="1">
                <a:solidFill>
                  <a:schemeClr val="tx1"/>
                </a:solidFill>
                <a:effectLst/>
                <a:latin typeface="+mn-lt"/>
                <a:ea typeface="+mn-ea"/>
                <a:cs typeface="+mn-cs"/>
              </a:rPr>
              <a:t>pmatrix</a:t>
            </a:r>
            <a:r>
              <a:rPr lang="de-DE" sz="1200" kern="1200">
                <a:solidFill>
                  <a:schemeClr val="tx1"/>
                </a:solidFill>
                <a:effectLst/>
                <a:latin typeface="+mn-lt"/>
                <a:ea typeface="+mn-ea"/>
                <a:cs typeface="+mn-cs"/>
              </a:rPr>
              <a:t>} = (x,\,  </a:t>
            </a:r>
            <a:r>
              <a:rPr lang="de-DE" sz="1200" kern="1200" err="1">
                <a:solidFill>
                  <a:schemeClr val="tx1"/>
                </a:solidFill>
                <a:effectLst/>
                <a:latin typeface="+mn-lt"/>
                <a:ea typeface="+mn-ea"/>
                <a:cs typeface="+mn-cs"/>
              </a:rPr>
              <a:t>y</a:t>
            </a:r>
            <a:r>
              <a:rPr lang="de-DE" sz="1200" kern="1200">
                <a:solidFill>
                  <a:schemeClr val="tx1"/>
                </a:solidFill>
                <a:effectLst/>
                <a:latin typeface="+mn-lt"/>
                <a:ea typeface="+mn-ea"/>
                <a:cs typeface="+mn-cs"/>
              </a:rPr>
              <a:t>,\,  \</a:t>
            </a:r>
            <a:r>
              <a:rPr lang="de-DE" sz="1200" kern="1200" err="1">
                <a:solidFill>
                  <a:schemeClr val="tx1"/>
                </a:solidFill>
                <a:effectLst/>
                <a:latin typeface="+mn-lt"/>
                <a:ea typeface="+mn-ea"/>
                <a:cs typeface="+mn-cs"/>
              </a:rPr>
              <a:t>theta</a:t>
            </a:r>
            <a:r>
              <a:rPr lang="de-DE" sz="1200" kern="1200">
                <a:solidFill>
                  <a:schemeClr val="tx1"/>
                </a:solidFill>
                <a:effectLst/>
                <a:latin typeface="+mn-lt"/>
                <a:ea typeface="+mn-ea"/>
                <a:cs typeface="+mn-cs"/>
              </a:rPr>
              <a:t>,\,  m_{1,x},\, m_{1,y},\,  m_{2,x},\, m_{2,y} \, \</a:t>
            </a:r>
            <a:r>
              <a:rPr lang="de-DE" sz="1200" kern="1200" err="1">
                <a:solidFill>
                  <a:schemeClr val="tx1"/>
                </a:solidFill>
                <a:effectLst/>
                <a:latin typeface="+mn-lt"/>
                <a:ea typeface="+mn-ea"/>
                <a:cs typeface="+mn-cs"/>
              </a:rPr>
              <a:t>ldots</a:t>
            </a:r>
            <a:r>
              <a:rPr lang="de-DE" sz="1200" kern="1200">
                <a:solidFill>
                  <a:schemeClr val="tx1"/>
                </a:solidFill>
                <a:effectLst/>
                <a:latin typeface="+mn-lt"/>
                <a:ea typeface="+mn-ea"/>
                <a:cs typeface="+mn-cs"/>
              </a:rPr>
              <a:t>\,  m_{</a:t>
            </a:r>
            <a:r>
              <a:rPr lang="de-DE" sz="1200" kern="1200" err="1">
                <a:solidFill>
                  <a:schemeClr val="tx1"/>
                </a:solidFill>
                <a:effectLst/>
                <a:latin typeface="+mn-lt"/>
                <a:ea typeface="+mn-ea"/>
                <a:cs typeface="+mn-cs"/>
              </a:rPr>
              <a:t>N,x</a:t>
            </a:r>
            <a:r>
              <a:rPr lang="de-DE" sz="1200" kern="1200">
                <a:solidFill>
                  <a:schemeClr val="tx1"/>
                </a:solidFill>
                <a:effectLst/>
                <a:latin typeface="+mn-lt"/>
                <a:ea typeface="+mn-ea"/>
                <a:cs typeface="+mn-cs"/>
              </a:rPr>
              <a:t>},\, m_{</a:t>
            </a:r>
            <a:r>
              <a:rPr lang="de-DE" sz="1200" kern="1200" err="1">
                <a:solidFill>
                  <a:schemeClr val="tx1"/>
                </a:solidFill>
                <a:effectLst/>
                <a:latin typeface="+mn-lt"/>
                <a:ea typeface="+mn-ea"/>
                <a:cs typeface="+mn-cs"/>
              </a:rPr>
              <a:t>N,y</a:t>
            </a:r>
            <a:r>
              <a:rPr lang="de-DE" sz="1200" kern="1200">
                <a:solidFill>
                  <a:schemeClr val="tx1"/>
                </a:solidFill>
                <a:effectLst/>
                <a:latin typeface="+mn-lt"/>
                <a:ea typeface="+mn-ea"/>
                <a:cs typeface="+mn-cs"/>
              </a:rPr>
              <a:t>})^T</a:t>
            </a:r>
          </a:p>
          <a:p>
            <a:endParaRPr lang="en-US"/>
          </a:p>
          <a:p>
            <a:endParaRPr lang="en-US"/>
          </a:p>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8</a:t>
            </a:fld>
            <a:endParaRPr lang="en-US"/>
          </a:p>
        </p:txBody>
      </p:sp>
    </p:spTree>
    <p:extLst>
      <p:ext uri="{BB962C8B-B14F-4D97-AF65-F5344CB8AC3E}">
        <p14:creationId xmlns:p14="http://schemas.microsoft.com/office/powerpoint/2010/main" val="10395068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Assume motion model with state </a:t>
            </a:r>
            <a:r>
              <a:rPr lang="en-US" err="1"/>
              <a:t>x_t</a:t>
            </a:r>
            <a:endParaRPr lang="en-US"/>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where we assume that the landmarks are </a:t>
            </a:r>
            <a:r>
              <a:rPr lang="en-US" i="1"/>
              <a:t>static</a:t>
            </a:r>
            <a:r>
              <a:rPr lang="en-US"/>
              <a:t>, that is</a:t>
            </a:r>
            <a:r>
              <a:rPr lang="en-US" i="1"/>
              <a:t>..</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a:t>As usual in EKFs, the motion function g is approximated using a first degree Taylor expansion</a:t>
            </a:r>
            <a:endParaRPr lang="en-US" sz="1200" kern="120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a:solidFill>
                <a:schemeClr val="tx1"/>
              </a:solidFill>
              <a:effectLst/>
              <a:latin typeface="+mn-lt"/>
              <a:ea typeface="+mn-ea"/>
              <a:cs typeface="+mn-cs"/>
            </a:endParaRPr>
          </a:p>
          <a:p>
            <a:r>
              <a:rPr lang="en-US" sz="1200" kern="1200" err="1">
                <a:solidFill>
                  <a:schemeClr val="tx1"/>
                </a:solidFill>
                <a:effectLst/>
                <a:latin typeface="+mn-lt"/>
                <a:ea typeface="+mn-ea"/>
                <a:cs typeface="+mn-cs"/>
              </a:rPr>
              <a:t>y_t</a:t>
            </a:r>
            <a:r>
              <a:rPr lang="en-US" sz="1200" kern="1200">
                <a:solidFill>
                  <a:schemeClr val="tx1"/>
                </a:solidFill>
                <a:effectLst/>
                <a:latin typeface="+mn-lt"/>
                <a:ea typeface="+mn-ea"/>
                <a:cs typeface="+mn-cs"/>
              </a:rPr>
              <a:t> = g(</a:t>
            </a:r>
            <a:r>
              <a:rPr lang="en-US" sz="1200" kern="1200" err="1">
                <a:solidFill>
                  <a:schemeClr val="tx1"/>
                </a:solidFill>
                <a:effectLst/>
                <a:latin typeface="+mn-lt"/>
                <a:ea typeface="+mn-ea"/>
                <a:cs typeface="+mn-cs"/>
              </a:rPr>
              <a:t>u_t</a:t>
            </a:r>
            <a:r>
              <a:rPr lang="en-US" sz="1200" kern="1200">
                <a:solidFill>
                  <a:schemeClr val="tx1"/>
                </a:solidFill>
                <a:effectLst/>
                <a:latin typeface="+mn-lt"/>
                <a:ea typeface="+mn-ea"/>
                <a:cs typeface="+mn-cs"/>
              </a:rPr>
              <a:t>, y_{t-1}) + \</a:t>
            </a:r>
            <a:r>
              <a:rPr lang="en-US" sz="1200" kern="1200" err="1">
                <a:solidFill>
                  <a:schemeClr val="tx1"/>
                </a:solidFill>
                <a:effectLst/>
                <a:latin typeface="+mn-lt"/>
                <a:ea typeface="+mn-ea"/>
                <a:cs typeface="+mn-cs"/>
              </a:rPr>
              <a:t>epsilon_t</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qquad</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epsilon_t</a:t>
            </a:r>
            <a:r>
              <a:rPr lang="en-US" sz="1200" kern="1200">
                <a:solidFill>
                  <a:schemeClr val="tx1"/>
                </a:solidFill>
                <a:effectLst/>
                <a:latin typeface="+mn-lt"/>
                <a:ea typeface="+mn-ea"/>
                <a:cs typeface="+mn-cs"/>
              </a:rPr>
              <a:t>\sim \</a:t>
            </a:r>
            <a:r>
              <a:rPr lang="en-US" sz="1200" kern="1200" err="1">
                <a:solidFill>
                  <a:schemeClr val="tx1"/>
                </a:solidFill>
                <a:effectLst/>
                <a:latin typeface="+mn-lt"/>
                <a:ea typeface="+mn-ea"/>
                <a:cs typeface="+mn-cs"/>
              </a:rPr>
              <a:t>mathcal</a:t>
            </a:r>
            <a:r>
              <a:rPr lang="en-US" sz="1200" kern="1200">
                <a:solidFill>
                  <a:schemeClr val="tx1"/>
                </a:solidFill>
                <a:effectLst/>
                <a:latin typeface="+mn-lt"/>
                <a:ea typeface="+mn-ea"/>
                <a:cs typeface="+mn-cs"/>
              </a:rPr>
              <a:t> N(0, </a:t>
            </a:r>
            <a:r>
              <a:rPr lang="en-US" sz="1200" kern="1200" err="1">
                <a:solidFill>
                  <a:schemeClr val="tx1"/>
                </a:solidFill>
                <a:effectLst/>
                <a:latin typeface="+mn-lt"/>
                <a:ea typeface="+mn-ea"/>
                <a:cs typeface="+mn-cs"/>
              </a:rPr>
              <a:t>R_t</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qquad</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G_t</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J_g</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u_t</a:t>
            </a:r>
            <a:r>
              <a:rPr lang="en-US" sz="1200" kern="1200">
                <a:solidFill>
                  <a:schemeClr val="tx1"/>
                </a:solidFill>
                <a:effectLst/>
                <a:latin typeface="+mn-lt"/>
                <a:ea typeface="+mn-ea"/>
                <a:cs typeface="+mn-cs"/>
              </a:rPr>
              <a:t>, \mu_{t-1})</a:t>
            </a: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err="1">
                <a:solidFill>
                  <a:schemeClr val="tx1"/>
                </a:solidFill>
                <a:effectLst/>
                <a:latin typeface="+mn-lt"/>
                <a:ea typeface="+mn-ea"/>
                <a:cs typeface="+mn-cs"/>
              </a:rPr>
              <a:t>z_t^i</a:t>
            </a:r>
            <a:r>
              <a:rPr lang="en-US" sz="1200" kern="1200">
                <a:solidFill>
                  <a:schemeClr val="tx1"/>
                </a:solidFill>
                <a:effectLst/>
                <a:latin typeface="+mn-lt"/>
                <a:ea typeface="+mn-ea"/>
                <a:cs typeface="+mn-cs"/>
              </a:rPr>
              <a:t> = h(</a:t>
            </a:r>
            <a:r>
              <a:rPr lang="en-US" sz="1200" kern="1200" err="1">
                <a:solidFill>
                  <a:schemeClr val="tx1"/>
                </a:solidFill>
                <a:effectLst/>
                <a:latin typeface="+mn-lt"/>
                <a:ea typeface="+mn-ea"/>
                <a:cs typeface="+mn-cs"/>
              </a:rPr>
              <a:t>x_i,j</a:t>
            </a:r>
            <a:r>
              <a:rPr lang="en-US" sz="1200" kern="1200">
                <a:solidFill>
                  <a:schemeClr val="tx1"/>
                </a:solidFill>
                <a:effectLst/>
                <a:latin typeface="+mn-lt"/>
                <a:ea typeface="+mn-ea"/>
                <a:cs typeface="+mn-cs"/>
              </a:rPr>
              <a:t>,</a:t>
            </a:r>
            <a:r>
              <a:rPr lang="en-US" sz="1200" kern="1200" baseline="0">
                <a:solidFill>
                  <a:schemeClr val="tx1"/>
                </a:solidFill>
                <a:effectLst/>
                <a:latin typeface="+mn-lt"/>
                <a:ea typeface="+mn-ea"/>
                <a:cs typeface="+mn-cs"/>
              </a:rPr>
              <a:t> </a:t>
            </a:r>
            <a:r>
              <a:rPr lang="en-US" sz="1200" kern="1200">
                <a:solidFill>
                  <a:schemeClr val="tx1"/>
                </a:solidFill>
                <a:effectLst/>
                <a:latin typeface="+mn-lt"/>
                <a:ea typeface="+mn-ea"/>
                <a:cs typeface="+mn-cs"/>
              </a:rPr>
              <a:t>m) + \</a:t>
            </a:r>
            <a:r>
              <a:rPr lang="en-US" sz="1200" kern="1200" err="1">
                <a:solidFill>
                  <a:schemeClr val="tx1"/>
                </a:solidFill>
                <a:effectLst/>
                <a:latin typeface="+mn-lt"/>
                <a:ea typeface="+mn-ea"/>
                <a:cs typeface="+mn-cs"/>
              </a:rPr>
              <a:t>delta_t</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qquad</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delta_t</a:t>
            </a:r>
            <a:r>
              <a:rPr lang="en-US" sz="1200" kern="1200">
                <a:solidFill>
                  <a:schemeClr val="tx1"/>
                </a:solidFill>
                <a:effectLst/>
                <a:latin typeface="+mn-lt"/>
                <a:ea typeface="+mn-ea"/>
                <a:cs typeface="+mn-cs"/>
              </a:rPr>
              <a:t>\sim \</a:t>
            </a:r>
            <a:r>
              <a:rPr lang="en-US" sz="1200" kern="1200" err="1">
                <a:solidFill>
                  <a:schemeClr val="tx1"/>
                </a:solidFill>
                <a:effectLst/>
                <a:latin typeface="+mn-lt"/>
                <a:ea typeface="+mn-ea"/>
                <a:cs typeface="+mn-cs"/>
              </a:rPr>
              <a:t>mathcal</a:t>
            </a:r>
            <a:r>
              <a:rPr lang="en-US" sz="1200" kern="1200">
                <a:solidFill>
                  <a:schemeClr val="tx1"/>
                </a:solidFill>
                <a:effectLst/>
                <a:latin typeface="+mn-lt"/>
                <a:ea typeface="+mn-ea"/>
                <a:cs typeface="+mn-cs"/>
              </a:rPr>
              <a:t> N(0, </a:t>
            </a:r>
            <a:r>
              <a:rPr lang="en-US" sz="1200" kern="1200" err="1">
                <a:solidFill>
                  <a:schemeClr val="tx1"/>
                </a:solidFill>
                <a:effectLst/>
                <a:latin typeface="+mn-lt"/>
                <a:ea typeface="+mn-ea"/>
                <a:cs typeface="+mn-cs"/>
              </a:rPr>
              <a:t>Q_t</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qquad</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H_t</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J_h</a:t>
            </a:r>
            <a:r>
              <a:rPr lang="en-US" sz="1200" kern="1200">
                <a:solidFill>
                  <a:schemeClr val="tx1"/>
                </a:solidFill>
                <a:effectLst/>
                <a:latin typeface="+mn-lt"/>
                <a:ea typeface="+mn-ea"/>
                <a:cs typeface="+mn-cs"/>
              </a:rPr>
              <a:t>(\overline{\mu}_</a:t>
            </a:r>
            <a:r>
              <a:rPr lang="en-US" sz="1200" kern="1200" err="1">
                <a:solidFill>
                  <a:schemeClr val="tx1"/>
                </a:solidFill>
                <a:effectLst/>
                <a:latin typeface="+mn-lt"/>
                <a:ea typeface="+mn-ea"/>
                <a:cs typeface="+mn-cs"/>
              </a:rPr>
              <a:t>t,j,m</a:t>
            </a:r>
            <a:r>
              <a:rPr lang="en-US" sz="1200" kern="1200">
                <a:solidFill>
                  <a:schemeClr val="tx1"/>
                </a:solidFill>
                <a:effectLst/>
                <a:latin typeface="+mn-lt"/>
                <a:ea typeface="+mn-ea"/>
                <a:cs typeface="+mn-cs"/>
              </a:rPr>
              <a:t>)</a:t>
            </a:r>
          </a:p>
          <a:p>
            <a:endParaRPr lang="en-US" sz="1200" kern="1200">
              <a:solidFill>
                <a:schemeClr val="tx1"/>
              </a:solidFill>
              <a:effectLst/>
              <a:latin typeface="+mn-lt"/>
              <a:ea typeface="+mn-ea"/>
              <a:cs typeface="+mn-cs"/>
            </a:endParaRPr>
          </a:p>
          <a:p>
            <a:r>
              <a:rPr lang="en-US" sz="1200" kern="1200" err="1">
                <a:solidFill>
                  <a:schemeClr val="tx1"/>
                </a:solidFill>
                <a:effectLst/>
                <a:latin typeface="+mn-lt"/>
                <a:ea typeface="+mn-ea"/>
                <a:cs typeface="+mn-cs"/>
              </a:rPr>
              <a:t>Q_t</a:t>
            </a:r>
            <a:r>
              <a:rPr lang="en-US" sz="1200" kern="1200">
                <a:solidFill>
                  <a:schemeClr val="tx1"/>
                </a:solidFill>
                <a:effectLst/>
                <a:latin typeface="+mn-lt"/>
                <a:ea typeface="+mn-ea"/>
                <a:cs typeface="+mn-cs"/>
              </a:rPr>
              <a:t> = \begin{</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r>
              <a:rPr lang="en-US" sz="1200" kern="1200">
                <a:solidFill>
                  <a:schemeClr val="tx1"/>
                </a:solidFill>
                <a:effectLst/>
                <a:latin typeface="+mn-lt"/>
                <a:ea typeface="+mn-ea"/>
                <a:cs typeface="+mn-cs"/>
              </a:rPr>
              <a:t>\sigma_r^2 &amp; 0\\</a:t>
            </a:r>
          </a:p>
          <a:p>
            <a:r>
              <a:rPr lang="en-US" sz="1200" kern="1200">
                <a:solidFill>
                  <a:schemeClr val="tx1"/>
                </a:solidFill>
                <a:effectLst/>
                <a:latin typeface="+mn-lt"/>
                <a:ea typeface="+mn-ea"/>
                <a:cs typeface="+mn-cs"/>
              </a:rPr>
              <a:t>0 &amp; \sigma_{\phi}^2</a:t>
            </a:r>
          </a:p>
          <a:p>
            <a:r>
              <a:rPr lang="en-US" sz="1200" kern="1200">
                <a:solidFill>
                  <a:schemeClr val="tx1"/>
                </a:solidFill>
                <a:effectLst/>
                <a:latin typeface="+mn-lt"/>
                <a:ea typeface="+mn-ea"/>
                <a:cs typeface="+mn-cs"/>
              </a:rPr>
              <a:t>\end{</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endParaRPr lang="en-US"/>
          </a:p>
          <a:p>
            <a:r>
              <a:rPr lang="en-US" sz="1200" kern="1200" err="1">
                <a:solidFill>
                  <a:schemeClr val="tx1"/>
                </a:solidFill>
                <a:effectLst/>
                <a:latin typeface="+mn-lt"/>
                <a:ea typeface="+mn-ea"/>
                <a:cs typeface="+mn-cs"/>
              </a:rPr>
              <a:t>z_t^i</a:t>
            </a:r>
            <a:r>
              <a:rPr lang="en-US" sz="1200" kern="1200">
                <a:solidFill>
                  <a:schemeClr val="tx1"/>
                </a:solidFill>
                <a:effectLst/>
                <a:latin typeface="+mn-lt"/>
                <a:ea typeface="+mn-ea"/>
                <a:cs typeface="+mn-cs"/>
              </a:rPr>
              <a:t> = \underbrace{\begin{</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sqrt</a:t>
            </a:r>
            <a:r>
              <a:rPr lang="en-US" sz="1200" kern="1200">
                <a:solidFill>
                  <a:schemeClr val="tx1"/>
                </a:solidFill>
                <a:effectLst/>
                <a:latin typeface="+mn-lt"/>
                <a:ea typeface="+mn-ea"/>
                <a:cs typeface="+mn-cs"/>
              </a:rPr>
              <a:t>{(m_{</a:t>
            </a:r>
            <a:r>
              <a:rPr lang="en-US" sz="1200" kern="1200" err="1">
                <a:solidFill>
                  <a:schemeClr val="tx1"/>
                </a:solidFill>
                <a:effectLst/>
                <a:latin typeface="+mn-lt"/>
                <a:ea typeface="+mn-ea"/>
                <a:cs typeface="+mn-cs"/>
              </a:rPr>
              <a:t>j,x</a:t>
            </a:r>
            <a:r>
              <a:rPr lang="en-US" sz="1200" kern="1200">
                <a:solidFill>
                  <a:schemeClr val="tx1"/>
                </a:solidFill>
                <a:effectLst/>
                <a:latin typeface="+mn-lt"/>
                <a:ea typeface="+mn-ea"/>
                <a:cs typeface="+mn-cs"/>
              </a:rPr>
              <a:t>} - x)^2 + (m_{</a:t>
            </a:r>
            <a:r>
              <a:rPr lang="en-US" sz="1200" kern="1200" err="1">
                <a:solidFill>
                  <a:schemeClr val="tx1"/>
                </a:solidFill>
                <a:effectLst/>
                <a:latin typeface="+mn-lt"/>
                <a:ea typeface="+mn-ea"/>
                <a:cs typeface="+mn-cs"/>
              </a:rPr>
              <a:t>j,y</a:t>
            </a:r>
            <a:r>
              <a:rPr lang="en-US" sz="1200" kern="1200">
                <a:solidFill>
                  <a:schemeClr val="tx1"/>
                </a:solidFill>
                <a:effectLst/>
                <a:latin typeface="+mn-lt"/>
                <a:ea typeface="+mn-ea"/>
                <a:cs typeface="+mn-cs"/>
              </a:rPr>
              <a:t>}-y)^2}\\</a:t>
            </a:r>
          </a:p>
          <a:p>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atantwo</a:t>
            </a:r>
            <a:r>
              <a:rPr lang="en-US" sz="1200" kern="1200">
                <a:solidFill>
                  <a:schemeClr val="tx1"/>
                </a:solidFill>
                <a:effectLst/>
                <a:latin typeface="+mn-lt"/>
                <a:ea typeface="+mn-ea"/>
                <a:cs typeface="+mn-cs"/>
              </a:rPr>
              <a:t>(m_{</a:t>
            </a:r>
            <a:r>
              <a:rPr lang="en-US" sz="1200" kern="1200" err="1">
                <a:solidFill>
                  <a:schemeClr val="tx1"/>
                </a:solidFill>
                <a:effectLst/>
                <a:latin typeface="+mn-lt"/>
                <a:ea typeface="+mn-ea"/>
                <a:cs typeface="+mn-cs"/>
              </a:rPr>
              <a:t>j,y</a:t>
            </a:r>
            <a:r>
              <a:rPr lang="en-US" sz="1200" kern="1200">
                <a:solidFill>
                  <a:schemeClr val="tx1"/>
                </a:solidFill>
                <a:effectLst/>
                <a:latin typeface="+mn-lt"/>
                <a:ea typeface="+mn-ea"/>
                <a:cs typeface="+mn-cs"/>
              </a:rPr>
              <a:t>}-y, m_{</a:t>
            </a:r>
            <a:r>
              <a:rPr lang="en-US" sz="1200" kern="1200" err="1">
                <a:solidFill>
                  <a:schemeClr val="tx1"/>
                </a:solidFill>
                <a:effectLst/>
                <a:latin typeface="+mn-lt"/>
                <a:ea typeface="+mn-ea"/>
                <a:cs typeface="+mn-cs"/>
              </a:rPr>
              <a:t>j,x</a:t>
            </a:r>
            <a:r>
              <a:rPr lang="en-US" sz="1200" kern="1200">
                <a:solidFill>
                  <a:schemeClr val="tx1"/>
                </a:solidFill>
                <a:effectLst/>
                <a:latin typeface="+mn-lt"/>
                <a:ea typeface="+mn-ea"/>
                <a:cs typeface="+mn-cs"/>
              </a:rPr>
              <a:t>}-x) - \theta</a:t>
            </a:r>
          </a:p>
          <a:p>
            <a:r>
              <a:rPr lang="en-US" sz="1200" kern="1200">
                <a:solidFill>
                  <a:schemeClr val="tx1"/>
                </a:solidFill>
                <a:effectLst/>
                <a:latin typeface="+mn-lt"/>
                <a:ea typeface="+mn-ea"/>
                <a:cs typeface="+mn-cs"/>
              </a:rPr>
              <a:t>\end{</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}}_{:=h(</a:t>
            </a:r>
            <a:r>
              <a:rPr lang="en-US" sz="1200" kern="1200" err="1">
                <a:solidFill>
                  <a:schemeClr val="tx1"/>
                </a:solidFill>
                <a:effectLst/>
                <a:latin typeface="+mn-lt"/>
                <a:ea typeface="+mn-ea"/>
                <a:cs typeface="+mn-cs"/>
              </a:rPr>
              <a:t>y_t</a:t>
            </a:r>
            <a:r>
              <a:rPr lang="en-US" sz="1200" kern="1200">
                <a:solidFill>
                  <a:schemeClr val="tx1"/>
                </a:solidFill>
                <a:effectLst/>
                <a:latin typeface="+mn-lt"/>
                <a:ea typeface="+mn-ea"/>
                <a:cs typeface="+mn-cs"/>
              </a:rPr>
              <a:t>, j)} + \</a:t>
            </a:r>
            <a:r>
              <a:rPr lang="en-US" sz="1200" kern="1200" err="1">
                <a:solidFill>
                  <a:schemeClr val="tx1"/>
                </a:solidFill>
                <a:effectLst/>
                <a:latin typeface="+mn-lt"/>
                <a:ea typeface="+mn-ea"/>
                <a:cs typeface="+mn-cs"/>
              </a:rPr>
              <a:t>delta_t</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qquad</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delta_t</a:t>
            </a:r>
            <a:r>
              <a:rPr lang="en-US" sz="1200" kern="1200">
                <a:solidFill>
                  <a:schemeClr val="tx1"/>
                </a:solidFill>
                <a:effectLst/>
                <a:latin typeface="+mn-lt"/>
                <a:ea typeface="+mn-ea"/>
                <a:cs typeface="+mn-cs"/>
              </a:rPr>
              <a:t>\sim \</a:t>
            </a:r>
            <a:r>
              <a:rPr lang="en-US" sz="1200" kern="1200" err="1">
                <a:solidFill>
                  <a:schemeClr val="tx1"/>
                </a:solidFill>
                <a:effectLst/>
                <a:latin typeface="+mn-lt"/>
                <a:ea typeface="+mn-ea"/>
                <a:cs typeface="+mn-cs"/>
              </a:rPr>
              <a:t>mathcal</a:t>
            </a:r>
            <a:r>
              <a:rPr lang="en-US" sz="1200" kern="1200">
                <a:solidFill>
                  <a:schemeClr val="tx1"/>
                </a:solidFill>
                <a:effectLst/>
                <a:latin typeface="+mn-lt"/>
                <a:ea typeface="+mn-ea"/>
                <a:cs typeface="+mn-cs"/>
              </a:rPr>
              <a:t> N(0, </a:t>
            </a:r>
            <a:r>
              <a:rPr lang="en-US" sz="1200" kern="1200" err="1">
                <a:solidFill>
                  <a:schemeClr val="tx1"/>
                </a:solidFill>
                <a:effectLst/>
                <a:latin typeface="+mn-lt"/>
                <a:ea typeface="+mn-ea"/>
                <a:cs typeface="+mn-cs"/>
              </a:rPr>
              <a:t>Q_t</a:t>
            </a:r>
            <a:r>
              <a:rPr lang="en-US" sz="1200" kern="1200">
                <a:solidFill>
                  <a:schemeClr val="tx1"/>
                </a:solidFill>
                <a:effectLst/>
                <a:latin typeface="+mn-lt"/>
                <a:ea typeface="+mn-ea"/>
                <a:cs typeface="+mn-cs"/>
              </a:rPr>
              <a:t>), \quad </a:t>
            </a:r>
            <a:r>
              <a:rPr lang="en-US" sz="1200" kern="1200" err="1">
                <a:solidFill>
                  <a:schemeClr val="tx1"/>
                </a:solidFill>
                <a:effectLst/>
                <a:latin typeface="+mn-lt"/>
                <a:ea typeface="+mn-ea"/>
                <a:cs typeface="+mn-cs"/>
              </a:rPr>
              <a:t>Q_t</a:t>
            </a:r>
            <a:r>
              <a:rPr lang="en-US" sz="1200" kern="1200">
                <a:solidFill>
                  <a:schemeClr val="tx1"/>
                </a:solidFill>
                <a:effectLst/>
                <a:latin typeface="+mn-lt"/>
                <a:ea typeface="+mn-ea"/>
                <a:cs typeface="+mn-cs"/>
              </a:rPr>
              <a:t> = \begin{</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r>
              <a:rPr lang="en-US" sz="1200" kern="1200">
                <a:solidFill>
                  <a:schemeClr val="tx1"/>
                </a:solidFill>
                <a:effectLst/>
                <a:latin typeface="+mn-lt"/>
                <a:ea typeface="+mn-ea"/>
                <a:cs typeface="+mn-cs"/>
              </a:rPr>
              <a:t>\sigma_r^2 &amp; 0\\</a:t>
            </a:r>
          </a:p>
          <a:p>
            <a:r>
              <a:rPr lang="en-US" sz="1200" kern="1200">
                <a:solidFill>
                  <a:schemeClr val="tx1"/>
                </a:solidFill>
                <a:effectLst/>
                <a:latin typeface="+mn-lt"/>
                <a:ea typeface="+mn-ea"/>
                <a:cs typeface="+mn-cs"/>
              </a:rPr>
              <a:t>0 &amp; \sigma_{\phi}^2</a:t>
            </a:r>
          </a:p>
          <a:p>
            <a:r>
              <a:rPr lang="en-US" sz="1200" kern="1200">
                <a:solidFill>
                  <a:schemeClr val="tx1"/>
                </a:solidFill>
                <a:effectLst/>
                <a:latin typeface="+mn-lt"/>
                <a:ea typeface="+mn-ea"/>
                <a:cs typeface="+mn-cs"/>
              </a:rPr>
              <a:t>\end{</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br>
              <a:rPr lang="en-US" sz="1200" kern="1200">
                <a:solidFill>
                  <a:schemeClr val="tx1"/>
                </a:solidFill>
                <a:effectLst/>
                <a:latin typeface="+mn-lt"/>
                <a:ea typeface="+mn-ea"/>
                <a:cs typeface="+mn-cs"/>
              </a:rPr>
            </a:br>
            <a:endParaRPr lang="en-US" sz="1200" kern="1200">
              <a:solidFill>
                <a:schemeClr val="tx1"/>
              </a:solidFill>
              <a:effectLst/>
              <a:latin typeface="+mn-lt"/>
              <a:ea typeface="+mn-ea"/>
              <a:cs typeface="+mn-cs"/>
            </a:endParaRPr>
          </a:p>
          <a:p>
            <a:endParaRPr lang="en-US"/>
          </a:p>
        </p:txBody>
      </p:sp>
      <p:sp>
        <p:nvSpPr>
          <p:cNvPr id="4" name="Slide Number Placeholder 3"/>
          <p:cNvSpPr>
            <a:spLocks noGrp="1"/>
          </p:cNvSpPr>
          <p:nvPr>
            <p:ph type="sldNum" sz="quarter" idx="10"/>
          </p:nvPr>
        </p:nvSpPr>
        <p:spPr/>
        <p:txBody>
          <a:bodyPr/>
          <a:lstStyle/>
          <a:p>
            <a:fld id="{63B2D7EC-928D-0645-AAE8-498D7443D60E}" type="slidenum">
              <a:rPr lang="en-US" smtClean="0"/>
              <a:t>9</a:t>
            </a:fld>
            <a:endParaRPr lang="en-US"/>
          </a:p>
        </p:txBody>
      </p:sp>
    </p:spTree>
    <p:extLst>
      <p:ext uri="{BB962C8B-B14F-4D97-AF65-F5344CB8AC3E}">
        <p14:creationId xmlns:p14="http://schemas.microsoft.com/office/powerpoint/2010/main" val="18025730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The derivation of the measurement update is similar as in the localization case</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 Since h depends only on two elements of that state vector, the robot pose </a:t>
            </a:r>
            <a:r>
              <a:rPr lang="en-US" dirty="0" err="1"/>
              <a:t>xt</a:t>
            </a:r>
            <a:r>
              <a:rPr lang="en-US" dirty="0"/>
              <a:t> and the location of the j-</a:t>
            </a:r>
            <a:r>
              <a:rPr lang="en-US" dirty="0" err="1"/>
              <a:t>th</a:t>
            </a:r>
            <a:r>
              <a:rPr lang="en-US" dirty="0"/>
              <a:t> landmark </a:t>
            </a:r>
            <a:r>
              <a:rPr lang="en-US" dirty="0" err="1"/>
              <a:t>mj</a:t>
            </a:r>
            <a:r>
              <a:rPr lang="en-US" dirty="0"/>
              <a:t> , the derivative factors into a low-dimensional Jacobian h </a:t>
            </a:r>
            <a:r>
              <a:rPr lang="en-US" dirty="0" err="1"/>
              <a:t>i</a:t>
            </a:r>
            <a:r>
              <a:rPr lang="en-US" dirty="0"/>
              <a:t> t and a matrix </a:t>
            </a:r>
            <a:r>
              <a:rPr lang="en-US" dirty="0" err="1"/>
              <a:t>Fx,j</a:t>
            </a:r>
            <a:r>
              <a:rPr lang="en-US" dirty="0"/>
              <a:t> , which maps h </a:t>
            </a:r>
            <a:r>
              <a:rPr lang="en-US" dirty="0" err="1"/>
              <a:t>i</a:t>
            </a:r>
            <a:r>
              <a:rPr lang="en-US" dirty="0"/>
              <a:t> t into a matrix of the dimension of the full state vector:</a:t>
            </a: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h(</a:t>
            </a:r>
            <a:r>
              <a:rPr lang="en-US" sz="1200" kern="1200" dirty="0" err="1">
                <a:solidFill>
                  <a:schemeClr val="tx1"/>
                </a:solidFill>
                <a:effectLst/>
                <a:latin typeface="+mn-lt"/>
                <a:ea typeface="+mn-ea"/>
                <a:cs typeface="+mn-cs"/>
              </a:rPr>
              <a:t>y_t</a:t>
            </a:r>
            <a:r>
              <a:rPr lang="en-US" sz="1200" kern="1200" dirty="0">
                <a:solidFill>
                  <a:schemeClr val="tx1"/>
                </a:solidFill>
                <a:effectLst/>
                <a:latin typeface="+mn-lt"/>
                <a:ea typeface="+mn-ea"/>
                <a:cs typeface="+mn-cs"/>
              </a:rPr>
              <a:t>, j) \</a:t>
            </a:r>
            <a:r>
              <a:rPr lang="en-US" sz="1200" kern="1200" dirty="0" err="1">
                <a:solidFill>
                  <a:schemeClr val="tx1"/>
                </a:solidFill>
                <a:effectLst/>
                <a:latin typeface="+mn-lt"/>
                <a:ea typeface="+mn-ea"/>
                <a:cs typeface="+mn-cs"/>
              </a:rPr>
              <a:t>approx</a:t>
            </a:r>
            <a:r>
              <a:rPr lang="en-US" sz="1200" kern="1200" dirty="0">
                <a:solidFill>
                  <a:schemeClr val="tx1"/>
                </a:solidFill>
                <a:effectLst/>
                <a:latin typeface="+mn-lt"/>
                <a:ea typeface="+mn-ea"/>
                <a:cs typeface="+mn-cs"/>
              </a:rPr>
              <a:t> h(\overline{\mu}_t, j)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y_t</a:t>
            </a:r>
            <a:r>
              <a:rPr lang="en-US" sz="1200" kern="1200" dirty="0">
                <a:solidFill>
                  <a:schemeClr val="tx1"/>
                </a:solidFill>
                <a:effectLst/>
                <a:latin typeface="+mn-lt"/>
                <a:ea typeface="+mn-ea"/>
                <a:cs typeface="+mn-cs"/>
              </a:rPr>
              <a:t> - \overline{\mu}_t), \</a:t>
            </a:r>
            <a:r>
              <a:rPr lang="en-US" sz="1200" kern="1200" dirty="0" err="1">
                <a:solidFill>
                  <a:schemeClr val="tx1"/>
                </a:solidFill>
                <a:effectLst/>
                <a:latin typeface="+mn-lt"/>
                <a:ea typeface="+mn-ea"/>
                <a:cs typeface="+mn-cs"/>
              </a:rPr>
              <a:t>qquad</a:t>
            </a:r>
            <a:r>
              <a:rPr lang="en-US" sz="1200" kern="1200" dirty="0">
                <a:solidFill>
                  <a:schemeClr val="tx1"/>
                </a:solidFill>
                <a:effectLst/>
                <a:latin typeface="+mn-lt"/>
                <a:ea typeface="+mn-ea"/>
                <a:cs typeface="+mn-cs"/>
              </a:rPr>
              <a:t> \text{where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\frac{\partial h(\overline{\mu}_t, j)}{\partial </a:t>
            </a:r>
            <a:r>
              <a:rPr lang="en-US" sz="1200" kern="1200" dirty="0" err="1">
                <a:solidFill>
                  <a:schemeClr val="tx1"/>
                </a:solidFill>
                <a:effectLst/>
                <a:latin typeface="+mn-lt"/>
                <a:ea typeface="+mn-ea"/>
                <a:cs typeface="+mn-cs"/>
              </a:rPr>
              <a:t>y_t</a:t>
            </a:r>
            <a:r>
              <a:rPr lang="en-US" sz="1200" kern="1200" dirty="0">
                <a:solidFill>
                  <a:schemeClr val="tx1"/>
                </a:solidFill>
                <a:effectLst/>
                <a:latin typeface="+mn-lt"/>
                <a:ea typeface="+mn-ea"/>
                <a:cs typeface="+mn-cs"/>
              </a:rPr>
              <a:t>}</a:t>
            </a:r>
          </a:p>
          <a:p>
            <a:endParaRPr lang="en-US" dirty="0"/>
          </a:p>
          <a:p>
            <a:endParaRPr lang="en-US" dirty="0"/>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F_{</a:t>
            </a:r>
            <a:r>
              <a:rPr lang="en-US" sz="1200" kern="1200" dirty="0" err="1">
                <a:solidFill>
                  <a:schemeClr val="tx1"/>
                </a:solidFill>
                <a:effectLst/>
                <a:latin typeface="+mn-lt"/>
                <a:ea typeface="+mn-ea"/>
                <a:cs typeface="+mn-cs"/>
              </a:rPr>
              <a:t>x,j</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10</a:t>
            </a:fld>
            <a:endParaRPr lang="en-US"/>
          </a:p>
        </p:txBody>
      </p:sp>
    </p:spTree>
    <p:extLst>
      <p:ext uri="{BB962C8B-B14F-4D97-AF65-F5344CB8AC3E}">
        <p14:creationId xmlns:p14="http://schemas.microsoft.com/office/powerpoint/2010/main" val="14963518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Here h </a:t>
            </a:r>
            <a:r>
              <a:rPr lang="en-US" err="1"/>
              <a:t>i</a:t>
            </a:r>
            <a:r>
              <a:rPr lang="en-US"/>
              <a:t> t is the Jacobian of the function h(</a:t>
            </a:r>
            <a:r>
              <a:rPr lang="en-US" err="1"/>
              <a:t>yt</a:t>
            </a:r>
            <a:r>
              <a:rPr lang="en-US"/>
              <a:t>, j) at µ¯t, calculated with respect to the state variables </a:t>
            </a:r>
            <a:r>
              <a:rPr lang="en-US" err="1"/>
              <a:t>xt</a:t>
            </a:r>
            <a:r>
              <a:rPr lang="en-US"/>
              <a:t> and </a:t>
            </a:r>
            <a:r>
              <a:rPr lang="en-US" err="1"/>
              <a:t>mj</a:t>
            </a:r>
            <a:endParaRPr lang="en-US"/>
          </a:p>
          <a:p>
            <a:pPr marL="171450" indent="-171450">
              <a:buFont typeface="Arial" charset="0"/>
              <a:buChar char="•"/>
            </a:pPr>
            <a:r>
              <a:rPr lang="en-US"/>
              <a:t>The matrix </a:t>
            </a:r>
            <a:r>
              <a:rPr lang="en-US" err="1"/>
              <a:t>Fx,j</a:t>
            </a:r>
            <a:r>
              <a:rPr lang="en-US"/>
              <a:t> is of dimension 5x(2N +3) It maps the low-dimensional matrix h </a:t>
            </a:r>
            <a:r>
              <a:rPr lang="en-US" err="1"/>
              <a:t>i</a:t>
            </a:r>
            <a:r>
              <a:rPr lang="en-US"/>
              <a:t> t into a matrix of dimension 2x(2N + 3):</a:t>
            </a:r>
            <a:endParaRPr lang="en-US" sz="1200" kern="1200">
              <a:solidFill>
                <a:schemeClr val="tx1"/>
              </a:solidFill>
              <a:effectLst/>
              <a:latin typeface="+mn-lt"/>
              <a:ea typeface="+mn-ea"/>
              <a:cs typeface="+mn-cs"/>
            </a:endParaRPr>
          </a:p>
          <a:p>
            <a:endParaRPr lang="en-US" sz="1200" kern="1200">
              <a:solidFill>
                <a:schemeClr val="tx1"/>
              </a:solidFill>
              <a:effectLst/>
              <a:latin typeface="+mn-lt"/>
              <a:ea typeface="+mn-ea"/>
              <a:cs typeface="+mn-cs"/>
            </a:endParaRPr>
          </a:p>
          <a:p>
            <a:r>
              <a:rPr lang="en-US" sz="1200" kern="1200">
                <a:solidFill>
                  <a:schemeClr val="tx1"/>
                </a:solidFill>
                <a:effectLst/>
                <a:latin typeface="+mn-lt"/>
                <a:ea typeface="+mn-ea"/>
                <a:cs typeface="+mn-cs"/>
              </a:rPr>
              <a:t>F_{</a:t>
            </a:r>
            <a:r>
              <a:rPr lang="en-US" sz="1200" kern="1200" err="1">
                <a:solidFill>
                  <a:schemeClr val="tx1"/>
                </a:solidFill>
                <a:effectLst/>
                <a:latin typeface="+mn-lt"/>
                <a:ea typeface="+mn-ea"/>
                <a:cs typeface="+mn-cs"/>
              </a:rPr>
              <a:t>x,j</a:t>
            </a:r>
            <a:r>
              <a:rPr lang="en-US" sz="1200" kern="1200">
                <a:solidFill>
                  <a:schemeClr val="tx1"/>
                </a:solidFill>
                <a:effectLst/>
                <a:latin typeface="+mn-lt"/>
                <a:ea typeface="+mn-ea"/>
                <a:cs typeface="+mn-cs"/>
              </a:rPr>
              <a:t>} = \begin{</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r>
              <a:rPr lang="en-US" sz="1200" kern="1200">
                <a:solidFill>
                  <a:schemeClr val="tx1"/>
                </a:solidFill>
                <a:effectLst/>
                <a:latin typeface="+mn-lt"/>
                <a:ea typeface="+mn-ea"/>
                <a:cs typeface="+mn-cs"/>
              </a:rPr>
              <a:t>1 &amp; 0 &amp; 0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 &amp; 0&amp; 0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a:t>
            </a:r>
          </a:p>
          <a:p>
            <a:r>
              <a:rPr lang="en-US" sz="1200" kern="1200">
                <a:solidFill>
                  <a:schemeClr val="tx1"/>
                </a:solidFill>
                <a:effectLst/>
                <a:latin typeface="+mn-lt"/>
                <a:ea typeface="+mn-ea"/>
                <a:cs typeface="+mn-cs"/>
              </a:rPr>
              <a:t>0 &amp; 1 &amp; 0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 &amp; 0&amp; 0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a:t>
            </a:r>
          </a:p>
          <a:p>
            <a:r>
              <a:rPr lang="en-US" sz="1200" kern="1200">
                <a:solidFill>
                  <a:schemeClr val="tx1"/>
                </a:solidFill>
                <a:effectLst/>
                <a:latin typeface="+mn-lt"/>
                <a:ea typeface="+mn-ea"/>
                <a:cs typeface="+mn-cs"/>
              </a:rPr>
              <a:t>0 &amp; 0 &amp; 1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 &amp; 0&amp; 0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a:t>
            </a:r>
          </a:p>
          <a:p>
            <a:r>
              <a:rPr lang="en-US" sz="1200" kern="1200">
                <a:solidFill>
                  <a:schemeClr val="tx1"/>
                </a:solidFill>
                <a:effectLst/>
                <a:latin typeface="+mn-lt"/>
                <a:ea typeface="+mn-ea"/>
                <a:cs typeface="+mn-cs"/>
              </a:rPr>
              <a:t>0 &amp; 0 &amp; 0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 &amp; 1&amp; 0 &amp; 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a:t>
            </a:r>
          </a:p>
          <a:p>
            <a:r>
              <a:rPr lang="en-US" sz="1200" kern="1200">
                <a:solidFill>
                  <a:schemeClr val="tx1"/>
                </a:solidFill>
                <a:effectLst/>
                <a:latin typeface="+mn-lt"/>
                <a:ea typeface="+mn-ea"/>
                <a:cs typeface="+mn-cs"/>
              </a:rPr>
              <a:t>0 &amp; 0 &amp; 0 &amp;\underbrace{0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0}_{2j-2} &amp; 0&amp; 1 &amp; \underbrace{0 \</a:t>
            </a:r>
            <a:r>
              <a:rPr lang="en-US" sz="1200" kern="1200" err="1">
                <a:solidFill>
                  <a:schemeClr val="tx1"/>
                </a:solidFill>
                <a:effectLst/>
                <a:latin typeface="+mn-lt"/>
                <a:ea typeface="+mn-ea"/>
                <a:cs typeface="+mn-cs"/>
              </a:rPr>
              <a:t>cdots</a:t>
            </a:r>
            <a:r>
              <a:rPr lang="en-US" sz="1200" kern="1200">
                <a:solidFill>
                  <a:schemeClr val="tx1"/>
                </a:solidFill>
                <a:effectLst/>
                <a:latin typeface="+mn-lt"/>
                <a:ea typeface="+mn-ea"/>
                <a:cs typeface="+mn-cs"/>
              </a:rPr>
              <a:t> 0}_{2N-2j}</a:t>
            </a:r>
          </a:p>
          <a:p>
            <a:r>
              <a:rPr lang="en-US" sz="1200" kern="1200">
                <a:solidFill>
                  <a:schemeClr val="tx1"/>
                </a:solidFill>
                <a:effectLst/>
                <a:latin typeface="+mn-lt"/>
                <a:ea typeface="+mn-ea"/>
                <a:cs typeface="+mn-cs"/>
              </a:rPr>
              <a:t>\end{</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endParaRPr lang="en-US" sz="1200" kern="120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de-DE" sz="1200" kern="1200" err="1">
                <a:solidFill>
                  <a:schemeClr val="tx1"/>
                </a:solidFill>
                <a:effectLst/>
                <a:latin typeface="+mn-lt"/>
                <a:ea typeface="+mn-ea"/>
                <a:cs typeface="+mn-cs"/>
              </a:rPr>
              <a:t>q_t</a:t>
            </a:r>
            <a:r>
              <a:rPr lang="de-DE" sz="1200" kern="1200">
                <a:solidFill>
                  <a:schemeClr val="tx1"/>
                </a:solidFill>
                <a:effectLst/>
                <a:latin typeface="+mn-lt"/>
                <a:ea typeface="+mn-ea"/>
                <a:cs typeface="+mn-cs"/>
              </a:rPr>
              <a:t> = (\</a:t>
            </a:r>
            <a:r>
              <a:rPr lang="de-DE" sz="1200" kern="1200" err="1">
                <a:solidFill>
                  <a:schemeClr val="tx1"/>
                </a:solidFill>
                <a:effectLst/>
                <a:latin typeface="+mn-lt"/>
                <a:ea typeface="+mn-ea"/>
                <a:cs typeface="+mn-cs"/>
              </a:rPr>
              <a:t>overline</a:t>
            </a:r>
            <a:r>
              <a:rPr lang="de-DE" sz="1200" kern="1200">
                <a:solidFill>
                  <a:schemeClr val="tx1"/>
                </a:solidFill>
                <a:effectLst/>
                <a:latin typeface="+mn-lt"/>
                <a:ea typeface="+mn-ea"/>
                <a:cs typeface="+mn-cs"/>
              </a:rPr>
              <a:t>{\</a:t>
            </a:r>
            <a:r>
              <a:rPr lang="de-DE" sz="1200" kern="1200" err="1">
                <a:solidFill>
                  <a:schemeClr val="tx1"/>
                </a:solidFill>
                <a:effectLst/>
                <a:latin typeface="+mn-lt"/>
                <a:ea typeface="+mn-ea"/>
                <a:cs typeface="+mn-cs"/>
              </a:rPr>
              <a:t>mu</a:t>
            </a:r>
            <a:r>
              <a:rPr lang="de-DE" sz="1200" kern="1200">
                <a:solidFill>
                  <a:schemeClr val="tx1"/>
                </a:solidFill>
                <a:effectLst/>
                <a:latin typeface="+mn-lt"/>
                <a:ea typeface="+mn-ea"/>
                <a:cs typeface="+mn-cs"/>
              </a:rPr>
              <a:t>}_{</a:t>
            </a:r>
            <a:r>
              <a:rPr lang="de-DE" sz="1200" kern="1200" err="1">
                <a:solidFill>
                  <a:schemeClr val="tx1"/>
                </a:solidFill>
                <a:effectLst/>
                <a:latin typeface="+mn-lt"/>
                <a:ea typeface="+mn-ea"/>
                <a:cs typeface="+mn-cs"/>
              </a:rPr>
              <a:t>j,x</a:t>
            </a:r>
            <a:r>
              <a:rPr lang="de-DE" sz="1200" kern="1200">
                <a:solidFill>
                  <a:schemeClr val="tx1"/>
                </a:solidFill>
                <a:effectLst/>
                <a:latin typeface="+mn-lt"/>
                <a:ea typeface="+mn-ea"/>
                <a:cs typeface="+mn-cs"/>
              </a:rPr>
              <a:t>} - \</a:t>
            </a:r>
            <a:r>
              <a:rPr lang="de-DE" sz="1200" kern="1200" err="1">
                <a:solidFill>
                  <a:schemeClr val="tx1"/>
                </a:solidFill>
                <a:effectLst/>
                <a:latin typeface="+mn-lt"/>
                <a:ea typeface="+mn-ea"/>
                <a:cs typeface="+mn-cs"/>
              </a:rPr>
              <a:t>overline</a:t>
            </a:r>
            <a:r>
              <a:rPr lang="de-DE" sz="1200" kern="1200">
                <a:solidFill>
                  <a:schemeClr val="tx1"/>
                </a:solidFill>
                <a:effectLst/>
                <a:latin typeface="+mn-lt"/>
                <a:ea typeface="+mn-ea"/>
                <a:cs typeface="+mn-cs"/>
              </a:rPr>
              <a:t>{\</a:t>
            </a:r>
            <a:r>
              <a:rPr lang="de-DE" sz="1200" kern="1200" err="1">
                <a:solidFill>
                  <a:schemeClr val="tx1"/>
                </a:solidFill>
                <a:effectLst/>
                <a:latin typeface="+mn-lt"/>
                <a:ea typeface="+mn-ea"/>
                <a:cs typeface="+mn-cs"/>
              </a:rPr>
              <a:t>mu</a:t>
            </a:r>
            <a:r>
              <a:rPr lang="de-DE" sz="1200" kern="1200">
                <a:solidFill>
                  <a:schemeClr val="tx1"/>
                </a:solidFill>
                <a:effectLst/>
                <a:latin typeface="+mn-lt"/>
                <a:ea typeface="+mn-ea"/>
                <a:cs typeface="+mn-cs"/>
              </a:rPr>
              <a:t>}_{</a:t>
            </a:r>
            <a:r>
              <a:rPr lang="de-DE" sz="1200" kern="1200" err="1">
                <a:solidFill>
                  <a:schemeClr val="tx1"/>
                </a:solidFill>
                <a:effectLst/>
                <a:latin typeface="+mn-lt"/>
                <a:ea typeface="+mn-ea"/>
                <a:cs typeface="+mn-cs"/>
              </a:rPr>
              <a:t>t,x</a:t>
            </a:r>
            <a:r>
              <a:rPr lang="de-DE" sz="1200" kern="1200">
                <a:solidFill>
                  <a:schemeClr val="tx1"/>
                </a:solidFill>
                <a:effectLst/>
                <a:latin typeface="+mn-lt"/>
                <a:ea typeface="+mn-ea"/>
                <a:cs typeface="+mn-cs"/>
              </a:rPr>
              <a:t>})^2 + (\</a:t>
            </a:r>
            <a:r>
              <a:rPr lang="de-DE" sz="1200" kern="1200" err="1">
                <a:solidFill>
                  <a:schemeClr val="tx1"/>
                </a:solidFill>
                <a:effectLst/>
                <a:latin typeface="+mn-lt"/>
                <a:ea typeface="+mn-ea"/>
                <a:cs typeface="+mn-cs"/>
              </a:rPr>
              <a:t>overline</a:t>
            </a:r>
            <a:r>
              <a:rPr lang="de-DE" sz="1200" kern="1200">
                <a:solidFill>
                  <a:schemeClr val="tx1"/>
                </a:solidFill>
                <a:effectLst/>
                <a:latin typeface="+mn-lt"/>
                <a:ea typeface="+mn-ea"/>
                <a:cs typeface="+mn-cs"/>
              </a:rPr>
              <a:t>{\</a:t>
            </a:r>
            <a:r>
              <a:rPr lang="de-DE" sz="1200" kern="1200" err="1">
                <a:solidFill>
                  <a:schemeClr val="tx1"/>
                </a:solidFill>
                <a:effectLst/>
                <a:latin typeface="+mn-lt"/>
                <a:ea typeface="+mn-ea"/>
                <a:cs typeface="+mn-cs"/>
              </a:rPr>
              <a:t>mu</a:t>
            </a:r>
            <a:r>
              <a:rPr lang="de-DE" sz="1200" kern="1200">
                <a:solidFill>
                  <a:schemeClr val="tx1"/>
                </a:solidFill>
                <a:effectLst/>
                <a:latin typeface="+mn-lt"/>
                <a:ea typeface="+mn-ea"/>
                <a:cs typeface="+mn-cs"/>
              </a:rPr>
              <a:t>}_{</a:t>
            </a:r>
            <a:r>
              <a:rPr lang="de-DE" sz="1200" kern="1200" err="1">
                <a:solidFill>
                  <a:schemeClr val="tx1"/>
                </a:solidFill>
                <a:effectLst/>
                <a:latin typeface="+mn-lt"/>
                <a:ea typeface="+mn-ea"/>
                <a:cs typeface="+mn-cs"/>
              </a:rPr>
              <a:t>j,y</a:t>
            </a:r>
            <a:r>
              <a:rPr lang="de-DE" sz="1200" kern="1200">
                <a:solidFill>
                  <a:schemeClr val="tx1"/>
                </a:solidFill>
                <a:effectLst/>
                <a:latin typeface="+mn-lt"/>
                <a:ea typeface="+mn-ea"/>
                <a:cs typeface="+mn-cs"/>
              </a:rPr>
              <a:t>} - \</a:t>
            </a:r>
            <a:r>
              <a:rPr lang="de-DE" sz="1200" kern="1200" err="1">
                <a:solidFill>
                  <a:schemeClr val="tx1"/>
                </a:solidFill>
                <a:effectLst/>
                <a:latin typeface="+mn-lt"/>
                <a:ea typeface="+mn-ea"/>
                <a:cs typeface="+mn-cs"/>
              </a:rPr>
              <a:t>overline</a:t>
            </a:r>
            <a:r>
              <a:rPr lang="de-DE" sz="1200" kern="1200">
                <a:solidFill>
                  <a:schemeClr val="tx1"/>
                </a:solidFill>
                <a:effectLst/>
                <a:latin typeface="+mn-lt"/>
                <a:ea typeface="+mn-ea"/>
                <a:cs typeface="+mn-cs"/>
              </a:rPr>
              <a:t>{\</a:t>
            </a:r>
            <a:r>
              <a:rPr lang="de-DE" sz="1200" kern="1200" err="1">
                <a:solidFill>
                  <a:schemeClr val="tx1"/>
                </a:solidFill>
                <a:effectLst/>
                <a:latin typeface="+mn-lt"/>
                <a:ea typeface="+mn-ea"/>
                <a:cs typeface="+mn-cs"/>
              </a:rPr>
              <a:t>mu</a:t>
            </a:r>
            <a:r>
              <a:rPr lang="de-DE" sz="1200" kern="1200">
                <a:solidFill>
                  <a:schemeClr val="tx1"/>
                </a:solidFill>
                <a:effectLst/>
                <a:latin typeface="+mn-lt"/>
                <a:ea typeface="+mn-ea"/>
                <a:cs typeface="+mn-cs"/>
              </a:rPr>
              <a:t>}_{</a:t>
            </a:r>
            <a:r>
              <a:rPr lang="de-DE" sz="1200" kern="1200" err="1">
                <a:solidFill>
                  <a:schemeClr val="tx1"/>
                </a:solidFill>
                <a:effectLst/>
                <a:latin typeface="+mn-lt"/>
                <a:ea typeface="+mn-ea"/>
                <a:cs typeface="+mn-cs"/>
              </a:rPr>
              <a:t>t,y</a:t>
            </a:r>
            <a:r>
              <a:rPr lang="de-DE" sz="1200" kern="1200">
                <a:solidFill>
                  <a:schemeClr val="tx1"/>
                </a:solidFill>
                <a:effectLst/>
                <a:latin typeface="+mn-lt"/>
                <a:ea typeface="+mn-ea"/>
                <a:cs typeface="+mn-cs"/>
              </a:rPr>
              <a:t>})^2 </a:t>
            </a:r>
          </a:p>
          <a:p>
            <a:endParaRPr lang="en-US" sz="1200" kern="1200">
              <a:solidFill>
                <a:schemeClr val="tx1"/>
              </a:solidFill>
              <a:effectLst/>
              <a:latin typeface="+mn-lt"/>
              <a:ea typeface="+mn-ea"/>
              <a:cs typeface="+mn-cs"/>
            </a:endParaRPr>
          </a:p>
          <a:p>
            <a:endParaRPr lang="en-US" sz="1200" kern="1200">
              <a:solidFill>
                <a:schemeClr val="tx1"/>
              </a:solidFill>
              <a:effectLst/>
              <a:latin typeface="+mn-lt"/>
              <a:ea typeface="+mn-ea"/>
              <a:cs typeface="+mn-cs"/>
            </a:endParaRPr>
          </a:p>
          <a:p>
            <a:br>
              <a:rPr lang="en-US" sz="1200" kern="1200">
                <a:solidFill>
                  <a:schemeClr val="tx1"/>
                </a:solidFill>
                <a:effectLst/>
                <a:latin typeface="+mn-lt"/>
                <a:ea typeface="+mn-ea"/>
                <a:cs typeface="+mn-cs"/>
              </a:rPr>
            </a:br>
            <a:endParaRPr lang="en-US" sz="1200" kern="1200">
              <a:solidFill>
                <a:schemeClr val="tx1"/>
              </a:solidFill>
              <a:effectLst/>
              <a:latin typeface="+mn-lt"/>
              <a:ea typeface="+mn-ea"/>
              <a:cs typeface="+mn-cs"/>
            </a:endParaRPr>
          </a:p>
          <a:p>
            <a:br>
              <a:rPr lang="en-US" sz="1200" kern="1200">
                <a:solidFill>
                  <a:schemeClr val="tx1"/>
                </a:solidFill>
                <a:effectLst/>
                <a:latin typeface="+mn-lt"/>
                <a:ea typeface="+mn-ea"/>
                <a:cs typeface="+mn-cs"/>
              </a:rPr>
            </a:br>
            <a:endParaRPr lang="en-US" sz="1200" kern="1200">
              <a:solidFill>
                <a:schemeClr val="tx1"/>
              </a:solidFill>
              <a:effectLst/>
              <a:latin typeface="+mn-lt"/>
              <a:ea typeface="+mn-ea"/>
              <a:cs typeface="+mn-cs"/>
            </a:endParaRPr>
          </a:p>
          <a:p>
            <a:r>
              <a:rPr lang="en-US" sz="1200" kern="1200" err="1">
                <a:solidFill>
                  <a:schemeClr val="tx1"/>
                </a:solidFill>
                <a:effectLst/>
                <a:latin typeface="+mn-lt"/>
                <a:ea typeface="+mn-ea"/>
                <a:cs typeface="+mn-cs"/>
              </a:rPr>
              <a:t>h_t^i</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{\partial h(\</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{\mu}_t, j)}{\partial (</a:t>
            </a:r>
            <a:r>
              <a:rPr lang="en-US" sz="1200" kern="1200" err="1">
                <a:solidFill>
                  <a:schemeClr val="tx1"/>
                </a:solidFill>
                <a:effectLst/>
                <a:latin typeface="+mn-lt"/>
                <a:ea typeface="+mn-ea"/>
                <a:cs typeface="+mn-cs"/>
              </a:rPr>
              <a:t>x_t</a:t>
            </a:r>
            <a:r>
              <a:rPr lang="en-US" sz="1200" kern="1200">
                <a:solidFill>
                  <a:schemeClr val="tx1"/>
                </a:solidFill>
                <a:effectLst/>
                <a:latin typeface="+mn-lt"/>
                <a:ea typeface="+mn-ea"/>
                <a:cs typeface="+mn-cs"/>
              </a:rPr>
              <a:t>, </a:t>
            </a:r>
            <a:r>
              <a:rPr lang="en-US" sz="1200" kern="1200" err="1">
                <a:solidFill>
                  <a:schemeClr val="tx1"/>
                </a:solidFill>
                <a:effectLst/>
                <a:latin typeface="+mn-lt"/>
                <a:ea typeface="+mn-ea"/>
                <a:cs typeface="+mn-cs"/>
              </a:rPr>
              <a:t>m_j</a:t>
            </a:r>
            <a:r>
              <a:rPr lang="en-US" sz="1200" kern="1200">
                <a:solidFill>
                  <a:schemeClr val="tx1"/>
                </a:solidFill>
                <a:effectLst/>
                <a:latin typeface="+mn-lt"/>
                <a:ea typeface="+mn-ea"/>
                <a:cs typeface="+mn-cs"/>
              </a:rPr>
              <a:t>)} = \begin{</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t,x</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j,x</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sqrt</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&amp; \</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t,y</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j,y</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sqrt</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&amp; 0 &amp; \</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j,x</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t,x</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sqrt</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&amp; \</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j,y</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t,y</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sqrt</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t>
            </a:r>
          </a:p>
          <a:p>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j,y</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t,y</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&amp; \</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t,x</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j,x</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&amp; -1 &amp; \</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t,y</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j,y</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&amp; \</a:t>
            </a:r>
            <a:r>
              <a:rPr lang="en-US" sz="1200" kern="1200" err="1">
                <a:solidFill>
                  <a:schemeClr val="tx1"/>
                </a:solidFill>
                <a:effectLst/>
                <a:latin typeface="+mn-lt"/>
                <a:ea typeface="+mn-ea"/>
                <a:cs typeface="+mn-cs"/>
              </a:rPr>
              <a:t>frac</a:t>
            </a:r>
            <a:r>
              <a:rPr lang="en-US" sz="1200" kern="1200">
                <a:solidFill>
                  <a:schemeClr val="tx1"/>
                </a:solidFill>
                <a:effectLst/>
                <a:latin typeface="+mn-lt"/>
                <a:ea typeface="+mn-ea"/>
                <a:cs typeface="+mn-cs"/>
              </a:rPr>
              <a:t>{\</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j,x</a:t>
            </a:r>
            <a:r>
              <a:rPr lang="en-US" sz="1200" kern="1200">
                <a:solidFill>
                  <a:schemeClr val="tx1"/>
                </a:solidFill>
                <a:effectLst/>
                <a:latin typeface="+mn-lt"/>
                <a:ea typeface="+mn-ea"/>
                <a:cs typeface="+mn-cs"/>
              </a:rPr>
              <a:t>} - \</a:t>
            </a:r>
            <a:r>
              <a:rPr lang="en-US" sz="1200" kern="1200" err="1">
                <a:solidFill>
                  <a:schemeClr val="tx1"/>
                </a:solidFill>
                <a:effectLst/>
                <a:latin typeface="+mn-lt"/>
                <a:ea typeface="+mn-ea"/>
                <a:cs typeface="+mn-cs"/>
              </a:rPr>
              <a:t>overline</a:t>
            </a:r>
            <a:r>
              <a:rPr lang="en-US" sz="1200" kern="1200">
                <a:solidFill>
                  <a:schemeClr val="tx1"/>
                </a:solidFill>
                <a:effectLst/>
                <a:latin typeface="+mn-lt"/>
                <a:ea typeface="+mn-ea"/>
                <a:cs typeface="+mn-cs"/>
              </a:rPr>
              <a:t>{\mu}_{</a:t>
            </a:r>
            <a:r>
              <a:rPr lang="en-US" sz="1200" kern="1200" err="1">
                <a:solidFill>
                  <a:schemeClr val="tx1"/>
                </a:solidFill>
                <a:effectLst/>
                <a:latin typeface="+mn-lt"/>
                <a:ea typeface="+mn-ea"/>
                <a:cs typeface="+mn-cs"/>
              </a:rPr>
              <a:t>t,x</a:t>
            </a:r>
            <a:r>
              <a:rPr lang="en-US" sz="1200" kern="1200">
                <a:solidFill>
                  <a:schemeClr val="tx1"/>
                </a:solidFill>
                <a:effectLst/>
                <a:latin typeface="+mn-lt"/>
                <a:ea typeface="+mn-ea"/>
                <a:cs typeface="+mn-cs"/>
              </a:rPr>
              <a:t>}}{{q_{</a:t>
            </a:r>
            <a:r>
              <a:rPr lang="en-US" sz="1200" kern="1200" err="1">
                <a:solidFill>
                  <a:schemeClr val="tx1"/>
                </a:solidFill>
                <a:effectLst/>
                <a:latin typeface="+mn-lt"/>
                <a:ea typeface="+mn-ea"/>
                <a:cs typeface="+mn-cs"/>
              </a:rPr>
              <a:t>t,j</a:t>
            </a:r>
            <a:r>
              <a:rPr lang="en-US" sz="1200" kern="1200">
                <a:solidFill>
                  <a:schemeClr val="tx1"/>
                </a:solidFill>
                <a:effectLst/>
                <a:latin typeface="+mn-lt"/>
                <a:ea typeface="+mn-ea"/>
                <a:cs typeface="+mn-cs"/>
              </a:rPr>
              <a:t>}}} </a:t>
            </a:r>
          </a:p>
          <a:p>
            <a:r>
              <a:rPr lang="en-US" sz="1200" kern="1200">
                <a:solidFill>
                  <a:schemeClr val="tx1"/>
                </a:solidFill>
                <a:effectLst/>
                <a:latin typeface="+mn-lt"/>
                <a:ea typeface="+mn-ea"/>
                <a:cs typeface="+mn-cs"/>
              </a:rPr>
              <a:t>\end{</a:t>
            </a:r>
            <a:r>
              <a:rPr lang="en-US" sz="1200" kern="1200" err="1">
                <a:solidFill>
                  <a:schemeClr val="tx1"/>
                </a:solidFill>
                <a:effectLst/>
                <a:latin typeface="+mn-lt"/>
                <a:ea typeface="+mn-ea"/>
                <a:cs typeface="+mn-cs"/>
              </a:rPr>
              <a:t>pmatrix</a:t>
            </a:r>
            <a:r>
              <a:rPr lang="en-US" sz="1200" kern="1200">
                <a:solidFill>
                  <a:schemeClr val="tx1"/>
                </a:solidFill>
                <a:effectLst/>
                <a:latin typeface="+mn-lt"/>
                <a:ea typeface="+mn-ea"/>
                <a:cs typeface="+mn-cs"/>
              </a:rPr>
              <a:t>}</a:t>
            </a:r>
          </a:p>
          <a:p>
            <a:br>
              <a:rPr lang="en-US" sz="1200" kern="1200">
                <a:solidFill>
                  <a:schemeClr val="tx1"/>
                </a:solidFill>
                <a:effectLst/>
                <a:latin typeface="+mn-lt"/>
                <a:ea typeface="+mn-ea"/>
                <a:cs typeface="+mn-cs"/>
              </a:rPr>
            </a:br>
            <a:endParaRPr lang="en-US" sz="1200" kern="1200">
              <a:solidFill>
                <a:schemeClr val="tx1"/>
              </a:solidFill>
              <a:effectLst/>
              <a:latin typeface="+mn-lt"/>
              <a:ea typeface="+mn-ea"/>
              <a:cs typeface="+mn-cs"/>
            </a:endParaRPr>
          </a:p>
          <a:p>
            <a:endParaRPr lang="en-US" sz="1200" kern="120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63B2D7EC-928D-0645-AAE8-498D7443D60E}" type="slidenum">
              <a:rPr lang="en-US" smtClean="0"/>
              <a:t>11</a:t>
            </a:fld>
            <a:endParaRPr lang="en-US"/>
          </a:p>
        </p:txBody>
      </p:sp>
    </p:spTree>
    <p:extLst>
      <p:ext uri="{BB962C8B-B14F-4D97-AF65-F5344CB8AC3E}">
        <p14:creationId xmlns:p14="http://schemas.microsoft.com/office/powerpoint/2010/main" val="147767467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In SLAM, the initial pose is taken to be to origin of the coordinate system. This definition is somewhat arbitrary, in that it can be replaced by any coordinate. None of the landmark locations are known initially</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dirty="0"/>
              <a:t>The following initial mean and covariance express this belief</a:t>
            </a: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\mu_0 = (0,0,0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0)^T</a:t>
            </a:r>
          </a:p>
          <a:p>
            <a:endParaRPr lang="en-US" dirty="0"/>
          </a:p>
          <a:p>
            <a:r>
              <a:rPr lang="en-US" sz="1200" kern="1200" dirty="0">
                <a:solidFill>
                  <a:schemeClr val="tx1"/>
                </a:solidFill>
                <a:effectLst/>
                <a:latin typeface="+mn-lt"/>
                <a:ea typeface="+mn-ea"/>
                <a:cs typeface="+mn-cs"/>
              </a:rPr>
              <a:t>\Sigma_0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0 &amp; 0&amp;0&amp;0 &amp;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&amp;0\\</a:t>
            </a:r>
          </a:p>
          <a:p>
            <a:r>
              <a:rPr lang="en-US" sz="1200" kern="1200" dirty="0">
                <a:solidFill>
                  <a:schemeClr val="tx1"/>
                </a:solidFill>
                <a:effectLst/>
                <a:latin typeface="+mn-lt"/>
                <a:ea typeface="+mn-ea"/>
                <a:cs typeface="+mn-cs"/>
              </a:rPr>
              <a:t>0 &amp; 0&amp;0&amp;0 &amp;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&amp;0\\</a:t>
            </a:r>
          </a:p>
          <a:p>
            <a:r>
              <a:rPr lang="en-US" sz="1200" kern="1200" dirty="0">
                <a:solidFill>
                  <a:schemeClr val="tx1"/>
                </a:solidFill>
                <a:effectLst/>
                <a:latin typeface="+mn-lt"/>
                <a:ea typeface="+mn-ea"/>
                <a:cs typeface="+mn-cs"/>
              </a:rPr>
              <a:t>0 &amp; 0&amp;0&amp;0 &amp;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&amp;0\\</a:t>
            </a:r>
          </a:p>
          <a:p>
            <a:r>
              <a:rPr lang="en-US" sz="1200" kern="1200" dirty="0">
                <a:solidFill>
                  <a:schemeClr val="tx1"/>
                </a:solidFill>
                <a:effectLst/>
                <a:latin typeface="+mn-lt"/>
                <a:ea typeface="+mn-ea"/>
                <a:cs typeface="+mn-cs"/>
              </a:rPr>
              <a:t>0 &amp; 0 &amp; 0 &amp;\</a:t>
            </a:r>
            <a:r>
              <a:rPr lang="en-US" sz="1200" kern="1200" dirty="0" err="1">
                <a:solidFill>
                  <a:schemeClr val="tx1"/>
                </a:solidFill>
                <a:effectLst/>
                <a:latin typeface="+mn-lt"/>
                <a:ea typeface="+mn-ea"/>
                <a:cs typeface="+mn-cs"/>
              </a:rPr>
              <a:t>infty</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&amp;0\\</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ddots</a:t>
            </a:r>
            <a:r>
              <a:rPr lang="en-US" sz="1200" kern="1200" dirty="0">
                <a:solidFill>
                  <a:schemeClr val="tx1"/>
                </a:solidFill>
                <a:effectLst/>
                <a:latin typeface="+mn-lt"/>
                <a:ea typeface="+mn-ea"/>
                <a:cs typeface="+mn-cs"/>
              </a:rPr>
              <a:t> &amp; \</a:t>
            </a:r>
            <a:r>
              <a:rPr lang="en-US" sz="1200" kern="1200" dirty="0" err="1">
                <a:solidFill>
                  <a:schemeClr val="tx1"/>
                </a:solidFill>
                <a:effectLst/>
                <a:latin typeface="+mn-lt"/>
                <a:ea typeface="+mn-ea"/>
                <a:cs typeface="+mn-cs"/>
              </a:rPr>
              <a:t>vdots</a:t>
            </a:r>
            <a:r>
              <a:rPr lang="en-US" sz="1200" kern="1200" dirty="0">
                <a:solidFill>
                  <a:schemeClr val="tx1"/>
                </a:solidFill>
                <a:effectLst/>
                <a:latin typeface="+mn-lt"/>
                <a:ea typeface="+mn-ea"/>
                <a:cs typeface="+mn-cs"/>
              </a:rPr>
              <a:t> \\</a:t>
            </a:r>
          </a:p>
          <a:p>
            <a:r>
              <a:rPr lang="en-US" sz="1200" kern="1200" dirty="0">
                <a:solidFill>
                  <a:schemeClr val="tx1"/>
                </a:solidFill>
                <a:effectLst/>
                <a:latin typeface="+mn-lt"/>
                <a:ea typeface="+mn-ea"/>
                <a:cs typeface="+mn-cs"/>
              </a:rPr>
              <a:t>0 &amp; 0 &amp; 0 &amp; 0  &amp; \</a:t>
            </a:r>
            <a:r>
              <a:rPr lang="en-US" sz="1200" kern="1200" dirty="0" err="1">
                <a:solidFill>
                  <a:schemeClr val="tx1"/>
                </a:solidFill>
                <a:effectLst/>
                <a:latin typeface="+mn-lt"/>
                <a:ea typeface="+mn-ea"/>
                <a:cs typeface="+mn-cs"/>
              </a:rPr>
              <a:t>ldots</a:t>
            </a:r>
            <a:r>
              <a:rPr lang="en-US" sz="1200" kern="1200" dirty="0">
                <a:solidFill>
                  <a:schemeClr val="tx1"/>
                </a:solidFill>
                <a:effectLst/>
                <a:latin typeface="+mn-lt"/>
                <a:ea typeface="+mn-ea"/>
                <a:cs typeface="+mn-cs"/>
              </a:rPr>
              <a:t> &amp;\</a:t>
            </a:r>
            <a:r>
              <a:rPr lang="en-US" sz="1200" kern="1200" dirty="0" err="1">
                <a:solidFill>
                  <a:schemeClr val="tx1"/>
                </a:solidFill>
                <a:effectLst/>
                <a:latin typeface="+mn-lt"/>
                <a:ea typeface="+mn-ea"/>
                <a:cs typeface="+mn-cs"/>
              </a:rPr>
              <a:t>infty</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12</a:t>
            </a:fld>
            <a:endParaRPr lang="en-US"/>
          </a:p>
        </p:txBody>
      </p:sp>
    </p:spTree>
    <p:extLst>
      <p:ext uri="{BB962C8B-B14F-4D97-AF65-F5344CB8AC3E}">
        <p14:creationId xmlns:p14="http://schemas.microsoft.com/office/powerpoint/2010/main" val="14743682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a:t>Here we initialize the landmark estimate (µˆ</a:t>
            </a:r>
            <a:r>
              <a:rPr lang="en-US" dirty="0" err="1"/>
              <a:t>j,x</a:t>
            </a:r>
            <a:r>
              <a:rPr lang="en-US" dirty="0"/>
              <a:t> µˆ</a:t>
            </a:r>
            <a:r>
              <a:rPr lang="en-US" dirty="0" err="1"/>
              <a:t>j,y</a:t>
            </a:r>
            <a:r>
              <a:rPr lang="en-US" dirty="0"/>
              <a:t> µˆ</a:t>
            </a:r>
            <a:r>
              <a:rPr lang="en-US" dirty="0" err="1"/>
              <a:t>j,s</a:t>
            </a:r>
            <a:r>
              <a:rPr lang="en-US" dirty="0"/>
              <a:t>) T with the expected position. This expected position is derived from the expected robot pose and the measurement variables for this landmark</a:t>
            </a:r>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 \, \cos(\</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 + \overline{\mu}_{t,\theta})\\</a:t>
            </a:r>
          </a:p>
          <a:p>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 \, \sin(\</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 + \overline{\mu}_{t,\theta})\\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10"/>
          </p:nvPr>
        </p:nvSpPr>
        <p:spPr/>
        <p:txBody>
          <a:bodyPr/>
          <a:lstStyle/>
          <a:p>
            <a:fld id="{63B2D7EC-928D-0645-AAE8-498D7443D60E}" type="slidenum">
              <a:rPr lang="en-US" smtClean="0"/>
              <a:t>13</a:t>
            </a:fld>
            <a:endParaRPr lang="en-US"/>
          </a:p>
        </p:txBody>
      </p:sp>
    </p:spTree>
    <p:extLst>
      <p:ext uri="{BB962C8B-B14F-4D97-AF65-F5344CB8AC3E}">
        <p14:creationId xmlns:p14="http://schemas.microsoft.com/office/powerpoint/2010/main" val="17517815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a:t>notice the similarity to the EKF localization algorithm</a:t>
            </a:r>
          </a:p>
          <a:p>
            <a:pPr marL="171450" indent="-171450">
              <a:buFont typeface="Arial" charset="0"/>
              <a:buChar char="•"/>
            </a:pPr>
            <a:r>
              <a:rPr lang="en-US" dirty="0"/>
              <a:t>Lines 2 through 5 apply the motion update, whereas Lines 6 through 20 incorporate the measurement vector</a:t>
            </a:r>
          </a:p>
          <a:p>
            <a:pPr marL="171450" indent="-171450">
              <a:buFont typeface="Arial" charset="0"/>
              <a:buChar char="•"/>
            </a:pPr>
            <a:r>
              <a:rPr lang="en-US" dirty="0"/>
              <a:t>. In particular, Lines 3 and 5 manipulate the mean and covariance of the belief in accordance to the motion model. This manipulation only affects those elements of the belief distribution concerned with the robot pose</a:t>
            </a:r>
          </a:p>
          <a:p>
            <a:pPr marL="171450" indent="-171450">
              <a:buFont typeface="Arial" charset="0"/>
              <a:buChar char="•"/>
            </a:pPr>
            <a:r>
              <a:rPr lang="en-US" dirty="0"/>
              <a:t>Lines 7 through 18 iterate through all measurements. The test in Line 9 returns true only for landmarks for which we have no initial location estimate. </a:t>
            </a:r>
          </a:p>
          <a:p>
            <a:pPr marL="171450" indent="-171450">
              <a:buFont typeface="Arial" charset="0"/>
              <a:buChar char="•"/>
            </a:pPr>
            <a:r>
              <a:rPr lang="en-US" dirty="0"/>
              <a:t>s. For each measurement, an “expected” measurement is computed in Line 14, and the corresponding Kalman gain is computed in Line 17. Notice that the Kalman gain is a matrix of size 2N + 3 times 2. This matrix is usually non-sparse, that is, information is propagated through the entire state estimate.</a:t>
            </a:r>
          </a:p>
          <a:p>
            <a:pPr marL="171450" indent="-171450">
              <a:buFont typeface="Arial" charset="0"/>
              <a:buChar char="•"/>
            </a:pPr>
            <a:r>
              <a:rPr lang="en-US" dirty="0"/>
              <a:t>The fact that the Kalman gain is fully populated for all state variables—and not just the observed landmark and the robot pose—is important. In SLAM, observing a landmark does not just improve the position estimate of this very landmark, but that of other landmarks as well.</a:t>
            </a:r>
          </a:p>
          <a:p>
            <a:pPr marL="171450" indent="-171450">
              <a:buFont typeface="Arial" charset="0"/>
              <a:buChar char="•"/>
            </a:pPr>
            <a:r>
              <a:rPr lang="en-US" dirty="0"/>
              <a:t>This effect is mediated by the robot pose: Observing a landmark improves the robot pose estimate, and as a result it eliminates some of the uncertainty of landmarks previously seen by the same robot.</a:t>
            </a:r>
          </a:p>
          <a:p>
            <a:pPr marL="171450" indent="-171450">
              <a:buFont typeface="Arial" charset="0"/>
              <a:buChar char="•"/>
            </a:pPr>
            <a:r>
              <a:rPr lang="en-US" dirty="0"/>
              <a:t>, this dependence is captured in the Gaussian posterior, more specifically, in the off-diagonal covariance elements of the matrix </a:t>
            </a:r>
            <a:r>
              <a:rPr lang="en-US" dirty="0" err="1"/>
              <a:t>Σt</a:t>
            </a:r>
            <a:r>
              <a:rPr lang="en-US" dirty="0"/>
              <a:t>.</a:t>
            </a:r>
          </a:p>
          <a:p>
            <a:pPr marL="171450" indent="-171450">
              <a:buFont typeface="Arial" charset="0"/>
              <a:buChar char="•"/>
            </a:pPr>
            <a:r>
              <a:rPr lang="en-US" dirty="0"/>
              <a:t>. This effect is probably the most important characteristic of the SLAM posterior: Information that helps localize the robot is propagated through map, and as a result improves the localization of other landmarks in the map.</a:t>
            </a:r>
          </a:p>
          <a:p>
            <a:pPr marL="171450" indent="-171450">
              <a:buFont typeface="Arial" charset="0"/>
              <a:buChar char="•"/>
            </a:pPr>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ge</a:t>
            </a:r>
            <a:r>
              <a:rPr lang="en-US" sz="1200" kern="1200" dirty="0">
                <a:solidFill>
                  <a:schemeClr val="tx1"/>
                </a:solidFill>
                <a:effectLst/>
                <a:latin typeface="+mn-lt"/>
                <a:ea typeface="+mn-ea"/>
                <a:cs typeface="+mn-cs"/>
              </a:rPr>
              <a:t>[]{algorithm2e}</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DeclareMathOperator</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}{atan2}</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newcommand</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argmin</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operatornamewithlimits</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argmin</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\begin{algorithm}[H]</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KwData</a:t>
            </a:r>
            <a:r>
              <a:rPr lang="en-US" sz="1200" kern="1200" dirty="0">
                <a:solidFill>
                  <a:schemeClr val="tx1"/>
                </a:solidFill>
                <a:effectLst/>
                <a:latin typeface="+mn-lt"/>
                <a:ea typeface="+mn-ea"/>
                <a:cs typeface="+mn-cs"/>
              </a:rPr>
              <a:t>{$(\mu_{t-1}, \Sigma_{t-1}),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{\color{red} </a:t>
            </a:r>
            <a:r>
              <a:rPr lang="en-US" sz="1200" kern="1200" dirty="0" err="1">
                <a:solidFill>
                  <a:schemeClr val="tx1"/>
                </a:solidFill>
                <a:effectLst/>
                <a:latin typeface="+mn-lt"/>
                <a:ea typeface="+mn-ea"/>
                <a:cs typeface="+mn-cs"/>
              </a:rPr>
              <a:t>c_t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KwResult</a:t>
            </a:r>
            <a:r>
              <a:rPr lang="en-US" sz="1200" kern="1200" dirty="0">
                <a:solidFill>
                  <a:schemeClr val="tx1"/>
                </a:solidFill>
                <a:effectLst/>
                <a:latin typeface="+mn-lt"/>
                <a:ea typeface="+mn-ea"/>
                <a:cs typeface="+mn-cs"/>
              </a:rPr>
              <a:t>{$(\mu_{t}, \Sigma_{t})$}</a:t>
            </a:r>
          </a:p>
          <a:p>
            <a:r>
              <a:rPr lang="en-US" sz="1200" kern="1200" dirty="0">
                <a:solidFill>
                  <a:schemeClr val="tx1"/>
                </a:solidFill>
                <a:effectLst/>
                <a:latin typeface="+mn-lt"/>
                <a:ea typeface="+mn-ea"/>
                <a:cs typeface="+mn-cs"/>
              </a:rPr>
              <a:t>$\overline{\mu}_t =  { g(</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\mu_{t-1})}$\;</a:t>
            </a:r>
          </a:p>
          <a:p>
            <a:r>
              <a:rPr lang="en-US" sz="1200" kern="1200" dirty="0">
                <a:solidFill>
                  <a:schemeClr val="tx1"/>
                </a:solidFill>
                <a:effectLst/>
                <a:latin typeface="+mn-lt"/>
                <a:ea typeface="+mn-ea"/>
                <a:cs typeface="+mn-cs"/>
              </a:rPr>
              <a:t>$\overline{\Sigma}_t = {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 \Sigma_{t-1}{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T+R_t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ForEach</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)^T$}{</a:t>
            </a:r>
          </a:p>
          <a:p>
            <a:r>
              <a:rPr lang="en-US" sz="1200" kern="1200" dirty="0">
                <a:solidFill>
                  <a:schemeClr val="tx1"/>
                </a:solidFill>
                <a:effectLst/>
                <a:latin typeface="+mn-lt"/>
                <a:ea typeface="+mn-ea"/>
                <a:cs typeface="+mn-cs"/>
              </a:rPr>
              <a:t>$j = </a:t>
            </a:r>
            <a:r>
              <a:rPr lang="en-US" sz="1200" kern="1200" dirty="0" err="1">
                <a:solidFill>
                  <a:schemeClr val="tx1"/>
                </a:solidFill>
                <a:effectLst/>
                <a:latin typeface="+mn-lt"/>
                <a:ea typeface="+mn-ea"/>
                <a:cs typeface="+mn-cs"/>
              </a:rPr>
              <a:t>c_t^i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{\color{red}</a:t>
            </a:r>
          </a:p>
          <a:p>
            <a:r>
              <a:rPr lang="en-US" sz="1200" kern="1200" dirty="0">
                <a:solidFill>
                  <a:schemeClr val="tx1"/>
                </a:solidFill>
                <a:effectLst/>
                <a:latin typeface="+mn-lt"/>
                <a:ea typeface="+mn-ea"/>
                <a:cs typeface="+mn-cs"/>
              </a:rPr>
              <a:t> \If{landmark $j$ never seen before}{</a:t>
            </a: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 \, \cos(\</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 + \overline{\mu}_{t,\theta})\\</a:t>
            </a:r>
          </a:p>
          <a:p>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 \, \sin(\</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 + \overline{\mu}_{t,\theta})\\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$\hat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\sqrt{(\overline{\mu}_{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 - \overline{\mu}_{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(\overline{\mu}_{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j,y</a:t>
            </a:r>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 \overline{\mu}_{</a:t>
            </a:r>
            <a:r>
              <a:rPr lang="en-US" sz="1200" kern="1200" dirty="0" err="1">
                <a:solidFill>
                  <a:schemeClr val="tx1"/>
                </a:solidFill>
                <a:effectLst/>
                <a:latin typeface="+mn-lt"/>
                <a:ea typeface="+mn-ea"/>
                <a:cs typeface="+mn-cs"/>
              </a:rPr>
              <a:t>j,x</a:t>
            </a:r>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 - \overline{\mu}_{t,\theta}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{\color{red}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 F_{</a:t>
            </a:r>
            <a:r>
              <a:rPr lang="en-US" sz="1200" kern="1200" dirty="0" err="1">
                <a:solidFill>
                  <a:schemeClr val="tx1"/>
                </a:solidFill>
                <a:effectLst/>
                <a:latin typeface="+mn-lt"/>
                <a:ea typeface="+mn-ea"/>
                <a:cs typeface="+mn-cs"/>
              </a:rPr>
              <a:t>x,j</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S_t^i</a:t>
            </a:r>
            <a:r>
              <a:rPr lang="en-US" sz="1200" kern="1200" dirty="0">
                <a:solidFill>
                  <a:schemeClr val="tx1"/>
                </a:solidFill>
                <a:effectLst/>
                <a:latin typeface="+mn-lt"/>
                <a:ea typeface="+mn-ea"/>
                <a:cs typeface="+mn-cs"/>
              </a:rPr>
              <a:t> =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\overline{\Sigma}_t \,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]^T}+</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 \overline{\Sigma}_t \, {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S_t^i</a:t>
            </a:r>
            <a:r>
              <a:rPr lang="en-US" sz="1200" kern="1200" dirty="0">
                <a:solidFill>
                  <a:schemeClr val="tx1"/>
                </a:solidFill>
                <a:effectLst/>
                <a:latin typeface="+mn-lt"/>
                <a:ea typeface="+mn-ea"/>
                <a:cs typeface="+mn-cs"/>
              </a:rPr>
              <a:t>]^{-1}$\;</a:t>
            </a:r>
          </a:p>
          <a:p>
            <a:r>
              <a:rPr lang="en-US" sz="1200" kern="1200" dirty="0">
                <a:solidFill>
                  <a:schemeClr val="tx1"/>
                </a:solidFill>
                <a:effectLst/>
                <a:latin typeface="+mn-lt"/>
                <a:ea typeface="+mn-ea"/>
                <a:cs typeface="+mn-cs"/>
              </a:rPr>
              <a:t>$\overline{\mu}_t = \overline{\mu}_t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\hat{z}_</a:t>
            </a:r>
            <a:r>
              <a:rPr lang="en-US" sz="1200" kern="1200" dirty="0" err="1">
                <a:solidFill>
                  <a:schemeClr val="tx1"/>
                </a:solidFill>
                <a:effectLst/>
                <a:latin typeface="+mn-lt"/>
                <a:ea typeface="+mn-ea"/>
                <a:cs typeface="+mn-cs"/>
              </a:rPr>
              <a:t>t^i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$\overline{\Sigma}_t = (I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H_t^i</a:t>
            </a:r>
            <a:r>
              <a:rPr lang="en-US" sz="1200" kern="1200" dirty="0">
                <a:solidFill>
                  <a:schemeClr val="tx1"/>
                </a:solidFill>
                <a:effectLst/>
                <a:latin typeface="+mn-lt"/>
                <a:ea typeface="+mn-ea"/>
                <a:cs typeface="+mn-cs"/>
              </a:rPr>
              <a:t>})\, \overline{\Sigma}_t$\;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 \overline{\mu}_t$ and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 = \overline{\Sigma}_t$\;</a:t>
            </a:r>
          </a:p>
          <a:p>
            <a:r>
              <a:rPr lang="en-US" sz="1200" kern="1200" dirty="0">
                <a:solidFill>
                  <a:schemeClr val="tx1"/>
                </a:solidFill>
                <a:effectLst/>
                <a:latin typeface="+mn-lt"/>
                <a:ea typeface="+mn-ea"/>
                <a:cs typeface="+mn-cs"/>
              </a:rPr>
              <a:t>Return $(\</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\end{algorithm}</a:t>
            </a:r>
          </a:p>
        </p:txBody>
      </p:sp>
      <p:sp>
        <p:nvSpPr>
          <p:cNvPr id="4" name="Slide Number Placeholder 3"/>
          <p:cNvSpPr>
            <a:spLocks noGrp="1"/>
          </p:cNvSpPr>
          <p:nvPr>
            <p:ph type="sldNum" sz="quarter" idx="10"/>
          </p:nvPr>
        </p:nvSpPr>
        <p:spPr/>
        <p:txBody>
          <a:bodyPr/>
          <a:lstStyle/>
          <a:p>
            <a:fld id="{63B2D7EC-928D-0645-AAE8-498D7443D60E}" type="slidenum">
              <a:rPr lang="en-US" smtClean="0"/>
              <a:t>14</a:t>
            </a:fld>
            <a:endParaRPr lang="en-US"/>
          </a:p>
        </p:txBody>
      </p:sp>
    </p:spTree>
    <p:extLst>
      <p:ext uri="{BB962C8B-B14F-4D97-AF65-F5344CB8AC3E}">
        <p14:creationId xmlns:p14="http://schemas.microsoft.com/office/powerpoint/2010/main" val="186808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1 illustrates the EKF SLAM algorithm for an artificial example. The robot navigates from a start pose which serves as the origin of its coordinate system</a:t>
            </a:r>
          </a:p>
          <a:p>
            <a:pPr marL="171450" indent="-171450">
              <a:buFont typeface="Arial" charset="0"/>
              <a:buChar char="•"/>
            </a:pPr>
            <a:r>
              <a:rPr lang="en-US"/>
              <a:t>As it moves, its own pose uncertainty increases, as indicated by uncertainty ellipses of growing diameter. It also senses nearby landmarks and maps them with an uncertainty that combines the fixed measurement uncertainty with the increasing pose uncertainty.</a:t>
            </a:r>
          </a:p>
          <a:p>
            <a:pPr marL="171450" indent="-171450">
              <a:buFont typeface="Arial" charset="0"/>
              <a:buChar char="•"/>
            </a:pPr>
            <a:r>
              <a:rPr lang="en-US"/>
              <a:t>As a result, the uncertainty in the landmark locations grows over time. In fact, it parallels that of the pose uncertainty at the time a landmark is observed</a:t>
            </a:r>
          </a:p>
          <a:p>
            <a:pPr marL="171450" indent="-171450">
              <a:buFont typeface="Arial" charset="0"/>
              <a:buChar char="•"/>
            </a:pPr>
            <a:r>
              <a:rPr lang="en-US"/>
              <a:t>The interesting transition happens in Figure 10.1d: Here the robot observes the landmark it saw in the very beginning of mapping, and whose location is relatively well known. Through this observation, the robot’s pose error is reduced, as indicated in Figure 10.1d—notice the very small error ellipse for the final robot pose!</a:t>
            </a:r>
          </a:p>
          <a:p>
            <a:pPr marL="171450" indent="-171450">
              <a:buFont typeface="Arial" charset="0"/>
              <a:buChar char="•"/>
            </a:pPr>
            <a:r>
              <a:rPr lang="en-US"/>
              <a:t>Further, this observation also reduces the uncertainty for other landmarks in the map!</a:t>
            </a:r>
          </a:p>
          <a:p>
            <a:pPr marL="171450" indent="-171450">
              <a:buFont typeface="Arial" charset="0"/>
              <a:buChar char="•"/>
            </a:pPr>
            <a:r>
              <a:rPr lang="en-US"/>
              <a:t>This phenomenon arises from a correlation that is expressed in the covariance matrix of the Gaussian posterior</a:t>
            </a:r>
          </a:p>
          <a:p>
            <a:pPr marL="171450" indent="-171450">
              <a:buFont typeface="Arial" charset="0"/>
              <a:buChar char="•"/>
            </a:pPr>
            <a:r>
              <a:rPr lang="en-US"/>
              <a:t>When gaining information on the robot’s pose, this information spreads to previously observed landmarks.</a:t>
            </a:r>
          </a:p>
        </p:txBody>
      </p:sp>
      <p:sp>
        <p:nvSpPr>
          <p:cNvPr id="4" name="Slide Number Placeholder 3"/>
          <p:cNvSpPr>
            <a:spLocks noGrp="1"/>
          </p:cNvSpPr>
          <p:nvPr>
            <p:ph type="sldNum" sz="quarter" idx="10"/>
          </p:nvPr>
        </p:nvSpPr>
        <p:spPr/>
        <p:txBody>
          <a:bodyPr/>
          <a:lstStyle/>
          <a:p>
            <a:fld id="{63B2D7EC-928D-0645-AAE8-498D7443D60E}" type="slidenum">
              <a:rPr lang="en-US" smtClean="0"/>
              <a:t>15</a:t>
            </a:fld>
            <a:endParaRPr lang="en-US"/>
          </a:p>
        </p:txBody>
      </p:sp>
    </p:spTree>
    <p:extLst>
      <p:ext uri="{BB962C8B-B14F-4D97-AF65-F5344CB8AC3E}">
        <p14:creationId xmlns:p14="http://schemas.microsoft.com/office/powerpoint/2010/main" val="10347719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The EKF SLAM algorithm with known correspondences is now extended into the general EKF SLAM algorithm, which uses an incremental maximum likelihood (ML) estimator to determine correspondences</a:t>
            </a:r>
          </a:p>
        </p:txBody>
      </p:sp>
      <p:sp>
        <p:nvSpPr>
          <p:cNvPr id="4" name="Slide Number Placeholder 3"/>
          <p:cNvSpPr>
            <a:spLocks noGrp="1"/>
          </p:cNvSpPr>
          <p:nvPr>
            <p:ph type="sldNum" sz="quarter" idx="10"/>
          </p:nvPr>
        </p:nvSpPr>
        <p:spPr/>
        <p:txBody>
          <a:bodyPr/>
          <a:lstStyle/>
          <a:p>
            <a:fld id="{63B2D7EC-928D-0645-AAE8-498D7443D60E}" type="slidenum">
              <a:rPr lang="en-US" smtClean="0"/>
              <a:t>16</a:t>
            </a:fld>
            <a:endParaRPr lang="en-US"/>
          </a:p>
        </p:txBody>
      </p:sp>
    </p:spTree>
    <p:extLst>
      <p:ext uri="{BB962C8B-B14F-4D97-AF65-F5344CB8AC3E}">
        <p14:creationId xmlns:p14="http://schemas.microsoft.com/office/powerpoint/2010/main" val="18658313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dirty="0"/>
              <a:t>The input to this algorithm now lacks a correspondence variable ct. Instead, it includes the momentary size of the map, Nt−1.</a:t>
            </a:r>
          </a:p>
          <a:p>
            <a:pPr marL="171450" indent="-171450">
              <a:buFont typeface="Arial" charset="0"/>
              <a:buChar char="•"/>
            </a:pPr>
            <a:r>
              <a:rPr lang="en-US" dirty="0"/>
              <a:t>The motion update stays the same</a:t>
            </a:r>
          </a:p>
          <a:p>
            <a:pPr marL="171450" indent="-171450">
              <a:buFont typeface="Arial" charset="0"/>
              <a:buChar char="•"/>
            </a:pPr>
            <a:r>
              <a:rPr lang="en-US" dirty="0"/>
              <a:t>. The measurement update loop, however, is different. Starting in Line 8, it first creates the hypothesis of a new landmark with index </a:t>
            </a:r>
            <a:r>
              <a:rPr lang="en-US" dirty="0" err="1"/>
              <a:t>Nt</a:t>
            </a:r>
            <a:r>
              <a:rPr lang="en-US" dirty="0"/>
              <a:t> + 1; this index is one larger than the landmarks in the map at this point in time.</a:t>
            </a:r>
          </a:p>
          <a:p>
            <a:pPr marL="171450" indent="-171450">
              <a:buFont typeface="Arial" charset="0"/>
              <a:buChar char="•"/>
            </a:pPr>
            <a:r>
              <a:rPr lang="en-US" dirty="0"/>
              <a:t>The new landmark’s location is initialized in Line 9, by calculating its expected location given the estimate of the robot pose and the range and bearing in the measurement.</a:t>
            </a:r>
          </a:p>
          <a:p>
            <a:pPr marL="171450" indent="-171450">
              <a:buFont typeface="Arial" charset="0"/>
              <a:buChar char="•"/>
            </a:pPr>
            <a:r>
              <a:rPr lang="en-US" dirty="0"/>
              <a:t>Next, various update quantities are then computed in Lines 10 through 18 for all Nt+1 possible landmarks, including the “new” landmark</a:t>
            </a:r>
          </a:p>
          <a:p>
            <a:pPr marL="171450" indent="-171450">
              <a:buFont typeface="Arial" charset="0"/>
              <a:buChar char="•"/>
            </a:pPr>
            <a:r>
              <a:rPr lang="en-US" dirty="0"/>
              <a:t>Line 19 sets the threshold for the creation of a new landmark: </a:t>
            </a:r>
          </a:p>
          <a:p>
            <a:pPr marL="171450" indent="-171450">
              <a:buFont typeface="Arial" charset="0"/>
              <a:buChar char="•"/>
            </a:pPr>
            <a:r>
              <a:rPr lang="en-US" b="1" dirty="0"/>
              <a:t>A new landmark is created if the </a:t>
            </a:r>
            <a:r>
              <a:rPr lang="en-US" b="1" dirty="0" err="1"/>
              <a:t>Mahalanobis</a:t>
            </a:r>
            <a:r>
              <a:rPr lang="en-US" b="1" dirty="0"/>
              <a:t> distance to all existing landmarks in the map exceeds the value α.</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b="0" i="0" kern="1200" dirty="0">
                <a:solidFill>
                  <a:schemeClr val="tx1"/>
                </a:solidFill>
                <a:effectLst/>
                <a:latin typeface="+mn-lt"/>
                <a:ea typeface="+mn-ea"/>
                <a:cs typeface="+mn-cs"/>
              </a:rPr>
              <a:t>It is a multi-dimensional generalization of the idea of measuring how many </a:t>
            </a:r>
            <a:r>
              <a:rPr lang="en-US" sz="1200" b="0" i="0" u="none" strike="noStrike" kern="1200" dirty="0">
                <a:solidFill>
                  <a:schemeClr val="tx1"/>
                </a:solidFill>
                <a:effectLst/>
                <a:latin typeface="+mn-lt"/>
                <a:ea typeface="+mn-ea"/>
                <a:cs typeface="+mn-cs"/>
                <a:hlinkClick r:id="rId3" tooltip="Standard deviations"/>
              </a:rPr>
              <a:t>standard deviations</a:t>
            </a:r>
            <a:r>
              <a:rPr lang="en-US" sz="1200" b="0" i="0" kern="1200" dirty="0">
                <a:solidFill>
                  <a:schemeClr val="tx1"/>
                </a:solidFill>
                <a:effectLst/>
                <a:latin typeface="+mn-lt"/>
                <a:ea typeface="+mn-ea"/>
                <a:cs typeface="+mn-cs"/>
              </a:rPr>
              <a:t> away P is from the </a:t>
            </a:r>
            <a:r>
              <a:rPr lang="en-US" sz="1200" b="0" i="0" u="none" strike="noStrike" kern="1200" dirty="0">
                <a:solidFill>
                  <a:schemeClr val="tx1"/>
                </a:solidFill>
                <a:effectLst/>
                <a:latin typeface="+mn-lt"/>
                <a:ea typeface="+mn-ea"/>
                <a:cs typeface="+mn-cs"/>
                <a:hlinkClick r:id="rId4" tooltip="Mean"/>
              </a:rPr>
              <a:t>mean</a:t>
            </a:r>
            <a:r>
              <a:rPr lang="en-US" sz="1200" b="0" i="0" kern="1200" dirty="0">
                <a:solidFill>
                  <a:schemeClr val="tx1"/>
                </a:solidFill>
                <a:effectLst/>
                <a:latin typeface="+mn-lt"/>
                <a:ea typeface="+mn-ea"/>
                <a:cs typeface="+mn-cs"/>
              </a:rPr>
              <a:t> of D</a:t>
            </a:r>
          </a:p>
          <a:p>
            <a:pPr marL="171450" marR="0" indent="-171450" algn="l" defTabSz="914400" rtl="0" eaLnBrk="1" fontAlgn="auto" latinLnBrk="0" hangingPunct="1">
              <a:lnSpc>
                <a:spcPct val="100000"/>
              </a:lnSpc>
              <a:spcBef>
                <a:spcPts val="0"/>
              </a:spcBef>
              <a:spcAft>
                <a:spcPts val="0"/>
              </a:spcAft>
              <a:buClrTx/>
              <a:buSzTx/>
              <a:buFont typeface="Arial" charset="0"/>
              <a:buChar char="•"/>
              <a:tabLst/>
              <a:defRPr/>
            </a:pPr>
            <a:r>
              <a:rPr lang="en-US" sz="1200" b="0" i="0" kern="1200" dirty="0">
                <a:solidFill>
                  <a:schemeClr val="tx1"/>
                </a:solidFill>
                <a:effectLst/>
                <a:latin typeface="+mn-lt"/>
                <a:ea typeface="+mn-ea"/>
                <a:cs typeface="+mn-cs"/>
              </a:rPr>
              <a:t>This distance is zero if P is at the mean of D, and grows as P moves away from the mean: along each </a:t>
            </a:r>
            <a:r>
              <a:rPr lang="en-US" sz="1200" b="0" i="0" u="none" strike="noStrike" kern="1200" dirty="0">
                <a:solidFill>
                  <a:schemeClr val="tx1"/>
                </a:solidFill>
                <a:effectLst/>
                <a:latin typeface="+mn-lt"/>
                <a:ea typeface="+mn-ea"/>
                <a:cs typeface="+mn-cs"/>
                <a:hlinkClick r:id="rId5" tooltip="Principal component"/>
              </a:rPr>
              <a:t>principal component</a:t>
            </a:r>
            <a:r>
              <a:rPr lang="en-US" sz="1200" b="0" i="0" kern="1200" dirty="0">
                <a:solidFill>
                  <a:schemeClr val="tx1"/>
                </a:solidFill>
                <a:effectLst/>
                <a:latin typeface="+mn-lt"/>
                <a:ea typeface="+mn-ea"/>
                <a:cs typeface="+mn-cs"/>
              </a:rPr>
              <a:t> axis, it measures the number of standard deviations from P to the mean of D</a:t>
            </a:r>
            <a:endParaRPr lang="en-US" dirty="0"/>
          </a:p>
          <a:p>
            <a:pPr marL="171450" indent="-171450">
              <a:buFont typeface="Arial" charset="0"/>
              <a:buChar char="•"/>
            </a:pPr>
            <a:r>
              <a:rPr lang="en-US" dirty="0"/>
              <a:t>The ML correspondence is then selected in Line 20. If the measurement is associated with a previously unseen landmark, the landmark counter is incremented in Line 21, and various vectors and matrices are enlarged accordingly</a:t>
            </a:r>
            <a:endParaRPr lang="nl-NL" sz="1200" kern="1200" dirty="0">
              <a:solidFill>
                <a:schemeClr val="tx1"/>
              </a:solidFill>
              <a:effectLst/>
              <a:latin typeface="+mn-lt"/>
              <a:ea typeface="+mn-ea"/>
              <a:cs typeface="+mn-cs"/>
            </a:endParaRPr>
          </a:p>
          <a:p>
            <a:endParaRPr lang="nl-NL" sz="1200" kern="1200" dirty="0">
              <a:solidFill>
                <a:schemeClr val="tx1"/>
              </a:solidFill>
              <a:effectLst/>
              <a:latin typeface="+mn-lt"/>
              <a:ea typeface="+mn-ea"/>
              <a:cs typeface="+mn-cs"/>
            </a:endParaRPr>
          </a:p>
          <a:p>
            <a:endParaRPr lang="nl-NL" sz="1200" kern="1200" dirty="0">
              <a:solidFill>
                <a:schemeClr val="tx1"/>
              </a:solidFill>
              <a:effectLst/>
              <a:latin typeface="+mn-lt"/>
              <a:ea typeface="+mn-ea"/>
              <a:cs typeface="+mn-cs"/>
            </a:endParaRPr>
          </a:p>
          <a:p>
            <a:r>
              <a:rPr lang="nl-NL" sz="1200" kern="1200" dirty="0" err="1">
                <a:solidFill>
                  <a:schemeClr val="tx1"/>
                </a:solidFill>
                <a:effectLst/>
                <a:latin typeface="+mn-lt"/>
                <a:ea typeface="+mn-ea"/>
                <a:cs typeface="+mn-cs"/>
              </a:rPr>
              <a:t>h_t^k</a:t>
            </a:r>
            <a:r>
              <a:rPr lang="nl-NL" sz="1200" kern="1200" dirty="0">
                <a:solidFill>
                  <a:schemeClr val="tx1"/>
                </a:solidFill>
                <a:effectLst/>
                <a:latin typeface="+mn-lt"/>
                <a:ea typeface="+mn-ea"/>
                <a:cs typeface="+mn-cs"/>
              </a:rPr>
              <a:t> =\begin{</a:t>
            </a:r>
            <a:r>
              <a:rPr lang="nl-NL" sz="1200" kern="1200" dirty="0" err="1">
                <a:solidFill>
                  <a:schemeClr val="tx1"/>
                </a:solidFill>
                <a:effectLst/>
                <a:latin typeface="+mn-lt"/>
                <a:ea typeface="+mn-ea"/>
                <a:cs typeface="+mn-cs"/>
              </a:rPr>
              <a:t>pmatrix</a:t>
            </a:r>
            <a:r>
              <a:rPr lang="nl-NL" sz="1200" kern="1200" dirty="0">
                <a:solidFill>
                  <a:schemeClr val="tx1"/>
                </a:solidFill>
                <a:effectLst/>
                <a:latin typeface="+mn-lt"/>
                <a:ea typeface="+mn-ea"/>
                <a:cs typeface="+mn-cs"/>
              </a:rPr>
              <a:t>}</a:t>
            </a:r>
          </a:p>
          <a:p>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t,x</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k,x</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sqrt</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&amp; \</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t,y</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k,y</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sqrt</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&amp; 0 &amp; \</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k,x</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t,x</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sqrt</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&amp; \</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k,y</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t,y</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sqrt</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t>
            </a:r>
          </a:p>
          <a:p>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k,y</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t,y</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&amp; \</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t,x</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k,x</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&amp; -1 &amp; \</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t,y</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k,y</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&amp; \</a:t>
            </a:r>
            <a:r>
              <a:rPr lang="nl-NL" sz="1200" kern="1200" dirty="0" err="1">
                <a:solidFill>
                  <a:schemeClr val="tx1"/>
                </a:solidFill>
                <a:effectLst/>
                <a:latin typeface="+mn-lt"/>
                <a:ea typeface="+mn-ea"/>
                <a:cs typeface="+mn-cs"/>
              </a:rPr>
              <a:t>frac</a:t>
            </a:r>
            <a:r>
              <a:rPr lang="nl-NL" sz="1200" kern="1200" dirty="0">
                <a:solidFill>
                  <a:schemeClr val="tx1"/>
                </a:solidFill>
                <a:effectLst/>
                <a:latin typeface="+mn-lt"/>
                <a:ea typeface="+mn-ea"/>
                <a:cs typeface="+mn-cs"/>
              </a:rPr>
              <a:t>{\</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k,x</a:t>
            </a:r>
            <a:r>
              <a:rPr lang="nl-NL" sz="1200" kern="1200" dirty="0">
                <a:solidFill>
                  <a:schemeClr val="tx1"/>
                </a:solidFill>
                <a:effectLst/>
                <a:latin typeface="+mn-lt"/>
                <a:ea typeface="+mn-ea"/>
                <a:cs typeface="+mn-cs"/>
              </a:rPr>
              <a:t>} - \</a:t>
            </a:r>
            <a:r>
              <a:rPr lang="nl-NL" sz="1200" kern="1200" dirty="0" err="1">
                <a:solidFill>
                  <a:schemeClr val="tx1"/>
                </a:solidFill>
                <a:effectLst/>
                <a:latin typeface="+mn-lt"/>
                <a:ea typeface="+mn-ea"/>
                <a:cs typeface="+mn-cs"/>
              </a:rPr>
              <a:t>overline</a:t>
            </a:r>
            <a:r>
              <a:rPr lang="nl-NL" sz="1200" kern="1200" dirty="0">
                <a:solidFill>
                  <a:schemeClr val="tx1"/>
                </a:solidFill>
                <a:effectLst/>
                <a:latin typeface="+mn-lt"/>
                <a:ea typeface="+mn-ea"/>
                <a:cs typeface="+mn-cs"/>
              </a:rPr>
              <a:t>{\mu}_{</a:t>
            </a:r>
            <a:r>
              <a:rPr lang="nl-NL" sz="1200" kern="1200" dirty="0" err="1">
                <a:solidFill>
                  <a:schemeClr val="tx1"/>
                </a:solidFill>
                <a:effectLst/>
                <a:latin typeface="+mn-lt"/>
                <a:ea typeface="+mn-ea"/>
                <a:cs typeface="+mn-cs"/>
              </a:rPr>
              <a:t>t,x</a:t>
            </a:r>
            <a:r>
              <a:rPr lang="nl-NL" sz="1200" kern="1200" dirty="0">
                <a:solidFill>
                  <a:schemeClr val="tx1"/>
                </a:solidFill>
                <a:effectLst/>
                <a:latin typeface="+mn-lt"/>
                <a:ea typeface="+mn-ea"/>
                <a:cs typeface="+mn-cs"/>
              </a:rPr>
              <a:t>}}{{q_{</a:t>
            </a:r>
            <a:r>
              <a:rPr lang="nl-NL" sz="1200" kern="1200" dirty="0" err="1">
                <a:solidFill>
                  <a:schemeClr val="tx1"/>
                </a:solidFill>
                <a:effectLst/>
                <a:latin typeface="+mn-lt"/>
                <a:ea typeface="+mn-ea"/>
                <a:cs typeface="+mn-cs"/>
              </a:rPr>
              <a:t>t,k</a:t>
            </a:r>
            <a:r>
              <a:rPr lang="nl-NL" sz="1200" kern="1200" dirty="0">
                <a:solidFill>
                  <a:schemeClr val="tx1"/>
                </a:solidFill>
                <a:effectLst/>
                <a:latin typeface="+mn-lt"/>
                <a:ea typeface="+mn-ea"/>
                <a:cs typeface="+mn-cs"/>
              </a:rPr>
              <a:t>}}} </a:t>
            </a:r>
          </a:p>
          <a:p>
            <a:r>
              <a:rPr lang="nl-NL" sz="1200" kern="1200" dirty="0">
                <a:solidFill>
                  <a:schemeClr val="tx1"/>
                </a:solidFill>
                <a:effectLst/>
                <a:latin typeface="+mn-lt"/>
                <a:ea typeface="+mn-ea"/>
                <a:cs typeface="+mn-cs"/>
              </a:rPr>
              <a:t>\end{</a:t>
            </a:r>
            <a:r>
              <a:rPr lang="nl-NL" sz="1200" kern="1200" dirty="0" err="1">
                <a:solidFill>
                  <a:schemeClr val="tx1"/>
                </a:solidFill>
                <a:effectLst/>
                <a:latin typeface="+mn-lt"/>
                <a:ea typeface="+mn-ea"/>
                <a:cs typeface="+mn-cs"/>
              </a:rPr>
              <a:t>pmatrix</a:t>
            </a:r>
            <a:r>
              <a:rPr lang="nl-NL"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err="1">
                <a:solidFill>
                  <a:schemeClr val="tx1"/>
                </a:solidFill>
                <a:effectLst/>
                <a:latin typeface="+mn-lt"/>
                <a:ea typeface="+mn-ea"/>
                <a:cs typeface="+mn-cs"/>
              </a:rPr>
              <a:t>ge</a:t>
            </a:r>
            <a:r>
              <a:rPr lang="en-US" sz="1200" kern="1200" dirty="0">
                <a:solidFill>
                  <a:schemeClr val="tx1"/>
                </a:solidFill>
                <a:effectLst/>
                <a:latin typeface="+mn-lt"/>
                <a:ea typeface="+mn-ea"/>
                <a:cs typeface="+mn-cs"/>
              </a:rPr>
              <a:t>[]{algorithm2e}</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DeclareMathOperator</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}{atan2}</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newcommand</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argmin</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operatornamewithlimits</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argmin</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\begin{algorithm}[H]</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KwData</a:t>
            </a:r>
            <a:r>
              <a:rPr lang="en-US" sz="1200" kern="1200" dirty="0">
                <a:solidFill>
                  <a:schemeClr val="tx1"/>
                </a:solidFill>
                <a:effectLst/>
                <a:latin typeface="+mn-lt"/>
                <a:ea typeface="+mn-ea"/>
                <a:cs typeface="+mn-cs"/>
              </a:rPr>
              <a:t>{$(\mu_{t-1}, \Sigma_{t-1}), </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a:t>
            </a:r>
            <a:r>
              <a:rPr lang="en-US" sz="1200" kern="1200" dirty="0">
                <a:solidFill>
                  <a:schemeClr val="tx1"/>
                </a:solidFill>
                <a:effectLst/>
                <a:latin typeface="+mn-lt"/>
                <a:ea typeface="+mn-ea"/>
                <a:cs typeface="+mn-cs"/>
              </a:rPr>
              <a:t>, {\color{red} N_{t-1}}$}</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KwResult</a:t>
            </a:r>
            <a:r>
              <a:rPr lang="en-US" sz="1200" kern="1200" dirty="0">
                <a:solidFill>
                  <a:schemeClr val="tx1"/>
                </a:solidFill>
                <a:effectLst/>
                <a:latin typeface="+mn-lt"/>
                <a:ea typeface="+mn-ea"/>
                <a:cs typeface="+mn-cs"/>
              </a:rPr>
              <a:t>{$(\mu_{t}, \Sigma_{t})$}</a:t>
            </a:r>
          </a:p>
          <a:p>
            <a:r>
              <a:rPr lang="en-US" sz="1200" kern="1200" dirty="0">
                <a:solidFill>
                  <a:schemeClr val="tx1"/>
                </a:solidFill>
                <a:effectLst/>
                <a:latin typeface="+mn-lt"/>
                <a:ea typeface="+mn-ea"/>
                <a:cs typeface="+mn-cs"/>
              </a:rPr>
              <a:t>{ $N_{t} = N_{t-1}$}\;</a:t>
            </a:r>
          </a:p>
          <a:p>
            <a:r>
              <a:rPr lang="en-US" sz="1200" kern="1200" dirty="0">
                <a:solidFill>
                  <a:schemeClr val="tx1"/>
                </a:solidFill>
                <a:effectLst/>
                <a:latin typeface="+mn-lt"/>
                <a:ea typeface="+mn-ea"/>
                <a:cs typeface="+mn-cs"/>
              </a:rPr>
              <a:t>$\overline{\mu}_t =  { g(</a:t>
            </a:r>
            <a:r>
              <a:rPr lang="en-US" sz="1200" kern="1200" dirty="0" err="1">
                <a:solidFill>
                  <a:schemeClr val="tx1"/>
                </a:solidFill>
                <a:effectLst/>
                <a:latin typeface="+mn-lt"/>
                <a:ea typeface="+mn-ea"/>
                <a:cs typeface="+mn-cs"/>
              </a:rPr>
              <a:t>u_t</a:t>
            </a:r>
            <a:r>
              <a:rPr lang="en-US" sz="1200" kern="1200" dirty="0">
                <a:solidFill>
                  <a:schemeClr val="tx1"/>
                </a:solidFill>
                <a:effectLst/>
                <a:latin typeface="+mn-lt"/>
                <a:ea typeface="+mn-ea"/>
                <a:cs typeface="+mn-cs"/>
              </a:rPr>
              <a:t>, \mu_{t-1})}$\;</a:t>
            </a:r>
          </a:p>
          <a:p>
            <a:r>
              <a:rPr lang="en-US" sz="1200" kern="1200" dirty="0">
                <a:solidFill>
                  <a:schemeClr val="tx1"/>
                </a:solidFill>
                <a:effectLst/>
                <a:latin typeface="+mn-lt"/>
                <a:ea typeface="+mn-ea"/>
                <a:cs typeface="+mn-cs"/>
              </a:rPr>
              <a:t>$\overline{\Sigma}_t = {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 \Sigma_{t-1}{ </a:t>
            </a:r>
            <a:r>
              <a:rPr lang="en-US" sz="1200" kern="1200" dirty="0" err="1">
                <a:solidFill>
                  <a:schemeClr val="tx1"/>
                </a:solidFill>
                <a:effectLst/>
                <a:latin typeface="+mn-lt"/>
                <a:ea typeface="+mn-ea"/>
                <a:cs typeface="+mn-cs"/>
              </a:rPr>
              <a:t>G_t</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T+R_t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ForEach</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)^T$}{</a:t>
            </a:r>
          </a:p>
          <a:p>
            <a:r>
              <a:rPr lang="en-US" sz="1200" kern="1200" dirty="0">
                <a:solidFill>
                  <a:schemeClr val="tx1"/>
                </a:solidFill>
                <a:effectLst/>
                <a:latin typeface="+mn-lt"/>
                <a:ea typeface="+mn-ea"/>
                <a:cs typeface="+mn-cs"/>
              </a:rPr>
              <a:t>$\begin{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\overline{\mu}_{N_{t}+1,x}\\</a:t>
            </a:r>
          </a:p>
          <a:p>
            <a:r>
              <a:rPr lang="en-US" sz="1200" kern="1200" dirty="0">
                <a:solidFill>
                  <a:schemeClr val="tx1"/>
                </a:solidFill>
                <a:effectLst/>
                <a:latin typeface="+mn-lt"/>
                <a:ea typeface="+mn-ea"/>
                <a:cs typeface="+mn-cs"/>
              </a:rPr>
              <a:t>\overline{\mu}_{N_{t}+1,y}</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 \, \cos(\</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 + \overline{\mu}_{t,\theta})\\</a:t>
            </a:r>
          </a:p>
          <a:p>
            <a:r>
              <a:rPr lang="en-US" sz="1200" kern="1200" dirty="0" err="1">
                <a:solidFill>
                  <a:schemeClr val="tx1"/>
                </a:solidFill>
                <a:effectLst/>
                <a:latin typeface="+mn-lt"/>
                <a:ea typeface="+mn-ea"/>
                <a:cs typeface="+mn-cs"/>
              </a:rPr>
              <a:t>r_t^i</a:t>
            </a:r>
            <a:r>
              <a:rPr lang="en-US" sz="1200" kern="1200" dirty="0">
                <a:solidFill>
                  <a:schemeClr val="tx1"/>
                </a:solidFill>
                <a:effectLst/>
                <a:latin typeface="+mn-lt"/>
                <a:ea typeface="+mn-ea"/>
                <a:cs typeface="+mn-cs"/>
              </a:rPr>
              <a:t> \, \sin(\</a:t>
            </a:r>
            <a:r>
              <a:rPr lang="en-US" sz="1200" kern="1200" dirty="0" err="1">
                <a:solidFill>
                  <a:schemeClr val="tx1"/>
                </a:solidFill>
                <a:effectLst/>
                <a:latin typeface="+mn-lt"/>
                <a:ea typeface="+mn-ea"/>
                <a:cs typeface="+mn-cs"/>
              </a:rPr>
              <a:t>phi_t^i</a:t>
            </a:r>
            <a:r>
              <a:rPr lang="en-US" sz="1200" kern="1200" dirty="0">
                <a:solidFill>
                  <a:schemeClr val="tx1"/>
                </a:solidFill>
                <a:effectLst/>
                <a:latin typeface="+mn-lt"/>
                <a:ea typeface="+mn-ea"/>
                <a:cs typeface="+mn-cs"/>
              </a:rPr>
              <a:t> + \overline{\mu}_{t,\theta})\\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\For{$k=1$ to $N_{t}+1$}{</a:t>
            </a:r>
          </a:p>
          <a:p>
            <a:r>
              <a:rPr lang="en-US" sz="1200" kern="1200" dirty="0">
                <a:solidFill>
                  <a:schemeClr val="tx1"/>
                </a:solidFill>
                <a:effectLst/>
                <a:latin typeface="+mn-lt"/>
                <a:ea typeface="+mn-ea"/>
                <a:cs typeface="+mn-cs"/>
              </a:rPr>
              <a:t>$\hat </a:t>
            </a:r>
            <a:r>
              <a:rPr lang="en-US" sz="1200" kern="1200" dirty="0" err="1">
                <a:solidFill>
                  <a:schemeClr val="tx1"/>
                </a:solidFill>
                <a:effectLst/>
                <a:latin typeface="+mn-lt"/>
                <a:ea typeface="+mn-ea"/>
                <a:cs typeface="+mn-cs"/>
              </a:rPr>
              <a:t>z_t^k</a:t>
            </a:r>
            <a:r>
              <a:rPr lang="en-US" sz="1200" kern="1200" dirty="0">
                <a:solidFill>
                  <a:schemeClr val="tx1"/>
                </a:solidFill>
                <a:effectLst/>
                <a:latin typeface="+mn-lt"/>
                <a:ea typeface="+mn-ea"/>
                <a:cs typeface="+mn-cs"/>
              </a:rPr>
              <a:t> = \begin{</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\sqrt{(m_{</a:t>
            </a:r>
            <a:r>
              <a:rPr lang="en-US" sz="1200" kern="1200" dirty="0" err="1">
                <a:solidFill>
                  <a:schemeClr val="tx1"/>
                </a:solidFill>
                <a:effectLst/>
                <a:latin typeface="+mn-lt"/>
                <a:ea typeface="+mn-ea"/>
                <a:cs typeface="+mn-cs"/>
              </a:rPr>
              <a:t>k,x</a:t>
            </a:r>
            <a:r>
              <a:rPr lang="en-US" sz="1200" kern="1200" dirty="0">
                <a:solidFill>
                  <a:schemeClr val="tx1"/>
                </a:solidFill>
                <a:effectLst/>
                <a:latin typeface="+mn-lt"/>
                <a:ea typeface="+mn-ea"/>
                <a:cs typeface="+mn-cs"/>
              </a:rPr>
              <a:t>} - \overline{\mu}_{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})^2 + (m_{</a:t>
            </a:r>
            <a:r>
              <a:rPr lang="en-US" sz="1200" kern="1200" dirty="0" err="1">
                <a:solidFill>
                  <a:schemeClr val="tx1"/>
                </a:solidFill>
                <a:effectLst/>
                <a:latin typeface="+mn-lt"/>
                <a:ea typeface="+mn-ea"/>
                <a:cs typeface="+mn-cs"/>
              </a:rPr>
              <a:t>k,y</a:t>
            </a:r>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})^2}\\</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atantwo</a:t>
            </a:r>
            <a:r>
              <a:rPr lang="en-US" sz="1200" kern="1200" dirty="0">
                <a:solidFill>
                  <a:schemeClr val="tx1"/>
                </a:solidFill>
                <a:effectLst/>
                <a:latin typeface="+mn-lt"/>
                <a:ea typeface="+mn-ea"/>
                <a:cs typeface="+mn-cs"/>
              </a:rPr>
              <a:t>(m_{</a:t>
            </a:r>
            <a:r>
              <a:rPr lang="en-US" sz="1200" kern="1200" dirty="0" err="1">
                <a:solidFill>
                  <a:schemeClr val="tx1"/>
                </a:solidFill>
                <a:effectLst/>
                <a:latin typeface="+mn-lt"/>
                <a:ea typeface="+mn-ea"/>
                <a:cs typeface="+mn-cs"/>
              </a:rPr>
              <a:t>k,y</a:t>
            </a:r>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t,y</a:t>
            </a:r>
            <a:r>
              <a:rPr lang="en-US" sz="1200" kern="1200" dirty="0">
                <a:solidFill>
                  <a:schemeClr val="tx1"/>
                </a:solidFill>
                <a:effectLst/>
                <a:latin typeface="+mn-lt"/>
                <a:ea typeface="+mn-ea"/>
                <a:cs typeface="+mn-cs"/>
              </a:rPr>
              <a:t>}, m_{</a:t>
            </a:r>
            <a:r>
              <a:rPr lang="en-US" sz="1200" kern="1200" dirty="0" err="1">
                <a:solidFill>
                  <a:schemeClr val="tx1"/>
                </a:solidFill>
                <a:effectLst/>
                <a:latin typeface="+mn-lt"/>
                <a:ea typeface="+mn-ea"/>
                <a:cs typeface="+mn-cs"/>
              </a:rPr>
              <a:t>k,x</a:t>
            </a:r>
            <a:r>
              <a:rPr lang="en-US" sz="1200" kern="1200" dirty="0">
                <a:solidFill>
                  <a:schemeClr val="tx1"/>
                </a:solidFill>
                <a:effectLst/>
                <a:latin typeface="+mn-lt"/>
                <a:ea typeface="+mn-ea"/>
                <a:cs typeface="+mn-cs"/>
              </a:rPr>
              <a:t>}-\overline{\mu}_{</a:t>
            </a:r>
            <a:r>
              <a:rPr lang="en-US" sz="1200" kern="1200" dirty="0" err="1">
                <a:solidFill>
                  <a:schemeClr val="tx1"/>
                </a:solidFill>
                <a:effectLst/>
                <a:latin typeface="+mn-lt"/>
                <a:ea typeface="+mn-ea"/>
                <a:cs typeface="+mn-cs"/>
              </a:rPr>
              <a:t>t,x</a:t>
            </a:r>
            <a:r>
              <a:rPr lang="en-US" sz="1200" kern="1200" dirty="0">
                <a:solidFill>
                  <a:schemeClr val="tx1"/>
                </a:solidFill>
                <a:effectLst/>
                <a:latin typeface="+mn-lt"/>
                <a:ea typeface="+mn-ea"/>
                <a:cs typeface="+mn-cs"/>
              </a:rPr>
              <a:t>}) - \overline{\mu}_{t,\theta}</a:t>
            </a:r>
          </a:p>
          <a:p>
            <a:r>
              <a:rPr lang="en-US" sz="1200" kern="1200" dirty="0">
                <a:solidFill>
                  <a:schemeClr val="tx1"/>
                </a:solidFill>
                <a:effectLst/>
                <a:latin typeface="+mn-lt"/>
                <a:ea typeface="+mn-ea"/>
                <a:cs typeface="+mn-cs"/>
              </a:rPr>
              <a:t>\end{</a:t>
            </a:r>
            <a:r>
              <a:rPr lang="en-US" sz="1200" kern="1200" dirty="0" err="1">
                <a:solidFill>
                  <a:schemeClr val="tx1"/>
                </a:solidFill>
                <a:effectLst/>
                <a:latin typeface="+mn-lt"/>
                <a:ea typeface="+mn-ea"/>
                <a:cs typeface="+mn-cs"/>
              </a:rPr>
              <a:t>pmatrix</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H_t^k</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h_t^k</a:t>
            </a:r>
            <a:r>
              <a:rPr lang="en-US" sz="1200" kern="1200" dirty="0">
                <a:solidFill>
                  <a:schemeClr val="tx1"/>
                </a:solidFill>
                <a:effectLst/>
                <a:latin typeface="+mn-lt"/>
                <a:ea typeface="+mn-ea"/>
                <a:cs typeface="+mn-cs"/>
              </a:rPr>
              <a:t> \, F_{</a:t>
            </a:r>
            <a:r>
              <a:rPr lang="en-US" sz="1200" kern="1200" dirty="0" err="1">
                <a:solidFill>
                  <a:schemeClr val="tx1"/>
                </a:solidFill>
                <a:effectLst/>
                <a:latin typeface="+mn-lt"/>
                <a:ea typeface="+mn-ea"/>
                <a:cs typeface="+mn-cs"/>
              </a:rPr>
              <a:t>x,k</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S_t^k</a:t>
            </a:r>
            <a:r>
              <a:rPr lang="en-US" sz="1200" kern="1200" dirty="0">
                <a:solidFill>
                  <a:schemeClr val="tx1"/>
                </a:solidFill>
                <a:effectLst/>
                <a:latin typeface="+mn-lt"/>
                <a:ea typeface="+mn-ea"/>
                <a:cs typeface="+mn-cs"/>
              </a:rPr>
              <a:t> = { </a:t>
            </a:r>
            <a:r>
              <a:rPr lang="en-US" sz="1200" kern="1200" dirty="0" err="1">
                <a:solidFill>
                  <a:schemeClr val="tx1"/>
                </a:solidFill>
                <a:effectLst/>
                <a:latin typeface="+mn-lt"/>
                <a:ea typeface="+mn-ea"/>
                <a:cs typeface="+mn-cs"/>
              </a:rPr>
              <a:t>H_t^k</a:t>
            </a:r>
            <a:r>
              <a:rPr lang="en-US" sz="1200" kern="1200" dirty="0">
                <a:solidFill>
                  <a:schemeClr val="tx1"/>
                </a:solidFill>
                <a:effectLst/>
                <a:latin typeface="+mn-lt"/>
                <a:ea typeface="+mn-ea"/>
                <a:cs typeface="+mn-cs"/>
              </a:rPr>
              <a:t>}\,  \overline{\Sigma}_t \, { [</a:t>
            </a:r>
            <a:r>
              <a:rPr lang="en-US" sz="1200" kern="1200" dirty="0" err="1">
                <a:solidFill>
                  <a:schemeClr val="tx1"/>
                </a:solidFill>
                <a:effectLst/>
                <a:latin typeface="+mn-lt"/>
                <a:ea typeface="+mn-ea"/>
                <a:cs typeface="+mn-cs"/>
              </a:rPr>
              <a:t>H_t^k</a:t>
            </a:r>
            <a:r>
              <a:rPr lang="en-US" sz="1200" kern="1200" dirty="0">
                <a:solidFill>
                  <a:schemeClr val="tx1"/>
                </a:solidFill>
                <a:effectLst/>
                <a:latin typeface="+mn-lt"/>
                <a:ea typeface="+mn-ea"/>
                <a:cs typeface="+mn-cs"/>
              </a:rPr>
              <a:t>]^T}+</a:t>
            </a:r>
            <a:r>
              <a:rPr lang="en-US" sz="1200" kern="1200" dirty="0" err="1">
                <a:solidFill>
                  <a:schemeClr val="tx1"/>
                </a:solidFill>
                <a:effectLst/>
                <a:latin typeface="+mn-lt"/>
                <a:ea typeface="+mn-ea"/>
                <a:cs typeface="+mn-cs"/>
              </a:rPr>
              <a:t>Q_t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pi_k</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 </a:t>
            </a:r>
            <a:r>
              <a:rPr lang="en-US" sz="1200" kern="1200" dirty="0" err="1">
                <a:solidFill>
                  <a:schemeClr val="tx1"/>
                </a:solidFill>
                <a:effectLst/>
                <a:latin typeface="+mn-lt"/>
                <a:ea typeface="+mn-ea"/>
                <a:cs typeface="+mn-cs"/>
              </a:rPr>
              <a:t>z_t^k</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S_t^k</a:t>
            </a:r>
            <a:r>
              <a:rPr lang="en-US" sz="1200" kern="1200" dirty="0">
                <a:solidFill>
                  <a:schemeClr val="tx1"/>
                </a:solidFill>
                <a:effectLst/>
                <a:latin typeface="+mn-lt"/>
                <a:ea typeface="+mn-ea"/>
                <a:cs typeface="+mn-cs"/>
              </a:rPr>
              <a:t>]^{-1}\,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 </a:t>
            </a:r>
            <a:r>
              <a:rPr lang="en-US" sz="1200" kern="1200" dirty="0" err="1">
                <a:solidFill>
                  <a:schemeClr val="tx1"/>
                </a:solidFill>
                <a:effectLst/>
                <a:latin typeface="+mn-lt"/>
                <a:ea typeface="+mn-ea"/>
                <a:cs typeface="+mn-cs"/>
              </a:rPr>
              <a:t>z_t^k</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BlankLine</a:t>
            </a:r>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$\pi_{</a:t>
            </a:r>
            <a:r>
              <a:rPr lang="en-US" sz="1200" kern="1200" dirty="0" err="1">
                <a:solidFill>
                  <a:schemeClr val="tx1"/>
                </a:solidFill>
                <a:effectLst/>
                <a:latin typeface="+mn-lt"/>
                <a:ea typeface="+mn-ea"/>
                <a:cs typeface="+mn-cs"/>
              </a:rPr>
              <a:t>N_t</a:t>
            </a:r>
            <a:r>
              <a:rPr lang="en-US" sz="1200" kern="1200" dirty="0">
                <a:solidFill>
                  <a:schemeClr val="tx1"/>
                </a:solidFill>
                <a:effectLst/>
                <a:latin typeface="+mn-lt"/>
                <a:ea typeface="+mn-ea"/>
                <a:cs typeface="+mn-cs"/>
              </a:rPr>
              <a:t> + 1} = \alpha$\;</a:t>
            </a:r>
          </a:p>
          <a:p>
            <a:r>
              <a:rPr lang="en-US" sz="1200" kern="1200" dirty="0">
                <a:solidFill>
                  <a:schemeClr val="tx1"/>
                </a:solidFill>
                <a:effectLst/>
                <a:latin typeface="+mn-lt"/>
                <a:ea typeface="+mn-ea"/>
                <a:cs typeface="+mn-cs"/>
              </a:rPr>
              <a:t>$j(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argmin_k</a:t>
            </a:r>
            <a:r>
              <a:rPr lang="en-US" sz="1200" kern="1200" dirty="0">
                <a:solidFill>
                  <a:schemeClr val="tx1"/>
                </a:solidFill>
                <a:effectLst/>
                <a:latin typeface="+mn-lt"/>
                <a:ea typeface="+mn-ea"/>
                <a:cs typeface="+mn-cs"/>
              </a:rPr>
              <a:t> \, \</a:t>
            </a:r>
            <a:r>
              <a:rPr lang="en-US" sz="1200" kern="1200" dirty="0" err="1">
                <a:solidFill>
                  <a:schemeClr val="tx1"/>
                </a:solidFill>
                <a:effectLst/>
                <a:latin typeface="+mn-lt"/>
                <a:ea typeface="+mn-ea"/>
                <a:cs typeface="+mn-cs"/>
              </a:rPr>
              <a:t>pi_k</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N_t</a:t>
            </a:r>
            <a:r>
              <a:rPr lang="en-US" sz="1200" kern="1200" dirty="0">
                <a:solidFill>
                  <a:schemeClr val="tx1"/>
                </a:solidFill>
                <a:effectLst/>
                <a:latin typeface="+mn-lt"/>
                <a:ea typeface="+mn-ea"/>
                <a:cs typeface="+mn-cs"/>
              </a:rPr>
              <a:t> = \max\{</a:t>
            </a:r>
            <a:r>
              <a:rPr lang="en-US" sz="1200" kern="1200" dirty="0" err="1">
                <a:solidFill>
                  <a:schemeClr val="tx1"/>
                </a:solidFill>
                <a:effectLst/>
                <a:latin typeface="+mn-lt"/>
                <a:ea typeface="+mn-ea"/>
                <a:cs typeface="+mn-cs"/>
              </a:rPr>
              <a:t>N_t</a:t>
            </a:r>
            <a:r>
              <a:rPr lang="en-US" sz="1200" kern="1200" dirty="0">
                <a:solidFill>
                  <a:schemeClr val="tx1"/>
                </a:solidFill>
                <a:effectLst/>
                <a:latin typeface="+mn-lt"/>
                <a:ea typeface="+mn-ea"/>
                <a:cs typeface="+mn-cs"/>
              </a:rPr>
              <a:t>, \, 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 \overline{\Sigma}_t \, { [</a:t>
            </a:r>
            <a:r>
              <a:rPr lang="en-US" sz="1200" kern="1200" dirty="0" err="1">
                <a:solidFill>
                  <a:schemeClr val="tx1"/>
                </a:solidFill>
                <a:effectLst/>
                <a:latin typeface="+mn-lt"/>
                <a:ea typeface="+mn-ea"/>
                <a:cs typeface="+mn-cs"/>
              </a:rPr>
              <a:t>H_t</a:t>
            </a:r>
            <a:r>
              <a:rPr lang="en-US" sz="1200" kern="1200" dirty="0">
                <a:solidFill>
                  <a:schemeClr val="tx1"/>
                </a:solidFill>
                <a:effectLst/>
                <a:latin typeface="+mn-lt"/>
                <a:ea typeface="+mn-ea"/>
                <a:cs typeface="+mn-cs"/>
              </a:rPr>
              <a:t>^{j(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)}]^T} \, [</a:t>
            </a:r>
            <a:r>
              <a:rPr lang="en-US" sz="1200" kern="1200" dirty="0" err="1">
                <a:solidFill>
                  <a:schemeClr val="tx1"/>
                </a:solidFill>
                <a:effectLst/>
                <a:latin typeface="+mn-lt"/>
                <a:ea typeface="+mn-ea"/>
                <a:cs typeface="+mn-cs"/>
              </a:rPr>
              <a:t>S_t</a:t>
            </a:r>
            <a:r>
              <a:rPr lang="en-US" sz="1200" kern="1200" dirty="0">
                <a:solidFill>
                  <a:schemeClr val="tx1"/>
                </a:solidFill>
                <a:effectLst/>
                <a:latin typeface="+mn-lt"/>
                <a:ea typeface="+mn-ea"/>
                <a:cs typeface="+mn-cs"/>
              </a:rPr>
              <a:t>^{j(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)}]^{-1}$\;</a:t>
            </a:r>
          </a:p>
          <a:p>
            <a:r>
              <a:rPr lang="en-US" sz="1200" kern="1200" dirty="0">
                <a:solidFill>
                  <a:schemeClr val="tx1"/>
                </a:solidFill>
                <a:effectLst/>
                <a:latin typeface="+mn-lt"/>
                <a:ea typeface="+mn-ea"/>
                <a:cs typeface="+mn-cs"/>
              </a:rPr>
              <a:t>$\overline{\mu}_t = \overline{\mu}_t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z_t^i</a:t>
            </a:r>
            <a:r>
              <a:rPr lang="en-US" sz="1200" kern="1200" dirty="0">
                <a:solidFill>
                  <a:schemeClr val="tx1"/>
                </a:solidFill>
                <a:effectLst/>
                <a:latin typeface="+mn-lt"/>
                <a:ea typeface="+mn-ea"/>
                <a:cs typeface="+mn-cs"/>
              </a:rPr>
              <a:t> - \hat{z}_t^{j(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$\overline{\Sigma}_t = (I - </a:t>
            </a:r>
            <a:r>
              <a:rPr lang="en-US" sz="1200" kern="1200" dirty="0" err="1">
                <a:solidFill>
                  <a:schemeClr val="tx1"/>
                </a:solidFill>
                <a:effectLst/>
                <a:latin typeface="+mn-lt"/>
                <a:ea typeface="+mn-ea"/>
                <a:cs typeface="+mn-cs"/>
              </a:rPr>
              <a:t>K_t^i</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H_t</a:t>
            </a:r>
            <a:r>
              <a:rPr lang="en-US" sz="1200" kern="1200" dirty="0">
                <a:solidFill>
                  <a:schemeClr val="tx1"/>
                </a:solidFill>
                <a:effectLst/>
                <a:latin typeface="+mn-lt"/>
                <a:ea typeface="+mn-ea"/>
                <a:cs typeface="+mn-cs"/>
              </a:rPr>
              <a:t>^{j(</a:t>
            </a:r>
            <a:r>
              <a:rPr lang="en-US" sz="1200" kern="1200" dirty="0" err="1">
                <a:solidFill>
                  <a:schemeClr val="tx1"/>
                </a:solidFill>
                <a:effectLst/>
                <a:latin typeface="+mn-lt"/>
                <a:ea typeface="+mn-ea"/>
                <a:cs typeface="+mn-cs"/>
              </a:rPr>
              <a:t>i</a:t>
            </a:r>
            <a:r>
              <a:rPr lang="en-US" sz="1200" kern="1200" dirty="0">
                <a:solidFill>
                  <a:schemeClr val="tx1"/>
                </a:solidFill>
                <a:effectLst/>
                <a:latin typeface="+mn-lt"/>
                <a:ea typeface="+mn-ea"/>
                <a:cs typeface="+mn-cs"/>
              </a:rPr>
              <a:t>)}})\, \overline{\Sigma}_t$\;</a:t>
            </a:r>
          </a:p>
          <a:p>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 \overline{\mu}_t$ and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 = \overline{\Sigma}_t$\;</a:t>
            </a:r>
          </a:p>
          <a:p>
            <a:r>
              <a:rPr lang="en-US" sz="1200" kern="1200" dirty="0">
                <a:solidFill>
                  <a:schemeClr val="tx1"/>
                </a:solidFill>
                <a:effectLst/>
                <a:latin typeface="+mn-lt"/>
                <a:ea typeface="+mn-ea"/>
                <a:cs typeface="+mn-cs"/>
              </a:rPr>
              <a:t>Return $(\</a:t>
            </a:r>
            <a:r>
              <a:rPr lang="en-US" sz="1200" kern="1200" dirty="0" err="1">
                <a:solidFill>
                  <a:schemeClr val="tx1"/>
                </a:solidFill>
                <a:effectLst/>
                <a:latin typeface="+mn-lt"/>
                <a:ea typeface="+mn-ea"/>
                <a:cs typeface="+mn-cs"/>
              </a:rPr>
              <a:t>mu_t</a:t>
            </a:r>
            <a:r>
              <a:rPr lang="en-US" sz="1200" kern="1200" dirty="0">
                <a:solidFill>
                  <a:schemeClr val="tx1"/>
                </a:solidFill>
                <a:effectLst/>
                <a:latin typeface="+mn-lt"/>
                <a:ea typeface="+mn-ea"/>
                <a:cs typeface="+mn-cs"/>
              </a:rPr>
              <a:t>, \</a:t>
            </a:r>
            <a:r>
              <a:rPr lang="en-US" sz="1200" kern="1200" dirty="0" err="1">
                <a:solidFill>
                  <a:schemeClr val="tx1"/>
                </a:solidFill>
                <a:effectLst/>
                <a:latin typeface="+mn-lt"/>
                <a:ea typeface="+mn-ea"/>
                <a:cs typeface="+mn-cs"/>
              </a:rPr>
              <a:t>Sigma_t</a:t>
            </a:r>
            <a:r>
              <a:rPr lang="en-US" sz="1200" kern="1200" dirty="0">
                <a:solidFill>
                  <a:schemeClr val="tx1"/>
                </a:solidFill>
                <a:effectLst/>
                <a:latin typeface="+mn-lt"/>
                <a:ea typeface="+mn-ea"/>
                <a:cs typeface="+mn-cs"/>
              </a:rPr>
              <a:t>)$</a:t>
            </a:r>
          </a:p>
          <a:p>
            <a:r>
              <a:rPr lang="en-US" sz="1200" kern="1200" dirty="0">
                <a:solidFill>
                  <a:schemeClr val="tx1"/>
                </a:solidFill>
                <a:effectLst/>
                <a:latin typeface="+mn-lt"/>
                <a:ea typeface="+mn-ea"/>
                <a:cs typeface="+mn-cs"/>
              </a:rPr>
              <a:t>\end{algorithm}</a:t>
            </a:r>
          </a:p>
          <a:p>
            <a:endParaRPr lang="en-US" dirty="0"/>
          </a:p>
        </p:txBody>
      </p:sp>
      <p:sp>
        <p:nvSpPr>
          <p:cNvPr id="4" name="Slide Number Placeholder 3"/>
          <p:cNvSpPr>
            <a:spLocks noGrp="1"/>
          </p:cNvSpPr>
          <p:nvPr>
            <p:ph type="sldNum" sz="quarter" idx="10"/>
          </p:nvPr>
        </p:nvSpPr>
        <p:spPr/>
        <p:txBody>
          <a:bodyPr/>
          <a:lstStyle/>
          <a:p>
            <a:fld id="{63B2D7EC-928D-0645-AAE8-498D7443D60E}" type="slidenum">
              <a:rPr lang="en-US" smtClean="0"/>
              <a:t>17</a:t>
            </a:fld>
            <a:endParaRPr lang="en-US"/>
          </a:p>
        </p:txBody>
      </p:sp>
    </p:spTree>
    <p:extLst>
      <p:ext uri="{BB962C8B-B14F-4D97-AF65-F5344CB8AC3E}">
        <p14:creationId xmlns:p14="http://schemas.microsoft.com/office/powerpoint/2010/main" val="13755469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charset="0"/>
              <a:buChar char="•"/>
            </a:pPr>
            <a:r>
              <a:rPr lang="en-US"/>
              <a:t>spurious measurements can cause the creation of fake landmarks in the map which, in turn, negatively affect the localization of the robot.</a:t>
            </a:r>
          </a:p>
          <a:p>
            <a:pPr marL="171450" indent="-171450">
              <a:buFont typeface="Arial" charset="0"/>
              <a:buChar char="•"/>
            </a:pPr>
            <a:r>
              <a:rPr lang="en-US"/>
              <a:t>. The most simple technique to compensate such outliers is to maintain a provisional landmark list. Instead of augmenting the map by a new landmark once a measurement indicates the existence of a new landmark, such a new landmark is first added to a provisional list of landmarks. This list is just like the map, but landmarks on this list are not used to adjust the robot pose (the corresponding gradients in the measurement equations are set to zero). Once a landmark has consistently been observed and its uncertainty ellipse has shrunk, it is transitioned into the regular map.</a:t>
            </a:r>
          </a:p>
          <a:p>
            <a:pPr marL="171450" indent="-171450">
              <a:buFont typeface="Arial" charset="0"/>
              <a:buChar char="•"/>
            </a:pPr>
            <a:r>
              <a:rPr lang="en-US"/>
              <a:t>. The further apart landmarks are, the smaller the chance to accidentally confuse them. I</a:t>
            </a:r>
          </a:p>
          <a:p>
            <a:pPr marL="171450" indent="-171450">
              <a:buFont typeface="Arial" charset="0"/>
              <a:buChar char="•"/>
            </a:pPr>
            <a:r>
              <a:rPr lang="en-US"/>
              <a:t>Signatures. When selecting appropriate landmarks, it is essential to to maximize the perceptual distinctiveness of landmarks. F</a:t>
            </a:r>
          </a:p>
        </p:txBody>
      </p:sp>
      <p:sp>
        <p:nvSpPr>
          <p:cNvPr id="4" name="Slide Number Placeholder 3"/>
          <p:cNvSpPr>
            <a:spLocks noGrp="1"/>
          </p:cNvSpPr>
          <p:nvPr>
            <p:ph type="sldNum" sz="quarter" idx="10"/>
          </p:nvPr>
        </p:nvSpPr>
        <p:spPr/>
        <p:txBody>
          <a:bodyPr/>
          <a:lstStyle/>
          <a:p>
            <a:fld id="{63B2D7EC-928D-0645-AAE8-498D7443D60E}" type="slidenum">
              <a:rPr lang="en-US" smtClean="0"/>
              <a:t>18</a:t>
            </a:fld>
            <a:endParaRPr lang="en-US"/>
          </a:p>
        </p:txBody>
      </p:sp>
    </p:spTree>
    <p:extLst>
      <p:ext uri="{BB962C8B-B14F-4D97-AF65-F5344CB8AC3E}">
        <p14:creationId xmlns:p14="http://schemas.microsoft.com/office/powerpoint/2010/main" val="13751038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9446FFC2-A90C-F94A-BDF0-77E1F8B722B9}"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
        <p:nvSpPr>
          <p:cNvPr id="6" name="Slide Number Placeholder 5"/>
          <p:cNvSpPr>
            <a:spLocks noGrp="1"/>
          </p:cNvSpPr>
          <p:nvPr>
            <p:ph type="sldNum" sz="quarter" idx="12"/>
          </p:nvPr>
        </p:nvSpPr>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69013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838200" y="6542090"/>
            <a:ext cx="2743200" cy="365125"/>
          </a:xfrm>
        </p:spPr>
        <p:txBody>
          <a:bodyPr/>
          <a:lstStyle/>
          <a:p>
            <a:fld id="{2F638B51-B1D2-114E-A8D3-0F43EF1AA382}" type="datetime1">
              <a:rPr lang="en-US" smtClean="0"/>
              <a:t>12/20/2025</a:t>
            </a:fld>
            <a:endParaRPr lang="en-US"/>
          </a:p>
        </p:txBody>
      </p:sp>
      <p:sp>
        <p:nvSpPr>
          <p:cNvPr id="5" name="Footer Placeholder 4"/>
          <p:cNvSpPr>
            <a:spLocks noGrp="1"/>
          </p:cNvSpPr>
          <p:nvPr>
            <p:ph type="ftr" sz="quarter" idx="11"/>
          </p:nvPr>
        </p:nvSpPr>
        <p:spPr>
          <a:xfrm>
            <a:off x="4038600" y="6542090"/>
            <a:ext cx="4114800" cy="365125"/>
          </a:xfrm>
        </p:spPr>
        <p:txBody>
          <a:bodyPr/>
          <a:lstStyle/>
          <a:p>
            <a:r>
              <a:rPr lang="hr-HR"/>
              <a:t>AA 174A | Lecture 18</a:t>
            </a:r>
            <a:endParaRPr lang="en-US"/>
          </a:p>
        </p:txBody>
      </p:sp>
      <p:sp>
        <p:nvSpPr>
          <p:cNvPr id="6" name="Slide Number Placeholder 5"/>
          <p:cNvSpPr>
            <a:spLocks noGrp="1"/>
          </p:cNvSpPr>
          <p:nvPr>
            <p:ph type="sldNum" sz="quarter" idx="12"/>
          </p:nvPr>
        </p:nvSpPr>
        <p:spPr>
          <a:xfrm>
            <a:off x="8610600" y="6542090"/>
            <a:ext cx="2743200" cy="365125"/>
          </a:xfrm>
        </p:spPr>
        <p:txBody>
          <a:bodyPr/>
          <a:lstStyle/>
          <a:p>
            <a:fld id="{8AA1F273-EF2F-3941-BBF8-D365CB27DD6A}" type="slidenum">
              <a:rPr lang="en-US" smtClean="0"/>
              <a:t>‹#›</a:t>
            </a:fld>
            <a:endParaRPr lang="en-US"/>
          </a:p>
        </p:txBody>
      </p:sp>
      <p:sp>
        <p:nvSpPr>
          <p:cNvPr id="7" name="Rectangle 6"/>
          <p:cNvSpPr/>
          <p:nvPr userDrawn="1"/>
        </p:nvSpPr>
        <p:spPr>
          <a:xfrm>
            <a:off x="0" y="0"/>
            <a:ext cx="12192000" cy="274320"/>
          </a:xfrm>
          <a:prstGeom prst="rect">
            <a:avLst/>
          </a:prstGeom>
          <a:solidFill>
            <a:srgbClr val="96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5980450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D080507-7988-1141-A760-AC09BEFDF79B}" type="datetime1">
              <a:rPr lang="en-US" smtClean="0"/>
              <a:t>12/20/2025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r-HR"/>
              <a:t>AA 174A | Lecture 18</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AA1F273-EF2F-3941-BBF8-D365CB27DD6A}" type="slidenum">
              <a:rPr lang="en-US" smtClean="0"/>
              <a:t>‹#›</a:t>
            </a:fld>
            <a:endParaRPr lang="en-US"/>
          </a:p>
        </p:txBody>
      </p:sp>
    </p:spTree>
    <p:extLst>
      <p:ext uri="{BB962C8B-B14F-4D97-AF65-F5344CB8AC3E}">
        <p14:creationId xmlns:p14="http://schemas.microsoft.com/office/powerpoint/2010/main" val="1371964118"/>
      </p:ext>
    </p:extLst>
  </p:cSld>
  <p:clrMap bg1="lt1" tx1="dk1" bg2="lt2" tx2="dk2" accent1="accent1" accent2="accent2" accent3="accent3" accent4="accent4" accent5="accent5" accent6="accent6" hlink="hlink" folHlink="folHlink"/>
  <p:sldLayoutIdLst>
    <p:sldLayoutId id="2147483649" r:id="rId1"/>
    <p:sldLayoutId id="2147483650" r:id="rId2"/>
  </p:sldLayoutIdLst>
  <p:hf sldNum="0"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openxmlformats.org/officeDocument/2006/relationships/image" Target="../media/image21.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3" Type="http://schemas.openxmlformats.org/officeDocument/2006/relationships/image" Target="../media/image4.tif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7.tiff"/><Relationship Id="rId5" Type="http://schemas.openxmlformats.org/officeDocument/2006/relationships/image" Target="../media/image6.tiff"/><Relationship Id="rId4" Type="http://schemas.openxmlformats.org/officeDocument/2006/relationships/image" Target="../media/image5.tiff"/></Relationships>
</file>

<file path=ppt/slides/_rels/slide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1.emf"/><Relationship Id="rId4" Type="http://schemas.openxmlformats.org/officeDocument/2006/relationships/image" Target="../media/image10.tiff"/></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emf"/></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5.tiff"/><Relationship Id="rId5" Type="http://schemas.openxmlformats.org/officeDocument/2006/relationships/image" Target="../media/image14.tiff"/><Relationship Id="rId4" Type="http://schemas.openxmlformats.org/officeDocument/2006/relationships/image" Target="../media/image13.tiff"/></Relationships>
</file>

<file path=ppt/slides/_rels/slide11.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8.tiff"/><Relationship Id="rId5" Type="http://schemas.openxmlformats.org/officeDocument/2006/relationships/image" Target="../media/image17.tiff"/><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3" Type="http://schemas.openxmlformats.org/officeDocument/2006/relationships/image" Target="../media/image19.tif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0.tiff"/></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1.tiff"/></Relationships>
</file>

<file path=ppt/slides/_rels/slide14.xml.rels><?xml version="1.0" encoding="UTF-8" standalone="yes"?>
<Relationships xmlns="http://schemas.openxmlformats.org/package/2006/relationships"><Relationship Id="rId3" Type="http://schemas.openxmlformats.org/officeDocument/2006/relationships/image" Target="../media/image22.tiff"/><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8.tiff"/><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github.com/pamela-project/slambench" TargetMode="External"/><Relationship Id="rId2" Type="http://schemas.openxmlformats.org/officeDocument/2006/relationships/hyperlink" Target="https://www.openslam.org/"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a:bodyPr>
          <a:lstStyle/>
          <a:p>
            <a:r>
              <a:rPr lang="en-US" sz="5400">
                <a:latin typeface="Calibri Light" panose="020F0302020204030204" pitchFamily="34" charset="0"/>
                <a:cs typeface="Calibri Light" panose="020F0302020204030204" pitchFamily="34" charset="0"/>
              </a:rPr>
              <a:t>Principles of Robot Autonomy I</a:t>
            </a:r>
            <a:endParaRPr lang="en-US" sz="5400"/>
          </a:p>
        </p:txBody>
      </p:sp>
      <p:sp>
        <p:nvSpPr>
          <p:cNvPr id="3" name="Subtitle 2"/>
          <p:cNvSpPr>
            <a:spLocks noGrp="1"/>
          </p:cNvSpPr>
          <p:nvPr>
            <p:ph type="subTitle" idx="1"/>
          </p:nvPr>
        </p:nvSpPr>
        <p:spPr/>
        <p:txBody>
          <a:bodyPr/>
          <a:lstStyle/>
          <a:p>
            <a:r>
              <a:rPr lang="en-US"/>
              <a:t>Simultaneous Localization and Mapping (SLAM)</a:t>
            </a:r>
          </a:p>
        </p:txBody>
      </p:sp>
      <p:pic>
        <p:nvPicPr>
          <p:cNvPr id="4" name="Picture 3"/>
          <p:cNvPicPr>
            <a:picLocks noChangeAspect="1"/>
          </p:cNvPicPr>
          <p:nvPr/>
        </p:nvPicPr>
        <p:blipFill>
          <a:blip r:embed="rId3"/>
          <a:stretch>
            <a:fillRect/>
          </a:stretch>
        </p:blipFill>
        <p:spPr>
          <a:xfrm>
            <a:off x="0" y="5687942"/>
            <a:ext cx="12192000" cy="1170058"/>
          </a:xfrm>
          <a:prstGeom prst="rect">
            <a:avLst/>
          </a:prstGeom>
        </p:spPr>
      </p:pic>
    </p:spTree>
    <p:extLst>
      <p:ext uri="{BB962C8B-B14F-4D97-AF65-F5344CB8AC3E}">
        <p14:creationId xmlns:p14="http://schemas.microsoft.com/office/powerpoint/2010/main" val="16728277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290B0-EB37-BE5C-04E7-4EA8696DA5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C9C11F-9CF3-5417-5DC4-4E4B8E153C8A}"/>
              </a:ext>
            </a:extLst>
          </p:cNvPr>
          <p:cNvSpPr>
            <a:spLocks noGrp="1"/>
          </p:cNvSpPr>
          <p:nvPr>
            <p:ph type="title"/>
          </p:nvPr>
        </p:nvSpPr>
        <p:spPr/>
        <p:txBody>
          <a:bodyPr/>
          <a:lstStyle/>
          <a:p>
            <a:r>
              <a:rPr lang="en-US">
                <a:ea typeface="Calibri Light"/>
                <a:cs typeface="Calibri Light"/>
              </a:rPr>
              <a:t>Attendance Form</a:t>
            </a:r>
            <a:endParaRPr lang="en-US"/>
          </a:p>
        </p:txBody>
      </p:sp>
      <p:pic>
        <p:nvPicPr>
          <p:cNvPr id="7" name="Content Placeholder 6" descr="A qr code with black squares&#10;&#10;AI-generated content may be incorrect.">
            <a:extLst>
              <a:ext uri="{FF2B5EF4-FFF2-40B4-BE49-F238E27FC236}">
                <a16:creationId xmlns:a16="http://schemas.microsoft.com/office/drawing/2014/main" id="{6FC79A78-5555-5B36-D187-31F9DBD9AC04}"/>
              </a:ext>
            </a:extLst>
          </p:cNvPr>
          <p:cNvPicPr>
            <a:picLocks noGrp="1" noChangeAspect="1"/>
          </p:cNvPicPr>
          <p:nvPr>
            <p:ph idx="1"/>
          </p:nvPr>
        </p:nvPicPr>
        <p:blipFill>
          <a:blip r:embed="rId2"/>
          <a:stretch>
            <a:fillRect/>
          </a:stretch>
        </p:blipFill>
        <p:spPr>
          <a:xfrm>
            <a:off x="4038600" y="1943894"/>
            <a:ext cx="4114800" cy="4114800"/>
          </a:xfrm>
          <a:prstGeom prst="rect">
            <a:avLst/>
          </a:prstGeom>
        </p:spPr>
      </p:pic>
      <p:sp>
        <p:nvSpPr>
          <p:cNvPr id="4" name="Date Placeholder 3">
            <a:extLst>
              <a:ext uri="{FF2B5EF4-FFF2-40B4-BE49-F238E27FC236}">
                <a16:creationId xmlns:a16="http://schemas.microsoft.com/office/drawing/2014/main" id="{25403DC6-C8A8-2ACD-BAD1-55817AEB56A5}"/>
              </a:ext>
            </a:extLst>
          </p:cNvPr>
          <p:cNvSpPr>
            <a:spLocks noGrp="1"/>
          </p:cNvSpPr>
          <p:nvPr>
            <p:ph type="dt" sz="half" idx="10"/>
          </p:nvPr>
        </p:nvSpPr>
        <p:spPr/>
        <p:txBody>
          <a:bodyPr/>
          <a:lstStyle/>
          <a:p>
            <a:r>
              <a:rPr lang="en-US"/>
              <a:t>11/9/21</a:t>
            </a:r>
          </a:p>
        </p:txBody>
      </p:sp>
      <p:sp>
        <p:nvSpPr>
          <p:cNvPr id="5" name="Footer Placeholder 4">
            <a:extLst>
              <a:ext uri="{FF2B5EF4-FFF2-40B4-BE49-F238E27FC236}">
                <a16:creationId xmlns:a16="http://schemas.microsoft.com/office/drawing/2014/main" id="{05195E3F-D2F3-70F1-92FC-D72CF33D9AF4}"/>
              </a:ext>
            </a:extLst>
          </p:cNvPr>
          <p:cNvSpPr>
            <a:spLocks noGrp="1"/>
          </p:cNvSpPr>
          <p:nvPr>
            <p:ph type="ftr" sz="quarter" idx="11"/>
          </p:nvPr>
        </p:nvSpPr>
        <p:spPr/>
        <p:txBody>
          <a:bodyPr/>
          <a:lstStyle/>
          <a:p>
            <a:r>
              <a:rPr lang="hr-HR"/>
              <a:t>AA 174A | Lecture 16</a:t>
            </a:r>
            <a:endParaRPr lang="en-US"/>
          </a:p>
        </p:txBody>
      </p:sp>
      <p:sp>
        <p:nvSpPr>
          <p:cNvPr id="3" name="Slide Number Placeholder 2">
            <a:extLst>
              <a:ext uri="{FF2B5EF4-FFF2-40B4-BE49-F238E27FC236}">
                <a16:creationId xmlns:a16="http://schemas.microsoft.com/office/drawing/2014/main" id="{50024CE0-A3AD-110B-E6C1-9F11DABFCED2}"/>
              </a:ext>
            </a:extLst>
          </p:cNvPr>
          <p:cNvSpPr>
            <a:spLocks noGrp="1"/>
          </p:cNvSpPr>
          <p:nvPr>
            <p:ph type="sldNum" sz="quarter" idx="12"/>
          </p:nvPr>
        </p:nvSpPr>
        <p:spPr/>
        <p:txBody>
          <a:bodyPr/>
          <a:lstStyle/>
          <a:p>
            <a:fld id="{8AA1F273-EF2F-3941-BBF8-D365CB27DD6A}" type="slidenum">
              <a:rPr lang="en-US" smtClean="0"/>
              <a:t>2</a:t>
            </a:fld>
            <a:endParaRPr lang="en-US"/>
          </a:p>
        </p:txBody>
      </p:sp>
    </p:spTree>
    <p:extLst>
      <p:ext uri="{BB962C8B-B14F-4D97-AF65-F5344CB8AC3E}">
        <p14:creationId xmlns:p14="http://schemas.microsoft.com/office/powerpoint/2010/main" val="33745917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Agenda</a:t>
            </a:r>
          </a:p>
        </p:txBody>
      </p:sp>
      <p:sp>
        <p:nvSpPr>
          <p:cNvPr id="4" name="Date Placeholder 3"/>
          <p:cNvSpPr>
            <a:spLocks noGrp="1"/>
          </p:cNvSpPr>
          <p:nvPr>
            <p:ph type="dt" sz="half" idx="10"/>
          </p:nvPr>
        </p:nvSpPr>
        <p:spPr/>
        <p:txBody>
          <a:bodyPr/>
          <a:lstStyle/>
          <a:p>
            <a:fld id="{FC328C3D-B9D4-D84F-9275-0B4CA0F3E1A0}" type="datetime1">
              <a:rPr lang="en-US" smtClean="0"/>
              <a:t>12/20/2025</a:t>
            </a:fld>
            <a:endParaRPr lang="en-US"/>
          </a:p>
        </p:txBody>
      </p:sp>
      <p:sp>
        <p:nvSpPr>
          <p:cNvPr id="13" name="Content Placeholder 2"/>
          <p:cNvSpPr>
            <a:spLocks noGrp="1"/>
          </p:cNvSpPr>
          <p:nvPr>
            <p:ph idx="1"/>
          </p:nvPr>
        </p:nvSpPr>
        <p:spPr>
          <a:xfrm>
            <a:off x="838200" y="1530204"/>
            <a:ext cx="10515600" cy="4770584"/>
          </a:xfrm>
        </p:spPr>
        <p:txBody>
          <a:bodyPr>
            <a:normAutofit/>
          </a:bodyPr>
          <a:lstStyle/>
          <a:p>
            <a:r>
              <a:rPr lang="en-US" dirty="0"/>
              <a:t>Aim</a:t>
            </a:r>
          </a:p>
          <a:p>
            <a:pPr lvl="1"/>
            <a:r>
              <a:rPr lang="en-US" dirty="0"/>
              <a:t>General SLAM problem</a:t>
            </a:r>
          </a:p>
          <a:p>
            <a:pPr lvl="1"/>
            <a:r>
              <a:rPr lang="en-US" dirty="0"/>
              <a:t>EKF SLAM</a:t>
            </a:r>
          </a:p>
          <a:p>
            <a:pPr lvl="1"/>
            <a:endParaRPr lang="en-US" dirty="0"/>
          </a:p>
          <a:p>
            <a:r>
              <a:rPr lang="en-US" dirty="0"/>
              <a:t>Readings</a:t>
            </a:r>
          </a:p>
          <a:p>
            <a:pPr lvl="1"/>
            <a:r>
              <a:rPr lang="en-US" dirty="0"/>
              <a:t>Chapter 16, sections 16.1 – 16.4 in D. </a:t>
            </a:r>
            <a:r>
              <a:rPr lang="en-US" dirty="0" err="1"/>
              <a:t>Gammelli</a:t>
            </a:r>
            <a:r>
              <a:rPr lang="en-US" dirty="0"/>
              <a:t>, J. Lorenzetti, K. Luo, G. </a:t>
            </a:r>
            <a:r>
              <a:rPr lang="en-US" dirty="0" err="1"/>
              <a:t>Zardini</a:t>
            </a:r>
            <a:r>
              <a:rPr lang="en-US" dirty="0"/>
              <a:t>, M. Pavone. </a:t>
            </a:r>
            <a:r>
              <a:rPr lang="en-US" i="1" dirty="0"/>
              <a:t>Principles of Robot Autonomy</a:t>
            </a:r>
            <a:r>
              <a:rPr lang="en-US" dirty="0"/>
              <a:t>. 2026.</a:t>
            </a:r>
          </a:p>
          <a:p>
            <a:pPr lvl="1"/>
            <a:endParaRPr lang="en-US" dirty="0"/>
          </a:p>
        </p:txBody>
      </p:sp>
      <p:sp>
        <p:nvSpPr>
          <p:cNvPr id="3" name="Footer Placeholder 2"/>
          <p:cNvSpPr>
            <a:spLocks noGrp="1"/>
          </p:cNvSpPr>
          <p:nvPr>
            <p:ph type="ftr" sz="quarter" idx="11"/>
          </p:nvPr>
        </p:nvSpPr>
        <p:spPr/>
        <p:txBody>
          <a:bodyPr/>
          <a:lstStyle/>
          <a:p>
            <a:r>
              <a:rPr lang="hr-HR"/>
              <a:t>AA 174A | Lecture 18</a:t>
            </a:r>
            <a:endParaRPr lang="en-US"/>
          </a:p>
        </p:txBody>
      </p:sp>
    </p:spTree>
    <p:extLst>
      <p:ext uri="{BB962C8B-B14F-4D97-AF65-F5344CB8AC3E}">
        <p14:creationId xmlns:p14="http://schemas.microsoft.com/office/powerpoint/2010/main" val="40160120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Simultaneous Localization and Mapping</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205344" y="1940720"/>
                <a:ext cx="3571589" cy="4351338"/>
              </a:xfrm>
            </p:spPr>
            <p:txBody>
              <a:bodyPr/>
              <a:lstStyle/>
              <a:p>
                <a:pPr marL="0" indent="0">
                  <a:buNone/>
                </a:pPr>
                <a:r>
                  <a:rPr lang="en-US"/>
                  <a:t>The SLAM problem: </a:t>
                </a:r>
                <a:r>
                  <a:rPr lang="en-US">
                    <a:solidFill>
                      <a:srgbClr val="C00000"/>
                    </a:solidFill>
                  </a:rPr>
                  <a:t>given </a:t>
                </a:r>
                <a:r>
                  <a:rPr lang="en-US"/>
                  <a:t>measurements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𝑧</m:t>
                        </m:r>
                      </m:e>
                      <m:sub>
                        <m:r>
                          <a:rPr lang="en-US" b="0" i="1" smtClean="0">
                            <a:latin typeface="Cambria Math" charset="0"/>
                          </a:rPr>
                          <m:t>1:</m:t>
                        </m:r>
                        <m:r>
                          <a:rPr lang="en-US" b="0" i="1" smtClean="0">
                            <a:latin typeface="Cambria Math" charset="0"/>
                          </a:rPr>
                          <m:t>𝑡</m:t>
                        </m:r>
                      </m:sub>
                    </m:sSub>
                  </m:oMath>
                </a14:m>
                <a:r>
                  <a:rPr lang="en-US"/>
                  <a:t> and controls </a:t>
                </a:r>
                <a14:m>
                  <m:oMath xmlns:m="http://schemas.openxmlformats.org/officeDocument/2006/math">
                    <m:sSub>
                      <m:sSubPr>
                        <m:ctrlPr>
                          <a:rPr lang="en-US" i="1">
                            <a:latin typeface="Cambria Math" panose="02040503050406030204" pitchFamily="18" charset="0"/>
                          </a:rPr>
                        </m:ctrlPr>
                      </m:sSubPr>
                      <m:e>
                        <m:r>
                          <a:rPr lang="en-US" b="0" i="1" smtClean="0">
                            <a:latin typeface="Cambria Math" charset="0"/>
                          </a:rPr>
                          <m:t>𝑢</m:t>
                        </m:r>
                      </m:e>
                      <m:sub>
                        <m:r>
                          <a:rPr lang="en-US" i="1">
                            <a:latin typeface="Cambria Math" charset="0"/>
                          </a:rPr>
                          <m:t>1:</m:t>
                        </m:r>
                        <m:r>
                          <a:rPr lang="en-US" i="1">
                            <a:latin typeface="Cambria Math" charset="0"/>
                          </a:rPr>
                          <m:t>𝑡</m:t>
                        </m:r>
                      </m:sub>
                    </m:sSub>
                  </m:oMath>
                </a14:m>
                <a:r>
                  <a:rPr lang="en-US"/>
                  <a:t>, </a:t>
                </a:r>
                <a:r>
                  <a:rPr lang="en-US">
                    <a:solidFill>
                      <a:srgbClr val="C00000"/>
                    </a:solidFill>
                  </a:rPr>
                  <a:t>find</a:t>
                </a:r>
                <a:r>
                  <a:rPr lang="en-US"/>
                  <a:t> the path (or pose) of the robot and acquire a map of the environment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205344" y="1940720"/>
                <a:ext cx="3571589" cy="4351338"/>
              </a:xfrm>
              <a:blipFill>
                <a:blip r:embed="rId5"/>
                <a:stretch>
                  <a:fillRect l="-3584" t="-2241" r="-1706"/>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7F4C6B4B-A6CE-E043-9E17-5E95B9F8C348}"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7" name="vslam_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3915633" y="1940720"/>
            <a:ext cx="8201724" cy="4664488"/>
          </a:xfrm>
          <a:prstGeom prst="rect">
            <a:avLst/>
          </a:prstGeom>
        </p:spPr>
      </p:pic>
    </p:spTree>
    <p:extLst>
      <p:ext uri="{BB962C8B-B14F-4D97-AF65-F5344CB8AC3E}">
        <p14:creationId xmlns:p14="http://schemas.microsoft.com/office/powerpoint/2010/main" val="1856805930"/>
      </p:ext>
    </p:extLst>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7"/>
                                        </p:tgtEl>
                                      </p:cBhvr>
                                    </p:cmd>
                                  </p:childTnLst>
                                </p:cTn>
                              </p:par>
                            </p:childTnLst>
                          </p:cTn>
                        </p:par>
                      </p:childTnLst>
                    </p:cTn>
                  </p:par>
                </p:childTnLst>
              </p:cTn>
              <p:nextCondLst>
                <p:cond evt="onClick" delay="0">
                  <p:tgtEl>
                    <p:spTgt spid="7"/>
                  </p:tgtEl>
                </p:cond>
              </p:nextCondLst>
            </p:seq>
            <p:video>
              <p:cMediaNode vol="80000">
                <p:cTn id="7" fill="hold" display="0">
                  <p:stCondLst>
                    <p:cond delay="indefinite"/>
                  </p:stCondLst>
                </p:cTn>
                <p:tgtEl>
                  <p:spTgt spid="7"/>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Forms of SLAM</a:t>
            </a:r>
          </a:p>
        </p:txBody>
      </p:sp>
      <p:sp>
        <p:nvSpPr>
          <p:cNvPr id="3" name="Content Placeholder 2"/>
          <p:cNvSpPr>
            <a:spLocks noGrp="1"/>
          </p:cNvSpPr>
          <p:nvPr>
            <p:ph idx="1"/>
          </p:nvPr>
        </p:nvSpPr>
        <p:spPr/>
        <p:txBody>
          <a:bodyPr/>
          <a:lstStyle/>
          <a:p>
            <a:r>
              <a:rPr lang="en-US">
                <a:solidFill>
                  <a:srgbClr val="C00000"/>
                </a:solidFill>
              </a:rPr>
              <a:t>Online SLAM problem</a:t>
            </a:r>
            <a:r>
              <a:rPr lang="en-US"/>
              <a:t>: estimate the posterior over the momentary pose along with the map</a:t>
            </a:r>
          </a:p>
          <a:p>
            <a:endParaRPr lang="en-US"/>
          </a:p>
          <a:p>
            <a:endParaRPr lang="en-US"/>
          </a:p>
          <a:p>
            <a:r>
              <a:rPr lang="en-US">
                <a:solidFill>
                  <a:srgbClr val="C00000"/>
                </a:solidFill>
              </a:rPr>
              <a:t>Full SLAM problem</a:t>
            </a:r>
            <a:r>
              <a:rPr lang="en-US"/>
              <a:t>: estimate posterior over the entire path along with the map</a:t>
            </a:r>
          </a:p>
          <a:p>
            <a:endParaRPr lang="en-US"/>
          </a:p>
        </p:txBody>
      </p:sp>
      <p:sp>
        <p:nvSpPr>
          <p:cNvPr id="4" name="Date Placeholder 3"/>
          <p:cNvSpPr>
            <a:spLocks noGrp="1"/>
          </p:cNvSpPr>
          <p:nvPr>
            <p:ph type="dt" sz="half" idx="10"/>
          </p:nvPr>
        </p:nvSpPr>
        <p:spPr/>
        <p:txBody>
          <a:bodyPr/>
          <a:lstStyle/>
          <a:p>
            <a:fld id="{25DD8B12-39A6-7D47-AA27-E6EA5A425CB6}"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7" name="Picture 6"/>
          <p:cNvPicPr>
            <a:picLocks noChangeAspect="1"/>
          </p:cNvPicPr>
          <p:nvPr/>
        </p:nvPicPr>
        <p:blipFill>
          <a:blip r:embed="rId3"/>
          <a:stretch>
            <a:fillRect/>
          </a:stretch>
        </p:blipFill>
        <p:spPr>
          <a:xfrm>
            <a:off x="1417981" y="2923916"/>
            <a:ext cx="3026465" cy="414738"/>
          </a:xfrm>
          <a:prstGeom prst="rect">
            <a:avLst/>
          </a:prstGeom>
        </p:spPr>
      </p:pic>
      <p:pic>
        <p:nvPicPr>
          <p:cNvPr id="8" name="Picture 7"/>
          <p:cNvPicPr>
            <a:picLocks noChangeAspect="1"/>
          </p:cNvPicPr>
          <p:nvPr/>
        </p:nvPicPr>
        <p:blipFill>
          <a:blip r:embed="rId4"/>
          <a:stretch>
            <a:fillRect/>
          </a:stretch>
        </p:blipFill>
        <p:spPr>
          <a:xfrm>
            <a:off x="1417981" y="4920510"/>
            <a:ext cx="3502688" cy="442319"/>
          </a:xfrm>
          <a:prstGeom prst="rect">
            <a:avLst/>
          </a:prstGeom>
        </p:spPr>
      </p:pic>
      <p:pic>
        <p:nvPicPr>
          <p:cNvPr id="9" name="Picture 8"/>
          <p:cNvPicPr>
            <a:picLocks noChangeAspect="1"/>
          </p:cNvPicPr>
          <p:nvPr/>
        </p:nvPicPr>
        <p:blipFill>
          <a:blip r:embed="rId5"/>
          <a:stretch>
            <a:fillRect/>
          </a:stretch>
        </p:blipFill>
        <p:spPr>
          <a:xfrm>
            <a:off x="6734514" y="2910217"/>
            <a:ext cx="3752172" cy="442135"/>
          </a:xfrm>
          <a:prstGeom prst="rect">
            <a:avLst/>
          </a:prstGeom>
        </p:spPr>
      </p:pic>
      <p:pic>
        <p:nvPicPr>
          <p:cNvPr id="10" name="Picture 9"/>
          <p:cNvPicPr>
            <a:picLocks noChangeAspect="1"/>
          </p:cNvPicPr>
          <p:nvPr/>
        </p:nvPicPr>
        <p:blipFill>
          <a:blip r:embed="rId6"/>
          <a:stretch>
            <a:fillRect/>
          </a:stretch>
        </p:blipFill>
        <p:spPr>
          <a:xfrm>
            <a:off x="6734514" y="4920694"/>
            <a:ext cx="4015063" cy="442135"/>
          </a:xfrm>
          <a:prstGeom prst="rect">
            <a:avLst/>
          </a:prstGeom>
        </p:spPr>
      </p:pic>
      <p:sp>
        <p:nvSpPr>
          <p:cNvPr id="11" name="TextBox 10"/>
          <p:cNvSpPr txBox="1"/>
          <p:nvPr/>
        </p:nvSpPr>
        <p:spPr>
          <a:xfrm>
            <a:off x="5373716" y="2907767"/>
            <a:ext cx="431528" cy="430887"/>
          </a:xfrm>
          <a:prstGeom prst="rect">
            <a:avLst/>
          </a:prstGeom>
          <a:noFill/>
        </p:spPr>
        <p:txBody>
          <a:bodyPr wrap="none" rtlCol="0">
            <a:spAutoFit/>
          </a:bodyPr>
          <a:lstStyle/>
          <a:p>
            <a:r>
              <a:rPr lang="en-US" sz="2200"/>
              <a:t>or</a:t>
            </a:r>
          </a:p>
        </p:txBody>
      </p:sp>
      <p:sp>
        <p:nvSpPr>
          <p:cNvPr id="12" name="TextBox 11"/>
          <p:cNvSpPr txBox="1"/>
          <p:nvPr/>
        </p:nvSpPr>
        <p:spPr>
          <a:xfrm>
            <a:off x="5373716" y="4920510"/>
            <a:ext cx="431528" cy="430887"/>
          </a:xfrm>
          <a:prstGeom prst="rect">
            <a:avLst/>
          </a:prstGeom>
          <a:noFill/>
        </p:spPr>
        <p:txBody>
          <a:bodyPr wrap="none" rtlCol="0">
            <a:spAutoFit/>
          </a:bodyPr>
          <a:lstStyle/>
          <a:p>
            <a:r>
              <a:rPr lang="en-US" sz="2200"/>
              <a:t>or</a:t>
            </a:r>
          </a:p>
        </p:txBody>
      </p:sp>
    </p:spTree>
    <p:extLst>
      <p:ext uri="{BB962C8B-B14F-4D97-AF65-F5344CB8AC3E}">
        <p14:creationId xmlns:p14="http://schemas.microsoft.com/office/powerpoint/2010/main" val="1782157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Graphical models of SLAM</a:t>
            </a:r>
          </a:p>
        </p:txBody>
      </p:sp>
      <p:pic>
        <p:nvPicPr>
          <p:cNvPr id="7" name="Content Placeholder 6"/>
          <p:cNvPicPr>
            <a:picLocks noGrp="1" noChangeAspect="1"/>
          </p:cNvPicPr>
          <p:nvPr>
            <p:ph idx="1"/>
          </p:nvPr>
        </p:nvPicPr>
        <p:blipFill>
          <a:blip r:embed="rId2"/>
          <a:stretch>
            <a:fillRect/>
          </a:stretch>
        </p:blipFill>
        <p:spPr>
          <a:xfrm>
            <a:off x="432008" y="2306684"/>
            <a:ext cx="4788605" cy="4121050"/>
          </a:xfrm>
          <a:prstGeom prst="rect">
            <a:avLst/>
          </a:prstGeom>
        </p:spPr>
      </p:pic>
      <p:sp>
        <p:nvSpPr>
          <p:cNvPr id="4" name="Date Placeholder 3"/>
          <p:cNvSpPr>
            <a:spLocks noGrp="1"/>
          </p:cNvSpPr>
          <p:nvPr>
            <p:ph type="dt" sz="half" idx="10"/>
          </p:nvPr>
        </p:nvSpPr>
        <p:spPr/>
        <p:txBody>
          <a:bodyPr/>
          <a:lstStyle/>
          <a:p>
            <a:fld id="{6362B7DD-FF77-AA40-A8E4-E8645CBED3C6}"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8" name="Picture 7"/>
          <p:cNvPicPr>
            <a:picLocks noChangeAspect="1"/>
          </p:cNvPicPr>
          <p:nvPr/>
        </p:nvPicPr>
        <p:blipFill>
          <a:blip r:embed="rId3"/>
          <a:stretch>
            <a:fillRect/>
          </a:stretch>
        </p:blipFill>
        <p:spPr>
          <a:xfrm>
            <a:off x="6409911" y="2280650"/>
            <a:ext cx="4917384" cy="4147084"/>
          </a:xfrm>
          <a:prstGeom prst="rect">
            <a:avLst/>
          </a:prstGeom>
        </p:spPr>
      </p:pic>
      <p:sp>
        <p:nvSpPr>
          <p:cNvPr id="9" name="TextBox 8"/>
          <p:cNvSpPr txBox="1"/>
          <p:nvPr/>
        </p:nvSpPr>
        <p:spPr>
          <a:xfrm>
            <a:off x="154429" y="1690688"/>
            <a:ext cx="2055371" cy="523220"/>
          </a:xfrm>
          <a:prstGeom prst="rect">
            <a:avLst/>
          </a:prstGeom>
          <a:noFill/>
        </p:spPr>
        <p:txBody>
          <a:bodyPr wrap="none" rtlCol="0">
            <a:spAutoFit/>
          </a:bodyPr>
          <a:lstStyle/>
          <a:p>
            <a:r>
              <a:rPr lang="en-US" sz="2800">
                <a:solidFill>
                  <a:srgbClr val="C00000"/>
                </a:solidFill>
              </a:rPr>
              <a:t>Online SLAM</a:t>
            </a:r>
          </a:p>
        </p:txBody>
      </p:sp>
      <p:sp>
        <p:nvSpPr>
          <p:cNvPr id="10" name="TextBox 9"/>
          <p:cNvSpPr txBox="1"/>
          <p:nvPr/>
        </p:nvSpPr>
        <p:spPr>
          <a:xfrm>
            <a:off x="5930889" y="1689214"/>
            <a:ext cx="1616148" cy="523220"/>
          </a:xfrm>
          <a:prstGeom prst="rect">
            <a:avLst/>
          </a:prstGeom>
          <a:noFill/>
        </p:spPr>
        <p:txBody>
          <a:bodyPr wrap="none" rtlCol="0">
            <a:spAutoFit/>
          </a:bodyPr>
          <a:lstStyle/>
          <a:p>
            <a:r>
              <a:rPr lang="en-US" sz="2800">
                <a:solidFill>
                  <a:srgbClr val="C00000"/>
                </a:solidFill>
              </a:rPr>
              <a:t>Full SLAM</a:t>
            </a:r>
          </a:p>
        </p:txBody>
      </p:sp>
    </p:spTree>
    <p:extLst>
      <p:ext uri="{BB962C8B-B14F-4D97-AF65-F5344CB8AC3E}">
        <p14:creationId xmlns:p14="http://schemas.microsoft.com/office/powerpoint/2010/main" val="8836909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EKF SLAM</a:t>
            </a:r>
          </a:p>
        </p:txBody>
      </p:sp>
      <p:sp>
        <p:nvSpPr>
          <p:cNvPr id="3" name="Content Placeholder 2"/>
          <p:cNvSpPr>
            <a:spLocks noGrp="1"/>
          </p:cNvSpPr>
          <p:nvPr>
            <p:ph idx="1"/>
          </p:nvPr>
        </p:nvSpPr>
        <p:spPr/>
        <p:txBody>
          <a:bodyPr/>
          <a:lstStyle/>
          <a:p>
            <a:r>
              <a:rPr lang="en-US"/>
              <a:t>Historically the earliest SLAM algorithm </a:t>
            </a:r>
          </a:p>
          <a:p>
            <a:r>
              <a:rPr lang="en-US">
                <a:solidFill>
                  <a:srgbClr val="C00000"/>
                </a:solidFill>
              </a:rPr>
              <a:t>Key idea</a:t>
            </a:r>
            <a:r>
              <a:rPr lang="en-US"/>
              <a:t>: apply EKF to online SLAM using maximum likelihood data association</a:t>
            </a:r>
          </a:p>
          <a:p>
            <a:r>
              <a:rPr lang="en-US"/>
              <a:t>Assumptions:</a:t>
            </a:r>
          </a:p>
          <a:p>
            <a:pPr marL="971550" lvl="1" indent="-514350">
              <a:buFont typeface="+mj-lt"/>
              <a:buAutoNum type="arabicPeriod"/>
            </a:pPr>
            <a:r>
              <a:rPr lang="en-US"/>
              <a:t>Gaussian assumption for motion and perception noise, and Gaussian approximation for belief (essential)</a:t>
            </a:r>
          </a:p>
          <a:p>
            <a:pPr marL="971550" lvl="1" indent="-514350">
              <a:buFont typeface="+mj-lt"/>
              <a:buAutoNum type="arabicPeriod"/>
            </a:pPr>
            <a:r>
              <a:rPr lang="en-US"/>
              <a:t>Feature-based maps (essential)</a:t>
            </a:r>
          </a:p>
          <a:p>
            <a:r>
              <a:rPr lang="en-US"/>
              <a:t>Two versions of the problem</a:t>
            </a:r>
          </a:p>
          <a:p>
            <a:pPr marL="971550" lvl="1" indent="-514350">
              <a:buFont typeface="+mj-lt"/>
              <a:buAutoNum type="arabicPeriod"/>
            </a:pPr>
            <a:r>
              <a:rPr lang="en-US"/>
              <a:t>Correspondence variables are known</a:t>
            </a:r>
          </a:p>
          <a:p>
            <a:pPr marL="971550" lvl="1" indent="-514350">
              <a:buFont typeface="+mj-lt"/>
              <a:buAutoNum type="arabicPeriod"/>
            </a:pPr>
            <a:r>
              <a:rPr lang="en-US"/>
              <a:t>Correspondence variables are not known (usual case)</a:t>
            </a:r>
          </a:p>
          <a:p>
            <a:endParaRPr lang="en-US"/>
          </a:p>
        </p:txBody>
      </p:sp>
      <p:sp>
        <p:nvSpPr>
          <p:cNvPr id="4" name="Date Placeholder 3"/>
          <p:cNvSpPr>
            <a:spLocks noGrp="1"/>
          </p:cNvSpPr>
          <p:nvPr>
            <p:ph type="dt" sz="half" idx="10"/>
          </p:nvPr>
        </p:nvSpPr>
        <p:spPr/>
        <p:txBody>
          <a:bodyPr/>
          <a:lstStyle/>
          <a:p>
            <a:fld id="{B7A94B2B-AEE7-BB4A-A86A-50CFDC67967D}"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Tree>
    <p:extLst>
      <p:ext uri="{BB962C8B-B14F-4D97-AF65-F5344CB8AC3E}">
        <p14:creationId xmlns:p14="http://schemas.microsoft.com/office/powerpoint/2010/main" val="3167228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EKF SLAM with known correspondences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732861"/>
                <a:ext cx="10515600" cy="4351338"/>
              </a:xfrm>
            </p:spPr>
            <p:txBody>
              <a:bodyPr/>
              <a:lstStyle/>
              <a:p>
                <a:r>
                  <a:rPr lang="en-US"/>
                  <a:t>Similar to EKF localization algorithm with known correspondences</a:t>
                </a:r>
              </a:p>
              <a:p>
                <a:r>
                  <a:rPr lang="en-US">
                    <a:solidFill>
                      <a:srgbClr val="C00000"/>
                    </a:solidFill>
                  </a:rPr>
                  <a:t>Key difference</a:t>
                </a:r>
                <a:r>
                  <a:rPr lang="en-US"/>
                  <a:t>: in addition to estimate the robot pose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𝑡</m:t>
                        </m:r>
                      </m:sub>
                    </m:sSub>
                  </m:oMath>
                </a14:m>
                <a:r>
                  <a:rPr lang="en-US"/>
                  <a:t>, the EKF SLAM algorithm also estimates the coordinates of </a:t>
                </a:r>
                <a:r>
                  <a:rPr lang="en-US">
                    <a:solidFill>
                      <a:srgbClr val="C00000"/>
                    </a:solidFill>
                  </a:rPr>
                  <a:t>all</a:t>
                </a:r>
                <a:r>
                  <a:rPr lang="en-US"/>
                  <a:t> landmarks</a:t>
                </a:r>
              </a:p>
              <a:p>
                <a:r>
                  <a:rPr lang="en-US"/>
                  <a:t>Define combined state vector</a:t>
                </a:r>
              </a:p>
              <a:p>
                <a:endParaRPr lang="en-US"/>
              </a:p>
              <a:p>
                <a:endParaRPr lang="en-US"/>
              </a:p>
              <a:p>
                <a:endParaRPr lang="en-US"/>
              </a:p>
              <a:p>
                <a:r>
                  <a:rPr lang="en-US">
                    <a:solidFill>
                      <a:srgbClr val="C00000"/>
                    </a:solidFill>
                  </a:rPr>
                  <a:t>Goal</a:t>
                </a:r>
                <a:r>
                  <a:rPr lang="en-US"/>
                  <a:t>: calculate the </a:t>
                </a:r>
                <a:r>
                  <a:rPr lang="en-US">
                    <a:solidFill>
                      <a:srgbClr val="C00000"/>
                    </a:solidFill>
                  </a:rPr>
                  <a:t>online posterior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732861"/>
                <a:ext cx="10515600" cy="4351338"/>
              </a:xfrm>
              <a:blipFill>
                <a:blip r:embed="rId3"/>
                <a:stretch>
                  <a:fillRect l="-1043" t="-224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E3959537-58C2-BD44-B1EB-0678BDF36F5F}"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7" name="Picture 6"/>
          <p:cNvPicPr>
            <a:picLocks noChangeAspect="1"/>
          </p:cNvPicPr>
          <p:nvPr/>
        </p:nvPicPr>
        <p:blipFill>
          <a:blip r:embed="rId4"/>
          <a:stretch>
            <a:fillRect/>
          </a:stretch>
        </p:blipFill>
        <p:spPr>
          <a:xfrm>
            <a:off x="1321904" y="3908530"/>
            <a:ext cx="10031896" cy="876280"/>
          </a:xfrm>
          <a:prstGeom prst="rect">
            <a:avLst/>
          </a:prstGeom>
        </p:spPr>
      </p:pic>
      <p:cxnSp>
        <p:nvCxnSpPr>
          <p:cNvPr id="10" name="Straight Arrow Connector 9"/>
          <p:cNvCxnSpPr/>
          <p:nvPr/>
        </p:nvCxnSpPr>
        <p:spPr>
          <a:xfrm flipH="1" flipV="1">
            <a:off x="9621078" y="4611757"/>
            <a:ext cx="596348" cy="41081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10217426" y="4933001"/>
            <a:ext cx="1487010" cy="369332"/>
          </a:xfrm>
          <a:prstGeom prst="rect">
            <a:avLst/>
          </a:prstGeom>
          <a:noFill/>
        </p:spPr>
        <p:txBody>
          <a:bodyPr wrap="none" rtlCol="0">
            <a:spAutoFit/>
          </a:bodyPr>
          <a:lstStyle/>
          <a:p>
            <a:r>
              <a:rPr lang="en-US"/>
              <a:t>3 + 2N vector</a:t>
            </a:r>
          </a:p>
        </p:txBody>
      </p:sp>
      <p:pic>
        <p:nvPicPr>
          <p:cNvPr id="9" name="Picture 8">
            <a:extLst>
              <a:ext uri="{FF2B5EF4-FFF2-40B4-BE49-F238E27FC236}">
                <a16:creationId xmlns:a16="http://schemas.microsoft.com/office/drawing/2014/main" id="{CB0B6625-1A1D-FE44-A587-B851C34C6890}"/>
              </a:ext>
            </a:extLst>
          </p:cNvPr>
          <p:cNvPicPr>
            <a:picLocks noChangeAspect="1"/>
          </p:cNvPicPr>
          <p:nvPr/>
        </p:nvPicPr>
        <p:blipFill>
          <a:blip r:embed="rId5"/>
          <a:stretch>
            <a:fillRect/>
          </a:stretch>
        </p:blipFill>
        <p:spPr>
          <a:xfrm>
            <a:off x="5212200" y="5887588"/>
            <a:ext cx="2257745" cy="379711"/>
          </a:xfrm>
          <a:prstGeom prst="rect">
            <a:avLst/>
          </a:prstGeom>
        </p:spPr>
      </p:pic>
    </p:spTree>
    <p:extLst>
      <p:ext uri="{BB962C8B-B14F-4D97-AF65-F5344CB8AC3E}">
        <p14:creationId xmlns:p14="http://schemas.microsoft.com/office/powerpoint/2010/main" val="206216869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Motion and sensing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a:t>(Following discussion is for illustration purposes; setup can be generalized to other motion and sensing models)</a:t>
                </a:r>
              </a:p>
              <a:p>
                <a:r>
                  <a:rPr lang="en-US"/>
                  <a:t>Assume motion model with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𝑡</m:t>
                        </m:r>
                      </m:sub>
                    </m:sSub>
                    <m:r>
                      <a:rPr lang="en-US" b="0" i="1" smtClean="0">
                        <a:latin typeface="Cambria Math" charset="0"/>
                      </a:rPr>
                      <m:t>=(</m:t>
                    </m:r>
                    <m:r>
                      <a:rPr lang="en-US" b="0" i="1" smtClean="0">
                        <a:latin typeface="Cambria Math" charset="0"/>
                      </a:rPr>
                      <m:t>𝑥</m:t>
                    </m:r>
                    <m:r>
                      <a:rPr lang="en-US" b="0" i="1" smtClean="0">
                        <a:latin typeface="Cambria Math" charset="0"/>
                      </a:rPr>
                      <m:t>,</m:t>
                    </m:r>
                    <m:r>
                      <a:rPr lang="en-US" b="0" i="1" smtClean="0">
                        <a:latin typeface="Cambria Math" charset="0"/>
                      </a:rPr>
                      <m:t>𝑦</m:t>
                    </m:r>
                    <m:r>
                      <a:rPr lang="en-US" b="0" i="1" smtClean="0">
                        <a:latin typeface="Cambria Math" charset="0"/>
                      </a:rPr>
                      <m:t>, </m:t>
                    </m:r>
                    <m:r>
                      <a:rPr lang="en-US" b="0" i="1" smtClean="0">
                        <a:latin typeface="Cambria Math" charset="0"/>
                      </a:rPr>
                      <m:t>𝜃</m:t>
                    </m:r>
                    <m:r>
                      <a:rPr lang="en-US" b="0" i="1" smtClean="0">
                        <a:latin typeface="Cambria Math" charset="0"/>
                      </a:rPr>
                      <m:t>)</m:t>
                    </m:r>
                  </m:oMath>
                </a14:m>
                <a:r>
                  <a:rPr lang="en-US"/>
                  <a:t> </a:t>
                </a:r>
              </a:p>
              <a:p>
                <a:endParaRPr lang="en-US"/>
              </a:p>
              <a:p>
                <a:endParaRPr lang="en-US"/>
              </a:p>
              <a:p>
                <a:pPr marL="0" indent="0">
                  <a:buNone/>
                </a:pPr>
                <a:r>
                  <a:rPr lang="en-US"/>
                  <a:t>where we assume that the landmarks are </a:t>
                </a:r>
                <a:r>
                  <a:rPr lang="en-US" i="1"/>
                  <a:t>static</a:t>
                </a:r>
                <a:r>
                  <a:rPr lang="en-US"/>
                  <a:t>, that is</a:t>
                </a:r>
                <a:endParaRPr lang="en-US" i="1"/>
              </a:p>
              <a:p>
                <a:pPr marL="971550" lvl="1" indent="-514350">
                  <a:buFont typeface="+mj-lt"/>
                  <a:buAutoNum type="arabicPeriod"/>
                </a:pPr>
                <a14:m>
                  <m:oMath xmlns:m="http://schemas.openxmlformats.org/officeDocument/2006/math">
                    <m:r>
                      <a:rPr lang="en-US" b="0" i="1" smtClean="0">
                        <a:latin typeface="Cambria Math" charset="0"/>
                      </a:rPr>
                      <m:t>𝑔</m:t>
                    </m:r>
                    <m:r>
                      <a:rPr lang="en-US" b="0" i="1" smtClean="0">
                        <a:latin typeface="Cambria Math" charset="0"/>
                      </a:rPr>
                      <m:t>(</m:t>
                    </m:r>
                    <m:sSub>
                      <m:sSubPr>
                        <m:ctrlPr>
                          <a:rPr lang="en-US" b="0" i="1" smtClean="0">
                            <a:latin typeface="Cambria Math" panose="02040503050406030204" pitchFamily="18" charset="0"/>
                          </a:rPr>
                        </m:ctrlPr>
                      </m:sSubPr>
                      <m:e>
                        <m:r>
                          <a:rPr lang="en-US" b="0" i="1" smtClean="0">
                            <a:latin typeface="Cambria Math" charset="0"/>
                          </a:rPr>
                          <m:t>𝑢</m:t>
                        </m:r>
                      </m:e>
                      <m:sub>
                        <m:r>
                          <a:rPr lang="en-US" b="0" i="1" smtClean="0">
                            <a:latin typeface="Cambria Math" charset="0"/>
                          </a:rPr>
                          <m:t>𝑡</m:t>
                        </m:r>
                      </m:sub>
                    </m:sSub>
                    <m:r>
                      <a:rPr lang="en-US" b="0" i="1" smtClean="0">
                        <a:latin typeface="Cambria Math"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charset="0"/>
                          </a:rPr>
                          <m:t>𝑡</m:t>
                        </m:r>
                        <m:r>
                          <a:rPr lang="en-US" b="0" i="1" smtClean="0">
                            <a:latin typeface="Cambria Math" charset="0"/>
                          </a:rPr>
                          <m:t>−1</m:t>
                        </m:r>
                      </m:sub>
                    </m:sSub>
                    <m:r>
                      <a:rPr lang="en-US" b="0" i="1" smtClean="0">
                        <a:latin typeface="Cambria Math" charset="0"/>
                      </a:rPr>
                      <m:t>)</m:t>
                    </m:r>
                  </m:oMath>
                </a14:m>
                <a:r>
                  <a:rPr lang="en-US" i="1"/>
                  <a:t> is a 3+2N vector, whose last 2N components are the same as those in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endParaRPr lang="en-US" i="1"/>
              </a:p>
              <a:p>
                <a:pPr marL="971550" lvl="1" indent="-514350">
                  <a:buFont typeface="+mj-lt"/>
                  <a:buAutoNum type="arabicPeriod"/>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𝑅</m:t>
                        </m:r>
                      </m:e>
                      <m:sub>
                        <m:r>
                          <a:rPr lang="en-US" b="0" i="1" smtClean="0">
                            <a:latin typeface="Cambria Math" charset="0"/>
                          </a:rPr>
                          <m:t>𝑡</m:t>
                        </m:r>
                      </m:sub>
                    </m:sSub>
                  </m:oMath>
                </a14:m>
                <a:r>
                  <a:rPr lang="en-US" i="1"/>
                  <a:t> </a:t>
                </a:r>
                <a:r>
                  <a:rPr lang="en-US"/>
                  <a:t>has zero entries, except for the top left 3 x 3 block</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1217" t="-224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EB9F82C5-F82C-D643-9853-611E9A9B296F}"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8" name="Picture 7">
            <a:extLst>
              <a:ext uri="{FF2B5EF4-FFF2-40B4-BE49-F238E27FC236}">
                <a16:creationId xmlns:a16="http://schemas.microsoft.com/office/drawing/2014/main" id="{E82CEFE0-6B02-C240-8A2F-5C240FA5B199}"/>
              </a:ext>
            </a:extLst>
          </p:cNvPr>
          <p:cNvPicPr>
            <a:picLocks noChangeAspect="1"/>
          </p:cNvPicPr>
          <p:nvPr/>
        </p:nvPicPr>
        <p:blipFill>
          <a:blip r:embed="rId4"/>
          <a:stretch>
            <a:fillRect/>
          </a:stretch>
        </p:blipFill>
        <p:spPr>
          <a:xfrm>
            <a:off x="1411799" y="3594668"/>
            <a:ext cx="9368401" cy="373969"/>
          </a:xfrm>
          <a:prstGeom prst="rect">
            <a:avLst/>
          </a:prstGeom>
        </p:spPr>
      </p:pic>
    </p:spTree>
    <p:extLst>
      <p:ext uri="{BB962C8B-B14F-4D97-AF65-F5344CB8AC3E}">
        <p14:creationId xmlns:p14="http://schemas.microsoft.com/office/powerpoint/2010/main" val="19527368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Motion and sensing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638028"/>
                <a:ext cx="10810460" cy="5252415"/>
              </a:xfrm>
            </p:spPr>
            <p:txBody>
              <a:bodyPr>
                <a:normAutofit/>
              </a:bodyPr>
              <a:lstStyle/>
              <a:p>
                <a:r>
                  <a:rPr lang="en-US"/>
                  <a:t>Assume range and bearing measurement model</a:t>
                </a:r>
              </a:p>
              <a:p>
                <a:endParaRPr lang="en-US"/>
              </a:p>
              <a:p>
                <a:endParaRPr lang="en-US"/>
              </a:p>
              <a:p>
                <a:endParaRPr lang="en-US"/>
              </a:p>
              <a:p>
                <a:r>
                  <a:rPr lang="en-US"/>
                  <a:t>Usual linear approximation for sensing model (with </a:t>
                </a:r>
                <a14:m>
                  <m:oMath xmlns:m="http://schemas.openxmlformats.org/officeDocument/2006/math">
                    <m:r>
                      <a:rPr lang="en-US" b="0" i="1" smtClean="0">
                        <a:latin typeface="Cambria Math" charset="0"/>
                      </a:rPr>
                      <m:t>𝑗</m:t>
                    </m:r>
                    <m:r>
                      <a:rPr lang="en-US" b="0" i="1" smtClean="0">
                        <a:latin typeface="Cambria Math" charset="0"/>
                      </a:rPr>
                      <m:t>=</m:t>
                    </m:r>
                    <m:sSubSup>
                      <m:sSubSupPr>
                        <m:ctrlPr>
                          <a:rPr lang="en-US" b="0" i="1" smtClean="0">
                            <a:latin typeface="Cambria Math" panose="02040503050406030204" pitchFamily="18" charset="0"/>
                          </a:rPr>
                        </m:ctrlPr>
                      </m:sSubSupPr>
                      <m:e>
                        <m:r>
                          <a:rPr lang="en-US" b="0" i="1" smtClean="0">
                            <a:latin typeface="Cambria Math" charset="0"/>
                          </a:rPr>
                          <m:t>𝑐</m:t>
                        </m:r>
                      </m:e>
                      <m:sub>
                        <m:r>
                          <a:rPr lang="en-US" b="0" i="1" smtClean="0">
                            <a:latin typeface="Cambria Math" charset="0"/>
                          </a:rPr>
                          <m:t>𝑡</m:t>
                        </m:r>
                      </m:sub>
                      <m:sup>
                        <m:r>
                          <a:rPr lang="en-US" b="0" i="1" smtClean="0">
                            <a:latin typeface="Cambria Math" charset="0"/>
                          </a:rPr>
                          <m:t>𝑖</m:t>
                        </m:r>
                      </m:sup>
                    </m:sSubSup>
                  </m:oMath>
                </a14:m>
                <a:r>
                  <a:rPr lang="en-US"/>
                  <a:t>)</a:t>
                </a:r>
              </a:p>
              <a:p>
                <a:endParaRPr lang="en-US"/>
              </a:p>
              <a:p>
                <a:endParaRPr lang="en-US" sz="1100"/>
              </a:p>
              <a:p>
                <a:r>
                  <a:rPr lang="en-US"/>
                  <a:t>Since </a:t>
                </a:r>
                <a14:m>
                  <m:oMath xmlns:m="http://schemas.openxmlformats.org/officeDocument/2006/math">
                    <m:r>
                      <a:rPr lang="en-US" b="0" i="1" smtClean="0">
                        <a:latin typeface="Cambria Math" charset="0"/>
                      </a:rPr>
                      <m:t>h</m:t>
                    </m:r>
                  </m:oMath>
                </a14:m>
                <a:r>
                  <a:rPr lang="en-US"/>
                  <a:t> depends only 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𝑥</m:t>
                        </m:r>
                      </m:e>
                      <m:sub>
                        <m:r>
                          <a:rPr lang="en-US" b="0" i="1" smtClean="0">
                            <a:latin typeface="Cambria Math" charset="0"/>
                          </a:rPr>
                          <m:t>𝑡</m:t>
                        </m:r>
                      </m:sub>
                    </m:sSub>
                  </m:oMath>
                </a14:m>
                <a:r>
                  <a:rPr lang="en-US"/>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charset="0"/>
                          </a:rPr>
                          <m:t>𝑚</m:t>
                        </m:r>
                      </m:e>
                      <m:sub>
                        <m:r>
                          <a:rPr lang="en-US" b="0" i="1" smtClean="0">
                            <a:latin typeface="Cambria Math" charset="0"/>
                          </a:rPr>
                          <m:t>𝑗</m:t>
                        </m:r>
                      </m:sub>
                    </m:sSub>
                  </m:oMath>
                </a14:m>
                <a:r>
                  <a:rPr lang="en-US"/>
                  <a:t>,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charset="0"/>
                          </a:rPr>
                          <m:t>𝐻</m:t>
                        </m:r>
                      </m:e>
                      <m:sub>
                        <m:r>
                          <a:rPr lang="en-US" b="0" i="1" dirty="0" smtClean="0">
                            <a:latin typeface="Cambria Math" charset="0"/>
                          </a:rPr>
                          <m:t>𝑡</m:t>
                        </m:r>
                      </m:sub>
                      <m:sup>
                        <m:r>
                          <a:rPr lang="en-US" b="0" i="1" dirty="0" smtClean="0">
                            <a:latin typeface="Cambria Math" charset="0"/>
                          </a:rPr>
                          <m:t>𝑖</m:t>
                        </m:r>
                      </m:sup>
                    </m:sSubSup>
                  </m:oMath>
                </a14:m>
                <a:r>
                  <a:rPr lang="en-US"/>
                  <a:t> can be factored as</a:t>
                </a:r>
              </a:p>
              <a:p>
                <a:endParaRPr lang="en-US" sz="180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638028"/>
                <a:ext cx="10810460" cy="5252415"/>
              </a:xfrm>
              <a:blipFill>
                <a:blip r:embed="rId3"/>
                <a:stretch>
                  <a:fillRect l="-1015" t="-1974"/>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9FA833F7-A696-DC46-8EF7-B8A71AA8BB87}"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7" name="Picture 6"/>
          <p:cNvPicPr>
            <a:picLocks noChangeAspect="1"/>
          </p:cNvPicPr>
          <p:nvPr/>
        </p:nvPicPr>
        <p:blipFill>
          <a:blip r:embed="rId4"/>
          <a:stretch>
            <a:fillRect/>
          </a:stretch>
        </p:blipFill>
        <p:spPr>
          <a:xfrm>
            <a:off x="1873246" y="4205621"/>
            <a:ext cx="8445500" cy="759552"/>
          </a:xfrm>
          <a:prstGeom prst="rect">
            <a:avLst/>
          </a:prstGeom>
        </p:spPr>
      </p:pic>
      <p:pic>
        <p:nvPicPr>
          <p:cNvPr id="8" name="Picture 7"/>
          <p:cNvPicPr>
            <a:picLocks noChangeAspect="1"/>
          </p:cNvPicPr>
          <p:nvPr/>
        </p:nvPicPr>
        <p:blipFill>
          <a:blip r:embed="rId5"/>
          <a:stretch>
            <a:fillRect/>
          </a:stretch>
        </p:blipFill>
        <p:spPr>
          <a:xfrm>
            <a:off x="5081252" y="5698155"/>
            <a:ext cx="2029487" cy="459305"/>
          </a:xfrm>
          <a:prstGeom prst="rect">
            <a:avLst/>
          </a:prstGeom>
        </p:spPr>
      </p:pic>
      <p:pic>
        <p:nvPicPr>
          <p:cNvPr id="11" name="Picture 10"/>
          <p:cNvPicPr>
            <a:picLocks noChangeAspect="1"/>
          </p:cNvPicPr>
          <p:nvPr/>
        </p:nvPicPr>
        <p:blipFill>
          <a:blip r:embed="rId6"/>
          <a:stretch>
            <a:fillRect/>
          </a:stretch>
        </p:blipFill>
        <p:spPr>
          <a:xfrm>
            <a:off x="1000536" y="2335214"/>
            <a:ext cx="10190920" cy="1187450"/>
          </a:xfrm>
          <a:prstGeom prst="rect">
            <a:avLst/>
          </a:prstGeom>
        </p:spPr>
      </p:pic>
    </p:spTree>
    <p:extLst>
      <p:ext uri="{BB962C8B-B14F-4D97-AF65-F5344CB8AC3E}">
        <p14:creationId xmlns:p14="http://schemas.microsoft.com/office/powerpoint/2010/main" val="19881204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3"/>
          <a:stretch>
            <a:fillRect/>
          </a:stretch>
        </p:blipFill>
        <p:spPr>
          <a:xfrm>
            <a:off x="3392419" y="4702486"/>
            <a:ext cx="4760981" cy="1905864"/>
          </a:xfrm>
          <a:prstGeom prst="rect">
            <a:avLst/>
          </a:prstGeom>
        </p:spPr>
      </p:pic>
      <p:sp>
        <p:nvSpPr>
          <p:cNvPr id="2" name="Title 1"/>
          <p:cNvSpPr>
            <a:spLocks noGrp="1"/>
          </p:cNvSpPr>
          <p:nvPr>
            <p:ph type="title"/>
          </p:nvPr>
        </p:nvSpPr>
        <p:spPr/>
        <p:txBody>
          <a:bodyPr/>
          <a:lstStyle/>
          <a:p>
            <a:r>
              <a:rPr lang="en-US"/>
              <a:t>Motion and sensing model</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588998"/>
                <a:ext cx="10942983" cy="4351338"/>
              </a:xfrm>
            </p:spPr>
            <p:txBody>
              <a:bodyPr/>
              <a:lstStyle/>
              <a:p>
                <a:r>
                  <a:rPr lang="en-US"/>
                  <a:t>First term, a 2 x 5 matrix, is the Jacobian of </a:t>
                </a:r>
                <a14:m>
                  <m:oMath xmlns:m="http://schemas.openxmlformats.org/officeDocument/2006/math">
                    <m:r>
                      <a:rPr lang="en-US" i="1">
                        <a:latin typeface="Cambria Math" charset="0"/>
                      </a:rPr>
                      <m:t>h</m:t>
                    </m:r>
                    <m:r>
                      <a:rPr lang="en-US" i="1">
                        <a:latin typeface="Cambria Math" charset="0"/>
                      </a:rPr>
                      <m:t>(</m:t>
                    </m:r>
                    <m:sSub>
                      <m:sSubPr>
                        <m:ctrlPr>
                          <a:rPr lang="en-US" i="1">
                            <a:latin typeface="Cambria Math" panose="02040503050406030204" pitchFamily="18" charset="0"/>
                          </a:rPr>
                        </m:ctrlPr>
                      </m:sSubPr>
                      <m:e>
                        <m:r>
                          <a:rPr lang="en-US" i="1">
                            <a:latin typeface="Cambria Math" charset="0"/>
                          </a:rPr>
                          <m:t>𝑦</m:t>
                        </m:r>
                      </m:e>
                      <m:sub>
                        <m:r>
                          <a:rPr lang="en-US" i="1">
                            <a:latin typeface="Cambria Math" charset="0"/>
                          </a:rPr>
                          <m:t>𝑡</m:t>
                        </m:r>
                      </m:sub>
                    </m:sSub>
                    <m:r>
                      <a:rPr lang="en-US" i="1">
                        <a:latin typeface="Cambria Math" charset="0"/>
                      </a:rPr>
                      <m:t>, </m:t>
                    </m:r>
                    <m:r>
                      <a:rPr lang="en-US" i="1">
                        <a:latin typeface="Cambria Math" charset="0"/>
                      </a:rPr>
                      <m:t>𝑗</m:t>
                    </m:r>
                    <m:r>
                      <a:rPr lang="en-US" i="1">
                        <a:latin typeface="Cambria Math" charset="0"/>
                      </a:rPr>
                      <m:t>)</m:t>
                    </m:r>
                  </m:oMath>
                </a14:m>
                <a:r>
                  <a:rPr lang="en-US"/>
                  <a:t> at </a:t>
                </a:r>
                <a14:m>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charset="0"/>
                              </a:rPr>
                              <m:t>𝜇</m:t>
                            </m:r>
                          </m:e>
                        </m:acc>
                      </m:e>
                      <m:sub>
                        <m:r>
                          <a:rPr lang="en-US" i="1">
                            <a:latin typeface="Cambria Math" charset="0"/>
                          </a:rPr>
                          <m:t>𝑡</m:t>
                        </m:r>
                      </m:sub>
                    </m:sSub>
                  </m:oMath>
                </a14:m>
                <a:r>
                  <a:rPr lang="en-US"/>
                  <a:t> </a:t>
                </a:r>
                <a:r>
                  <a:rPr lang="en-US" err="1"/>
                  <a:t>w.r.t</a:t>
                </a:r>
                <a:r>
                  <a:rPr lang="en-US"/>
                  <a:t>. </a:t>
                </a:r>
                <a14:m>
                  <m:oMath xmlns:m="http://schemas.openxmlformats.org/officeDocument/2006/math">
                    <m:sSub>
                      <m:sSubPr>
                        <m:ctrlPr>
                          <a:rPr lang="en-US" i="1">
                            <a:latin typeface="Cambria Math" panose="02040503050406030204" pitchFamily="18" charset="0"/>
                          </a:rPr>
                        </m:ctrlPr>
                      </m:sSubPr>
                      <m:e>
                        <m:r>
                          <a:rPr lang="en-US" i="1">
                            <a:latin typeface="Cambria Math" charset="0"/>
                          </a:rPr>
                          <m:t>𝑥</m:t>
                        </m:r>
                      </m:e>
                      <m:sub>
                        <m:r>
                          <a:rPr lang="en-US" i="1">
                            <a:latin typeface="Cambria Math" charset="0"/>
                          </a:rPr>
                          <m:t>𝑡</m:t>
                        </m:r>
                      </m:sub>
                    </m:sSub>
                  </m:oMath>
                </a14:m>
                <a:r>
                  <a:rPr lang="en-US"/>
                  <a:t> and </a:t>
                </a:r>
                <a14:m>
                  <m:oMath xmlns:m="http://schemas.openxmlformats.org/officeDocument/2006/math">
                    <m:sSub>
                      <m:sSubPr>
                        <m:ctrlPr>
                          <a:rPr lang="en-US" i="1">
                            <a:latin typeface="Cambria Math" panose="02040503050406030204" pitchFamily="18" charset="0"/>
                          </a:rPr>
                        </m:ctrlPr>
                      </m:sSubPr>
                      <m:e>
                        <m:r>
                          <a:rPr lang="en-US" i="1">
                            <a:latin typeface="Cambria Math" charset="0"/>
                          </a:rPr>
                          <m:t>𝑚</m:t>
                        </m:r>
                      </m:e>
                      <m:sub>
                        <m:r>
                          <a:rPr lang="en-US" i="1">
                            <a:latin typeface="Cambria Math" charset="0"/>
                          </a:rPr>
                          <m:t>𝑗</m:t>
                        </m:r>
                      </m:sub>
                    </m:sSub>
                  </m:oMath>
                </a14:m>
                <a:r>
                  <a:rPr lang="en-US"/>
                  <a:t>:</a:t>
                </a:r>
              </a:p>
              <a:p>
                <a:endParaRPr lang="en-US"/>
              </a:p>
              <a:p>
                <a:endParaRPr lang="en-US"/>
              </a:p>
              <a:p>
                <a:endParaRPr lang="en-US"/>
              </a:p>
              <a:p>
                <a:endParaRPr lang="en-US" sz="2200"/>
              </a:p>
              <a:p>
                <a:r>
                  <a:rPr lang="en-US"/>
                  <a:t>Second term, a 5 x (3+2</a:t>
                </a:r>
                <a:r>
                  <a:rPr lang="en-US" i="1"/>
                  <a:t>N</a:t>
                </a:r>
                <a:r>
                  <a:rPr lang="en-US"/>
                  <a:t>) matrix, maps </a:t>
                </a:r>
                <a14:m>
                  <m:oMath xmlns:m="http://schemas.openxmlformats.org/officeDocument/2006/math">
                    <m:sSubSup>
                      <m:sSubSupPr>
                        <m:ctrlPr>
                          <a:rPr lang="en-US" i="1" dirty="0">
                            <a:latin typeface="Cambria Math" panose="02040503050406030204" pitchFamily="18" charset="0"/>
                          </a:rPr>
                        </m:ctrlPr>
                      </m:sSubSupPr>
                      <m:e>
                        <m:r>
                          <a:rPr lang="en-US" i="1" dirty="0">
                            <a:latin typeface="Cambria Math" charset="0"/>
                          </a:rPr>
                          <m:t>h</m:t>
                        </m:r>
                      </m:e>
                      <m:sub>
                        <m:r>
                          <a:rPr lang="en-US" i="1" dirty="0">
                            <a:latin typeface="Cambria Math" charset="0"/>
                          </a:rPr>
                          <m:t>𝑡</m:t>
                        </m:r>
                      </m:sub>
                      <m:sup>
                        <m:r>
                          <a:rPr lang="en-US" i="1" dirty="0">
                            <a:latin typeface="Cambria Math" charset="0"/>
                          </a:rPr>
                          <m:t>𝑖</m:t>
                        </m:r>
                      </m:sup>
                    </m:sSubSup>
                  </m:oMath>
                </a14:m>
                <a:r>
                  <a:rPr lang="en-US"/>
                  <a:t> into </a:t>
                </a:r>
                <a14:m>
                  <m:oMath xmlns:m="http://schemas.openxmlformats.org/officeDocument/2006/math">
                    <m:sSubSup>
                      <m:sSubSupPr>
                        <m:ctrlPr>
                          <a:rPr lang="en-US" i="1" dirty="0">
                            <a:latin typeface="Cambria Math" panose="02040503050406030204" pitchFamily="18" charset="0"/>
                          </a:rPr>
                        </m:ctrlPr>
                      </m:sSubSupPr>
                      <m:e>
                        <m:r>
                          <a:rPr lang="en-US" i="1" dirty="0">
                            <a:latin typeface="Cambria Math" charset="0"/>
                          </a:rPr>
                          <m:t>𝐻</m:t>
                        </m:r>
                      </m:e>
                      <m:sub>
                        <m:r>
                          <a:rPr lang="en-US" i="1" dirty="0">
                            <a:latin typeface="Cambria Math" charset="0"/>
                          </a:rPr>
                          <m:t>𝑡</m:t>
                        </m:r>
                      </m:sub>
                      <m:sup>
                        <m:r>
                          <a:rPr lang="en-US" i="1" dirty="0">
                            <a:latin typeface="Cambria Math" charset="0"/>
                          </a:rPr>
                          <m:t>𝑖</m:t>
                        </m:r>
                      </m:sup>
                    </m:sSubSup>
                  </m:oMath>
                </a14:m>
                <a:r>
                  <a:rPr lang="en-US"/>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588998"/>
                <a:ext cx="10942983" cy="4351338"/>
              </a:xfrm>
              <a:blipFill>
                <a:blip r:embed="rId4"/>
                <a:stretch>
                  <a:fillRect l="-1003" t="-2104" r="-1003"/>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E20C741F-F495-674F-87D3-8CF5F7C6E4BD}"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
        <p:nvSpPr>
          <p:cNvPr id="13" name="TextBox 12"/>
          <p:cNvSpPr txBox="1"/>
          <p:nvPr/>
        </p:nvSpPr>
        <p:spPr>
          <a:xfrm>
            <a:off x="1659835" y="3475226"/>
            <a:ext cx="1099930" cy="430887"/>
          </a:xfrm>
          <a:prstGeom prst="rect">
            <a:avLst/>
          </a:prstGeom>
          <a:noFill/>
        </p:spPr>
        <p:txBody>
          <a:bodyPr wrap="square" rtlCol="0">
            <a:spAutoFit/>
          </a:bodyPr>
          <a:lstStyle/>
          <a:p>
            <a:r>
              <a:rPr lang="en-US" sz="2200"/>
              <a:t>where</a:t>
            </a:r>
          </a:p>
        </p:txBody>
      </p:sp>
      <p:pic>
        <p:nvPicPr>
          <p:cNvPr id="17" name="Picture 16"/>
          <p:cNvPicPr>
            <a:picLocks noChangeAspect="1"/>
          </p:cNvPicPr>
          <p:nvPr/>
        </p:nvPicPr>
        <p:blipFill>
          <a:blip r:embed="rId5"/>
          <a:stretch>
            <a:fillRect/>
          </a:stretch>
        </p:blipFill>
        <p:spPr>
          <a:xfrm>
            <a:off x="1379882" y="2157972"/>
            <a:ext cx="9859617" cy="1099655"/>
          </a:xfrm>
          <a:prstGeom prst="rect">
            <a:avLst/>
          </a:prstGeom>
        </p:spPr>
      </p:pic>
      <p:pic>
        <p:nvPicPr>
          <p:cNvPr id="18" name="Picture 17"/>
          <p:cNvPicPr>
            <a:picLocks noChangeAspect="1"/>
          </p:cNvPicPr>
          <p:nvPr/>
        </p:nvPicPr>
        <p:blipFill>
          <a:blip r:embed="rId6"/>
          <a:stretch>
            <a:fillRect/>
          </a:stretch>
        </p:blipFill>
        <p:spPr>
          <a:xfrm>
            <a:off x="2650435" y="3489528"/>
            <a:ext cx="5245652" cy="430893"/>
          </a:xfrm>
          <a:prstGeom prst="rect">
            <a:avLst/>
          </a:prstGeom>
        </p:spPr>
      </p:pic>
    </p:spTree>
    <p:extLst>
      <p:ext uri="{BB962C8B-B14F-4D97-AF65-F5344CB8AC3E}">
        <p14:creationId xmlns:p14="http://schemas.microsoft.com/office/powerpoint/2010/main" val="5265591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Initialization</a:t>
            </a:r>
          </a:p>
        </p:txBody>
      </p:sp>
      <p:sp>
        <p:nvSpPr>
          <p:cNvPr id="3" name="Content Placeholder 2"/>
          <p:cNvSpPr>
            <a:spLocks noGrp="1"/>
          </p:cNvSpPr>
          <p:nvPr>
            <p:ph idx="1"/>
          </p:nvPr>
        </p:nvSpPr>
        <p:spPr/>
        <p:txBody>
          <a:bodyPr/>
          <a:lstStyle/>
          <a:p>
            <a:r>
              <a:rPr lang="en-US"/>
              <a:t>Initial belief expressed as</a:t>
            </a:r>
          </a:p>
        </p:txBody>
      </p:sp>
      <p:sp>
        <p:nvSpPr>
          <p:cNvPr id="4" name="Date Placeholder 3"/>
          <p:cNvSpPr>
            <a:spLocks noGrp="1"/>
          </p:cNvSpPr>
          <p:nvPr>
            <p:ph type="dt" sz="half" idx="10"/>
          </p:nvPr>
        </p:nvSpPr>
        <p:spPr/>
        <p:txBody>
          <a:bodyPr/>
          <a:lstStyle/>
          <a:p>
            <a:fld id="{5A3A01AB-2DAB-F344-8DB5-9696C4A592A4}"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7" name="Picture 6"/>
          <p:cNvPicPr>
            <a:picLocks noChangeAspect="1"/>
          </p:cNvPicPr>
          <p:nvPr/>
        </p:nvPicPr>
        <p:blipFill>
          <a:blip r:embed="rId3"/>
          <a:stretch>
            <a:fillRect/>
          </a:stretch>
        </p:blipFill>
        <p:spPr>
          <a:xfrm>
            <a:off x="4359964" y="2584726"/>
            <a:ext cx="3374336" cy="475422"/>
          </a:xfrm>
          <a:prstGeom prst="rect">
            <a:avLst/>
          </a:prstGeom>
        </p:spPr>
      </p:pic>
      <p:pic>
        <p:nvPicPr>
          <p:cNvPr id="8" name="Picture 7"/>
          <p:cNvPicPr>
            <a:picLocks noChangeAspect="1"/>
          </p:cNvPicPr>
          <p:nvPr/>
        </p:nvPicPr>
        <p:blipFill>
          <a:blip r:embed="rId4"/>
          <a:stretch>
            <a:fillRect/>
          </a:stretch>
        </p:blipFill>
        <p:spPr>
          <a:xfrm>
            <a:off x="3629714" y="3575533"/>
            <a:ext cx="4834835" cy="2783993"/>
          </a:xfrm>
          <a:prstGeom prst="rect">
            <a:avLst/>
          </a:prstGeom>
        </p:spPr>
      </p:pic>
      <p:sp>
        <p:nvSpPr>
          <p:cNvPr id="9" name="Rectangle 8"/>
          <p:cNvSpPr/>
          <p:nvPr/>
        </p:nvSpPr>
        <p:spPr>
          <a:xfrm>
            <a:off x="4735165" y="3575533"/>
            <a:ext cx="1364974" cy="1248258"/>
          </a:xfrm>
          <a:prstGeom prst="rect">
            <a:avLst/>
          </a:prstGeom>
          <a:noFill/>
          <a:ln w="190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p:cNvCxnSpPr/>
          <p:nvPr/>
        </p:nvCxnSpPr>
        <p:spPr>
          <a:xfrm>
            <a:off x="3409122" y="4037198"/>
            <a:ext cx="1258956"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2121172" y="3575533"/>
            <a:ext cx="1362766" cy="923330"/>
          </a:xfrm>
          <a:prstGeom prst="rect">
            <a:avLst/>
          </a:prstGeom>
          <a:noFill/>
        </p:spPr>
        <p:txBody>
          <a:bodyPr wrap="square" rtlCol="0">
            <a:spAutoFit/>
          </a:bodyPr>
          <a:lstStyle/>
          <a:p>
            <a:r>
              <a:rPr lang="en-US"/>
              <a:t>Initialization for pose variables</a:t>
            </a:r>
          </a:p>
        </p:txBody>
      </p:sp>
      <p:sp>
        <p:nvSpPr>
          <p:cNvPr id="13" name="TextBox 12"/>
          <p:cNvSpPr txBox="1"/>
          <p:nvPr/>
        </p:nvSpPr>
        <p:spPr>
          <a:xfrm>
            <a:off x="2209800" y="5381871"/>
            <a:ext cx="1655695" cy="369332"/>
          </a:xfrm>
          <a:prstGeom prst="rect">
            <a:avLst/>
          </a:prstGeom>
          <a:noFill/>
        </p:spPr>
        <p:txBody>
          <a:bodyPr wrap="square" rtlCol="0">
            <a:spAutoFit/>
          </a:bodyPr>
          <a:lstStyle/>
          <a:p>
            <a:r>
              <a:rPr lang="en-US"/>
              <a:t>(3+2</a:t>
            </a:r>
            <a:r>
              <a:rPr lang="en-US" i="1"/>
              <a:t>N</a:t>
            </a:r>
            <a:r>
              <a:rPr lang="en-US"/>
              <a:t>) x (3+2</a:t>
            </a:r>
            <a:r>
              <a:rPr lang="en-US" i="1"/>
              <a:t>N</a:t>
            </a:r>
            <a:r>
              <a:rPr lang="en-US"/>
              <a:t>)</a:t>
            </a:r>
          </a:p>
        </p:txBody>
      </p:sp>
      <p:cxnSp>
        <p:nvCxnSpPr>
          <p:cNvPr id="14" name="Straight Arrow Connector 13"/>
          <p:cNvCxnSpPr/>
          <p:nvPr/>
        </p:nvCxnSpPr>
        <p:spPr>
          <a:xfrm flipV="1">
            <a:off x="2902226" y="5102087"/>
            <a:ext cx="581712" cy="27978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301085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Initialization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r>
                  <a:rPr lang="en-US"/>
                  <a:t>When a landmark is observed for the first time, the landmark estimate </a:t>
                </a:r>
                <a14:m>
                  <m:oMath xmlns:m="http://schemas.openxmlformats.org/officeDocument/2006/math">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acc>
                                  <m:accPr>
                                    <m:chr m:val="̅"/>
                                    <m:ctrlPr>
                                      <a:rPr lang="en-US" b="0" i="1" smtClean="0">
                                        <a:latin typeface="Cambria Math" panose="02040503050406030204" pitchFamily="18" charset="0"/>
                                      </a:rPr>
                                    </m:ctrlPr>
                                  </m:accPr>
                                  <m:e>
                                    <m:r>
                                      <a:rPr lang="en-US" b="0" i="1" smtClean="0">
                                        <a:latin typeface="Cambria Math" charset="0"/>
                                      </a:rPr>
                                      <m:t>𝜇</m:t>
                                    </m:r>
                                  </m:e>
                                </m:acc>
                              </m:e>
                              <m:sub>
                                <m:r>
                                  <a:rPr lang="en-US" b="0" i="1" smtClean="0">
                                    <a:latin typeface="Cambria Math" charset="0"/>
                                  </a:rPr>
                                  <m:t>𝑗</m:t>
                                </m:r>
                                <m:r>
                                  <a:rPr lang="en-US" b="0" i="1" smtClean="0">
                                    <a:latin typeface="Cambria Math" charset="0"/>
                                  </a:rPr>
                                  <m:t>,</m:t>
                                </m:r>
                                <m:r>
                                  <a:rPr lang="en-US" b="0" i="1" smtClean="0">
                                    <a:latin typeface="Cambria Math" charset="0"/>
                                  </a:rPr>
                                  <m:t>𝑥</m:t>
                                </m:r>
                              </m:sub>
                            </m:sSub>
                            <m:r>
                              <a:rPr lang="en-US" b="0" i="1" smtClean="0">
                                <a:latin typeface="Cambria Math" charset="0"/>
                              </a:rPr>
                              <m:t>,</m:t>
                            </m:r>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charset="0"/>
                                      </a:rPr>
                                      <m:t>𝜇</m:t>
                                    </m:r>
                                  </m:e>
                                </m:acc>
                              </m:e>
                              <m:sub>
                                <m:r>
                                  <a:rPr lang="en-US" i="1">
                                    <a:latin typeface="Cambria Math" charset="0"/>
                                  </a:rPr>
                                  <m:t>𝑗</m:t>
                                </m:r>
                                <m:r>
                                  <a:rPr lang="en-US" i="1">
                                    <a:latin typeface="Cambria Math" charset="0"/>
                                  </a:rPr>
                                  <m:t>,</m:t>
                                </m:r>
                                <m:r>
                                  <a:rPr lang="en-US" b="0" i="1" smtClean="0">
                                    <a:latin typeface="Cambria Math" charset="0"/>
                                  </a:rPr>
                                  <m:t>𝑦</m:t>
                                </m:r>
                              </m:sub>
                            </m:sSub>
                          </m:e>
                        </m:d>
                      </m:e>
                      <m:sup>
                        <m:r>
                          <a:rPr lang="en-US" b="0" i="1" smtClean="0">
                            <a:latin typeface="Cambria Math" charset="0"/>
                          </a:rPr>
                          <m:t>𝑇</m:t>
                        </m:r>
                      </m:sup>
                    </m:sSup>
                  </m:oMath>
                </a14:m>
                <a:r>
                  <a:rPr lang="en-US"/>
                  <a:t> is initialized with the expected position, that is</a:t>
                </a:r>
              </a:p>
              <a:p>
                <a:endParaRPr lang="en-US"/>
              </a:p>
              <a:p>
                <a:endParaRPr lang="en-US"/>
              </a:p>
              <a:p>
                <a:endParaRPr lang="en-US"/>
              </a:p>
              <a:p>
                <a:endParaRPr lang="en-US"/>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1043" t="-2241"/>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3D3D1ED3-0963-4F4E-A3DD-D267E45FADBF}"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7" name="Picture 6"/>
          <p:cNvPicPr>
            <a:picLocks noChangeAspect="1"/>
          </p:cNvPicPr>
          <p:nvPr/>
        </p:nvPicPr>
        <p:blipFill>
          <a:blip r:embed="rId4"/>
          <a:stretch>
            <a:fillRect/>
          </a:stretch>
        </p:blipFill>
        <p:spPr>
          <a:xfrm>
            <a:off x="2796208" y="3450725"/>
            <a:ext cx="6538291" cy="947891"/>
          </a:xfrm>
          <a:prstGeom prst="rect">
            <a:avLst/>
          </a:prstGeom>
        </p:spPr>
      </p:pic>
    </p:spTree>
    <p:extLst>
      <p:ext uri="{BB962C8B-B14F-4D97-AF65-F5344CB8AC3E}">
        <p14:creationId xmlns:p14="http://schemas.microsoft.com/office/powerpoint/2010/main" val="1227068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EKF SLAM algorithm</a:t>
            </a:r>
          </a:p>
        </p:txBody>
      </p:sp>
      <p:sp>
        <p:nvSpPr>
          <p:cNvPr id="3" name="Content Placeholder 2"/>
          <p:cNvSpPr>
            <a:spLocks noGrp="1"/>
          </p:cNvSpPr>
          <p:nvPr>
            <p:ph idx="1"/>
          </p:nvPr>
        </p:nvSpPr>
        <p:spPr>
          <a:xfrm>
            <a:off x="838200" y="1825625"/>
            <a:ext cx="5496339" cy="4351338"/>
          </a:xfrm>
        </p:spPr>
        <p:txBody>
          <a:bodyPr/>
          <a:lstStyle/>
          <a:p>
            <a:r>
              <a:rPr lang="en-US"/>
              <a:t>Similar to EKF localization; main differences:</a:t>
            </a:r>
          </a:p>
          <a:p>
            <a:pPr lvl="1"/>
            <a:r>
              <a:rPr lang="en-US"/>
              <a:t>Augmented state vector </a:t>
            </a:r>
          </a:p>
          <a:p>
            <a:pPr lvl="1"/>
            <a:r>
              <a:rPr lang="en-US"/>
              <a:t>Augmented dynamics (with trivial dynamics for the landmarks)</a:t>
            </a:r>
          </a:p>
          <a:p>
            <a:pPr lvl="1"/>
            <a:r>
              <a:rPr lang="en-US"/>
              <a:t>Initialization of unseen landmarks</a:t>
            </a:r>
          </a:p>
          <a:p>
            <a:pPr lvl="1"/>
            <a:r>
              <a:rPr lang="en-US"/>
              <a:t>Augmented measurement Jacobian</a:t>
            </a:r>
          </a:p>
          <a:p>
            <a:pPr lvl="1"/>
            <a:endParaRPr lang="en-US"/>
          </a:p>
          <a:p>
            <a:pPr lvl="1"/>
            <a:endParaRPr lang="en-US"/>
          </a:p>
        </p:txBody>
      </p:sp>
      <p:sp>
        <p:nvSpPr>
          <p:cNvPr id="4" name="Date Placeholder 3"/>
          <p:cNvSpPr>
            <a:spLocks noGrp="1"/>
          </p:cNvSpPr>
          <p:nvPr>
            <p:ph type="dt" sz="half" idx="10"/>
          </p:nvPr>
        </p:nvSpPr>
        <p:spPr/>
        <p:txBody>
          <a:bodyPr/>
          <a:lstStyle/>
          <a:p>
            <a:fld id="{05BCA2AB-AFCA-BF47-A392-872248EBD16E}"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8" name="Picture 7"/>
          <p:cNvPicPr>
            <a:picLocks noChangeAspect="1"/>
          </p:cNvPicPr>
          <p:nvPr/>
        </p:nvPicPr>
        <p:blipFill>
          <a:blip r:embed="rId3"/>
          <a:stretch>
            <a:fillRect/>
          </a:stretch>
        </p:blipFill>
        <p:spPr>
          <a:xfrm>
            <a:off x="7460080" y="1054779"/>
            <a:ext cx="4547547" cy="5752195"/>
          </a:xfrm>
          <a:prstGeom prst="rect">
            <a:avLst/>
          </a:prstGeom>
        </p:spPr>
      </p:pic>
    </p:spTree>
    <p:extLst>
      <p:ext uri="{BB962C8B-B14F-4D97-AF65-F5344CB8AC3E}">
        <p14:creationId xmlns:p14="http://schemas.microsoft.com/office/powerpoint/2010/main" val="12777253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Example</a:t>
            </a:r>
          </a:p>
        </p:txBody>
      </p:sp>
      <p:sp>
        <p:nvSpPr>
          <p:cNvPr id="4" name="Date Placeholder 3"/>
          <p:cNvSpPr>
            <a:spLocks noGrp="1"/>
          </p:cNvSpPr>
          <p:nvPr>
            <p:ph type="dt" sz="half" idx="10"/>
          </p:nvPr>
        </p:nvSpPr>
        <p:spPr/>
        <p:txBody>
          <a:bodyPr/>
          <a:lstStyle/>
          <a:p>
            <a:fld id="{94916945-715A-254E-9AB4-A9FA2D9813B5}"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900" y="2857949"/>
            <a:ext cx="2859210" cy="2847297"/>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169276" y="2871064"/>
            <a:ext cx="2859210" cy="2859210"/>
          </a:xfrm>
          <a:prstGeom prst="rect">
            <a:avLst/>
          </a:prstGeom>
        </p:spPr>
      </p:pic>
      <p:pic>
        <p:nvPicPr>
          <p:cNvPr id="10" name="Picture 9"/>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127164" y="2884179"/>
            <a:ext cx="2856489" cy="2832979"/>
          </a:xfrm>
          <a:prstGeom prst="rect">
            <a:avLst/>
          </a:prstGeom>
        </p:spPr>
      </p:pic>
      <p:pic>
        <p:nvPicPr>
          <p:cNvPr id="11" name="Picture 10"/>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82331" y="2884179"/>
            <a:ext cx="2821067" cy="2821067"/>
          </a:xfrm>
          <a:prstGeom prst="rect">
            <a:avLst/>
          </a:prstGeom>
        </p:spPr>
      </p:pic>
    </p:spTree>
    <p:extLst>
      <p:ext uri="{BB962C8B-B14F-4D97-AF65-F5344CB8AC3E}">
        <p14:creationId xmlns:p14="http://schemas.microsoft.com/office/powerpoint/2010/main" val="8366204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EKF SLAM with unknown correspondences</a:t>
            </a:r>
          </a:p>
        </p:txBody>
      </p:sp>
      <p:sp>
        <p:nvSpPr>
          <p:cNvPr id="3" name="Content Placeholder 2"/>
          <p:cNvSpPr>
            <a:spLocks noGrp="1"/>
          </p:cNvSpPr>
          <p:nvPr>
            <p:ph idx="1"/>
          </p:nvPr>
        </p:nvSpPr>
        <p:spPr/>
        <p:txBody>
          <a:bodyPr/>
          <a:lstStyle/>
          <a:p>
            <a:r>
              <a:rPr lang="en-US">
                <a:solidFill>
                  <a:srgbClr val="C00000"/>
                </a:solidFill>
              </a:rPr>
              <a:t>Key idea</a:t>
            </a:r>
            <a:r>
              <a:rPr lang="en-US"/>
              <a:t>: use an incremental maximum likelihood estimator to determine correspondences</a:t>
            </a:r>
          </a:p>
          <a:p>
            <a:r>
              <a:rPr lang="en-US"/>
              <a:t>Similar to EKF localization with unknown correspondences, but now we also need to create hypotheses for new landmarks</a:t>
            </a:r>
          </a:p>
          <a:p>
            <a:r>
              <a:rPr lang="en-US">
                <a:solidFill>
                  <a:srgbClr val="C00000"/>
                </a:solidFill>
              </a:rPr>
              <a:t>Caveat</a:t>
            </a:r>
            <a:r>
              <a:rPr lang="en-US"/>
              <a:t>: maximum likelihood data association often makes the algorithm brittle, as it is not possible to revise past data associations</a:t>
            </a:r>
          </a:p>
        </p:txBody>
      </p:sp>
      <p:sp>
        <p:nvSpPr>
          <p:cNvPr id="4" name="Date Placeholder 3"/>
          <p:cNvSpPr>
            <a:spLocks noGrp="1"/>
          </p:cNvSpPr>
          <p:nvPr>
            <p:ph type="dt" sz="half" idx="10"/>
          </p:nvPr>
        </p:nvSpPr>
        <p:spPr/>
        <p:txBody>
          <a:bodyPr/>
          <a:lstStyle/>
          <a:p>
            <a:fld id="{2DAACC7E-3825-144D-866C-A61D6850295E}"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Tree>
    <p:extLst>
      <p:ext uri="{BB962C8B-B14F-4D97-AF65-F5344CB8AC3E}">
        <p14:creationId xmlns:p14="http://schemas.microsoft.com/office/powerpoint/2010/main" val="18567979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p:cNvPicPr>
            <a:picLocks noChangeAspect="1"/>
          </p:cNvPicPr>
          <p:nvPr/>
        </p:nvPicPr>
        <p:blipFill>
          <a:blip r:embed="rId3"/>
          <a:stretch>
            <a:fillRect/>
          </a:stretch>
        </p:blipFill>
        <p:spPr>
          <a:xfrm>
            <a:off x="7077131" y="365125"/>
            <a:ext cx="4581553" cy="6492875"/>
          </a:xfrm>
          <a:prstGeom prst="rect">
            <a:avLst/>
          </a:prstGeom>
        </p:spPr>
      </p:pic>
      <p:sp>
        <p:nvSpPr>
          <p:cNvPr id="2" name="Title 1"/>
          <p:cNvSpPr>
            <a:spLocks noGrp="1"/>
          </p:cNvSpPr>
          <p:nvPr>
            <p:ph type="title"/>
          </p:nvPr>
        </p:nvSpPr>
        <p:spPr>
          <a:xfrm>
            <a:off x="838200" y="365125"/>
            <a:ext cx="6105939" cy="1325563"/>
          </a:xfrm>
        </p:spPr>
        <p:txBody>
          <a:bodyPr/>
          <a:lstStyle/>
          <a:p>
            <a:r>
              <a:rPr lang="en-US"/>
              <a:t>EKF SLAM with unknown correspondences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5"/>
                <a:ext cx="4462670" cy="4351338"/>
              </a:xfrm>
            </p:spPr>
            <p:txBody>
              <a:bodyPr/>
              <a:lstStyle/>
              <a:p>
                <a:r>
                  <a:rPr lang="en-US"/>
                  <a:t>In the measurement update loop, we first create the hypothesis of a new landmark</a:t>
                </a:r>
              </a:p>
              <a:p>
                <a:r>
                  <a:rPr lang="en-US"/>
                  <a:t>A new landmark is created if the </a:t>
                </a:r>
                <a:r>
                  <a:rPr lang="en-US" err="1"/>
                  <a:t>Mahalanobis</a:t>
                </a:r>
                <a:r>
                  <a:rPr lang="en-US"/>
                  <a:t> distance to all existing landmarks exceeds the value </a:t>
                </a:r>
                <a14:m>
                  <m:oMath xmlns:m="http://schemas.openxmlformats.org/officeDocument/2006/math">
                    <m:r>
                      <a:rPr lang="en-US" b="0" i="1" smtClean="0">
                        <a:latin typeface="Cambria Math" charset="0"/>
                      </a:rPr>
                      <m:t>𝛼</m:t>
                    </m:r>
                  </m:oMath>
                </a14:m>
                <a:endParaRPr lang="en-US"/>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5"/>
                <a:ext cx="4462670" cy="4351338"/>
              </a:xfrm>
              <a:blipFill>
                <a:blip r:embed="rId4"/>
                <a:stretch>
                  <a:fillRect l="-2459" t="-2241" r="-4372"/>
                </a:stretch>
              </a:blipFill>
            </p:spPr>
            <p:txBody>
              <a:bodyPr/>
              <a:lstStyle/>
              <a:p>
                <a:r>
                  <a:rPr lang="en-US">
                    <a:noFill/>
                  </a:rPr>
                  <a:t> </a:t>
                </a:r>
              </a:p>
            </p:txBody>
          </p:sp>
        </mc:Fallback>
      </mc:AlternateContent>
      <p:sp>
        <p:nvSpPr>
          <p:cNvPr id="4" name="Date Placeholder 3"/>
          <p:cNvSpPr>
            <a:spLocks noGrp="1"/>
          </p:cNvSpPr>
          <p:nvPr>
            <p:ph type="dt" sz="half" idx="10"/>
          </p:nvPr>
        </p:nvSpPr>
        <p:spPr/>
        <p:txBody>
          <a:bodyPr/>
          <a:lstStyle/>
          <a:p>
            <a:fld id="{07F551B9-3C23-6D4D-8BE1-B36AF664F48C}"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
        <p:nvSpPr>
          <p:cNvPr id="8" name="TextBox 7"/>
          <p:cNvSpPr txBox="1"/>
          <p:nvPr/>
        </p:nvSpPr>
        <p:spPr>
          <a:xfrm>
            <a:off x="10840279" y="767358"/>
            <a:ext cx="1351721" cy="923330"/>
          </a:xfrm>
          <a:prstGeom prst="rect">
            <a:avLst/>
          </a:prstGeom>
          <a:noFill/>
        </p:spPr>
        <p:txBody>
          <a:bodyPr wrap="square" rtlCol="0">
            <a:spAutoFit/>
          </a:bodyPr>
          <a:lstStyle/>
          <a:p>
            <a:r>
              <a:rPr lang="en-US"/>
              <a:t>Hypothesis for new landmark</a:t>
            </a:r>
          </a:p>
        </p:txBody>
      </p:sp>
      <p:cxnSp>
        <p:nvCxnSpPr>
          <p:cNvPr id="10" name="Straight Arrow Connector 9"/>
          <p:cNvCxnSpPr/>
          <p:nvPr/>
        </p:nvCxnSpPr>
        <p:spPr>
          <a:xfrm flipH="1">
            <a:off x="10840279" y="1690688"/>
            <a:ext cx="212034" cy="13493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740348" y="4630367"/>
            <a:ext cx="1775791" cy="369332"/>
          </a:xfrm>
          <a:prstGeom prst="rect">
            <a:avLst/>
          </a:prstGeom>
          <a:noFill/>
        </p:spPr>
        <p:txBody>
          <a:bodyPr wrap="square" rtlCol="0">
            <a:spAutoFit/>
          </a:bodyPr>
          <a:lstStyle/>
          <a:p>
            <a:r>
              <a:rPr lang="en-US"/>
              <a:t>Hypothesis test</a:t>
            </a:r>
          </a:p>
        </p:txBody>
      </p:sp>
      <p:cxnSp>
        <p:nvCxnSpPr>
          <p:cNvPr id="12" name="Straight Arrow Connector 11"/>
          <p:cNvCxnSpPr/>
          <p:nvPr/>
        </p:nvCxnSpPr>
        <p:spPr>
          <a:xfrm flipH="1">
            <a:off x="9037983" y="4841537"/>
            <a:ext cx="702365" cy="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10628243" y="3957804"/>
            <a:ext cx="1391479" cy="646331"/>
          </a:xfrm>
          <a:prstGeom prst="rect">
            <a:avLst/>
          </a:prstGeom>
          <a:noFill/>
        </p:spPr>
        <p:txBody>
          <a:bodyPr wrap="square" rtlCol="0">
            <a:spAutoFit/>
          </a:bodyPr>
          <a:lstStyle/>
          <a:p>
            <a:r>
              <a:rPr lang="en-US" err="1"/>
              <a:t>Mahalanobis</a:t>
            </a:r>
            <a:r>
              <a:rPr lang="en-US"/>
              <a:t> distance</a:t>
            </a:r>
          </a:p>
        </p:txBody>
      </p:sp>
      <p:cxnSp>
        <p:nvCxnSpPr>
          <p:cNvPr id="16" name="Straight Arrow Connector 15"/>
          <p:cNvCxnSpPr>
            <a:stCxn id="15" idx="1"/>
          </p:cNvCxnSpPr>
          <p:nvPr/>
        </p:nvCxnSpPr>
        <p:spPr>
          <a:xfrm flipH="1" flipV="1">
            <a:off x="10455965" y="4147930"/>
            <a:ext cx="172278" cy="13304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39328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Making EKF SLAM robust</a:t>
            </a:r>
          </a:p>
        </p:txBody>
      </p:sp>
      <p:sp>
        <p:nvSpPr>
          <p:cNvPr id="3" name="Content Placeholder 2"/>
          <p:cNvSpPr>
            <a:spLocks noGrp="1"/>
          </p:cNvSpPr>
          <p:nvPr>
            <p:ph idx="1"/>
          </p:nvPr>
        </p:nvSpPr>
        <p:spPr>
          <a:xfrm>
            <a:off x="838200" y="1690688"/>
            <a:ext cx="10515600" cy="5067921"/>
          </a:xfrm>
        </p:spPr>
        <p:txBody>
          <a:bodyPr>
            <a:normAutofit/>
          </a:bodyPr>
          <a:lstStyle/>
          <a:p>
            <a:r>
              <a:rPr lang="en-US"/>
              <a:t>A key issue is represented by the fact that </a:t>
            </a:r>
            <a:r>
              <a:rPr lang="en-US">
                <a:solidFill>
                  <a:srgbClr val="C00000"/>
                </a:solidFill>
              </a:rPr>
              <a:t>fake landmarks </a:t>
            </a:r>
            <a:r>
              <a:rPr lang="en-US"/>
              <a:t>might be created; furthermore, EKF can </a:t>
            </a:r>
            <a:r>
              <a:rPr lang="en-US" altLang="x-none">
                <a:solidFill>
                  <a:srgbClr val="C00000"/>
                </a:solidFill>
              </a:rPr>
              <a:t>diverge</a:t>
            </a:r>
            <a:r>
              <a:rPr lang="en-US" altLang="x-none"/>
              <a:t> if nonlinearities are large</a:t>
            </a:r>
            <a:endParaRPr lang="en-US"/>
          </a:p>
          <a:p>
            <a:r>
              <a:rPr lang="en-US"/>
              <a:t>Several techniques exist to mitigate such issues</a:t>
            </a:r>
          </a:p>
          <a:p>
            <a:pPr marL="971550" lvl="1" indent="-514350">
              <a:buFont typeface="+mj-lt"/>
              <a:buAutoNum type="arabicPeriod"/>
            </a:pPr>
            <a:r>
              <a:rPr lang="en-US"/>
              <a:t>Outlier rejection schemes, for example via provisional landmark lists</a:t>
            </a:r>
          </a:p>
          <a:p>
            <a:pPr marL="971550" lvl="1" indent="-514350">
              <a:buFont typeface="+mj-lt"/>
              <a:buAutoNum type="arabicPeriod"/>
            </a:pPr>
            <a:r>
              <a:rPr lang="en-US"/>
              <a:t>Strategies to enhance the distinctiveness of landmarks</a:t>
            </a:r>
          </a:p>
          <a:p>
            <a:pPr lvl="2"/>
            <a:r>
              <a:rPr lang="en-US"/>
              <a:t>Spatial arrangement</a:t>
            </a:r>
          </a:p>
          <a:p>
            <a:pPr lvl="2"/>
            <a:r>
              <a:rPr lang="en-US"/>
              <a:t>Signatures </a:t>
            </a:r>
          </a:p>
          <a:p>
            <a:pPr lvl="2"/>
            <a:r>
              <a:rPr lang="en-US"/>
              <a:t>Enforcing geometric constraints</a:t>
            </a:r>
          </a:p>
          <a:p>
            <a:pPr lvl="2"/>
            <a:endParaRPr lang="en-US"/>
          </a:p>
          <a:p>
            <a:r>
              <a:rPr lang="en-US">
                <a:solidFill>
                  <a:srgbClr val="C00000"/>
                </a:solidFill>
              </a:rPr>
              <a:t>Dilemma of EKF SLAM</a:t>
            </a:r>
            <a:r>
              <a:rPr lang="en-US"/>
              <a:t>: accurate localization typically requires dense maps, but EKF requires sparse maps due to quadratic update complexity</a:t>
            </a:r>
          </a:p>
        </p:txBody>
      </p:sp>
      <p:sp>
        <p:nvSpPr>
          <p:cNvPr id="4" name="Date Placeholder 3"/>
          <p:cNvSpPr>
            <a:spLocks noGrp="1"/>
          </p:cNvSpPr>
          <p:nvPr>
            <p:ph type="dt" sz="half" idx="10"/>
          </p:nvPr>
        </p:nvSpPr>
        <p:spPr/>
        <p:txBody>
          <a:bodyPr/>
          <a:lstStyle/>
          <a:p>
            <a:fld id="{0C4B0607-8036-3C42-A8DD-710DCF7EDB7B}"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Tree>
    <p:extLst>
      <p:ext uri="{BB962C8B-B14F-4D97-AF65-F5344CB8AC3E}">
        <p14:creationId xmlns:p14="http://schemas.microsoft.com/office/powerpoint/2010/main" val="295146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Summary: Gaussian filtering  </a:t>
            </a:r>
          </a:p>
        </p:txBody>
      </p:sp>
      <p:sp>
        <p:nvSpPr>
          <p:cNvPr id="3" name="Content Placeholder 2"/>
          <p:cNvSpPr>
            <a:spLocks noGrp="1"/>
          </p:cNvSpPr>
          <p:nvPr>
            <p:ph idx="1"/>
          </p:nvPr>
        </p:nvSpPr>
        <p:spPr>
          <a:xfrm>
            <a:off x="838200" y="1825624"/>
            <a:ext cx="10515600" cy="4716465"/>
          </a:xfrm>
        </p:spPr>
        <p:txBody>
          <a:bodyPr/>
          <a:lstStyle/>
          <a:p>
            <a:r>
              <a:rPr lang="en-US">
                <a:solidFill>
                  <a:srgbClr val="C00000"/>
                </a:solidFill>
              </a:rPr>
              <a:t>Key ideas</a:t>
            </a:r>
            <a:r>
              <a:rPr lang="en-US"/>
              <a:t>:</a:t>
            </a:r>
          </a:p>
          <a:p>
            <a:pPr lvl="1"/>
            <a:r>
              <a:rPr lang="en-US"/>
              <a:t>Represent a belief with  a Gaussian distribution </a:t>
            </a:r>
          </a:p>
          <a:p>
            <a:pPr lvl="1"/>
            <a:r>
              <a:rPr lang="en-US"/>
              <a:t>Assume all uncertainty sources are Gaussian </a:t>
            </a:r>
          </a:p>
          <a:p>
            <a:r>
              <a:rPr lang="en-US"/>
              <a:t>Pros:</a:t>
            </a:r>
          </a:p>
          <a:p>
            <a:pPr lvl="1"/>
            <a:r>
              <a:rPr lang="en-US"/>
              <a:t>Runs online</a:t>
            </a:r>
          </a:p>
          <a:p>
            <a:pPr lvl="1"/>
            <a:r>
              <a:rPr lang="en-US"/>
              <a:t>Well understood</a:t>
            </a:r>
          </a:p>
          <a:p>
            <a:pPr lvl="1"/>
            <a:r>
              <a:rPr lang="en-US"/>
              <a:t>Works well when uncertainty is low</a:t>
            </a:r>
          </a:p>
          <a:p>
            <a:r>
              <a:rPr lang="en-US"/>
              <a:t>Cons:</a:t>
            </a:r>
          </a:p>
          <a:p>
            <a:pPr lvl="1"/>
            <a:r>
              <a:rPr lang="en-US"/>
              <a:t>Unimodal estimate</a:t>
            </a:r>
          </a:p>
          <a:p>
            <a:pPr lvl="1"/>
            <a:r>
              <a:rPr lang="en-US"/>
              <a:t>States must be well approximated by a Gaussian</a:t>
            </a:r>
          </a:p>
          <a:p>
            <a:pPr lvl="1"/>
            <a:r>
              <a:rPr lang="en-US"/>
              <a:t>Works poorly when uncertainty is high</a:t>
            </a:r>
          </a:p>
          <a:p>
            <a:pPr lvl="1"/>
            <a:endParaRPr lang="en-US"/>
          </a:p>
          <a:p>
            <a:pPr lvl="1"/>
            <a:endParaRPr lang="en-US"/>
          </a:p>
          <a:p>
            <a:pPr lvl="1"/>
            <a:endParaRPr lang="en-US"/>
          </a:p>
        </p:txBody>
      </p:sp>
      <p:sp>
        <p:nvSpPr>
          <p:cNvPr id="4" name="Date Placeholder 3"/>
          <p:cNvSpPr>
            <a:spLocks noGrp="1"/>
          </p:cNvSpPr>
          <p:nvPr>
            <p:ph type="dt" sz="half" idx="10"/>
          </p:nvPr>
        </p:nvSpPr>
        <p:spPr/>
        <p:txBody>
          <a:bodyPr/>
          <a:lstStyle/>
          <a:p>
            <a:fld id="{17B2FDF6-3CDE-FD48-880C-3787C26FCD0F}"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Tree>
    <p:extLst>
      <p:ext uri="{BB962C8B-B14F-4D97-AF65-F5344CB8AC3E}">
        <p14:creationId xmlns:p14="http://schemas.microsoft.com/office/powerpoint/2010/main" val="9202167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Final considerations</a:t>
            </a:r>
          </a:p>
        </p:txBody>
      </p:sp>
      <p:sp>
        <p:nvSpPr>
          <p:cNvPr id="3" name="Content Placeholder 2"/>
          <p:cNvSpPr>
            <a:spLocks noGrp="1"/>
          </p:cNvSpPr>
          <p:nvPr>
            <p:ph idx="1"/>
          </p:nvPr>
        </p:nvSpPr>
        <p:spPr>
          <a:xfrm>
            <a:off x="838200" y="1825624"/>
            <a:ext cx="10697308" cy="4716465"/>
          </a:xfrm>
        </p:spPr>
        <p:txBody>
          <a:bodyPr/>
          <a:lstStyle/>
          <a:p>
            <a:r>
              <a:rPr lang="en-US"/>
              <a:t>A quite recent overview of SLAM (with strong focus on graph SLAM): </a:t>
            </a:r>
            <a:r>
              <a:rPr lang="en-US" sz="1800"/>
              <a:t>C. Cadena, L. </a:t>
            </a:r>
            <a:r>
              <a:rPr lang="en-US" sz="1800" err="1"/>
              <a:t>Carlone</a:t>
            </a:r>
            <a:r>
              <a:rPr lang="en-US" sz="1800"/>
              <a:t>, H. Carrillo, Y. Latif, D. </a:t>
            </a:r>
            <a:r>
              <a:rPr lang="en-US" sz="1800" err="1"/>
              <a:t>Scaramuzza</a:t>
            </a:r>
            <a:r>
              <a:rPr lang="en-US" sz="1800"/>
              <a:t>, J. </a:t>
            </a:r>
            <a:r>
              <a:rPr lang="en-US" sz="1800" err="1"/>
              <a:t>Neira</a:t>
            </a:r>
            <a:r>
              <a:rPr lang="en-US" sz="1800"/>
              <a:t>, I. Reid, and J. J. Leonard. "Past, present, and future of simultaneous localization and mapping: Toward the robust-perception age." IEEE Transactions on Robotics 32, no. 6 (2016): 1309-1332.</a:t>
            </a:r>
          </a:p>
          <a:p>
            <a:r>
              <a:rPr lang="en-US"/>
              <a:t>Popular software packages</a:t>
            </a:r>
          </a:p>
          <a:p>
            <a:pPr lvl="1"/>
            <a:r>
              <a:rPr lang="en-US">
                <a:hlinkClick r:id="rId2"/>
              </a:rPr>
              <a:t>https://www.openslam.org/</a:t>
            </a:r>
            <a:r>
              <a:rPr lang="en-US"/>
              <a:t>: comprehensive list of open-source SLAM software</a:t>
            </a:r>
          </a:p>
          <a:p>
            <a:pPr lvl="1"/>
            <a:r>
              <a:rPr lang="en-US">
                <a:hlinkClick r:id="rId3"/>
              </a:rPr>
              <a:t>https://github.com/pamela-project/slambench</a:t>
            </a:r>
            <a:r>
              <a:rPr lang="en-US"/>
              <a:t>: popular benchmark framework</a:t>
            </a:r>
          </a:p>
          <a:p>
            <a:pPr lvl="1"/>
            <a:r>
              <a:rPr lang="en-US"/>
              <a:t>Commercial SDKs: </a:t>
            </a:r>
            <a:r>
              <a:rPr lang="en-US" err="1"/>
              <a:t>ARCore</a:t>
            </a:r>
            <a:r>
              <a:rPr lang="en-US"/>
              <a:t>/</a:t>
            </a:r>
            <a:r>
              <a:rPr lang="en-US" err="1"/>
              <a:t>ARKit</a:t>
            </a:r>
            <a:r>
              <a:rPr lang="en-US"/>
              <a:t> from Google/Apple, Oculus Insight</a:t>
            </a:r>
          </a:p>
        </p:txBody>
      </p:sp>
      <p:sp>
        <p:nvSpPr>
          <p:cNvPr id="4" name="Date Placeholder 3"/>
          <p:cNvSpPr>
            <a:spLocks noGrp="1"/>
          </p:cNvSpPr>
          <p:nvPr>
            <p:ph type="dt" sz="half" idx="10"/>
          </p:nvPr>
        </p:nvSpPr>
        <p:spPr/>
        <p:txBody>
          <a:bodyPr/>
          <a:lstStyle/>
          <a:p>
            <a:fld id="{37E834C9-E641-7D44-93E4-016B2F9BD5D3}" type="datetime1">
              <a:rPr lang="en-US" smtClean="0"/>
              <a:t>12/20/2025</a:t>
            </a:fld>
            <a:endParaRPr lang="en-US"/>
          </a:p>
        </p:txBody>
      </p:sp>
      <p:sp>
        <p:nvSpPr>
          <p:cNvPr id="5" name="Footer Placeholder 4"/>
          <p:cNvSpPr>
            <a:spLocks noGrp="1"/>
          </p:cNvSpPr>
          <p:nvPr>
            <p:ph type="ftr" sz="quarter" idx="11"/>
          </p:nvPr>
        </p:nvSpPr>
        <p:spPr/>
        <p:txBody>
          <a:bodyPr/>
          <a:lstStyle/>
          <a:p>
            <a:r>
              <a:rPr lang="hr-HR"/>
              <a:t>AA 174A | Lecture 18</a:t>
            </a:r>
            <a:endParaRPr lang="en-US"/>
          </a:p>
        </p:txBody>
      </p:sp>
    </p:spTree>
    <p:extLst>
      <p:ext uri="{BB962C8B-B14F-4D97-AF65-F5344CB8AC3E}">
        <p14:creationId xmlns:p14="http://schemas.microsoft.com/office/powerpoint/2010/main" val="2245447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3DE272B-8AAF-6711-FD26-EA18F8777761}"/>
              </a:ext>
            </a:extLst>
          </p:cNvPr>
          <p:cNvSpPr>
            <a:spLocks noGrp="1"/>
          </p:cNvSpPr>
          <p:nvPr>
            <p:ph type="dt" sz="half" idx="10"/>
          </p:nvPr>
        </p:nvSpPr>
        <p:spPr/>
        <p:txBody>
          <a:bodyPr/>
          <a:lstStyle/>
          <a:p>
            <a:fld id="{2F638B51-B1D2-114E-A8D3-0F43EF1AA382}" type="datetime1">
              <a:rPr lang="en-US" smtClean="0"/>
              <a:t>12/20/2025</a:t>
            </a:fld>
            <a:endParaRPr lang="en-US"/>
          </a:p>
        </p:txBody>
      </p:sp>
      <p:sp>
        <p:nvSpPr>
          <p:cNvPr id="5" name="Footer Placeholder 4">
            <a:extLst>
              <a:ext uri="{FF2B5EF4-FFF2-40B4-BE49-F238E27FC236}">
                <a16:creationId xmlns:a16="http://schemas.microsoft.com/office/drawing/2014/main" id="{F917F1E6-B697-ADDB-786A-1F2BFA8B497F}"/>
              </a:ext>
            </a:extLst>
          </p:cNvPr>
          <p:cNvSpPr>
            <a:spLocks noGrp="1"/>
          </p:cNvSpPr>
          <p:nvPr>
            <p:ph type="ftr" sz="quarter" idx="11"/>
          </p:nvPr>
        </p:nvSpPr>
        <p:spPr/>
        <p:txBody>
          <a:bodyPr/>
          <a:lstStyle/>
          <a:p>
            <a:r>
              <a:rPr lang="hr-HR"/>
              <a:t>AA 174A | Lecture 18</a:t>
            </a:r>
            <a:endParaRPr lang="en-US"/>
          </a:p>
        </p:txBody>
      </p:sp>
      <p:sp>
        <p:nvSpPr>
          <p:cNvPr id="6" name="Title 1">
            <a:extLst>
              <a:ext uri="{FF2B5EF4-FFF2-40B4-BE49-F238E27FC236}">
                <a16:creationId xmlns:a16="http://schemas.microsoft.com/office/drawing/2014/main" id="{5E79E343-28E9-CCB8-2A23-824E3CE7EC07}"/>
              </a:ext>
            </a:extLst>
          </p:cNvPr>
          <p:cNvSpPr txBox="1">
            <a:spLocks/>
          </p:cNvSpPr>
          <p:nvPr/>
        </p:nvSpPr>
        <p:spPr>
          <a:xfrm>
            <a:off x="838200" y="2766218"/>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t>Thanks for a great quarter!</a:t>
            </a:r>
          </a:p>
        </p:txBody>
      </p:sp>
    </p:spTree>
    <p:extLst>
      <p:ext uri="{BB962C8B-B14F-4D97-AF65-F5344CB8AC3E}">
        <p14:creationId xmlns:p14="http://schemas.microsoft.com/office/powerpoint/2010/main" val="1413290236"/>
      </p:ext>
    </p:extLst>
  </p:cSld>
  <p:clrMapOvr>
    <a:masterClrMapping/>
  </p:clrMapOvr>
</p:sld>
</file>

<file path=ppt/theme/theme1.xml><?xml version="1.0" encoding="utf-8"?>
<a:theme xmlns:a="http://schemas.openxmlformats.org/drawingml/2006/main" name="AA274">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5553</Words>
  <Application>Microsoft Office PowerPoint</Application>
  <PresentationFormat>Widescreen</PresentationFormat>
  <Paragraphs>409</Paragraphs>
  <Slides>21</Slides>
  <Notes>16</Notes>
  <HiddenSlides>0</HiddenSlides>
  <MMClips>1</MMClip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AA274</vt:lpstr>
      <vt:lpstr>Principles of Robot Autonomy I</vt:lpstr>
      <vt:lpstr>Attendance Form</vt:lpstr>
      <vt:lpstr>Agenda</vt:lpstr>
      <vt:lpstr>Simultaneous Localization and Mapping</vt:lpstr>
      <vt:lpstr>Forms of SLAM</vt:lpstr>
      <vt:lpstr>Graphical models of SLAM</vt:lpstr>
      <vt:lpstr>EKF SLAM</vt:lpstr>
      <vt:lpstr>EKF SLAM with known correspondences</vt:lpstr>
      <vt:lpstr>Motion and sensing model</vt:lpstr>
      <vt:lpstr>Motion and sensing model</vt:lpstr>
      <vt:lpstr>Motion and sensing model</vt:lpstr>
      <vt:lpstr>Initialization</vt:lpstr>
      <vt:lpstr>Initialization</vt:lpstr>
      <vt:lpstr>EKF SLAM algorithm</vt:lpstr>
      <vt:lpstr>Example</vt:lpstr>
      <vt:lpstr>EKF SLAM with unknown correspondences</vt:lpstr>
      <vt:lpstr>EKF SLAM with unknown correspondences</vt:lpstr>
      <vt:lpstr>Making EKF SLAM robust</vt:lpstr>
      <vt:lpstr>Summary: Gaussian filtering  </vt:lpstr>
      <vt:lpstr>Final considerations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AA 274 Principles of Robotic Autonomy</dc:title>
  <dc:creator>Marco Pavone</dc:creator>
  <cp:lastModifiedBy>Marco Pavone</cp:lastModifiedBy>
  <cp:revision>2</cp:revision>
  <cp:lastPrinted>2018-02-28T21:24:12Z</cp:lastPrinted>
  <dcterms:created xsi:type="dcterms:W3CDTF">2017-01-06T12:29:52Z</dcterms:created>
  <dcterms:modified xsi:type="dcterms:W3CDTF">2025-12-20T20:17:03Z</dcterms:modified>
</cp:coreProperties>
</file>