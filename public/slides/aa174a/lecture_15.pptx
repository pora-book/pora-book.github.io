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 bookmarkIdSeed="2">
  <p:sldMasterIdLst>
    <p:sldMasterId id="2147483648" r:id="rId1"/>
  </p:sldMasterIdLst>
  <p:notesMasterIdLst>
    <p:notesMasterId r:id="rId26"/>
  </p:notesMasterIdLst>
  <p:sldIdLst>
    <p:sldId id="256" r:id="rId2"/>
    <p:sldId id="374" r:id="rId3"/>
    <p:sldId id="1544" r:id="rId4"/>
    <p:sldId id="421" r:id="rId5"/>
    <p:sldId id="422" r:id="rId6"/>
    <p:sldId id="485" r:id="rId7"/>
    <p:sldId id="486" r:id="rId8"/>
    <p:sldId id="487" r:id="rId9"/>
    <p:sldId id="488" r:id="rId10"/>
    <p:sldId id="489" r:id="rId11"/>
    <p:sldId id="490" r:id="rId12"/>
    <p:sldId id="491" r:id="rId13"/>
    <p:sldId id="492" r:id="rId14"/>
    <p:sldId id="493" r:id="rId15"/>
    <p:sldId id="494" r:id="rId16"/>
    <p:sldId id="495" r:id="rId17"/>
    <p:sldId id="496" r:id="rId18"/>
    <p:sldId id="497" r:id="rId19"/>
    <p:sldId id="498" r:id="rId20"/>
    <p:sldId id="499" r:id="rId21"/>
    <p:sldId id="500" r:id="rId22"/>
    <p:sldId id="501" r:id="rId23"/>
    <p:sldId id="502" r:id="rId24"/>
    <p:sldId id="34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C25E8B-7885-9143-B6A6-C663038D90BB}">
          <p14:sldIdLst>
            <p14:sldId id="256"/>
            <p14:sldId id="374"/>
            <p14:sldId id="1544"/>
            <p14:sldId id="421"/>
            <p14:sldId id="422"/>
            <p14:sldId id="485"/>
            <p14:sldId id="486"/>
            <p14:sldId id="487"/>
            <p14:sldId id="488"/>
            <p14:sldId id="489"/>
            <p14:sldId id="490"/>
            <p14:sldId id="491"/>
            <p14:sldId id="492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1"/>
            <p14:sldId id="502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ED69C1-B8B9-1843-9B25-CFDEE9336901}" v="8" dt="2025-11-18T05:09:12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756"/>
    <p:restoredTop sz="74757"/>
  </p:normalViewPr>
  <p:slideViewPr>
    <p:cSldViewPr snapToGrid="0" snapToObjects="1">
      <p:cViewPr varScale="1">
        <p:scale>
          <a:sx n="92" d="100"/>
          <a:sy n="92" d="100"/>
        </p:scale>
        <p:origin x="6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Mean#Mean_of_a_probability_distribution" TargetMode="External"/><Relationship Id="rId3" Type="http://schemas.openxmlformats.org/officeDocument/2006/relationships/hyperlink" Target="https://en.wikipedia.org/wiki/Mean#Mean_of_a_probability_distribution" TargetMode="External"/><Relationship Id="rId7" Type="http://schemas.openxmlformats.org/officeDocument/2006/relationships/hyperlink" Target="https://en.wikipedia.org/wiki/Variance" TargetMode="External"/><Relationship Id="rId12" Type="http://schemas.openxmlformats.org/officeDocument/2006/relationships/hyperlink" Target="https://en.wikipedia.org/wiki/Variance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Mode_(statistics)" TargetMode="External"/><Relationship Id="rId11" Type="http://schemas.openxmlformats.org/officeDocument/2006/relationships/hyperlink" Target="https://en.wikipedia.org/wiki/Mode_(statistics)" TargetMode="External"/><Relationship Id="rId5" Type="http://schemas.openxmlformats.org/officeDocument/2006/relationships/hyperlink" Target="https://en.wikipedia.org/wiki/Median" TargetMode="External"/><Relationship Id="rId10" Type="http://schemas.openxmlformats.org/officeDocument/2006/relationships/hyperlink" Target="https://en.wikipedia.org/wiki/Median" TargetMode="External"/><Relationship Id="rId4" Type="http://schemas.openxmlformats.org/officeDocument/2006/relationships/hyperlink" Target="https://en.wikipedia.org/wiki/Expected_value" TargetMode="External"/><Relationship Id="rId9" Type="http://schemas.openxmlformats.org/officeDocument/2006/relationships/hyperlink" Target="https://en.wikipedia.org/wiki/Expected_value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0270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Another key concept in probabilistic robotics is that of a belief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A belief reflects the robot’s internal knowledge about the state of the environment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A belief distribution assigns a probability (or density value) to each possible hypothesis with regards to the true state.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Belief distributions are posterior probabilities over state variables conditioned on the available data.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notice that we silently assume that the belief is taken after incorporating the measurement </a:t>
            </a:r>
            <a:r>
              <a:rPr lang="en-US" dirty="0" err="1"/>
              <a:t>zt</a:t>
            </a:r>
            <a:r>
              <a:rPr lang="en-US" dirty="0"/>
              <a:t>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Similarly, we can define the prediction  distribution 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Calculating bel(</a:t>
            </a:r>
            <a:r>
              <a:rPr lang="en-US" dirty="0" err="1"/>
              <a:t>xt</a:t>
            </a:r>
            <a:r>
              <a:rPr lang="en-US" dirty="0"/>
              <a:t>) from bel(</a:t>
            </a:r>
            <a:r>
              <a:rPr lang="en-US" dirty="0" err="1"/>
              <a:t>xt</a:t>
            </a:r>
            <a:r>
              <a:rPr lang="en-US" dirty="0"/>
              <a:t>) is called correction or the measurement update.</a:t>
            </a:r>
            <a:endParaRPr lang="es-ES_tradn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_tradn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 p(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{\color{red} z_{1:t-1}},\, u_{1:t})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z_{1:t},\, u_{1:t})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442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most general algorithm for calculating beliefs is given by the Bayes filter algorithm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is recursive, that is, the belief bel(</a:t>
            </a:r>
            <a:r>
              <a:rPr lang="en-US" dirty="0" err="1"/>
              <a:t>xt</a:t>
            </a:r>
            <a:r>
              <a:rPr lang="en-US" dirty="0"/>
              <a:t>) at time t is calculated from the belief bel(xt−1) at time t−1.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Its input is the belief bel at time t−1, along with the most recent control </a:t>
            </a:r>
            <a:r>
              <a:rPr lang="en-US" dirty="0" err="1"/>
              <a:t>ut</a:t>
            </a:r>
            <a:r>
              <a:rPr lang="en-US" dirty="0"/>
              <a:t> and the most recent measurement </a:t>
            </a:r>
            <a:r>
              <a:rPr lang="en-US" dirty="0" err="1"/>
              <a:t>zt</a:t>
            </a:r>
            <a:r>
              <a:rPr lang="en-US" dirty="0"/>
              <a:t>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Its output is the belief bel(</a:t>
            </a:r>
            <a:r>
              <a:rPr lang="en-US" dirty="0" err="1"/>
              <a:t>xt</a:t>
            </a:r>
            <a:r>
              <a:rPr lang="en-US" dirty="0"/>
              <a:t>) at time t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algorithm possesses two essential steps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first step (</a:t>
            </a:r>
            <a:r>
              <a:rPr lang="en-US" dirty="0" err="1"/>
              <a:t>prediciotn</a:t>
            </a:r>
            <a:r>
              <a:rPr lang="en-US" dirty="0"/>
              <a:t>) is to processes the control </a:t>
            </a:r>
            <a:r>
              <a:rPr lang="en-US" dirty="0" err="1"/>
              <a:t>ut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In particular, the belief \</a:t>
            </a:r>
            <a:r>
              <a:rPr lang="en-US" dirty="0" err="1"/>
              <a:t>overline</a:t>
            </a:r>
            <a:r>
              <a:rPr lang="en-US" dirty="0"/>
              <a:t>{bel}(</a:t>
            </a:r>
            <a:r>
              <a:rPr lang="en-US" dirty="0" err="1"/>
              <a:t>xt</a:t>
            </a:r>
            <a:r>
              <a:rPr lang="en-US" dirty="0"/>
              <a:t>) that the robot assigns to state </a:t>
            </a:r>
            <a:r>
              <a:rPr lang="en-US" dirty="0" err="1"/>
              <a:t>xt</a:t>
            </a:r>
            <a:r>
              <a:rPr lang="en-US" dirty="0"/>
              <a:t> is obtained by the integral (sum) of the product of two distributions: the prior assigned to xt−1, and the probability that control </a:t>
            </a:r>
            <a:r>
              <a:rPr lang="en-US" dirty="0" err="1"/>
              <a:t>ut</a:t>
            </a:r>
            <a:r>
              <a:rPr lang="en-US" dirty="0"/>
              <a:t> induces a transition from xt−1 to </a:t>
            </a:r>
            <a:r>
              <a:rPr lang="en-US" dirty="0" err="1"/>
              <a:t>xt.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second step of the Bayes filter is called the measurement update.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algorithm multiplies the belief \overline{bel}{</a:t>
            </a:r>
            <a:r>
              <a:rPr lang="en-US" dirty="0" err="1"/>
              <a:t>x_t</a:t>
            </a:r>
            <a:r>
              <a:rPr lang="en-US" dirty="0"/>
              <a:t>}  by the probability that the measurement </a:t>
            </a:r>
            <a:r>
              <a:rPr lang="en-US" dirty="0" err="1"/>
              <a:t>zt</a:t>
            </a:r>
            <a:r>
              <a:rPr lang="en-US" dirty="0"/>
              <a:t> may have been observed. It does so for each hypothetical posterior state </a:t>
            </a:r>
            <a:r>
              <a:rPr lang="en-US" dirty="0" err="1"/>
              <a:t>xt.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algorithm requires an initial belief bel(x0) at time t = 0 as boundary condition.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algorithm Bayes filter can only be implemented in the form stated here for very simple estimation problems.</a:t>
            </a:r>
          </a:p>
          <a:p>
            <a:pPr marL="171450" indent="-171450">
              <a:buFont typeface="Arial" charset="0"/>
              <a:buChar char="•"/>
            </a:pPr>
            <a:endParaRPr lang="en-US" dirty="0"/>
          </a:p>
          <a:p>
            <a:pPr marL="171450" indent="-171450">
              <a:buFont typeface="Arial" charset="0"/>
              <a:buChar char="•"/>
            </a:pPr>
            <a:endParaRPr lang="en-US" dirty="0"/>
          </a:p>
          <a:p>
            <a:endParaRPr lang="en-US" dirty="0"/>
          </a:p>
          <a:p>
            <a:r>
              <a:rPr lang="en-US" dirty="0"/>
              <a:t>\begin{algorithm}[H] \</a:t>
            </a:r>
            <a:r>
              <a:rPr lang="en-US" dirty="0" err="1"/>
              <a:t>KwData</a:t>
            </a:r>
            <a:r>
              <a:rPr lang="en-US" dirty="0"/>
              <a:t>{$bel(x_{t-1}), </a:t>
            </a:r>
            <a:r>
              <a:rPr lang="en-US" dirty="0" err="1"/>
              <a:t>u_t</a:t>
            </a:r>
            <a:r>
              <a:rPr lang="en-US" dirty="0"/>
              <a:t>, </a:t>
            </a:r>
            <a:r>
              <a:rPr lang="en-US" dirty="0" err="1"/>
              <a:t>z_t</a:t>
            </a:r>
            <a:r>
              <a:rPr lang="en-US" dirty="0"/>
              <a:t>$} \</a:t>
            </a:r>
            <a:r>
              <a:rPr lang="en-US" dirty="0" err="1"/>
              <a:t>KwResult</a:t>
            </a:r>
            <a:r>
              <a:rPr lang="en-US" dirty="0"/>
              <a:t>{$bel(</a:t>
            </a:r>
            <a:r>
              <a:rPr lang="en-US" dirty="0" err="1"/>
              <a:t>x_t</a:t>
            </a:r>
            <a:r>
              <a:rPr lang="en-US" dirty="0"/>
              <a:t>)$} \</a:t>
            </a:r>
            <a:r>
              <a:rPr lang="en-US" dirty="0" err="1"/>
              <a:t>ForEach</a:t>
            </a:r>
            <a:r>
              <a:rPr lang="en-US" dirty="0"/>
              <a:t>{$</a:t>
            </a:r>
            <a:r>
              <a:rPr lang="en-US" dirty="0" err="1"/>
              <a:t>x_t</a:t>
            </a:r>
            <a:r>
              <a:rPr lang="en-US" dirty="0"/>
              <a:t>$}{%$\</a:t>
            </a:r>
            <a:r>
              <a:rPr lang="en-US" dirty="0" err="1"/>
              <a:t>overline</a:t>
            </a:r>
            <a:r>
              <a:rPr lang="en-US" dirty="0"/>
              <a:t>{bel}(</a:t>
            </a:r>
            <a:r>
              <a:rPr lang="en-US" dirty="0" err="1"/>
              <a:t>x_t</a:t>
            </a:r>
            <a:r>
              <a:rPr lang="en-US" dirty="0"/>
              <a:t>) = \</a:t>
            </a:r>
            <a:r>
              <a:rPr lang="en-US" dirty="0" err="1"/>
              <a:t>int</a:t>
            </a:r>
            <a:r>
              <a:rPr lang="en-US" dirty="0"/>
              <a:t> p(</a:t>
            </a:r>
            <a:r>
              <a:rPr lang="en-US" dirty="0" err="1"/>
              <a:t>x_t</a:t>
            </a:r>
            <a:r>
              <a:rPr lang="en-US" dirty="0"/>
              <a:t> \, | \, </a:t>
            </a:r>
            <a:r>
              <a:rPr lang="en-US" dirty="0" err="1"/>
              <a:t>u_t</a:t>
            </a:r>
            <a:r>
              <a:rPr lang="en-US" dirty="0"/>
              <a:t>, x_{t-1}) \, bel(x_{t-1})\, dx_{t-1}$\;$bel(</a:t>
            </a:r>
            <a:r>
              <a:rPr lang="en-US" dirty="0" err="1"/>
              <a:t>x_t</a:t>
            </a:r>
            <a:r>
              <a:rPr lang="en-US" dirty="0"/>
              <a:t>) = \eta p(</a:t>
            </a:r>
            <a:r>
              <a:rPr lang="en-US" dirty="0" err="1"/>
              <a:t>z_t</a:t>
            </a:r>
            <a:r>
              <a:rPr lang="en-US" dirty="0"/>
              <a:t> \, | \, x_{t})\</a:t>
            </a:r>
            <a:r>
              <a:rPr lang="en-US" dirty="0" err="1"/>
              <a:t>overline</a:t>
            </a:r>
            <a:r>
              <a:rPr lang="en-US" dirty="0"/>
              <a:t>{bel}(x_{t})$\;} Return $bel(</a:t>
            </a:r>
            <a:r>
              <a:rPr lang="en-US" dirty="0" err="1"/>
              <a:t>x_t</a:t>
            </a:r>
            <a:r>
              <a:rPr lang="en-US" dirty="0"/>
              <a:t>)$\end{algorithm}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48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Parametric filters are a family of state estimators that assume the form of a robot’s belief distribution and calculate the parameters to fully define that distribution based on the latest information.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particular, Gaussian filters are an important group of parametric filters that assume the belief distribution is a multivariate normal distribution.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473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parameter ⁠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𝜇</m:t>
                    </m:r>
                  </m:oMath>
                </a14:m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⁠ is the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3" tooltip="Mean"/>
                  </a:rPr>
                  <a:t>mean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or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4" tooltip="Expected value"/>
                  </a:rPr>
                  <a:t>expectation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of the distribution (and also its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5" tooltip="Median"/>
                  </a:rPr>
                  <a:t>median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and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6" tooltip="Mode (statistics)"/>
                  </a:rPr>
                  <a:t>mode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 while the parameter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the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7" tooltip="Variance"/>
                  </a:rPr>
                  <a:t>variance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 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p(x) &amp;= ({2\pi\sigma^2})^{-\frac{1}{2}}\exp\left( -\frac{1}{2}\frac{(x-\mu)^2}{\sigma^2}\right)\\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&amp;\sim\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mathcal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N(x;\mu, \sigma^2)</a:t>
                </a: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p(x) &amp;= \text{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}({2\pi\Sigma})^{-\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frac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{1}{2}}\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exp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\left( -\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frac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{1}{2}(x-\mu)^T\Sigma^{-1}(x-\mu)\right)\\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&amp;\sim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mathcal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N(\mu, \Sigma)</a:t>
                </a: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parameter ⁠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𝜇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⁠ is the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8" tooltip="Mean"/>
                  </a:rPr>
                  <a:t>mean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or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9" tooltip="Expected value"/>
                  </a:rPr>
                  <a:t>expectation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of the distribution (and also its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10" tooltip="Median"/>
                  </a:rPr>
                  <a:t>median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and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11" tooltip="Mode (statistics)"/>
                  </a:rPr>
                  <a:t>mode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 while the parameter 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𝜎^2</a:t>
                </a:r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the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12" tooltip="Variance"/>
                  </a:rPr>
                  <a:t>variance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 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p(x) &amp;= ({2\pi\sigma^2})^{-\frac{1}{2}}\exp\left( -\frac{1}{2}\frac{(x-\mu)^2}{\sigma^2}\right)\\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&amp;\sim\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mathcal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N(x;\mu, \sigma^2)</a:t>
                </a: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p(x) &amp;= \text{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}({2\pi\Sigma})^{-\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frac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{1}{2}}\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exp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\left( -\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frac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{1}{2}(x-\mu)^T\Sigma^{-1}(x-\mu)\right)\\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&amp;\sim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mathcal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N(\mu, \Sigma)</a:t>
                </a:r>
              </a:p>
              <a:p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3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Property 1 just tells us that if we linearly transform state space, the mean of the distribution is transformed in the same form, and the covariance matrix transforms </a:t>
            </a:r>
            <a:r>
              <a:rPr lang="en-US" dirty="0" err="1"/>
              <a:t>quadratically</a:t>
            </a:r>
            <a:r>
              <a:rPr lang="en-US" dirty="0"/>
              <a:t>, as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third  property states that if we multiply Gaussians, we still get a gaussian.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 their quadratic exponents add. The new quadratic exponent, after factorizing to complete the square, has the form given by the parameters of the new Gaussian in Property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X_1 + X_2 \sim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N(\mu_1 + \mu_2, \, \Sigma_1 + \Sigma_2)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N(\mu, \, \Sigma)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  = AX + b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N(A\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b, \, A\Sigma A^T)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62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Probably the best studied technique for implementing Bayes filters is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was invented in the 1950s by Rudolph Emil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 a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technique for filtering and prediction in linear systems.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implements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computation for continuous states.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Kalman filter represents beliefs by the moments representation: At time t ,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is represented by the the mean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the covariance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Posteriors are Gaussian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following three properties hold, in addition to the Markov assumptions of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Bayes filter.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next state probability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􀀀1)  must be a linear  function in its arguments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added Gaussian noise.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x_{t-1})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)\right)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161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measurement probability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must also be linear  in its arguments, with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added Gaussian noise: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x_{t})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z_t-C_tx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_{t})^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z_t-C_tx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_{t})\right)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delta_t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747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Finally, the initial belief bel(x0)  must be normal distributed.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three assumptions are sufficient to ensure that the posterior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is always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Gaussian, for any point in time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bel(x_0)  = p(x_0)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\Sigma_0})^{-\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{1}{2}(x_0-\mu_0)^T\Sigma_0^{-1}(x_0-\mu_0)\right)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153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Kalman filters represent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at time t  by the mean t  and the covariance t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input of the Kalman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filter is the belief at time t -1 , represented by \mu_{t-1}  and \Sigma_{t-1}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 update these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filters require the control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output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the belief at time t , represented by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Lines 2 and 3, the predicted belief   and is calculated representing the belief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\bar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one time step later, but before incorporating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belief is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 by incorporating the control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is subsequently transformed into the desired 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in Lines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through 6, by incorporating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 The variable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computed in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 4 is called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It specifies the degree to which the measurement is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incorporated into the new state estimate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\begin{algorithm}[H]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{$(\mu_{t-1}, \Sigma_{t-1}),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KwResult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{$(\mu_{t}, \Sigma_{t})$}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\mu_{t-1}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 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\Sigma_{t-1}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A_t^T+R_t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tC_t^T+Q_t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 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(I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$(\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)$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\end{algorithm}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0999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we multiply Gaussians, their quadratic exponents add. The new quadratic exponent, after factorizing to complete the square, has the form given by the parameters of the new Gaussian in Property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x_{t-1}, \, u_{t}) \quad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\quad  bel(x_{t-1})\, dx_{t-1}</a:t>
            </a:r>
          </a:p>
          <a:p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}_t &amp;=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 +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\\</a:t>
            </a:r>
          </a:p>
          <a:p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 &amp;=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\Sigma_{t-1}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A_t^T+R_t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{\mu}_{t}, \,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{\Sigma}_{t})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x_{t-1}, \, u_{t})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bel(x_{t-1})\, dx_{t-1}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N(\mu_{t-1}, \, \Sigma_{t-1})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5096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\eta \, \,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)\quad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\quad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tC_t^T+Q_t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 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&amp;= (I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N({\mu}_{t}, \, {\Sigma}_{t})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N(\mu_{t-1}, \, \Sigma_{t-1})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73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assumptions of linear state transitions and linear measurements with added Gaussian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 are rarely fulfilled in practice.</a:t>
            </a:r>
          </a:p>
          <a:p>
            <a:pPr marL="171450" indent="-171450">
              <a:buFont typeface="Arial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644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extended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(EKF) overcomes one of these assumptions: the linearity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assumption. Here the assumption is that the next state probability and the measurement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probabilities are governed by nonlinear functions g  and h , respectively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Unfortunately, with arbitrary functions g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h , the belief is no longer a Gaussian. In fact, performing the belief update exactly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usually impossible for nonlinear functions g  and h , in the sense that the Bayes filter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not possess a closed-form solution.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extended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(EKF) calculates an approximation to the true belief. It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represents this approximation by a Gaussian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fr-F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g(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x_{t-1})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h(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delta_t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69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particular, the 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at time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  is represented by a mean t  and a covariance t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Thus, the EKF inherits from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the basic belief representation, but it differs in that this belief is only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approximate, not exact as was the case in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filters.</a:t>
            </a:r>
          </a:p>
          <a:p>
            <a:pPr marL="171450" indent="-171450">
              <a:buFont typeface="Arial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224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key idea underlying the EKF is called linearization via Taylor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expnsion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Linearization approximates g  by a linear function that is tangent to g  at the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of the Gaussian. By projecting the Gaussian through this linear approximation,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posterior is Gaussian.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 |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x_{t-1}) &amp;=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}(2\pi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)^{-1/2}\\ &amp;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{1}{2}[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g(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\mu_{t-1})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(x_{t-1} - \mu_{t-1})]^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^{-1}[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g(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\mu_{t-1})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(x_{t-1} - \mu_{t-1})]   \right)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\, x_{t-1})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\mu_{t-1}) + \underbrace{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\mu_{t-1})}_{:=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}(x_{t-1} - \mu_{t-1})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4545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 + \underbrace{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{\mu}_t)}_{:=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  | \,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}(2\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)^{-1/2}\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{1}{2}[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h(\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}_t) -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}_t)   ]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^{-1}[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h(\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}_t) -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}_t) ]   \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865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many ways, this algorithm is similar to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algorithm stated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Jacobian Gt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corresponds to the matrices At , and the Jacobian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corresponds to Ct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common extension of EKFs is to represent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posteriors using mixtures , or sums , of Gaussians.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multi-hypothesis (extended)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filters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\begin{algorithm}[H]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{$(\mu_{t-1}, \Sigma_{t-1}),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KwResult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{$(\mu_{t}, \Sigma_{t})$}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 =  {\color{red} g(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\mu_{t-1})}$ 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 = 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\Sigma_{t-1}{\color{red}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T+R_t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 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 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{\color{red} h(\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{\mu}_t))}$\;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(I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{\color{red}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$(\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)$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\end{algorithm}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595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3CDD3-7DB5-4B44-BB2A-D128245CA22B}" type="datetime1">
              <a:rPr lang="en-US" smtClean="0"/>
              <a:t>12/20/2025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8D017C90-4563-1E4E-9EEB-6A173F008F41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4CB30E-3C14-7442-83E1-1DEBB7B9A148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tiff"/><Relationship Id="rId5" Type="http://schemas.openxmlformats.org/officeDocument/2006/relationships/image" Target="../media/image8.tiff"/><Relationship Id="rId4" Type="http://schemas.openxmlformats.org/officeDocument/2006/relationships/image" Target="../media/image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tiff"/><Relationship Id="rId5" Type="http://schemas.openxmlformats.org/officeDocument/2006/relationships/image" Target="../media/image12.tiff"/><Relationship Id="rId4" Type="http://schemas.openxmlformats.org/officeDocument/2006/relationships/image" Target="../media/image11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tiff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tiff"/><Relationship Id="rId5" Type="http://schemas.openxmlformats.org/officeDocument/2006/relationships/image" Target="../media/image18.tiff"/><Relationship Id="rId4" Type="http://schemas.openxmlformats.org/officeDocument/2006/relationships/image" Target="../media/image17.tif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tiff"/><Relationship Id="rId4" Type="http://schemas.openxmlformats.org/officeDocument/2006/relationships/image" Target="../media/image20.tif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tiff"/><Relationship Id="rId3" Type="http://schemas.openxmlformats.org/officeDocument/2006/relationships/image" Target="../media/image64.png"/><Relationship Id="rId7" Type="http://schemas.openxmlformats.org/officeDocument/2006/relationships/image" Target="../media/image22.tiff"/><Relationship Id="rId12" Type="http://schemas.openxmlformats.org/officeDocument/2006/relationships/image" Target="../media/image27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26.tiff"/><Relationship Id="rId5" Type="http://schemas.openxmlformats.org/officeDocument/2006/relationships/image" Target="../media/image66.png"/><Relationship Id="rId10" Type="http://schemas.openxmlformats.org/officeDocument/2006/relationships/image" Target="../media/image25.tiff"/><Relationship Id="rId4" Type="http://schemas.openxmlformats.org/officeDocument/2006/relationships/image" Target="../media/image65.png"/><Relationship Id="rId9" Type="http://schemas.openxmlformats.org/officeDocument/2006/relationships/image" Target="../media/image24.tif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3" Type="http://schemas.openxmlformats.org/officeDocument/2006/relationships/image" Target="../media/image28.tiff"/><Relationship Id="rId7" Type="http://schemas.openxmlformats.org/officeDocument/2006/relationships/image" Target="../media/image32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tiff"/><Relationship Id="rId5" Type="http://schemas.openxmlformats.org/officeDocument/2006/relationships/image" Target="../media/image30.tiff"/><Relationship Id="rId4" Type="http://schemas.openxmlformats.org/officeDocument/2006/relationships/image" Target="../media/image29.tif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7" Type="http://schemas.openxmlformats.org/officeDocument/2006/relationships/image" Target="../media/image37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tiff"/><Relationship Id="rId5" Type="http://schemas.openxmlformats.org/officeDocument/2006/relationships/image" Target="../media/image35.tiff"/><Relationship Id="rId4" Type="http://schemas.openxmlformats.org/officeDocument/2006/relationships/image" Target="../media/image34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tif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tif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tif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>
                <a:latin typeface="Calibri Light" panose="020F0302020204030204" pitchFamily="34" charset="0"/>
                <a:cs typeface="Calibri Light" panose="020F0302020204030204" pitchFamily="34" charset="0"/>
              </a:rPr>
              <a:t>Principles of Robot Autonomy I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Parametric filtering</a:t>
            </a:r>
            <a:br>
              <a:rPr lang="en-US" dirty="0"/>
            </a:br>
            <a:r>
              <a:rPr lang="en-US" dirty="0"/>
              <a:t>(Kalman Filter and Extended Kalman Filter) 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90B0-EB37-BE5C-04E7-4EA8696DA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9C11F-9CF3-5417-5DC4-4E4B8E15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Attendance Form</a:t>
            </a:r>
            <a:endParaRPr lang="en-US"/>
          </a:p>
        </p:txBody>
      </p:sp>
      <p:pic>
        <p:nvPicPr>
          <p:cNvPr id="7" name="Content Placeholder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6FC79A78-5555-5B36-D187-31F9DBD9A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943894"/>
            <a:ext cx="4114800" cy="41148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03DC6-C8A8-2ACD-BAD1-55817AEB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D14D0-6A96-794D-B603-AB8FCD81909A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E6159-884C-50D6-D61D-F7E649040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4394D21-D2D5-3F8A-B666-55959FD3D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591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Agenda</a:t>
            </a:r>
            <a:endParaRPr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dt" idx="10"/>
          </p:nvPr>
        </p:nvSpPr>
        <p:spPr>
          <a:xfrm>
            <a:off x="838200" y="654209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9C666A13-F552-3947-B1B7-C7702B01309B}" type="datetime1">
              <a:rPr lang="en-US" smtClean="0"/>
              <a:t>12/20/2025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838200" y="1690688"/>
            <a:ext cx="10829081" cy="3876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spcBef>
                <a:spcPts val="0"/>
              </a:spcBef>
              <a:buSzPts val="2800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Agenda</a:t>
            </a:r>
            <a:endParaRPr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Parametric filtering: Kalman Filter and Extended Kalman Filter</a:t>
            </a:r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indent="-457200">
              <a:buSzPts val="2800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Readings: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dirty="0"/>
              <a:t>Chapter 14, sections 14.1 – 14.3 in D. </a:t>
            </a:r>
            <a:r>
              <a:rPr lang="en-US" dirty="0" err="1"/>
              <a:t>Gammelli</a:t>
            </a:r>
            <a:r>
              <a:rPr lang="en-US" dirty="0"/>
              <a:t>, J. Lorenzetti, K. Luo, G. </a:t>
            </a:r>
            <a:r>
              <a:rPr lang="en-US" dirty="0" err="1"/>
              <a:t>Zardini</a:t>
            </a:r>
            <a:r>
              <a:rPr lang="en-US" dirty="0"/>
              <a:t>, M. Pavone. </a:t>
            </a:r>
            <a:r>
              <a:rPr lang="en-US" i="1" dirty="0"/>
              <a:t>Principles of Robot Autonomy</a:t>
            </a:r>
            <a:r>
              <a:rPr lang="en-US" dirty="0"/>
              <a:t>. 2026.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74429D8-5FDC-977E-9013-B8F67D753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6E9AC2-1229-D630-D749-097802BD3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48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Belief distribution: recap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85924"/>
                <a:ext cx="10515600" cy="4879975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Belief distribution</a:t>
                </a:r>
                <a:r>
                  <a:rPr lang="en-US" dirty="0"/>
                  <a:t>: reflects internal knowledge about the state </a:t>
                </a:r>
              </a:p>
              <a:p>
                <a:r>
                  <a:rPr lang="en-US" dirty="0"/>
                  <a:t>A belief distribution assigns a probability to each possible hypothesis with regard to the true state </a:t>
                </a:r>
              </a:p>
              <a:p>
                <a:r>
                  <a:rPr lang="en-US" dirty="0"/>
                  <a:t>Formally, belief distributions are posterior probabilities over state variables conditioned on the available data </a:t>
                </a:r>
              </a:p>
              <a:p>
                <a:endParaRPr lang="en-US" dirty="0"/>
              </a:p>
              <a:p>
                <a:r>
                  <a:rPr lang="en-US" dirty="0"/>
                  <a:t>Similarly, the </a:t>
                </a:r>
                <a:r>
                  <a:rPr lang="en-US" i="1" dirty="0"/>
                  <a:t>prediction</a:t>
                </a:r>
                <a:r>
                  <a:rPr lang="en-US" dirty="0"/>
                  <a:t> distribution is defined as </a:t>
                </a:r>
              </a:p>
              <a:p>
                <a:endParaRPr lang="en-US" dirty="0"/>
              </a:p>
              <a:p>
                <a:r>
                  <a:rPr lang="en-US" dirty="0"/>
                  <a:t>Calculating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𝑏𝑒𝑙</m:t>
                        </m:r>
                      </m:e>
                    </m:acc>
                    <m:r>
                      <a:rPr lang="en-US" b="0" i="1" smtClean="0">
                        <a:latin typeface="Cambria Math" charset="0"/>
                      </a:rPr>
                      <m:t>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called correction or measurement update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85924"/>
                <a:ext cx="10515600" cy="4879975"/>
              </a:xfrm>
              <a:blipFill>
                <a:blip r:embed="rId3"/>
                <a:stretch>
                  <a:fillRect l="-965" t="-2078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A38BC-AFDA-D84D-873F-DCD65792EB87}" type="datetime1">
              <a:rPr lang="en-US" smtClean="0"/>
              <a:t>12/20/2025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6900" y="4033257"/>
            <a:ext cx="3898900" cy="37180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5046929"/>
            <a:ext cx="4400550" cy="41223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204D7-6AD8-9066-A088-116C768E5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E77C5-BD83-9FB8-5974-180CAA9D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26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filter algorithm: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00293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rgbClr val="C00000"/>
                </a:solidFill>
              </a:rPr>
              <a:t>Bayes’ filter algorithm</a:t>
            </a:r>
            <a:r>
              <a:rPr lang="en-US" dirty="0"/>
              <a:t>: most general algorithm for calculating beliefs</a:t>
            </a:r>
          </a:p>
          <a:p>
            <a:r>
              <a:rPr lang="en-US" dirty="0">
                <a:solidFill>
                  <a:srgbClr val="C00000"/>
                </a:solidFill>
              </a:rPr>
              <a:t>Key assumption</a:t>
            </a:r>
            <a:r>
              <a:rPr lang="en-US" dirty="0"/>
              <a:t>: state is complete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0E56C-8632-D949-B096-C2226C8704FE}" type="datetime1">
              <a:rPr lang="en-US" smtClean="0"/>
              <a:t>12/20/2025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3485536"/>
            <a:ext cx="5963648" cy="25969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/>
              <p:cNvSpPr txBox="1">
                <a:spLocks/>
              </p:cNvSpPr>
              <p:nvPr/>
            </p:nvSpPr>
            <p:spPr>
              <a:xfrm>
                <a:off x="254000" y="3300754"/>
                <a:ext cx="5295452" cy="31000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Recursive algorithm</a:t>
                </a:r>
              </a:p>
              <a:p>
                <a:pPr lvl="1"/>
                <a:r>
                  <a:rPr lang="en-US" dirty="0"/>
                  <a:t>Step 1 (prediction):              compute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charset="0"/>
                          </a:rPr>
                          <m:t>𝑏𝑒𝑙</m:t>
                        </m:r>
                      </m:e>
                    </m:acc>
                    <m:r>
                      <a:rPr lang="en-US" i="1">
                        <a:latin typeface="Cambria Math" charset="0"/>
                      </a:rPr>
                      <m:t> 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Step 2 (measurement update): compute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Algorithm initialized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(e.g., uniform or points mass) </a:t>
                </a:r>
              </a:p>
            </p:txBody>
          </p:sp>
        </mc:Choice>
        <mc:Fallback xmlns="">
          <p:sp>
            <p:nvSpPr>
              <p:cNvPr id="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3300754"/>
                <a:ext cx="5295452" cy="3100045"/>
              </a:xfrm>
              <a:prstGeom prst="rect">
                <a:avLst/>
              </a:prstGeom>
              <a:blipFill rotWithShape="0">
                <a:blip r:embed="rId4"/>
                <a:stretch>
                  <a:fillRect l="-2074" t="-3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982228" y="2935858"/>
            <a:ext cx="12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rule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10096500" y="3300755"/>
            <a:ext cx="636779" cy="36956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7D8BFC-2D2C-D31C-79E9-45C339C43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97FF06-CC30-39BD-6999-C1E2F7AFC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10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the Bayes’ filter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Tractable implementations of Bayes’ filter exploit structure and / or approximations; two main classes</a:t>
            </a:r>
          </a:p>
          <a:p>
            <a:pPr lvl="1"/>
            <a:r>
              <a:rPr lang="en-US" dirty="0"/>
              <a:t>Parametric filters: e.g., </a:t>
            </a:r>
            <a:r>
              <a:rPr lang="en-US" dirty="0">
                <a:solidFill>
                  <a:srgbClr val="C00000"/>
                </a:solidFill>
              </a:rPr>
              <a:t>KF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EKF</a:t>
            </a:r>
            <a:r>
              <a:rPr lang="en-US" dirty="0"/>
              <a:t>, UKF, etc. </a:t>
            </a:r>
          </a:p>
          <a:p>
            <a:pPr lvl="1"/>
            <a:r>
              <a:rPr lang="en-US" dirty="0"/>
              <a:t>Non parametric filters: e.g., histogram filter, particle filter, etc.</a:t>
            </a:r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96362-9A05-A446-B9D2-35E581DD47B0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D5E645-BC87-B63F-9FA7-0AD97E288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C98343-7879-56B2-9994-6AE28F031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133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Gaussian distributions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0826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Key idea</a:t>
            </a:r>
            <a:r>
              <a:rPr lang="en-US" dirty="0"/>
              <a:t>: belief represented as multivariate normal distribution</a:t>
            </a:r>
          </a:p>
          <a:p>
            <a:endParaRPr lang="en-US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374" y="4559300"/>
            <a:ext cx="3201290" cy="213757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374" y="2154236"/>
            <a:ext cx="3225726" cy="219471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0850" y="2477057"/>
            <a:ext cx="1175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Univariate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49" y="4952132"/>
            <a:ext cx="1329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Multivariate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350" y="2884343"/>
            <a:ext cx="5011388" cy="1252848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350" y="5313528"/>
            <a:ext cx="6702499" cy="1202357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D6158-0BAB-E943-BE88-F71596C0D10D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86274F-B5C8-6516-CA73-ADDB5217E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A8780F-9AAC-2CDC-E27F-492224CC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6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properties of Gaussian random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7423"/>
          </a:xfrm>
        </p:spPr>
        <p:txBody>
          <a:bodyPr/>
          <a:lstStyle/>
          <a:p>
            <a:r>
              <a:rPr lang="en-US" dirty="0"/>
              <a:t>If                              ,  then </a:t>
            </a:r>
          </a:p>
          <a:p>
            <a:endParaRPr lang="en-US" dirty="0"/>
          </a:p>
          <a:p>
            <a:endParaRPr lang="en-US" sz="1600" dirty="0"/>
          </a:p>
          <a:p>
            <a:r>
              <a:rPr lang="en-US" dirty="0"/>
              <a:t>The sum of two independent Gaussian RVs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200" dirty="0"/>
          </a:p>
          <a:p>
            <a:pPr marL="0" indent="0">
              <a:buNone/>
            </a:pPr>
            <a:r>
              <a:rPr lang="en-US" dirty="0"/>
              <a:t>is Gaussian, specifically</a:t>
            </a:r>
          </a:p>
          <a:p>
            <a:pPr marL="0" indent="0">
              <a:buNone/>
            </a:pPr>
            <a:endParaRPr lang="en-US" dirty="0"/>
          </a:p>
          <a:p>
            <a:endParaRPr lang="en-US" sz="200" dirty="0"/>
          </a:p>
          <a:p>
            <a:r>
              <a:rPr lang="en-US" dirty="0"/>
              <a:t>The product of Gaussian pdf is also Gaussian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650517"/>
            <a:ext cx="5435600" cy="41812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3200" y="1883609"/>
            <a:ext cx="2209800" cy="40178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3175" y="3890933"/>
            <a:ext cx="4565650" cy="39163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762" y="5035592"/>
            <a:ext cx="5324475" cy="395949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AEB8C-06E5-6040-85B6-F39281B31CDF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4D60F9-8F49-591C-A433-0AE1589A2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9F49AB-63BF-C33A-889C-4C73A2BE0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730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 (KF)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 #1: linear dynamics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b="0" dirty="0"/>
                  <a:t>Independent process no</a:t>
                </a:r>
                <a:r>
                  <a:rPr lang="en-US" dirty="0"/>
                  <a:t>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is                    </a:t>
                </a:r>
              </a:p>
              <a:p>
                <a:r>
                  <a:rPr lang="en-US" dirty="0"/>
                  <a:t>Assumption #1 implies that the probabilistic generative model is Gaussian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399" y="2522194"/>
            <a:ext cx="4098925" cy="36070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3702" y="3340391"/>
            <a:ext cx="1139237" cy="3206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965108"/>
            <a:ext cx="11049000" cy="692054"/>
          </a:xfrm>
          <a:prstGeom prst="rect">
            <a:avLst/>
          </a:prstGeom>
        </p:spPr>
      </p:pic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5AD2B-DC0A-294C-BA7C-A7F45E578AB4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113704-FC5B-2C03-4AF6-FF15CF408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5DD87-25F0-D160-E0EF-6A047CEF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3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 (KF)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 #2: linear measurement model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Independent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</a:p>
              <a:p>
                <a:r>
                  <a:rPr lang="en-US" dirty="0"/>
                  <a:t>Assumption #2 implies that the measurement probability is Gaussian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9036" y="2514600"/>
            <a:ext cx="2411413" cy="3556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600" y="3349450"/>
            <a:ext cx="1143000" cy="31936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0800" y="4547615"/>
            <a:ext cx="9550400" cy="843538"/>
          </a:xfrm>
          <a:prstGeom prst="rect">
            <a:avLst/>
          </a:prstGeom>
        </p:spPr>
      </p:pic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347E2-5939-1E47-8636-1CD19069648B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9F3BC-4D2C-EDA6-EB62-77002AA16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A0C57-1BCF-9AB0-57E7-4B771C2F7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92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 (KF)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 #3: the initial belief is Gaussian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Key fact</a:t>
                </a:r>
                <a:r>
                  <a:rPr lang="en-US" dirty="0"/>
                  <a:t>: These three assumptions ensure that the posterior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𝑏𝑒𝑙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Gaussian for all </a:t>
                </a:r>
                <a:r>
                  <a:rPr lang="en-US" i="1" dirty="0"/>
                  <a:t>t, </a:t>
                </a:r>
                <a:r>
                  <a:rPr lang="en-US" dirty="0"/>
                  <a:t>i.e., </a:t>
                </a:r>
              </a:p>
              <a:p>
                <a:r>
                  <a:rPr lang="en-US" dirty="0"/>
                  <a:t>Note:</a:t>
                </a:r>
              </a:p>
              <a:p>
                <a:pPr lvl="1"/>
                <a:r>
                  <a:rPr lang="en-US" dirty="0"/>
                  <a:t>KF implements belief computation for continuous states</a:t>
                </a:r>
              </a:p>
              <a:p>
                <a:pPr lvl="1"/>
                <a:r>
                  <a:rPr lang="en-US" dirty="0"/>
                  <a:t>Gaussians are unimodal -&gt; commitment to single-hypothesis filtering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96" y="4333951"/>
            <a:ext cx="2903353" cy="3689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472" y="2550417"/>
            <a:ext cx="9499600" cy="798517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249C9-E65A-8942-B120-F25C843EC3C0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523C15-077D-7D4D-4038-984F57C76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A7315F-47B5-EC9A-A329-66DD2146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3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filter: algorithm</a:t>
            </a:r>
          </a:p>
        </p:txBody>
      </p:sp>
      <p:sp>
        <p:nvSpPr>
          <p:cNvPr id="8" name="Left Brace 7"/>
          <p:cNvSpPr/>
          <p:nvPr/>
        </p:nvSpPr>
        <p:spPr>
          <a:xfrm rot="5400000">
            <a:off x="9140177" y="1237864"/>
            <a:ext cx="263132" cy="1624113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8610600" y="1510601"/>
                <a:ext cx="11767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charset="0"/>
                        </a:rPr>
                        <m:t>𝑏𝑒𝑙</m:t>
                      </m:r>
                      <m:r>
                        <a:rPr lang="en-US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1510601"/>
                <a:ext cx="1176797" cy="369332"/>
              </a:xfrm>
              <a:prstGeom prst="rect">
                <a:avLst/>
              </a:prstGeom>
              <a:blipFill rotWithShape="0"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 Brace 9"/>
          <p:cNvSpPr/>
          <p:nvPr/>
        </p:nvSpPr>
        <p:spPr>
          <a:xfrm rot="-5400000">
            <a:off x="8918022" y="5710931"/>
            <a:ext cx="231935" cy="945406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585971" y="6321823"/>
                <a:ext cx="957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charset="0"/>
                        </a:rPr>
                        <m:t>𝑏𝑒𝑙</m:t>
                      </m:r>
                      <m:r>
                        <a:rPr lang="en-US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5971" y="6321823"/>
                <a:ext cx="957185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eft Brace 11"/>
          <p:cNvSpPr/>
          <p:nvPr/>
        </p:nvSpPr>
        <p:spPr>
          <a:xfrm>
            <a:off x="6903513" y="3104174"/>
            <a:ext cx="212875" cy="798188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620709" y="3177056"/>
                <a:ext cx="1207382" cy="6524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Prediction: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𝑏𝑒𝑙</m:t>
                          </m:r>
                        </m:e>
                      </m:acc>
                      <m:r>
                        <a:rPr lang="en-US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709" y="3177056"/>
                <a:ext cx="1207382" cy="652423"/>
              </a:xfrm>
              <a:prstGeom prst="rect">
                <a:avLst/>
              </a:prstGeom>
              <a:blipFill rotWithShape="0">
                <a:blip r:embed="rId5"/>
                <a:stretch>
                  <a:fillRect l="-4040" t="-4673" r="-5051" b="-7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eft Brace 13"/>
          <p:cNvSpPr/>
          <p:nvPr/>
        </p:nvSpPr>
        <p:spPr>
          <a:xfrm>
            <a:off x="6923579" y="4290851"/>
            <a:ext cx="258764" cy="1023084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606186" y="4476181"/>
                <a:ext cx="1236429" cy="6524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Correction: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charset="0"/>
                        </a:rPr>
                        <m:t>𝑏𝑒𝑙</m:t>
                      </m:r>
                      <m:r>
                        <a:rPr lang="en-US" b="0" i="1" smtClean="0">
                          <a:latin typeface="Cambria Math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186" y="4476181"/>
                <a:ext cx="1236429" cy="652423"/>
              </a:xfrm>
              <a:prstGeom prst="rect">
                <a:avLst/>
              </a:prstGeom>
              <a:blipFill rotWithShape="0">
                <a:blip r:embed="rId6"/>
                <a:stretch>
                  <a:fillRect l="-4455" t="-4673" r="-4455" b="-6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/>
          <p:cNvGrpSpPr/>
          <p:nvPr/>
        </p:nvGrpSpPr>
        <p:grpSpPr>
          <a:xfrm>
            <a:off x="838200" y="1863529"/>
            <a:ext cx="4038600" cy="1603970"/>
            <a:chOff x="838200" y="1763011"/>
            <a:chExt cx="4038600" cy="1603970"/>
          </a:xfrm>
        </p:grpSpPr>
        <p:sp>
          <p:nvSpPr>
            <p:cNvPr id="17" name="Rectangle 16"/>
            <p:cNvSpPr/>
            <p:nvPr/>
          </p:nvSpPr>
          <p:spPr>
            <a:xfrm>
              <a:off x="838200" y="1763011"/>
              <a:ext cx="4038600" cy="16039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38200" y="1802872"/>
              <a:ext cx="19922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Project state ahead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65223" y="2539736"/>
              <a:ext cx="2592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Project covariance ahead</a:t>
              </a: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86080" y="2194398"/>
              <a:ext cx="2669874" cy="304383"/>
            </a:xfrm>
            <a:prstGeom prst="rect">
              <a:avLst/>
            </a:prstGeom>
          </p:spPr>
        </p:pic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63284" y="2928958"/>
              <a:ext cx="2908390" cy="350408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>
            <a:off x="838200" y="4081576"/>
            <a:ext cx="4038600" cy="234136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838200" y="4109147"/>
            <a:ext cx="2240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</a:t>
            </a:r>
            <a:r>
              <a:rPr lang="en-US" dirty="0" err="1"/>
              <a:t>Kalman</a:t>
            </a:r>
            <a:r>
              <a:rPr lang="en-US" dirty="0"/>
              <a:t> gain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4915866"/>
            <a:ext cx="4030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estimate with new measurement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223" y="5609155"/>
            <a:ext cx="193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covariance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629" y="4548962"/>
            <a:ext cx="3695700" cy="325612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2806" y="5287935"/>
            <a:ext cx="3121442" cy="30126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2207" y="1556746"/>
            <a:ext cx="114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207" y="3743806"/>
            <a:ext cx="117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Correction</a:t>
            </a:r>
          </a:p>
        </p:txBody>
      </p:sp>
      <p:sp>
        <p:nvSpPr>
          <p:cNvPr id="35" name="Arc 34"/>
          <p:cNvSpPr/>
          <p:nvPr/>
        </p:nvSpPr>
        <p:spPr>
          <a:xfrm>
            <a:off x="4547555" y="2581001"/>
            <a:ext cx="729386" cy="2165980"/>
          </a:xfrm>
          <a:prstGeom prst="arc">
            <a:avLst>
              <a:gd name="adj1" fmla="val 16159210"/>
              <a:gd name="adj2" fmla="val 5450315"/>
            </a:avLst>
          </a:prstGeom>
          <a:ln w="12700">
            <a:solidFill>
              <a:srgbClr val="C00000"/>
            </a:solidFill>
            <a:headEnd type="none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/>
          <p:cNvSpPr/>
          <p:nvPr/>
        </p:nvSpPr>
        <p:spPr>
          <a:xfrm rot="10800000">
            <a:off x="433617" y="2581001"/>
            <a:ext cx="729386" cy="2165980"/>
          </a:xfrm>
          <a:prstGeom prst="arc">
            <a:avLst>
              <a:gd name="adj1" fmla="val 16159210"/>
              <a:gd name="adj2" fmla="val 5450315"/>
            </a:avLst>
          </a:prstGeom>
          <a:ln w="12700">
            <a:solidFill>
              <a:srgbClr val="C00000"/>
            </a:solidFill>
            <a:headEnd type="none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41914" y="2224678"/>
            <a:ext cx="4602483" cy="3794338"/>
          </a:xfrm>
          <a:prstGeom prst="rect">
            <a:avLst/>
          </a:prstGeom>
        </p:spPr>
      </p:pic>
      <p:pic>
        <p:nvPicPr>
          <p:cNvPr id="40" name="Picture 3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4450" y="6014485"/>
            <a:ext cx="2370426" cy="324717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465E7-8A20-A84E-B906-E9D3979426F4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493F8B-7F80-8EA9-2D19-05E9013CD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8AD475-965F-BC41-E2B3-C4D1A20AD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94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filter: derivation (sketch)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Recalling that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477413"/>
            <a:ext cx="3003550" cy="32703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843" y="3476072"/>
            <a:ext cx="2070100" cy="342017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4978400" y="3095765"/>
            <a:ext cx="0" cy="3285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8590893" y="3095765"/>
            <a:ext cx="0" cy="3285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100" y="5816365"/>
            <a:ext cx="3175000" cy="4136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94553" y="585938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4650" y="5565639"/>
            <a:ext cx="3185295" cy="91145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9650" y="2349873"/>
            <a:ext cx="7632700" cy="81415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0788" y="4374557"/>
            <a:ext cx="4565470" cy="401761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9F40B-BCAE-6546-BEBD-FDE5AA9ADA24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C099FF-A5B2-A404-1BE5-2102272D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80D61-37B9-598A-174D-C28CA8D6A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25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filter: derivation (sketch)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58925"/>
            <a:ext cx="10515600" cy="4867276"/>
          </a:xfrm>
        </p:spPr>
        <p:txBody>
          <a:bodyPr>
            <a:normAutofit/>
          </a:bodyPr>
          <a:lstStyle/>
          <a:p>
            <a:r>
              <a:rPr lang="en-US" dirty="0"/>
              <a:t>Correction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After some algebraic manipulations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Other derivations are possible; see, e.g</a:t>
            </a:r>
            <a:r>
              <a:rPr lang="en-US" sz="1400" dirty="0"/>
              <a:t>., </a:t>
            </a:r>
            <a:r>
              <a:rPr lang="en-US" sz="2000" dirty="0"/>
              <a:t>R. E. </a:t>
            </a:r>
            <a:r>
              <a:rPr lang="en-US" sz="2000" dirty="0" err="1"/>
              <a:t>Kalman</a:t>
            </a:r>
            <a:r>
              <a:rPr lang="en-US" sz="2000" dirty="0"/>
              <a:t>, A new approach to linear filtering and prediction problems. Journal of Basic Engineering, 82(1), 35-45, 1960.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892800" y="2592285"/>
            <a:ext cx="0" cy="3285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8369300" y="2617685"/>
            <a:ext cx="0" cy="3285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900" y="4663836"/>
            <a:ext cx="3092450" cy="3840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1053" y="4678534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2064487"/>
            <a:ext cx="5499100" cy="44847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203" y="4201812"/>
            <a:ext cx="3865347" cy="1308271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5207" y="2946249"/>
            <a:ext cx="1517688" cy="389151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AF421-56F0-BB44-A182-0003846DCC83}" type="datetime1">
              <a:rPr lang="en-US" smtClean="0"/>
              <a:t>12/20/2025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660E9F-3219-004F-A8F6-2C67FEAC46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4275" y="2967522"/>
            <a:ext cx="1797050" cy="35941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53E4F9-6B46-3764-91F1-263231C77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89C2D4-5864-ADA8-FCA5-060AF469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52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linearity assumption</a:t>
            </a:r>
          </a:p>
        </p:txBody>
      </p:sp>
      <p:pic>
        <p:nvPicPr>
          <p:cNvPr id="7" name="Picture 3" descr="ekf-linFunc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838200" y="1482339"/>
            <a:ext cx="5303273" cy="4907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6400800" y="1558925"/>
            <a:ext cx="4953000" cy="48672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KF crucially exploits the property that a linear transformation of a Gaussian RV results in a Gaussian RV </a:t>
            </a:r>
          </a:p>
          <a:p>
            <a:r>
              <a:rPr lang="en-US" dirty="0"/>
              <a:t>However, linearity assumptions are severely restrictive for robotics applications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B1216-C1F5-D94F-8D18-E19AF9401E58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3E6009-4DD2-3DEE-0431-45A04B22F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3CD84A-13EF-0097-32AE-7D22221B6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530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 </a:t>
            </a:r>
            <a:r>
              <a:rPr lang="en-US" dirty="0" err="1"/>
              <a:t>Kalman</a:t>
            </a:r>
            <a:r>
              <a:rPr lang="en-US" dirty="0"/>
              <a:t> filter (EKF)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497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Goal</a:t>
            </a:r>
            <a:r>
              <a:rPr lang="en-US" dirty="0"/>
              <a:t>: relax the linearity assumption</a:t>
            </a:r>
          </a:p>
          <a:p>
            <a:r>
              <a:rPr lang="en-US" dirty="0"/>
              <a:t>The dynamics are now given by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the measurement model is now given by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 idea: shift focus from computing exact posterior to efficiently compute a Gaussian approximation </a:t>
            </a:r>
          </a:p>
          <a:p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00" y="4634692"/>
            <a:ext cx="2298700" cy="37467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4500" y="3057942"/>
            <a:ext cx="3644900" cy="421442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C0B52-99BC-D840-AF17-F51626A40E93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0B92BA-D16A-0DF5-CAC9-DA52636FF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71930-ECD2-491F-746F-65A1FD276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12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EKF</a:t>
            </a:r>
          </a:p>
        </p:txBody>
      </p:sp>
      <p:pic>
        <p:nvPicPr>
          <p:cNvPr id="7" name="Picture 3" descr="ekf-func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205163" y="1343025"/>
            <a:ext cx="5405437" cy="50029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247BC6-02A5-C445-B0CC-89621F77AFD3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CB6A4-64CA-3105-CFF7-FA5494F9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35A17B-37D9-BD80-787C-A7A5FA5E7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702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key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Key idea</a:t>
            </a:r>
            <a:r>
              <a:rPr lang="en-US" dirty="0"/>
              <a:t>: linearize </a:t>
            </a:r>
            <a:r>
              <a:rPr lang="en-US" i="1" dirty="0"/>
              <a:t>g</a:t>
            </a:r>
            <a:r>
              <a:rPr lang="en-US" dirty="0"/>
              <a:t> and </a:t>
            </a:r>
            <a:r>
              <a:rPr lang="en-US" i="1" dirty="0"/>
              <a:t>h </a:t>
            </a:r>
            <a:r>
              <a:rPr lang="en-US" dirty="0"/>
              <a:t>around the most likely state and transform beliefs according to such linear approximations </a:t>
            </a:r>
          </a:p>
          <a:p>
            <a:r>
              <a:rPr lang="en-US" dirty="0"/>
              <a:t>For the dynamics equation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Accordingly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175" y="3524199"/>
            <a:ext cx="8629650" cy="95419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" y="5323995"/>
            <a:ext cx="11264900" cy="10355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79011" y="4152900"/>
            <a:ext cx="140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Jacobian of </a:t>
            </a:r>
            <a:r>
              <a:rPr lang="en-US" i="1" dirty="0"/>
              <a:t>g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880100" y="3898900"/>
            <a:ext cx="330200" cy="2540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C3611-E9DE-9946-B7E8-16F13B146540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8CA55D-60C7-B2BA-D966-FD105AECA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AA27E4-8103-FE2E-D8EB-47621801A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569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key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measurement model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Accordingly,</a:t>
            </a:r>
          </a:p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682570"/>
            <a:ext cx="5168900" cy="93692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561091"/>
            <a:ext cx="11176000" cy="674280"/>
          </a:xfrm>
          <a:prstGeom prst="rect">
            <a:avLst/>
          </a:prstGeom>
        </p:spPr>
      </p:pic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D50F1-1132-BE4E-B7B7-34F047F0E9D1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FEFC6-D4BB-EC3C-D394-006BCBAA9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9F1816-65C5-4E8B-3DAF-1487A507B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983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461000" cy="4351338"/>
          </a:xfrm>
        </p:spPr>
        <p:txBody>
          <a:bodyPr/>
          <a:lstStyle/>
          <a:p>
            <a:r>
              <a:rPr lang="en-US" dirty="0"/>
              <a:t>Main differences: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Linear predictions are replaced by their nonlinear generalizations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EKF uses Jacobians instead of linear system matrices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Mathematical derivation of EKF parallels that of KF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914" y="2349500"/>
            <a:ext cx="4354286" cy="3492500"/>
          </a:xfrm>
          <a:prstGeom prst="rect">
            <a:avLst/>
          </a:prstGeom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64979-2F85-D848-BE8C-377DC1A301F7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E6D4F-707D-1A92-1E13-F7B4CD30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EE43E1-B156-0007-8AE1-5DDFDE39B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7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examples</a:t>
            </a:r>
          </a:p>
        </p:txBody>
      </p:sp>
      <p:pic>
        <p:nvPicPr>
          <p:cNvPr id="7" name="Picture 3" descr="ekf-lin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355181" y="1468618"/>
            <a:ext cx="5483203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8137F-39B0-394D-ABF6-59AB762A88A9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522A0-72F8-D6C2-BAB1-03E78173E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D09D97-B2DE-74A9-7A8D-A7EE01D8D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1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examples</a:t>
            </a:r>
          </a:p>
        </p:txBody>
      </p:sp>
      <p:pic>
        <p:nvPicPr>
          <p:cNvPr id="8" name="Picture 3" descr="ekf-lin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357372" y="1472184"/>
            <a:ext cx="5477256" cy="5069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07D9E-3ADC-9942-93CF-2F503E0726A4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95C8D-0978-A4A4-3A05-919FB59C1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0F114-AAD0-1B48-DAA6-B3F2D4721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543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EKF: examples</a:t>
            </a:r>
          </a:p>
        </p:txBody>
      </p:sp>
      <p:pic>
        <p:nvPicPr>
          <p:cNvPr id="7" name="Picture 3" descr="ekf-lin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357372" y="1472674"/>
            <a:ext cx="5477256" cy="5069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E9D73-F9AA-354D-917D-59C55AE9394B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51CAB9-F347-EA7F-4D95-EB150E75E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533261-5BB5-6D14-D18D-128DBE012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821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7338" y="5786438"/>
            <a:ext cx="2143125" cy="485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6EF22-A01B-8F4B-94D8-DBCAC5542E51}" type="datetime1">
              <a:rPr lang="en-US" smtClean="0"/>
              <a:t>12/20/2025</a:t>
            </a:fld>
            <a:endParaRPr lang="en-US"/>
          </a:p>
        </p:txBody>
      </p:sp>
      <p:pic>
        <p:nvPicPr>
          <p:cNvPr id="3" name="Picture 2" descr="pGivenOAOA">
            <a:extLst>
              <a:ext uri="{FF2B5EF4-FFF2-40B4-BE49-F238E27FC236}">
                <a16:creationId xmlns:a16="http://schemas.microsoft.com/office/drawing/2014/main" id="{6233725F-4013-85D2-115D-FC8A9FD4B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4050" y="2853881"/>
            <a:ext cx="8343900" cy="176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2B45FC-34A2-050B-E9FB-FCCDE0929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12CC6D-AF21-C7E5-1508-1272EE1DD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471771"/>
      </p:ext>
    </p:extLst>
  </p:cSld>
  <p:clrMapOvr>
    <a:masterClrMapping/>
  </p:clrMapOvr>
</p:sld>
</file>

<file path=ppt/theme/theme1.xml><?xml version="1.0" encoding="utf-8"?>
<a:theme xmlns:a="http://schemas.openxmlformats.org/drawingml/2006/main" name="AA274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41204</TotalTime>
  <Words>3827</Words>
  <Application>Microsoft Office PowerPoint</Application>
  <PresentationFormat>Widescreen</PresentationFormat>
  <Paragraphs>401</Paragraphs>
  <Slides>24</Slides>
  <Notes>19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AA274</vt:lpstr>
      <vt:lpstr>Principles of Robot Autonomy I</vt:lpstr>
      <vt:lpstr>Attendance Form</vt:lpstr>
      <vt:lpstr>Agenda</vt:lpstr>
      <vt:lpstr>Belief distribution: recap </vt:lpstr>
      <vt:lpstr>Bayes filter algorithm: recap</vt:lpstr>
      <vt:lpstr>Instantiating the Bayes’ filter</vt:lpstr>
      <vt:lpstr>Gaussian distributions</vt:lpstr>
      <vt:lpstr>Key properties of Gaussian random variables</vt:lpstr>
      <vt:lpstr>Kalman filter (KF)</vt:lpstr>
      <vt:lpstr>Kalman filter (KF)</vt:lpstr>
      <vt:lpstr>Kalman filter (KF)</vt:lpstr>
      <vt:lpstr>Kalman filter: algorithm</vt:lpstr>
      <vt:lpstr>Kalman filter: derivation (sketch)</vt:lpstr>
      <vt:lpstr>Kalman filter: derivation (sketch)</vt:lpstr>
      <vt:lpstr>Revisiting linearity assumption</vt:lpstr>
      <vt:lpstr>Extended Kalman filter (EKF)</vt:lpstr>
      <vt:lpstr>Goal of EKF</vt:lpstr>
      <vt:lpstr>EKF: key idea</vt:lpstr>
      <vt:lpstr>EKF: key idea</vt:lpstr>
      <vt:lpstr>EKF: algorithm</vt:lpstr>
      <vt:lpstr>EKF: examples</vt:lpstr>
      <vt:lpstr>EKF: examples</vt:lpstr>
      <vt:lpstr>EKF: examples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679</cp:revision>
  <cp:lastPrinted>2018-02-15T05:56:26Z</cp:lastPrinted>
  <dcterms:created xsi:type="dcterms:W3CDTF">2017-01-06T12:29:52Z</dcterms:created>
  <dcterms:modified xsi:type="dcterms:W3CDTF">2025-12-20T20:18:51Z</dcterms:modified>
</cp:coreProperties>
</file>