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648" r:id="rId1"/>
  </p:sldMasterIdLst>
  <p:notesMasterIdLst>
    <p:notesMasterId r:id="rId28"/>
  </p:notesMasterIdLst>
  <p:sldIdLst>
    <p:sldId id="256" r:id="rId2"/>
    <p:sldId id="374" r:id="rId3"/>
    <p:sldId id="1576" r:id="rId4"/>
    <p:sldId id="296" r:id="rId5"/>
    <p:sldId id="297" r:id="rId6"/>
    <p:sldId id="299" r:id="rId7"/>
    <p:sldId id="300" r:id="rId8"/>
    <p:sldId id="301" r:id="rId9"/>
    <p:sldId id="302" r:id="rId10"/>
    <p:sldId id="308" r:id="rId11"/>
    <p:sldId id="303" r:id="rId12"/>
    <p:sldId id="298" r:id="rId13"/>
    <p:sldId id="304" r:id="rId14"/>
    <p:sldId id="305" r:id="rId15"/>
    <p:sldId id="307" r:id="rId16"/>
    <p:sldId id="309" r:id="rId17"/>
    <p:sldId id="310" r:id="rId18"/>
    <p:sldId id="311" r:id="rId19"/>
    <p:sldId id="312" r:id="rId20"/>
    <p:sldId id="317" r:id="rId21"/>
    <p:sldId id="318" r:id="rId22"/>
    <p:sldId id="319" r:id="rId23"/>
    <p:sldId id="322" r:id="rId24"/>
    <p:sldId id="323" r:id="rId25"/>
    <p:sldId id="32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C25E8B-7885-9143-B6A6-C663038D90BB}">
          <p14:sldIdLst>
            <p14:sldId id="256"/>
            <p14:sldId id="374"/>
            <p14:sldId id="1576"/>
            <p14:sldId id="296"/>
            <p14:sldId id="297"/>
            <p14:sldId id="299"/>
            <p14:sldId id="300"/>
            <p14:sldId id="301"/>
            <p14:sldId id="302"/>
            <p14:sldId id="308"/>
            <p14:sldId id="303"/>
            <p14:sldId id="298"/>
            <p14:sldId id="304"/>
            <p14:sldId id="305"/>
            <p14:sldId id="307"/>
            <p14:sldId id="309"/>
            <p14:sldId id="310"/>
            <p14:sldId id="311"/>
            <p14:sldId id="312"/>
            <p14:sldId id="317"/>
            <p14:sldId id="318"/>
            <p14:sldId id="319"/>
            <p14:sldId id="322"/>
            <p14:sldId id="323"/>
            <p14:sldId id="32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44407-2E79-C84B-9C6C-ABF4A1214A96}" v="4" dt="2025-10-23T15:45:09.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1259"/>
  </p:normalViewPr>
  <p:slideViewPr>
    <p:cSldViewPr snapToGrid="0" snapToObjects="1">
      <p:cViewPr varScale="1">
        <p:scale>
          <a:sx n="100" d="100"/>
          <a:sy n="100" d="100"/>
        </p:scale>
        <p:origin x="1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6F028-2067-3740-AA48-A91E93570B1D}"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2D7EC-928D-0645-AAE8-498D7443D60E}" type="slidenum">
              <a:rPr lang="en-US" smtClean="0"/>
              <a:t>‹#›</a:t>
            </a:fld>
            <a:endParaRPr lang="en-US"/>
          </a:p>
        </p:txBody>
      </p:sp>
    </p:spTree>
    <p:extLst>
      <p:ext uri="{BB962C8B-B14F-4D97-AF65-F5344CB8AC3E}">
        <p14:creationId xmlns:p14="http://schemas.microsoft.com/office/powerpoint/2010/main" val="32937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a:t>
            </a:fld>
            <a:endParaRPr lang="en-US"/>
          </a:p>
        </p:txBody>
      </p:sp>
    </p:spTree>
    <p:extLst>
      <p:ext uri="{BB962C8B-B14F-4D97-AF65-F5344CB8AC3E}">
        <p14:creationId xmlns:p14="http://schemas.microsoft.com/office/powerpoint/2010/main" val="1706131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02402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From now on we’ll focus on the pinhole camera model:</a:t>
            </a:r>
          </a:p>
          <a:p>
            <a:pPr marL="171450" indent="-171450">
              <a:buFont typeface="Arial" charset="0"/>
              <a:buChar char="•"/>
            </a:pPr>
            <a:endParaRPr lang="en-US" dirty="0"/>
          </a:p>
          <a:p>
            <a:pPr marL="171450" indent="-171450">
              <a:buFont typeface="Arial" charset="0"/>
              <a:buChar char="•"/>
            </a:pPr>
            <a:r>
              <a:rPr lang="en-US" dirty="0"/>
              <a:t>We will start by discussing today in details the geometry of the pinhole camera model. All the results derived using this camera model also hold for the thin lens model</a:t>
            </a:r>
          </a:p>
          <a:p>
            <a:pPr marL="171450" indent="-171450">
              <a:buFont typeface="Arial" charset="0"/>
              <a:buChar char="•"/>
            </a:pPr>
            <a:r>
              <a:rPr lang="en-US" dirty="0"/>
              <a:t>As we discussed earlier, in the pinhole camera model, a point P in 3D (in the camera reference system) is mapped (projected) into a point P’ in the image plane.  </a:t>
            </a:r>
          </a:p>
          <a:p>
            <a:pPr marL="171450" indent="-171450">
              <a:buFont typeface="Arial" charset="0"/>
              <a:buChar char="•"/>
            </a:pPr>
            <a:r>
              <a:rPr lang="en-US" dirty="0"/>
              <a:t>This mapping or transformation is also referred to as Perspective projection.</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The goal is to find how world points map in the camera image, that is</a:t>
            </a:r>
            <a:r>
              <a:rPr lang="en-US" baseline="0" dirty="0"/>
              <a:t> how  </a:t>
            </a:r>
            <a:r>
              <a:rPr lang="en-US" dirty="0"/>
              <a:t>to map any 3D point from the 3D world directly into a point in pixel coordinates in the digital image.</a:t>
            </a:r>
          </a:p>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4</a:t>
            </a:fld>
            <a:endParaRPr lang="en-US"/>
          </a:p>
        </p:txBody>
      </p:sp>
    </p:spTree>
    <p:extLst>
      <p:ext uri="{BB962C8B-B14F-4D97-AF65-F5344CB8AC3E}">
        <p14:creationId xmlns:p14="http://schemas.microsoft.com/office/powerpoint/2010/main" val="518451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200" kern="1200">
                <a:solidFill>
                  <a:schemeClr val="tx1"/>
                </a:solidFill>
                <a:effectLst/>
                <a:latin typeface="+mn-lt"/>
                <a:ea typeface="+mn-ea"/>
                <a:cs typeface="+mn-cs"/>
              </a:rPr>
              <a:t>\tilde x = f\, \frac{X_C}{Y_C} + \tilde x_0, \</a:t>
            </a:r>
            <a:r>
              <a:rPr lang="es-ES_tradnl" sz="1200" kern="1200" err="1">
                <a:solidFill>
                  <a:schemeClr val="tx1"/>
                </a:solidFill>
                <a:effectLst/>
                <a:latin typeface="+mn-lt"/>
                <a:ea typeface="+mn-ea"/>
                <a:cs typeface="+mn-cs"/>
              </a:rPr>
              <a:t>qquad</a:t>
            </a:r>
            <a:r>
              <a:rPr lang="es-ES_tradnl" sz="1200" kern="1200">
                <a:solidFill>
                  <a:schemeClr val="tx1"/>
                </a:solidFill>
                <a:effectLst/>
                <a:latin typeface="+mn-lt"/>
                <a:ea typeface="+mn-ea"/>
                <a:cs typeface="+mn-cs"/>
              </a:rPr>
              <a:t>  \tilde y = f\, \frac{Y_C}{Y_C} + \tilde y_0,</a:t>
            </a:r>
          </a:p>
        </p:txBody>
      </p:sp>
      <p:sp>
        <p:nvSpPr>
          <p:cNvPr id="4" name="Slide Number Placeholder 3"/>
          <p:cNvSpPr>
            <a:spLocks noGrp="1"/>
          </p:cNvSpPr>
          <p:nvPr>
            <p:ph type="sldNum" sz="quarter" idx="10"/>
          </p:nvPr>
        </p:nvSpPr>
        <p:spPr/>
        <p:txBody>
          <a:bodyPr/>
          <a:lstStyle/>
          <a:p>
            <a:fld id="{63B2D7EC-928D-0645-AAE8-498D7443D60E}" type="slidenum">
              <a:rPr lang="en-US" smtClean="0"/>
              <a:t>5</a:t>
            </a:fld>
            <a:endParaRPr lang="en-US"/>
          </a:p>
        </p:txBody>
      </p:sp>
    </p:spTree>
    <p:extLst>
      <p:ext uri="{BB962C8B-B14F-4D97-AF65-F5344CB8AC3E}">
        <p14:creationId xmlns:p14="http://schemas.microsoft.com/office/powerpoint/2010/main" val="1679669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The projection of 3D points into the image plane does not directly correspond to what we see in actual digital images (i.e., what we see in a display or monitor):</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 </a:t>
            </a:r>
            <a:r>
              <a:rPr lang="en-US" dirty="0" err="1"/>
              <a:t>i</a:t>
            </a:r>
            <a:r>
              <a:rPr lang="en-US" dirty="0"/>
              <a:t>) points in the digital display are, in general, in a different reference system than those in the image/retinal plane;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ii) Digital images are divided into pixels whereas points in the image/retina plane are measured in centimeters;</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 iii) The physical sensors can introduce non-linearity (e.g. distortion) to the mapping. </a:t>
            </a: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Specifically, digital images typically have their origin at the lower-left corner of the image. Thus, 2D points in the image plane and 2D points in a digital image are equal up to an offset translation vector [x0 , y0 ],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ES_tradnl"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kern="1200" dirty="0">
                <a:solidFill>
                  <a:schemeClr val="tx1"/>
                </a:solidFill>
                <a:effectLst/>
                <a:latin typeface="+mn-lt"/>
                <a:ea typeface="+mn-ea"/>
                <a:cs typeface="+mn-cs"/>
              </a:rPr>
              <a:t>\tilde x = f\, \frac{X_C}{Y_C} + \tilde x_0, \</a:t>
            </a:r>
            <a:r>
              <a:rPr lang="es-ES_tradnl" sz="1200" kern="1200" dirty="0" err="1">
                <a:solidFill>
                  <a:schemeClr val="tx1"/>
                </a:solidFill>
                <a:effectLst/>
                <a:latin typeface="+mn-lt"/>
                <a:ea typeface="+mn-ea"/>
                <a:cs typeface="+mn-cs"/>
              </a:rPr>
              <a:t>qquad</a:t>
            </a:r>
            <a:r>
              <a:rPr lang="es-ES_tradnl" sz="1200" kern="1200" dirty="0">
                <a:solidFill>
                  <a:schemeClr val="tx1"/>
                </a:solidFill>
                <a:effectLst/>
                <a:latin typeface="+mn-lt"/>
                <a:ea typeface="+mn-ea"/>
                <a:cs typeface="+mn-cs"/>
              </a:rPr>
              <a:t>  \tilde y = f\, \frac{Y_C}{Y_C} + \tilde y_0,</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6</a:t>
            </a:fld>
            <a:endParaRPr lang="en-US"/>
          </a:p>
        </p:txBody>
      </p:sp>
    </p:spTree>
    <p:extLst>
      <p:ext uri="{BB962C8B-B14F-4D97-AF65-F5344CB8AC3E}">
        <p14:creationId xmlns:p14="http://schemas.microsoft.com/office/powerpoint/2010/main" val="3050865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As second effect we need to take into account for is the fact that points in a digital image are expressed in pixels whereas points in the image</a:t>
            </a:r>
            <a:r>
              <a:rPr lang="en-US" baseline="0" dirty="0"/>
              <a:t> </a:t>
            </a:r>
            <a:r>
              <a:rPr lang="en-US" dirty="0"/>
              <a:t>plane are expressed in (e.g.) centimeters. </a:t>
            </a:r>
          </a:p>
          <a:p>
            <a:pPr marL="171450" indent="-171450">
              <a:buFont typeface="Arial" charset="0"/>
              <a:buChar char="•"/>
            </a:pPr>
            <a:r>
              <a:rPr lang="en-US" dirty="0"/>
              <a:t>In order to accommodate this further change of coordinate systems, the mapping is now described by [..]</a:t>
            </a:r>
          </a:p>
          <a:p>
            <a:pPr marL="171450" indent="-171450">
              <a:buFont typeface="Arial" charset="0"/>
              <a:buChar char="•"/>
            </a:pPr>
            <a:r>
              <a:rPr lang="en-US" dirty="0"/>
              <a:t>Notice that </a:t>
            </a:r>
            <a:r>
              <a:rPr lang="en-US" dirty="0" err="1"/>
              <a:t>k_x</a:t>
            </a:r>
            <a:r>
              <a:rPr lang="en-US" dirty="0"/>
              <a:t> is different from </a:t>
            </a:r>
            <a:r>
              <a:rPr lang="en-US" dirty="0" err="1"/>
              <a:t>k_y</a:t>
            </a:r>
            <a:r>
              <a:rPr lang="en-US" dirty="0"/>
              <a:t> because the aspect ratio of the unit element of the sensor (CCD or CMOS) is not necessarily 1 or the pixel aspect ratio is modified by the imaging system.</a:t>
            </a:r>
          </a:p>
          <a:p>
            <a:pPr marL="171450" indent="-171450">
              <a:buFont typeface="Arial" charset="0"/>
              <a:buChar char="•"/>
            </a:pPr>
            <a:r>
              <a:rPr lang="en-US" sz="1200" kern="1200" dirty="0">
                <a:solidFill>
                  <a:schemeClr val="tx1"/>
                </a:solidFill>
                <a:effectLst/>
                <a:latin typeface="+mn-lt"/>
                <a:ea typeface="+mn-ea"/>
                <a:cs typeface="+mn-cs"/>
              </a:rPr>
              <a:t>Thi</a:t>
            </a:r>
            <a:r>
              <a:rPr lang="en-US" sz="1200" kern="1200" baseline="0" dirty="0">
                <a:solidFill>
                  <a:schemeClr val="tx1"/>
                </a:solidFill>
                <a:effectLst/>
                <a:latin typeface="+mn-lt"/>
                <a:ea typeface="+mn-ea"/>
                <a:cs typeface="+mn-cs"/>
              </a:rPr>
              <a:t>s is a non-linear transformation</a:t>
            </a:r>
          </a:p>
          <a:p>
            <a:pPr marL="171450" indent="-171450">
              <a:buFont typeface="Arial" charset="0"/>
              <a:buChar char="•"/>
            </a:pPr>
            <a:r>
              <a:rPr lang="en-US" dirty="0"/>
              <a:t>It is easy to show that a linear transformation (mapping) can be always be expressed as a product of a matrix and the input signal [x y z]T . Is there a way we can express the</a:t>
            </a:r>
            <a:r>
              <a:rPr lang="en-US" baseline="0" dirty="0"/>
              <a:t> projective equation</a:t>
            </a:r>
            <a:r>
              <a:rPr lang="en-US" dirty="0"/>
              <a:t> as product of a matrix and the vector [X Y Z]? </a:t>
            </a:r>
            <a:endParaRPr lang="de-DE" sz="1200" kern="1200" dirty="0">
              <a:solidFill>
                <a:schemeClr val="tx1"/>
              </a:solidFill>
              <a:effectLst/>
              <a:latin typeface="+mn-lt"/>
              <a:ea typeface="+mn-ea"/>
              <a:cs typeface="+mn-cs"/>
            </a:endParaRPr>
          </a:p>
          <a:p>
            <a:endParaRPr lang="de-DE" sz="1200" kern="1200" dirty="0">
              <a:solidFill>
                <a:schemeClr val="tx1"/>
              </a:solidFill>
              <a:effectLst/>
              <a:latin typeface="+mn-lt"/>
              <a:ea typeface="+mn-ea"/>
              <a:cs typeface="+mn-cs"/>
            </a:endParaRPr>
          </a:p>
          <a:p>
            <a:endParaRPr lang="de-DE" sz="1200" kern="1200" dirty="0">
              <a:solidFill>
                <a:schemeClr val="tx1"/>
              </a:solidFill>
              <a:effectLst/>
              <a:latin typeface="+mn-lt"/>
              <a:ea typeface="+mn-ea"/>
              <a:cs typeface="+mn-cs"/>
            </a:endParaRPr>
          </a:p>
          <a:p>
            <a:r>
              <a:rPr lang="de-DE" sz="1200" kern="1200" dirty="0" err="1">
                <a:solidFill>
                  <a:schemeClr val="tx1"/>
                </a:solidFill>
                <a:effectLst/>
                <a:latin typeface="+mn-lt"/>
                <a:ea typeface="+mn-ea"/>
                <a:cs typeface="+mn-cs"/>
              </a:rPr>
              <a:t>u</a:t>
            </a:r>
            <a:r>
              <a:rPr lang="de-DE" sz="1200" kern="1200" dirty="0">
                <a:solidFill>
                  <a:schemeClr val="tx1"/>
                </a:solidFill>
                <a:effectLst/>
                <a:latin typeface="+mn-lt"/>
                <a:ea typeface="+mn-ea"/>
                <a:cs typeface="+mn-cs"/>
              </a:rPr>
              <a:t>&amp;= \</a:t>
            </a:r>
            <a:r>
              <a:rPr lang="de-DE" sz="1200" kern="1200" dirty="0" err="1">
                <a:solidFill>
                  <a:schemeClr val="tx1"/>
                </a:solidFill>
                <a:effectLst/>
                <a:latin typeface="+mn-lt"/>
                <a:ea typeface="+mn-ea"/>
                <a:cs typeface="+mn-cs"/>
              </a:rPr>
              <a:t>alpha_u</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frac</a:t>
            </a:r>
            <a:r>
              <a:rPr lang="de-DE" sz="1200" kern="1200" dirty="0">
                <a:solidFill>
                  <a:schemeClr val="tx1"/>
                </a:solidFill>
                <a:effectLst/>
                <a:latin typeface="+mn-lt"/>
                <a:ea typeface="+mn-ea"/>
                <a:cs typeface="+mn-cs"/>
              </a:rPr>
              <a:t>{X_C}{Z_C} + u_0   \\</a:t>
            </a:r>
          </a:p>
          <a:p>
            <a:r>
              <a:rPr lang="de-DE" sz="1200" kern="1200" dirty="0">
                <a:solidFill>
                  <a:schemeClr val="tx1"/>
                </a:solidFill>
                <a:effectLst/>
                <a:latin typeface="+mn-lt"/>
                <a:ea typeface="+mn-ea"/>
                <a:cs typeface="+mn-cs"/>
              </a:rPr>
              <a:t>v&amp;= \</a:t>
            </a:r>
            <a:r>
              <a:rPr lang="de-DE" sz="1200" kern="1200" dirty="0" err="1">
                <a:solidFill>
                  <a:schemeClr val="tx1"/>
                </a:solidFill>
                <a:effectLst/>
                <a:latin typeface="+mn-lt"/>
                <a:ea typeface="+mn-ea"/>
                <a:cs typeface="+mn-cs"/>
              </a:rPr>
              <a:t>alpha_v</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frac</a:t>
            </a:r>
            <a:r>
              <a:rPr lang="de-DE" sz="1200" kern="1200" dirty="0">
                <a:solidFill>
                  <a:schemeClr val="tx1"/>
                </a:solidFill>
                <a:effectLst/>
                <a:latin typeface="+mn-lt"/>
                <a:ea typeface="+mn-ea"/>
                <a:cs typeface="+mn-cs"/>
              </a:rPr>
              <a:t>{Y_C}{Z_C} + v_0</a:t>
            </a:r>
          </a:p>
          <a:p>
            <a:endParaRPr lang="es-ES_tradnl" sz="1200" kern="120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r>
              <a:rPr lang="es-ES_tradnl" sz="1200" kern="1200" dirty="0">
                <a:solidFill>
                  <a:schemeClr val="tx1"/>
                </a:solidFill>
                <a:effectLst/>
                <a:latin typeface="+mn-lt"/>
                <a:ea typeface="+mn-ea"/>
                <a:cs typeface="+mn-cs"/>
              </a:rPr>
              <a:t>u&amp;= </a:t>
            </a:r>
            <a:r>
              <a:rPr lang="es-ES_tradnl" sz="1200" kern="1200" dirty="0" err="1">
                <a:solidFill>
                  <a:schemeClr val="tx1"/>
                </a:solidFill>
                <a:effectLst/>
                <a:latin typeface="+mn-lt"/>
                <a:ea typeface="+mn-ea"/>
                <a:cs typeface="+mn-cs"/>
              </a:rPr>
              <a:t>k_x</a:t>
            </a:r>
            <a:r>
              <a:rPr lang="es-ES_tradnl" sz="1200" kern="1200" dirty="0">
                <a:solidFill>
                  <a:schemeClr val="tx1"/>
                </a:solidFill>
                <a:effectLst/>
                <a:latin typeface="+mn-lt"/>
                <a:ea typeface="+mn-ea"/>
                <a:cs typeface="+mn-cs"/>
              </a:rPr>
              <a:t> \tilde x = </a:t>
            </a:r>
            <a:r>
              <a:rPr lang="es-ES_tradnl" sz="1200" kern="1200" dirty="0" err="1">
                <a:solidFill>
                  <a:schemeClr val="tx1"/>
                </a:solidFill>
                <a:effectLst/>
                <a:latin typeface="+mn-lt"/>
                <a:ea typeface="+mn-ea"/>
                <a:cs typeface="+mn-cs"/>
              </a:rPr>
              <a:t>k_x</a:t>
            </a:r>
            <a:r>
              <a:rPr lang="es-ES_tradnl" sz="1200" kern="1200" dirty="0">
                <a:solidFill>
                  <a:schemeClr val="tx1"/>
                </a:solidFill>
                <a:effectLst/>
                <a:latin typeface="+mn-lt"/>
                <a:ea typeface="+mn-ea"/>
                <a:cs typeface="+mn-cs"/>
              </a:rPr>
              <a:t>\, f\, \frac{X_C}{Z_C} + </a:t>
            </a:r>
            <a:r>
              <a:rPr lang="es-ES_tradnl" sz="1200" kern="1200" dirty="0" err="1">
                <a:solidFill>
                  <a:schemeClr val="tx1"/>
                </a:solidFill>
                <a:effectLst/>
                <a:latin typeface="+mn-lt"/>
                <a:ea typeface="+mn-ea"/>
                <a:cs typeface="+mn-cs"/>
              </a:rPr>
              <a:t>k_x</a:t>
            </a:r>
            <a:r>
              <a:rPr lang="es-ES_tradnl" sz="1200" kern="1200" dirty="0">
                <a:solidFill>
                  <a:schemeClr val="tx1"/>
                </a:solidFill>
                <a:effectLst/>
                <a:latin typeface="+mn-lt"/>
                <a:ea typeface="+mn-ea"/>
                <a:cs typeface="+mn-cs"/>
              </a:rPr>
              <a:t> \tilde x_0   \\</a:t>
            </a:r>
          </a:p>
          <a:p>
            <a:r>
              <a:rPr lang="es-ES_tradnl" sz="1200" kern="1200" dirty="0">
                <a:solidFill>
                  <a:schemeClr val="tx1"/>
                </a:solidFill>
                <a:effectLst/>
                <a:latin typeface="+mn-lt"/>
                <a:ea typeface="+mn-ea"/>
                <a:cs typeface="+mn-cs"/>
              </a:rPr>
              <a:t>v&amp;= </a:t>
            </a:r>
            <a:r>
              <a:rPr lang="es-ES_tradnl" sz="1200" kern="1200" dirty="0" err="1">
                <a:solidFill>
                  <a:schemeClr val="tx1"/>
                </a:solidFill>
                <a:effectLst/>
                <a:latin typeface="+mn-lt"/>
                <a:ea typeface="+mn-ea"/>
                <a:cs typeface="+mn-cs"/>
              </a:rPr>
              <a:t>k_y</a:t>
            </a:r>
            <a:r>
              <a:rPr lang="es-ES_tradnl" sz="1200" kern="1200" dirty="0">
                <a:solidFill>
                  <a:schemeClr val="tx1"/>
                </a:solidFill>
                <a:effectLst/>
                <a:latin typeface="+mn-lt"/>
                <a:ea typeface="+mn-ea"/>
                <a:cs typeface="+mn-cs"/>
              </a:rPr>
              <a:t>\tilde y = </a:t>
            </a:r>
            <a:r>
              <a:rPr lang="es-ES_tradnl" sz="1200" kern="1200" dirty="0" err="1">
                <a:solidFill>
                  <a:schemeClr val="tx1"/>
                </a:solidFill>
                <a:effectLst/>
                <a:latin typeface="+mn-lt"/>
                <a:ea typeface="+mn-ea"/>
                <a:cs typeface="+mn-cs"/>
              </a:rPr>
              <a:t>k_yf</a:t>
            </a:r>
            <a:r>
              <a:rPr lang="es-ES_tradnl" sz="1200" kern="1200" dirty="0">
                <a:solidFill>
                  <a:schemeClr val="tx1"/>
                </a:solidFill>
                <a:effectLst/>
                <a:latin typeface="+mn-lt"/>
                <a:ea typeface="+mn-ea"/>
                <a:cs typeface="+mn-cs"/>
              </a:rPr>
              <a:t>\, \frac{Y_C}{Z_C} + </a:t>
            </a:r>
            <a:r>
              <a:rPr lang="es-ES_tradnl" sz="1200" kern="1200" dirty="0" err="1">
                <a:solidFill>
                  <a:schemeClr val="tx1"/>
                </a:solidFill>
                <a:effectLst/>
                <a:latin typeface="+mn-lt"/>
                <a:ea typeface="+mn-ea"/>
                <a:cs typeface="+mn-cs"/>
              </a:rPr>
              <a:t>k_y</a:t>
            </a:r>
            <a:r>
              <a:rPr lang="es-ES_tradnl" sz="1200" kern="1200" dirty="0">
                <a:solidFill>
                  <a:schemeClr val="tx1"/>
                </a:solidFill>
                <a:effectLst/>
                <a:latin typeface="+mn-lt"/>
                <a:ea typeface="+mn-ea"/>
                <a:cs typeface="+mn-cs"/>
              </a:rPr>
              <a:t>\tilde y_0</a:t>
            </a:r>
          </a:p>
        </p:txBody>
      </p:sp>
      <p:sp>
        <p:nvSpPr>
          <p:cNvPr id="4" name="Slide Number Placeholder 3"/>
          <p:cNvSpPr>
            <a:spLocks noGrp="1"/>
          </p:cNvSpPr>
          <p:nvPr>
            <p:ph type="sldNum" sz="quarter" idx="10"/>
          </p:nvPr>
        </p:nvSpPr>
        <p:spPr/>
        <p:txBody>
          <a:bodyPr/>
          <a:lstStyle/>
          <a:p>
            <a:fld id="{63B2D7EC-928D-0645-AAE8-498D7443D60E}" type="slidenum">
              <a:rPr lang="en-US" smtClean="0"/>
              <a:t>7</a:t>
            </a:fld>
            <a:endParaRPr lang="en-US"/>
          </a:p>
        </p:txBody>
      </p:sp>
    </p:spTree>
    <p:extLst>
      <p:ext uri="{BB962C8B-B14F-4D97-AF65-F5344CB8AC3E}">
        <p14:creationId xmlns:p14="http://schemas.microsoft.com/office/powerpoint/2010/main" val="1945209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One way to get around this problem is to change coordinate system and go from the Euclidean reference system (our original coordinate system) to the so called Homogenous coordinate system --- a new</a:t>
            </a:r>
            <a:r>
              <a:rPr lang="en-US" baseline="0" dirty="0"/>
              <a:t> </a:t>
            </a:r>
            <a:r>
              <a:rPr lang="en-US" sz="1200" b="0" i="0" kern="1200" dirty="0">
                <a:solidFill>
                  <a:schemeClr val="tx1"/>
                </a:solidFill>
                <a:effectLst/>
                <a:latin typeface="+mn-lt"/>
                <a:ea typeface="+mn-ea"/>
                <a:cs typeface="+mn-cs"/>
              </a:rPr>
              <a:t>system of coordinates ubiquitous in projective geometry</a:t>
            </a:r>
            <a:r>
              <a:rPr lang="en-US" dirty="0"/>
              <a:t>. </a:t>
            </a:r>
          </a:p>
          <a:p>
            <a:pPr marL="171450" indent="-171450">
              <a:buFont typeface="Arial" charset="0"/>
              <a:buChar char="•"/>
            </a:pPr>
            <a:r>
              <a:rPr lang="en-US" dirty="0"/>
              <a:t>The process of going back and forth from Euclidean and Homogenous coordinate system is non-linear, but the good news is that once we are in the homogenous coordinate system a projective transformation  becomes linear. </a:t>
            </a:r>
          </a:p>
          <a:p>
            <a:pPr marL="171450" indent="-171450">
              <a:buFont typeface="Arial" charset="0"/>
              <a:buChar char="•"/>
            </a:pPr>
            <a:r>
              <a:rPr lang="en-US" dirty="0"/>
              <a:t>a point X in Rn (in the Euclidean coordinate system) is represented as Rn+1 vector (in the Homogenous coordinate system) by adding a final coordinate of 1.</a:t>
            </a:r>
          </a:p>
          <a:p>
            <a:pPr marL="171450" indent="-171450">
              <a:buFont typeface="Arial" charset="0"/>
              <a:buChar char="•"/>
            </a:pPr>
            <a:r>
              <a:rPr lang="en-US" dirty="0"/>
              <a:t>A</a:t>
            </a:r>
            <a:r>
              <a:rPr lang="en-US" baseline="0" dirty="0"/>
              <a:t> </a:t>
            </a:r>
            <a:r>
              <a:rPr lang="en-US" dirty="0"/>
              <a:t>generic point X in Rn+1 (in the Homogenous coordinate system) is represented as a Rn vector (in the Euclidean coordinate system) by suppressing the last coordinate and dividing the first n coordinates of X by the n+1th coordinate. </a:t>
            </a:r>
          </a:p>
          <a:p>
            <a:pPr marL="171450" indent="-171450">
              <a:buFont typeface="Arial" charset="0"/>
              <a:buChar char="•"/>
            </a:pPr>
            <a:r>
              <a:rPr lang="en-US" dirty="0"/>
              <a:t>The benefit of this will</a:t>
            </a:r>
            <a:r>
              <a:rPr lang="en-US" baseline="0" dirty="0"/>
              <a:t> become clear in a second</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qquad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z</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z\\</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qquad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z</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w</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x/w\\</a:t>
            </a:r>
          </a:p>
          <a:p>
            <a:r>
              <a:rPr lang="en-US" sz="1200" kern="1200" dirty="0">
                <a:solidFill>
                  <a:schemeClr val="tx1"/>
                </a:solidFill>
                <a:effectLst/>
                <a:latin typeface="+mn-lt"/>
                <a:ea typeface="+mn-ea"/>
                <a:cs typeface="+mn-cs"/>
              </a:rPr>
              <a:t>y/w</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qquad</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a:t>
            </a:r>
          </a:p>
          <a:p>
            <a:r>
              <a:rPr lang="en-US" sz="1200" kern="1200" dirty="0">
                <a:solidFill>
                  <a:schemeClr val="tx1"/>
                </a:solidFill>
                <a:effectLst/>
                <a:latin typeface="+mn-lt"/>
                <a:ea typeface="+mn-ea"/>
                <a:cs typeface="+mn-cs"/>
              </a:rPr>
              <a:t>y\\</a:t>
            </a:r>
          </a:p>
          <a:p>
            <a:r>
              <a:rPr lang="en-US" sz="1200" kern="1200" dirty="0">
                <a:solidFill>
                  <a:schemeClr val="tx1"/>
                </a:solidFill>
                <a:effectLst/>
                <a:latin typeface="+mn-lt"/>
                <a:ea typeface="+mn-ea"/>
                <a:cs typeface="+mn-cs"/>
              </a:rPr>
              <a:t>z\\</a:t>
            </a:r>
          </a:p>
          <a:p>
            <a:r>
              <a:rPr lang="en-US" sz="1200" kern="1200" dirty="0">
                <a:solidFill>
                  <a:schemeClr val="tx1"/>
                </a:solidFill>
                <a:effectLst/>
                <a:latin typeface="+mn-lt"/>
                <a:ea typeface="+mn-ea"/>
                <a:cs typeface="+mn-cs"/>
              </a:rPr>
              <a:t>w</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x/w\\</a:t>
            </a:r>
          </a:p>
          <a:p>
            <a:r>
              <a:rPr lang="en-US" sz="1200" kern="1200" dirty="0">
                <a:solidFill>
                  <a:schemeClr val="tx1"/>
                </a:solidFill>
                <a:effectLst/>
                <a:latin typeface="+mn-lt"/>
                <a:ea typeface="+mn-ea"/>
                <a:cs typeface="+mn-cs"/>
              </a:rPr>
              <a:t>y/w\\</a:t>
            </a:r>
          </a:p>
          <a:p>
            <a:r>
              <a:rPr lang="en-US" sz="1200" kern="1200" dirty="0">
                <a:solidFill>
                  <a:schemeClr val="tx1"/>
                </a:solidFill>
                <a:effectLst/>
                <a:latin typeface="+mn-lt"/>
                <a:ea typeface="+mn-ea"/>
                <a:cs typeface="+mn-cs"/>
              </a:rPr>
              <a:t>z/w</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63B2D7EC-928D-0645-AAE8-498D7443D60E}" type="slidenum">
              <a:rPr lang="en-US" smtClean="0"/>
              <a:t>8</a:t>
            </a:fld>
            <a:endParaRPr lang="en-US"/>
          </a:p>
        </p:txBody>
      </p:sp>
    </p:spTree>
    <p:extLst>
      <p:ext uri="{BB962C8B-B14F-4D97-AF65-F5344CB8AC3E}">
        <p14:creationId xmlns:p14="http://schemas.microsoft.com/office/powerpoint/2010/main" val="2877519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A point P=[x y z] in the 3D Euclidean reference system is expressed as Ph = [x y z 1] in Homogenous reference system. Let’s multiply the matrix K (which contains an arrangement of the camera parameters) by Ph: the result is a 3D vector,</a:t>
            </a:r>
            <a:r>
              <a:rPr lang="en-US" baseline="0" dirty="0"/>
              <a:t> which converted to the Euclidean system is the desired point.</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The conversion from Homogenous to Euclidean returns the actual point p (that’s where the non-linearity takes place). </a:t>
            </a:r>
            <a:endParaRPr lang="en-US" baseline="0" dirty="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This transformation is expressed as a multiplication of the matrix K and the vector Ph. </a:t>
            </a:r>
          </a:p>
          <a:p>
            <a:pPr marL="171450" indent="-171450">
              <a:buFont typeface="Arial" charset="0"/>
              <a:buChar char="•"/>
            </a:pPr>
            <a:r>
              <a:rPr lang="en-US" dirty="0"/>
              <a:t>The projective transformation can be expressed as a linear transformation in the Homogenous reference system – </a:t>
            </a:r>
          </a:p>
          <a:p>
            <a:pPr marL="171450" indent="-171450">
              <a:buFont typeface="Arial" charset="0"/>
              <a:buChar char="•"/>
            </a:pPr>
            <a:r>
              <a:rPr lang="en-US" dirty="0"/>
              <a:t>The key advantage of this representation is that we have obtained a much more compact expression for capturing the projective transformation.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P_c</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X_c</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Y_c</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Z_c</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X_c</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Y_c</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Z_c</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P_c^h</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9</a:t>
            </a:fld>
            <a:endParaRPr lang="en-US"/>
          </a:p>
        </p:txBody>
      </p:sp>
    </p:spTree>
    <p:extLst>
      <p:ext uri="{BB962C8B-B14F-4D97-AF65-F5344CB8AC3E}">
        <p14:creationId xmlns:p14="http://schemas.microsoft.com/office/powerpoint/2010/main" val="2593890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a:t>We say that an image is skewed when the camera coordinate system is skewed; that is, the two image axes are not perpendicular (as they should) and the angle </a:t>
            </a:r>
            <a:r>
              <a:rPr lang="en-US" err="1"/>
              <a:t>θ</a:t>
            </a:r>
            <a:r>
              <a:rPr lang="en-US"/>
              <a:t> between the two axes is slightly larger or smaller than 90 degrees.</a:t>
            </a:r>
          </a:p>
          <a:p>
            <a:pPr marL="171450" indent="-171450">
              <a:buFont typeface="Arial" charset="0"/>
              <a:buChar char="•"/>
            </a:pPr>
            <a:r>
              <a:rPr lang="en-US" sz="1200" kern="1200">
                <a:solidFill>
                  <a:schemeClr val="tx1"/>
                </a:solidFill>
                <a:effectLst/>
                <a:latin typeface="+mn-lt"/>
                <a:ea typeface="+mn-ea"/>
                <a:cs typeface="+mn-cs"/>
              </a:rPr>
              <a:t>5 parameters: These parameters encompass focal length, image sensor format, and principal point. </a:t>
            </a:r>
          </a:p>
          <a:p>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K = \begin{</a:t>
            </a:r>
            <a:r>
              <a:rPr lang="en-US" sz="1200" kern="1200" err="1">
                <a:solidFill>
                  <a:schemeClr val="tx1"/>
                </a:solidFill>
                <a:effectLst/>
                <a:latin typeface="+mn-lt"/>
                <a:ea typeface="+mn-ea"/>
                <a:cs typeface="+mn-cs"/>
              </a:rPr>
              <a:t>bmatrix</a:t>
            </a:r>
            <a:r>
              <a:rPr lang="en-US" sz="1200" kern="1200">
                <a:solidFill>
                  <a:schemeClr val="tx1"/>
                </a:solidFill>
                <a:effectLst/>
                <a:latin typeface="+mn-lt"/>
                <a:ea typeface="+mn-ea"/>
                <a:cs typeface="+mn-cs"/>
              </a:rPr>
              <a:t>}</a:t>
            </a:r>
          </a:p>
          <a:p>
            <a:r>
              <a:rPr lang="en-US" sz="1200" kern="1200">
                <a:solidFill>
                  <a:schemeClr val="tx1"/>
                </a:solidFill>
                <a:effectLst/>
                <a:latin typeface="+mn-lt"/>
                <a:ea typeface="+mn-ea"/>
                <a:cs typeface="+mn-cs"/>
              </a:rPr>
              <a:t>\alpha &amp;{\color{red} \gamma} &amp; u_0\\</a:t>
            </a:r>
          </a:p>
          <a:p>
            <a:r>
              <a:rPr lang="en-US" sz="1200" kern="1200">
                <a:solidFill>
                  <a:schemeClr val="tx1"/>
                </a:solidFill>
                <a:effectLst/>
                <a:latin typeface="+mn-lt"/>
                <a:ea typeface="+mn-ea"/>
                <a:cs typeface="+mn-cs"/>
              </a:rPr>
              <a:t>0 &amp; \beta &amp; v_0\\</a:t>
            </a:r>
          </a:p>
          <a:p>
            <a:r>
              <a:rPr lang="en-US" sz="1200" kern="1200">
                <a:solidFill>
                  <a:schemeClr val="tx1"/>
                </a:solidFill>
                <a:effectLst/>
                <a:latin typeface="+mn-lt"/>
                <a:ea typeface="+mn-ea"/>
                <a:cs typeface="+mn-cs"/>
              </a:rPr>
              <a:t>0 &amp; 0&amp; 1</a:t>
            </a:r>
          </a:p>
          <a:p>
            <a:r>
              <a:rPr lang="en-US" sz="1200" kern="1200">
                <a:solidFill>
                  <a:schemeClr val="tx1"/>
                </a:solidFill>
                <a:effectLst/>
                <a:latin typeface="+mn-lt"/>
                <a:ea typeface="+mn-ea"/>
                <a:cs typeface="+mn-cs"/>
              </a:rPr>
              <a:t>\end{</a:t>
            </a:r>
            <a:r>
              <a:rPr lang="en-US" sz="1200" kern="1200" err="1">
                <a:solidFill>
                  <a:schemeClr val="tx1"/>
                </a:solidFill>
                <a:effectLst/>
                <a:latin typeface="+mn-lt"/>
                <a:ea typeface="+mn-ea"/>
                <a:cs typeface="+mn-cs"/>
              </a:rPr>
              <a:t>bmatrix</a:t>
            </a:r>
            <a:r>
              <a:rPr lang="en-US" sz="1200" kern="120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63B2D7EC-928D-0645-AAE8-498D7443D60E}" type="slidenum">
              <a:rPr lang="en-US" smtClean="0"/>
              <a:t>10</a:t>
            </a:fld>
            <a:endParaRPr lang="en-US"/>
          </a:p>
        </p:txBody>
      </p:sp>
    </p:spTree>
    <p:extLst>
      <p:ext uri="{BB962C8B-B14F-4D97-AF65-F5344CB8AC3E}">
        <p14:creationId xmlns:p14="http://schemas.microsoft.com/office/powerpoint/2010/main" val="3160652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So we far we have described a mapping between a point P in the 3D camera reference system to a point p in the 2D image plane. But what if the information we have about points in 3D (or in general about any physical object) is available in the world coordinate system?</a:t>
            </a:r>
          </a:p>
          <a:p>
            <a:pPr marL="171450" indent="-171450">
              <a:buFont typeface="Arial" charset="0"/>
              <a:buChar char="•"/>
            </a:pPr>
            <a:r>
              <a:rPr lang="en-US" dirty="0"/>
              <a:t>Then, we need to include to our mapping an additional transformation that allows to relate points from/to the world reference system to/from the camera reference system. This transformation is captured by a rotation matrix R and a translation vector T. </a:t>
            </a:r>
          </a:p>
        </p:txBody>
      </p:sp>
      <p:sp>
        <p:nvSpPr>
          <p:cNvPr id="4" name="Slide Number Placeholder 3"/>
          <p:cNvSpPr>
            <a:spLocks noGrp="1"/>
          </p:cNvSpPr>
          <p:nvPr>
            <p:ph type="sldNum" sz="quarter" idx="10"/>
          </p:nvPr>
        </p:nvSpPr>
        <p:spPr/>
        <p:txBody>
          <a:bodyPr/>
          <a:lstStyle/>
          <a:p>
            <a:fld id="{63B2D7EC-928D-0645-AAE8-498D7443D60E}" type="slidenum">
              <a:rPr lang="en-US" smtClean="0"/>
              <a:t>11</a:t>
            </a:fld>
            <a:endParaRPr lang="en-US"/>
          </a:p>
        </p:txBody>
      </p:sp>
    </p:spTree>
    <p:extLst>
      <p:ext uri="{BB962C8B-B14F-4D97-AF65-F5344CB8AC3E}">
        <p14:creationId xmlns:p14="http://schemas.microsoft.com/office/powerpoint/2010/main" val="383465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The transformation that allows to relate points from/to the world reference system to/ from the camera reference system is a rigid transformation and is regulated by a translation t and a rotation R in 3D.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Rightarrow</a:t>
            </a:r>
            <a:r>
              <a:rPr lang="en-US" sz="1200" kern="1200" dirty="0">
                <a:solidFill>
                  <a:schemeClr val="tx1"/>
                </a:solidFill>
                <a:effectLst/>
                <a:latin typeface="+mn-lt"/>
                <a:ea typeface="+mn-ea"/>
                <a:cs typeface="+mn-cs"/>
              </a:rPr>
              <a:t> P_C = t+ R\, P_W</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 = \begin{</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i_W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j_W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k_W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i_W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j &amp; </a:t>
            </a:r>
            <a:r>
              <a:rPr lang="en-US" sz="1200" kern="1200" dirty="0" err="1">
                <a:solidFill>
                  <a:schemeClr val="tx1"/>
                </a:solidFill>
                <a:effectLst/>
                <a:latin typeface="+mn-lt"/>
                <a:ea typeface="+mn-ea"/>
                <a:cs typeface="+mn-cs"/>
              </a:rPr>
              <a:t>j_W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j &amp; </a:t>
            </a:r>
            <a:r>
              <a:rPr lang="en-US" sz="1200" kern="1200" dirty="0" err="1">
                <a:solidFill>
                  <a:schemeClr val="tx1"/>
                </a:solidFill>
                <a:effectLst/>
                <a:latin typeface="+mn-lt"/>
                <a:ea typeface="+mn-ea"/>
                <a:cs typeface="+mn-cs"/>
              </a:rPr>
              <a:t>k_W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j\\</a:t>
            </a:r>
          </a:p>
          <a:p>
            <a:r>
              <a:rPr lang="en-US" sz="1200" kern="1200" dirty="0" err="1">
                <a:solidFill>
                  <a:schemeClr val="tx1"/>
                </a:solidFill>
                <a:effectLst/>
                <a:latin typeface="+mn-lt"/>
                <a:ea typeface="+mn-ea"/>
                <a:cs typeface="+mn-cs"/>
              </a:rPr>
              <a:t>i_W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k &amp; </a:t>
            </a:r>
            <a:r>
              <a:rPr lang="en-US" sz="1200" kern="1200" dirty="0" err="1">
                <a:solidFill>
                  <a:schemeClr val="tx1"/>
                </a:solidFill>
                <a:effectLst/>
                <a:latin typeface="+mn-lt"/>
                <a:ea typeface="+mn-ea"/>
                <a:cs typeface="+mn-cs"/>
              </a:rPr>
              <a:t>j_W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k &amp; </a:t>
            </a:r>
            <a:r>
              <a:rPr lang="en-US" sz="1200" kern="1200" dirty="0" err="1">
                <a:solidFill>
                  <a:schemeClr val="tx1"/>
                </a:solidFill>
                <a:effectLst/>
                <a:latin typeface="+mn-lt"/>
                <a:ea typeface="+mn-ea"/>
                <a:cs typeface="+mn-cs"/>
              </a:rPr>
              <a:t>k_W</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k\\</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63B2D7EC-928D-0645-AAE8-498D7443D60E}" type="slidenum">
              <a:rPr lang="en-US" smtClean="0"/>
              <a:t>12</a:t>
            </a:fld>
            <a:endParaRPr lang="en-US"/>
          </a:p>
        </p:txBody>
      </p:sp>
    </p:spTree>
    <p:extLst>
      <p:ext uri="{BB962C8B-B14F-4D97-AF65-F5344CB8AC3E}">
        <p14:creationId xmlns:p14="http://schemas.microsoft.com/office/powerpoint/2010/main" val="572323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The benefit of working in a homogeneous coordinates is that these two transforma6ons can be compactly described by the matrix [R T; O 1] as the slide illustrates. </a:t>
            </a:r>
          </a:p>
          <a:p>
            <a:pPr marL="171450" indent="-171450">
              <a:buFont typeface="Arial" charset="0"/>
              <a:buChar char="•"/>
            </a:pPr>
            <a:r>
              <a:rPr lang="en-US" dirty="0"/>
              <a:t>This is a 4x4 matrix and allows to map any point Pw = [</a:t>
            </a:r>
            <a:r>
              <a:rPr lang="en-US" dirty="0" err="1"/>
              <a:t>xw</a:t>
            </a:r>
            <a:r>
              <a:rPr lang="en-US" dirty="0"/>
              <a:t> </a:t>
            </a:r>
            <a:r>
              <a:rPr lang="en-US" dirty="0" err="1"/>
              <a:t>yw</a:t>
            </a:r>
            <a:r>
              <a:rPr lang="en-US" dirty="0"/>
              <a:t> </a:t>
            </a:r>
            <a:r>
              <a:rPr lang="en-US" dirty="0" err="1"/>
              <a:t>zw</a:t>
            </a:r>
            <a:r>
              <a:rPr lang="en-US" dirty="0"/>
              <a:t> 1]T in the world reference system to a point P = [x y z 1]T in the camera reference system (in homogenous coordinates)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P_C\\</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\begin{</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 &amp; t\\</a:t>
            </a:r>
          </a:p>
          <a:p>
            <a:r>
              <a:rPr lang="en-US" sz="1200" kern="1200" dirty="0">
                <a:solidFill>
                  <a:schemeClr val="tx1"/>
                </a:solidFill>
                <a:effectLst/>
                <a:latin typeface="+mn-lt"/>
                <a:ea typeface="+mn-ea"/>
                <a:cs typeface="+mn-cs"/>
              </a:rPr>
              <a:t>0_{1\times 3} &amp; 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P_W\\</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13</a:t>
            </a:fld>
            <a:endParaRPr lang="en-US"/>
          </a:p>
        </p:txBody>
      </p:sp>
    </p:spTree>
    <p:extLst>
      <p:ext uri="{BB962C8B-B14F-4D97-AF65-F5344CB8AC3E}">
        <p14:creationId xmlns:p14="http://schemas.microsoft.com/office/powerpoint/2010/main" val="2033473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The projection mapping is compactly given by the </a:t>
            </a:r>
            <a:r>
              <a:rPr lang="en-US" dirty="0" err="1"/>
              <a:t>projectiion</a:t>
            </a:r>
            <a:r>
              <a:rPr lang="en-US" dirty="0"/>
              <a:t> matrix K [R T], where K are called internal or intrinsic parameter and [R T] are called the external or extrinsic parameters</a:t>
            </a:r>
          </a:p>
          <a:p>
            <a:pPr marL="171450" indent="-171450">
              <a:buFont typeface="Arial" charset="0"/>
              <a:buChar char="•"/>
            </a:pPr>
            <a:r>
              <a:rPr lang="en-US" dirty="0"/>
              <a:t>The former are related to the intrinsic physical properties of the camera (e.g. focal length, </a:t>
            </a:r>
            <a:r>
              <a:rPr lang="en-US" dirty="0" err="1"/>
              <a:t>etc</a:t>
            </a:r>
            <a:r>
              <a:rPr lang="en-US" dirty="0"/>
              <a:t>…) where the latter are related to pose and location of the camera; </a:t>
            </a:r>
          </a:p>
          <a:p>
            <a:pPr marL="171450" indent="-171450">
              <a:buFont typeface="Arial" charset="0"/>
              <a:buChar char="•"/>
            </a:pPr>
            <a:r>
              <a:rPr lang="en-US" dirty="0"/>
              <a:t>Notice that these two set of parameters are nicely separated in this formulation. </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p^h</a:t>
            </a:r>
            <a:r>
              <a:rPr lang="en-US" sz="1200" kern="1200" dirty="0">
                <a:solidFill>
                  <a:schemeClr val="tx1"/>
                </a:solidFill>
                <a:effectLst/>
                <a:latin typeface="+mn-lt"/>
                <a:ea typeface="+mn-ea"/>
                <a:cs typeface="+mn-cs"/>
              </a:rPr>
              <a:t> = [K \quad 0_{3\times 1}]</a:t>
            </a:r>
            <a:r>
              <a:rPr lang="en-US" sz="1200" kern="1200" dirty="0" err="1">
                <a:solidFill>
                  <a:schemeClr val="tx1"/>
                </a:solidFill>
                <a:effectLst/>
                <a:latin typeface="+mn-lt"/>
                <a:ea typeface="+mn-ea"/>
                <a:cs typeface="+mn-cs"/>
              </a:rPr>
              <a:t>P_C^h</a:t>
            </a:r>
            <a:r>
              <a:rPr lang="en-US" sz="1200" kern="1200" dirty="0">
                <a:solidFill>
                  <a:schemeClr val="tx1"/>
                </a:solidFill>
                <a:effectLst/>
                <a:latin typeface="+mn-lt"/>
                <a:ea typeface="+mn-ea"/>
                <a:cs typeface="+mn-cs"/>
              </a:rPr>
              <a:t> = K[I_{3\times 3} \quad 0_{3\times 1}]\begin{</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 &amp; t\\</a:t>
            </a:r>
          </a:p>
          <a:p>
            <a:r>
              <a:rPr lang="en-US" sz="1200" kern="1200" dirty="0">
                <a:solidFill>
                  <a:schemeClr val="tx1"/>
                </a:solidFill>
                <a:effectLst/>
                <a:latin typeface="+mn-lt"/>
                <a:ea typeface="+mn-ea"/>
                <a:cs typeface="+mn-cs"/>
              </a:rPr>
              <a:t>0_{1\times 3} &amp; 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P_W^h</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3B2D7EC-928D-0645-AAE8-498D7443D60E}" type="slidenum">
              <a:rPr lang="en-US" smtClean="0"/>
              <a:t>14</a:t>
            </a:fld>
            <a:endParaRPr lang="en-US"/>
          </a:p>
        </p:txBody>
      </p:sp>
    </p:spTree>
    <p:extLst>
      <p:ext uri="{BB962C8B-B14F-4D97-AF65-F5344CB8AC3E}">
        <p14:creationId xmlns:p14="http://schemas.microsoft.com/office/powerpoint/2010/main" val="2036887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Recall that our camera is modeled using internal, or intrinsic, parameters (K) and external, or extrinsic, parameters ([R T]). Their product gives us the full 3x4 projection matrix, shown before. It has 11 degrees of freedom</a:t>
            </a:r>
          </a:p>
          <a:p>
            <a:pPr marL="171450" indent="-171450">
              <a:buFont typeface="Arial" charset="0"/>
              <a:buChar char="•"/>
            </a:pPr>
            <a:r>
              <a:rPr lang="en-US" dirty="0"/>
              <a:t>Problem: given one or more images taken by a camera, estimate its intrinsic and extrinsic parameters. </a:t>
            </a:r>
          </a:p>
          <a:p>
            <a:pPr marL="171450" indent="-171450">
              <a:buFont typeface="Arial" charset="0"/>
              <a:buChar char="•"/>
            </a:pPr>
            <a:r>
              <a:rPr lang="en-US" dirty="0"/>
              <a:t>We can describe this problem more precisely using a calibration rig, such as the one shown above. </a:t>
            </a:r>
          </a:p>
          <a:p>
            <a:pPr marL="171450" indent="-171450">
              <a:buFont typeface="Arial" charset="0"/>
              <a:buChar char="•"/>
            </a:pPr>
            <a:r>
              <a:rPr lang="en-US" dirty="0"/>
              <a:t>The rig usually consists of a pattern (usually a checkerboard) with known dimensions. The rig also defines our world reference coordinate frame ([</a:t>
            </a:r>
            <a:r>
              <a:rPr lang="en-US" dirty="0" err="1"/>
              <a:t>Ow,iw,jw,kw</a:t>
            </a:r>
            <a:r>
              <a:rPr lang="en-US" dirty="0"/>
              <a:t>] as shown in the figure. </a:t>
            </a:r>
          </a:p>
          <a:p>
            <a:pPr marL="171450" indent="-171450">
              <a:buFont typeface="Arial" charset="0"/>
              <a:buChar char="•"/>
            </a:pPr>
            <a:r>
              <a:rPr lang="en-US" dirty="0"/>
              <a:t>Now, suppose we are given n points on the calibration rig, P1 … </a:t>
            </a:r>
            <a:r>
              <a:rPr lang="en-US" dirty="0" err="1"/>
              <a:t>Pn</a:t>
            </a:r>
            <a:r>
              <a:rPr lang="en-US" dirty="0"/>
              <a:t> , along with their corresponding coordinates, p1 , … </a:t>
            </a:r>
            <a:r>
              <a:rPr lang="en-US" dirty="0" err="1"/>
              <a:t>pn</a:t>
            </a:r>
            <a:r>
              <a:rPr lang="en-US" dirty="0"/>
              <a:t> in the image. Using these correspondences, our goal is to estimate both intrinsic and extrinsic parameters.</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15</a:t>
            </a:fld>
            <a:endParaRPr lang="en-US"/>
          </a:p>
        </p:txBody>
      </p:sp>
    </p:spTree>
    <p:extLst>
      <p:ext uri="{BB962C8B-B14F-4D97-AF65-F5344CB8AC3E}">
        <p14:creationId xmlns:p14="http://schemas.microsoft.com/office/powerpoint/2010/main" val="851930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charset="0"/>
                  <a:buChar char="•"/>
                </a:pPr>
                <a:r>
                  <a:rPr lang="en-US" dirty="0"/>
                  <a:t>In the next slides, we will set up a linear system of equations from n of such correspondences and propose a procedure for solving it against the unknowns (intrinsic and extrinsic parameters). </a:t>
                </a:r>
              </a:p>
              <a:p>
                <a:pPr marL="171450" indent="-171450">
                  <a:buFont typeface="Arial" charset="0"/>
                  <a:buChar char="•"/>
                </a:pPr>
                <a:r>
                  <a:rPr lang="en-US" dirty="0"/>
                  <a:t>Let’s consider the </a:t>
                </a:r>
                <a:r>
                  <a:rPr lang="en-US" dirty="0" err="1"/>
                  <a:t>ith</a:t>
                </a:r>
                <a:r>
                  <a:rPr lang="en-US" dirty="0"/>
                  <a:t> correspondence pair defined by a point Pi in the calibration rig (in the world reference system) and its observation pi in the image [</a:t>
                </a:r>
                <a:r>
                  <a:rPr lang="is-IS" dirty="0"/>
                  <a:t>…</a:t>
                </a:r>
                <a:r>
                  <a:rPr lang="en-US" dirty="0"/>
                  <a:t>.]</a:t>
                </a:r>
              </a:p>
              <a:p>
                <a:pPr marL="171450" indent="-171450">
                  <a:buFont typeface="Arial" charset="0"/>
                  <a:buChar char="•"/>
                </a:pPr>
                <a:r>
                  <a:rPr lang="en-US" dirty="0"/>
                  <a:t>This gives rise to </a:t>
                </a:r>
                <a14:m>
                  <m:oMath xmlns:m="http://schemas.openxmlformats.org/officeDocument/2006/math">
                    <m:r>
                      <a:rPr lang="en-US" b="0" i="1" smtClean="0">
                        <a:latin typeface="Cambria Math" charset="0"/>
                      </a:rPr>
                      <m:t>2</m:t>
                    </m:r>
                    <m:r>
                      <a:rPr lang="en-US" b="0" i="1" smtClean="0">
                        <a:latin typeface="Cambria Math" charset="0"/>
                      </a:rPr>
                      <m:t>𝑛</m:t>
                    </m:r>
                  </m:oMath>
                </a14:m>
                <a:r>
                  <a:rPr lang="en-US" dirty="0"/>
                  <a:t> component-wise equations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u_i</a:t>
                </a:r>
                <a:r>
                  <a:rPr lang="en-US" sz="1200" kern="1200" dirty="0">
                    <a:solidFill>
                      <a:schemeClr val="tx1"/>
                    </a:solidFill>
                    <a:effectLst/>
                    <a:latin typeface="+mn-lt"/>
                    <a:ea typeface="+mn-ea"/>
                    <a:cs typeface="+mn-cs"/>
                  </a:rPr>
                  <a:t>\, (m_3\</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 - m_1\</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}^h}=0\\</a:t>
                </a:r>
              </a:p>
              <a:p>
                <a:r>
                  <a:rPr lang="en-US" sz="1200" kern="1200" dirty="0" err="1">
                    <a:solidFill>
                      <a:schemeClr val="tx1"/>
                    </a:solidFill>
                    <a:effectLst/>
                    <a:latin typeface="+mn-lt"/>
                    <a:ea typeface="+mn-ea"/>
                    <a:cs typeface="+mn-cs"/>
                  </a:rPr>
                  <a:t>v_i</a:t>
                </a:r>
                <a:r>
                  <a:rPr lang="en-US" sz="1200" kern="1200" dirty="0">
                    <a:solidFill>
                      <a:schemeClr val="tx1"/>
                    </a:solidFill>
                    <a:effectLst/>
                    <a:latin typeface="+mn-lt"/>
                    <a:ea typeface="+mn-ea"/>
                    <a:cs typeface="+mn-cs"/>
                  </a:rPr>
                  <a:t>\, (m_3\</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 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 - m_2\</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}^h}=0</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u_i</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frac</a:t>
                </a:r>
                <a:r>
                  <a:rPr lang="en-US" sz="1200" kern="1200" dirty="0">
                    <a:solidFill>
                      <a:schemeClr val="tx1"/>
                    </a:solidFill>
                    <a:effectLst/>
                    <a:latin typeface="+mn-lt"/>
                    <a:ea typeface="+mn-ea"/>
                    <a:cs typeface="+mn-cs"/>
                  </a:rPr>
                  <a:t>{m_1\</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}^h}}{m_3\</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a:t>
                </a:r>
              </a:p>
              <a:p>
                <a:r>
                  <a:rPr lang="en-US" sz="1200" kern="1200" dirty="0" err="1">
                    <a:solidFill>
                      <a:schemeClr val="tx1"/>
                    </a:solidFill>
                    <a:effectLst/>
                    <a:latin typeface="+mn-lt"/>
                    <a:ea typeface="+mn-ea"/>
                    <a:cs typeface="+mn-cs"/>
                  </a:rPr>
                  <a:t>v_i</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frac</a:t>
                </a:r>
                <a:r>
                  <a:rPr lang="en-US" sz="1200" kern="1200" dirty="0">
                    <a:solidFill>
                      <a:schemeClr val="tx1"/>
                    </a:solidFill>
                    <a:effectLst/>
                    <a:latin typeface="+mn-lt"/>
                    <a:ea typeface="+mn-ea"/>
                    <a:cs typeface="+mn-cs"/>
                  </a:rPr>
                  <a:t>{m_2\</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}^h}}{m_3\</a:t>
                </a:r>
                <a:r>
                  <a:rPr lang="en-US" sz="1200" kern="1200" dirty="0" err="1">
                    <a:solidFill>
                      <a:schemeClr val="tx1"/>
                    </a:solidFill>
                    <a:effectLst/>
                    <a:latin typeface="+mn-lt"/>
                    <a:ea typeface="+mn-ea"/>
                    <a:cs typeface="+mn-cs"/>
                  </a:rPr>
                  <a:t>cdot</a:t>
                </a:r>
                <a:r>
                  <a:rPr lang="en-US" sz="1200" kern="1200" dirty="0">
                    <a:solidFill>
                      <a:schemeClr val="tx1"/>
                    </a:solidFill>
                    <a:effectLst/>
                    <a:latin typeface="+mn-lt"/>
                    <a:ea typeface="+mn-ea"/>
                    <a:cs typeface="+mn-cs"/>
                  </a:rPr>
                  <a:t>{P_{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p^{h}_</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 M \, P_{</a:t>
                </a:r>
                <a:r>
                  <a:rPr lang="en-US" sz="1200" kern="1200" dirty="0" err="1">
                    <a:solidFill>
                      <a:schemeClr val="tx1"/>
                    </a:solidFill>
                    <a:effectLst/>
                    <a:latin typeface="+mn-lt"/>
                    <a:ea typeface="+mn-ea"/>
                    <a:cs typeface="+mn-cs"/>
                  </a:rPr>
                  <a:t>W,i</a:t>
                </a:r>
                <a:r>
                  <a:rPr lang="en-US" sz="1200" kern="1200" dirty="0">
                    <a:solidFill>
                      <a:schemeClr val="tx1"/>
                    </a:solidFill>
                    <a:effectLst/>
                    <a:latin typeface="+mn-lt"/>
                    <a:ea typeface="+mn-ea"/>
                    <a:cs typeface="+mn-cs"/>
                  </a:rPr>
                  <a:t>}^h, \, \,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=1,\</a:t>
                </a:r>
                <a:r>
                  <a:rPr lang="en-US" sz="1200" kern="1200" dirty="0" err="1">
                    <a:solidFill>
                      <a:schemeClr val="tx1"/>
                    </a:solidFill>
                    <a:effectLst/>
                    <a:latin typeface="+mn-lt"/>
                    <a:ea typeface="+mn-ea"/>
                    <a:cs typeface="+mn-cs"/>
                  </a:rPr>
                  <a:t>ldots</a:t>
                </a:r>
                <a:r>
                  <a:rPr lang="en-US" sz="1200" kern="1200" dirty="0">
                    <a:solidFill>
                      <a:schemeClr val="tx1"/>
                    </a:solidFill>
                    <a:effectLst/>
                    <a:latin typeface="+mn-lt"/>
                    <a:ea typeface="+mn-ea"/>
                    <a:cs typeface="+mn-cs"/>
                  </a:rPr>
                  <a:t>, n, \</a:t>
                </a:r>
                <a:r>
                  <a:rPr lang="en-US" sz="1200" kern="1200" dirty="0" err="1">
                    <a:solidFill>
                      <a:schemeClr val="tx1"/>
                    </a:solidFill>
                    <a:effectLst/>
                    <a:latin typeface="+mn-lt"/>
                    <a:ea typeface="+mn-ea"/>
                    <a:cs typeface="+mn-cs"/>
                  </a:rPr>
                  <a:t>qquad</a:t>
                </a:r>
                <a:r>
                  <a:rPr lang="en-US" sz="1200" kern="1200" dirty="0">
                    <a:solidFill>
                      <a:schemeClr val="tx1"/>
                    </a:solidFill>
                    <a:effectLst/>
                    <a:latin typeface="+mn-lt"/>
                    <a:ea typeface="+mn-ea"/>
                    <a:cs typeface="+mn-cs"/>
                  </a:rPr>
                  <a:t> \text{where} \quad M = K[R \quad t] = \begin{</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m_1\\</a:t>
                </a:r>
              </a:p>
              <a:p>
                <a:r>
                  <a:rPr lang="en-US" sz="1200" kern="1200" dirty="0">
                    <a:solidFill>
                      <a:schemeClr val="tx1"/>
                    </a:solidFill>
                    <a:effectLst/>
                    <a:latin typeface="+mn-lt"/>
                    <a:ea typeface="+mn-ea"/>
                    <a:cs typeface="+mn-cs"/>
                  </a:rPr>
                  <a:t>m_2\\</a:t>
                </a:r>
              </a:p>
              <a:p>
                <a:r>
                  <a:rPr lang="en-US" sz="1200" kern="1200" dirty="0">
                    <a:solidFill>
                      <a:schemeClr val="tx1"/>
                    </a:solidFill>
                    <a:effectLst/>
                    <a:latin typeface="+mn-lt"/>
                    <a:ea typeface="+mn-ea"/>
                    <a:cs typeface="+mn-cs"/>
                  </a:rPr>
                  <a:t>m_3\end{</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171450" indent="-171450">
                  <a:buFont typeface="Arial" charset="0"/>
                  <a:buChar char="•"/>
                </a:pPr>
                <a:r>
                  <a:rPr lang="en-US" dirty="0" smtClean="0"/>
                  <a:t>In the next slides, we will set up a linear system of </a:t>
                </a:r>
                <a:r>
                  <a:rPr lang="en-US" dirty="0" smtClean="0"/>
                  <a:t>equations </a:t>
                </a:r>
                <a:r>
                  <a:rPr lang="en-US" dirty="0" smtClean="0"/>
                  <a:t>from n of such correspondences and propose a procedure for solving it against the unknowns (intrinsic and extrinsic parameters). </a:t>
                </a:r>
                <a:endParaRPr lang="en-US" dirty="0" smtClean="0"/>
              </a:p>
              <a:p>
                <a:pPr marL="171450" indent="-171450">
                  <a:buFont typeface="Arial" charset="0"/>
                  <a:buChar char="•"/>
                </a:pPr>
                <a:r>
                  <a:rPr lang="en-US" dirty="0" smtClean="0"/>
                  <a:t>Let’s consider the </a:t>
                </a:r>
                <a:r>
                  <a:rPr lang="en-US" dirty="0" err="1" smtClean="0"/>
                  <a:t>ith</a:t>
                </a:r>
                <a:r>
                  <a:rPr lang="en-US" dirty="0" smtClean="0"/>
                  <a:t> correspondence pair defined by a point Pi in the calibration rig (in the world reference system) and its observation pi in the image [</a:t>
                </a:r>
                <a:r>
                  <a:rPr lang="is-IS" dirty="0" smtClean="0"/>
                  <a:t>…</a:t>
                </a:r>
                <a:r>
                  <a:rPr lang="en-US" dirty="0" smtClean="0"/>
                  <a:t>.]</a:t>
                </a:r>
              </a:p>
              <a:p>
                <a:pPr marL="171450" indent="-171450">
                  <a:buFont typeface="Arial" charset="0"/>
                  <a:buChar char="•"/>
                </a:pPr>
                <a:r>
                  <a:rPr lang="en-US" dirty="0" smtClean="0"/>
                  <a:t>This gives rise to </a:t>
                </a:r>
                <a:r>
                  <a:rPr lang="en-US" b="0" i="0" smtClean="0">
                    <a:latin typeface="Cambria Math" charset="0"/>
                  </a:rPr>
                  <a:t>2𝑛</a:t>
                </a:r>
                <a:r>
                  <a:rPr lang="en-US" dirty="0" smtClean="0"/>
                  <a:t> component-wise equations</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u_i</a:t>
                </a:r>
                <a:r>
                  <a:rPr lang="en-US" sz="1200" kern="1200" dirty="0" smtClean="0">
                    <a:solidFill>
                      <a:schemeClr val="tx1"/>
                    </a:solidFill>
                    <a:effectLst/>
                    <a:latin typeface="+mn-lt"/>
                    <a:ea typeface="+mn-ea"/>
                    <a:cs typeface="+mn-cs"/>
                  </a:rPr>
                  <a:t>\, (m_3\</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 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 - m_1\</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}^h}=0\\</a:t>
                </a:r>
              </a:p>
              <a:p>
                <a:r>
                  <a:rPr lang="en-US" sz="1200" kern="1200" dirty="0" err="1" smtClean="0">
                    <a:solidFill>
                      <a:schemeClr val="tx1"/>
                    </a:solidFill>
                    <a:effectLst/>
                    <a:latin typeface="+mn-lt"/>
                    <a:ea typeface="+mn-ea"/>
                    <a:cs typeface="+mn-cs"/>
                  </a:rPr>
                  <a:t>v_i</a:t>
                </a:r>
                <a:r>
                  <a:rPr lang="en-US" sz="1200" kern="1200" dirty="0" smtClean="0">
                    <a:solidFill>
                      <a:schemeClr val="tx1"/>
                    </a:solidFill>
                    <a:effectLst/>
                    <a:latin typeface="+mn-lt"/>
                    <a:ea typeface="+mn-ea"/>
                    <a:cs typeface="+mn-cs"/>
                  </a:rPr>
                  <a:t>\, (m_3\</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 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 - m_2\</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}^h}=0</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u_i</a:t>
                </a:r>
                <a:r>
                  <a:rPr lang="en-US" sz="1200" kern="1200" dirty="0" smtClean="0">
                    <a:solidFill>
                      <a:schemeClr val="tx1"/>
                    </a:solidFill>
                    <a:effectLst/>
                    <a:latin typeface="+mn-lt"/>
                    <a:ea typeface="+mn-ea"/>
                    <a:cs typeface="+mn-cs"/>
                  </a:rPr>
                  <a:t> &amp;= \</a:t>
                </a:r>
                <a:r>
                  <a:rPr lang="en-US" sz="1200" kern="1200" dirty="0" err="1" smtClean="0">
                    <a:solidFill>
                      <a:schemeClr val="tx1"/>
                    </a:solidFill>
                    <a:effectLst/>
                    <a:latin typeface="+mn-lt"/>
                    <a:ea typeface="+mn-ea"/>
                    <a:cs typeface="+mn-cs"/>
                  </a:rPr>
                  <a:t>frac</a:t>
                </a:r>
                <a:r>
                  <a:rPr lang="en-US" sz="1200" kern="1200" dirty="0" smtClean="0">
                    <a:solidFill>
                      <a:schemeClr val="tx1"/>
                    </a:solidFill>
                    <a:effectLst/>
                    <a:latin typeface="+mn-lt"/>
                    <a:ea typeface="+mn-ea"/>
                    <a:cs typeface="+mn-cs"/>
                  </a:rPr>
                  <a:t>{m_1\</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}^h}}{m_3\</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a:t>
                </a:r>
              </a:p>
              <a:p>
                <a:r>
                  <a:rPr lang="en-US" sz="1200" kern="1200" dirty="0" err="1" smtClean="0">
                    <a:solidFill>
                      <a:schemeClr val="tx1"/>
                    </a:solidFill>
                    <a:effectLst/>
                    <a:latin typeface="+mn-lt"/>
                    <a:ea typeface="+mn-ea"/>
                    <a:cs typeface="+mn-cs"/>
                  </a:rPr>
                  <a:t>v_i</a:t>
                </a:r>
                <a:r>
                  <a:rPr lang="en-US" sz="1200" kern="1200" dirty="0" smtClean="0">
                    <a:solidFill>
                      <a:schemeClr val="tx1"/>
                    </a:solidFill>
                    <a:effectLst/>
                    <a:latin typeface="+mn-lt"/>
                    <a:ea typeface="+mn-ea"/>
                    <a:cs typeface="+mn-cs"/>
                  </a:rPr>
                  <a:t> &amp;= \</a:t>
                </a:r>
                <a:r>
                  <a:rPr lang="en-US" sz="1200" kern="1200" dirty="0" err="1" smtClean="0">
                    <a:solidFill>
                      <a:schemeClr val="tx1"/>
                    </a:solidFill>
                    <a:effectLst/>
                    <a:latin typeface="+mn-lt"/>
                    <a:ea typeface="+mn-ea"/>
                    <a:cs typeface="+mn-cs"/>
                  </a:rPr>
                  <a:t>frac</a:t>
                </a:r>
                <a:r>
                  <a:rPr lang="en-US" sz="1200" kern="1200" dirty="0" smtClean="0">
                    <a:solidFill>
                      <a:schemeClr val="tx1"/>
                    </a:solidFill>
                    <a:effectLst/>
                    <a:latin typeface="+mn-lt"/>
                    <a:ea typeface="+mn-ea"/>
                    <a:cs typeface="+mn-cs"/>
                  </a:rPr>
                  <a:t>{m_2\</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}^h}}{m_3\</a:t>
                </a:r>
                <a:r>
                  <a:rPr lang="en-US" sz="1200" kern="1200" dirty="0" err="1" smtClean="0">
                    <a:solidFill>
                      <a:schemeClr val="tx1"/>
                    </a:solidFill>
                    <a:effectLst/>
                    <a:latin typeface="+mn-lt"/>
                    <a:ea typeface="+mn-ea"/>
                    <a:cs typeface="+mn-cs"/>
                  </a:rPr>
                  <a:t>cdot</a:t>
                </a:r>
                <a:r>
                  <a:rPr lang="en-US" sz="1200" kern="1200" dirty="0" smtClean="0">
                    <a:solidFill>
                      <a:schemeClr val="tx1"/>
                    </a:solidFill>
                    <a:effectLst/>
                    <a:latin typeface="+mn-lt"/>
                    <a:ea typeface="+mn-ea"/>
                    <a:cs typeface="+mn-cs"/>
                  </a:rPr>
                  <a:t>{P_{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p^{h}_</a:t>
                </a:r>
                <a:r>
                  <a:rPr lang="en-US" sz="1200" kern="1200" dirty="0" err="1" smtClean="0">
                    <a:solidFill>
                      <a:schemeClr val="tx1"/>
                    </a:solidFill>
                    <a:effectLst/>
                    <a:latin typeface="+mn-lt"/>
                    <a:ea typeface="+mn-ea"/>
                    <a:cs typeface="+mn-cs"/>
                  </a:rPr>
                  <a:t>i</a:t>
                </a:r>
                <a:r>
                  <a:rPr lang="en-US" sz="1200" kern="1200" dirty="0" smtClean="0">
                    <a:solidFill>
                      <a:schemeClr val="tx1"/>
                    </a:solidFill>
                    <a:effectLst/>
                    <a:latin typeface="+mn-lt"/>
                    <a:ea typeface="+mn-ea"/>
                    <a:cs typeface="+mn-cs"/>
                  </a:rPr>
                  <a:t> = M \, P_{</a:t>
                </a:r>
                <a:r>
                  <a:rPr lang="en-US" sz="1200" kern="1200" dirty="0" err="1" smtClean="0">
                    <a:solidFill>
                      <a:schemeClr val="tx1"/>
                    </a:solidFill>
                    <a:effectLst/>
                    <a:latin typeface="+mn-lt"/>
                    <a:ea typeface="+mn-ea"/>
                    <a:cs typeface="+mn-cs"/>
                  </a:rPr>
                  <a:t>W,i</a:t>
                </a:r>
                <a:r>
                  <a:rPr lang="en-US" sz="1200" kern="1200" dirty="0" smtClean="0">
                    <a:solidFill>
                      <a:schemeClr val="tx1"/>
                    </a:solidFill>
                    <a:effectLst/>
                    <a:latin typeface="+mn-lt"/>
                    <a:ea typeface="+mn-ea"/>
                    <a:cs typeface="+mn-cs"/>
                  </a:rPr>
                  <a:t>}^h, \, \, </a:t>
                </a:r>
                <a:r>
                  <a:rPr lang="en-US" sz="1200" kern="1200" dirty="0" err="1" smtClean="0">
                    <a:solidFill>
                      <a:schemeClr val="tx1"/>
                    </a:solidFill>
                    <a:effectLst/>
                    <a:latin typeface="+mn-lt"/>
                    <a:ea typeface="+mn-ea"/>
                    <a:cs typeface="+mn-cs"/>
                  </a:rPr>
                  <a:t>i</a:t>
                </a:r>
                <a:r>
                  <a:rPr lang="en-US" sz="1200" kern="1200" dirty="0" smtClean="0">
                    <a:solidFill>
                      <a:schemeClr val="tx1"/>
                    </a:solidFill>
                    <a:effectLst/>
                    <a:latin typeface="+mn-lt"/>
                    <a:ea typeface="+mn-ea"/>
                    <a:cs typeface="+mn-cs"/>
                  </a:rPr>
                  <a:t>=1,\</a:t>
                </a:r>
                <a:r>
                  <a:rPr lang="en-US" sz="1200" kern="1200" dirty="0" err="1" smtClean="0">
                    <a:solidFill>
                      <a:schemeClr val="tx1"/>
                    </a:solidFill>
                    <a:effectLst/>
                    <a:latin typeface="+mn-lt"/>
                    <a:ea typeface="+mn-ea"/>
                    <a:cs typeface="+mn-cs"/>
                  </a:rPr>
                  <a:t>ldots</a:t>
                </a:r>
                <a:r>
                  <a:rPr lang="en-US" sz="1200" kern="1200" dirty="0" smtClean="0">
                    <a:solidFill>
                      <a:schemeClr val="tx1"/>
                    </a:solidFill>
                    <a:effectLst/>
                    <a:latin typeface="+mn-lt"/>
                    <a:ea typeface="+mn-ea"/>
                    <a:cs typeface="+mn-cs"/>
                  </a:rPr>
                  <a:t>, n, \</a:t>
                </a:r>
                <a:r>
                  <a:rPr lang="en-US" sz="1200" kern="1200" dirty="0" err="1" smtClean="0">
                    <a:solidFill>
                      <a:schemeClr val="tx1"/>
                    </a:solidFill>
                    <a:effectLst/>
                    <a:latin typeface="+mn-lt"/>
                    <a:ea typeface="+mn-ea"/>
                    <a:cs typeface="+mn-cs"/>
                  </a:rPr>
                  <a:t>qquad</a:t>
                </a:r>
                <a:r>
                  <a:rPr lang="en-US" sz="1200" kern="1200" dirty="0" smtClean="0">
                    <a:solidFill>
                      <a:schemeClr val="tx1"/>
                    </a:solidFill>
                    <a:effectLst/>
                    <a:latin typeface="+mn-lt"/>
                    <a:ea typeface="+mn-ea"/>
                    <a:cs typeface="+mn-cs"/>
                  </a:rPr>
                  <a:t> \text{where} \quad M = K[R \quad t] = \begin{</a:t>
                </a:r>
                <a:r>
                  <a:rPr lang="en-US" sz="1200" kern="1200" dirty="0" err="1" smtClean="0">
                    <a:solidFill>
                      <a:schemeClr val="tx1"/>
                    </a:solidFill>
                    <a:effectLst/>
                    <a:latin typeface="+mn-lt"/>
                    <a:ea typeface="+mn-ea"/>
                    <a:cs typeface="+mn-cs"/>
                  </a:rPr>
                  <a:t>bmatrix</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m_1\\</a:t>
                </a:r>
              </a:p>
              <a:p>
                <a:r>
                  <a:rPr lang="en-US" sz="1200" kern="1200" dirty="0" smtClean="0">
                    <a:solidFill>
                      <a:schemeClr val="tx1"/>
                    </a:solidFill>
                    <a:effectLst/>
                    <a:latin typeface="+mn-lt"/>
                    <a:ea typeface="+mn-ea"/>
                    <a:cs typeface="+mn-cs"/>
                  </a:rPr>
                  <a:t>m_2\\</a:t>
                </a:r>
              </a:p>
              <a:p>
                <a:r>
                  <a:rPr lang="en-US" sz="1200" kern="1200" dirty="0" smtClean="0">
                    <a:solidFill>
                      <a:schemeClr val="tx1"/>
                    </a:solidFill>
                    <a:effectLst/>
                    <a:latin typeface="+mn-lt"/>
                    <a:ea typeface="+mn-ea"/>
                    <a:cs typeface="+mn-cs"/>
                  </a:rPr>
                  <a:t>m_3\end{</a:t>
                </a:r>
                <a:r>
                  <a:rPr lang="en-US" sz="1200" kern="1200" dirty="0" err="1" smtClean="0">
                    <a:solidFill>
                      <a:schemeClr val="tx1"/>
                    </a:solidFill>
                    <a:effectLst/>
                    <a:latin typeface="+mn-lt"/>
                    <a:ea typeface="+mn-ea"/>
                    <a:cs typeface="+mn-cs"/>
                  </a:rPr>
                  <a:t>bmatrix</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10"/>
          </p:nvPr>
        </p:nvSpPr>
        <p:spPr/>
        <p:txBody>
          <a:bodyPr/>
          <a:lstStyle/>
          <a:p>
            <a:fld id="{63B2D7EC-928D-0645-AAE8-498D7443D60E}" type="slidenum">
              <a:rPr lang="en-US" smtClean="0"/>
              <a:t>16</a:t>
            </a:fld>
            <a:endParaRPr lang="en-US"/>
          </a:p>
        </p:txBody>
      </p:sp>
    </p:spTree>
    <p:extLst>
      <p:ext uri="{BB962C8B-B14F-4D97-AF65-F5344CB8AC3E}">
        <p14:creationId xmlns:p14="http://schemas.microsoft.com/office/powerpoint/2010/main" val="611252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We can express these </a:t>
            </a:r>
            <a:r>
              <a:rPr lang="en-US" dirty="0" err="1"/>
              <a:t>contraints</a:t>
            </a:r>
            <a:r>
              <a:rPr lang="en-US" dirty="0"/>
              <a:t>  it in terms of a matrix equation of the form Pm = 0</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Note that m is a </a:t>
            </a:r>
            <a:r>
              <a:rPr lang="en-US" dirty="0" err="1"/>
              <a:t>vectorized</a:t>
            </a:r>
            <a:r>
              <a:rPr lang="en-US" dirty="0"/>
              <a:t> version of the 3x4 projection matrix, where each 4x1 block corresponds to a row in the original matrix.</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0 is always a solution. Furthermore, if m is a solution, then so is k m, where k is an arbitrary scaling factor. </a:t>
            </a: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 m =0, \</a:t>
            </a:r>
            <a:r>
              <a:rPr lang="en-US" sz="1200" kern="1200" dirty="0" err="1">
                <a:solidFill>
                  <a:schemeClr val="tx1"/>
                </a:solidFill>
                <a:effectLst/>
                <a:latin typeface="+mn-lt"/>
                <a:ea typeface="+mn-ea"/>
                <a:cs typeface="+mn-cs"/>
              </a:rPr>
              <a:t>qquad</a:t>
            </a:r>
            <a:r>
              <a:rPr lang="en-US" sz="1200" kern="1200" dirty="0">
                <a:solidFill>
                  <a:schemeClr val="tx1"/>
                </a:solidFill>
                <a:effectLst/>
                <a:latin typeface="+mn-lt"/>
                <a:ea typeface="+mn-ea"/>
                <a:cs typeface="+mn-cs"/>
              </a:rPr>
              <a:t> \text{where } m = \begin{</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}m_1^T\\m_2^T \\m_3^T \end{</a:t>
            </a:r>
            <a:r>
              <a:rPr lang="en-US" sz="1200" kern="1200" dirty="0" err="1">
                <a:solidFill>
                  <a:schemeClr val="tx1"/>
                </a:solidFill>
                <a:effectLst/>
                <a:latin typeface="+mn-lt"/>
                <a:ea typeface="+mn-ea"/>
                <a:cs typeface="+mn-cs"/>
              </a:rPr>
              <a:t>bmatrix</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17</a:t>
            </a:fld>
            <a:endParaRPr lang="en-US"/>
          </a:p>
        </p:txBody>
      </p:sp>
    </p:spTree>
    <p:extLst>
      <p:ext uri="{BB962C8B-B14F-4D97-AF65-F5344CB8AC3E}">
        <p14:creationId xmlns:p14="http://schemas.microsoft.com/office/powerpoint/2010/main" val="1459511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When 2n&gt;11, the homogeneous linear system is overdetermined. </a:t>
            </a:r>
          </a:p>
          <a:p>
            <a:pPr marL="171450" indent="-171450">
              <a:buFont typeface="Arial" charset="0"/>
              <a:buChar char="•"/>
            </a:pPr>
            <a:r>
              <a:rPr lang="en-US" dirty="0"/>
              <a:t>0 is always a solution. Furthermore, if m is a solution, then so is k m, where k is an arbitrary scaling factor. </a:t>
            </a:r>
          </a:p>
          <a:p>
            <a:pPr marL="171450" indent="-171450">
              <a:buFont typeface="Arial" charset="0"/>
              <a:buChar char="•"/>
            </a:pPr>
            <a:r>
              <a:rPr lang="en-US" sz="1200" kern="1200" dirty="0">
                <a:solidFill>
                  <a:schemeClr val="tx1"/>
                </a:solidFill>
                <a:effectLst/>
                <a:latin typeface="+mn-lt"/>
                <a:ea typeface="+mn-ea"/>
                <a:cs typeface="+mn-cs"/>
              </a:rPr>
              <a:t> Here we are interested in finding a non-zero vector in the </a:t>
            </a:r>
            <a:r>
              <a:rPr lang="en-US" sz="1200" kern="1200" dirty="0" err="1">
                <a:solidFill>
                  <a:schemeClr val="tx1"/>
                </a:solidFill>
                <a:effectLst/>
                <a:latin typeface="+mn-lt"/>
                <a:ea typeface="+mn-ea"/>
                <a:cs typeface="+mn-cs"/>
              </a:rPr>
              <a:t>nullspace</a:t>
            </a:r>
            <a:r>
              <a:rPr lang="en-US" sz="1200" kern="1200" dirty="0">
                <a:solidFill>
                  <a:schemeClr val="tx1"/>
                </a:solidFill>
                <a:effectLst/>
                <a:latin typeface="+mn-lt"/>
                <a:ea typeface="+mn-ea"/>
                <a:cs typeface="+mn-cs"/>
              </a:rPr>
              <a:t> of M . Since the scale is arbitrary we can add</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constraint kvk2 = 1  In most cases the system </a:t>
            </a:r>
            <a:r>
              <a:rPr lang="en-US" sz="1200" kern="1200" dirty="0" err="1">
                <a:solidFill>
                  <a:schemeClr val="tx1"/>
                </a:solidFill>
                <a:effectLst/>
                <a:latin typeface="+mn-lt"/>
                <a:ea typeface="+mn-ea"/>
                <a:cs typeface="+mn-cs"/>
              </a:rPr>
              <a:t>Mv</a:t>
            </a:r>
            <a:r>
              <a:rPr lang="en-US" sz="1200" kern="1200" dirty="0">
                <a:solidFill>
                  <a:schemeClr val="tx1"/>
                </a:solidFill>
                <a:effectLst/>
                <a:latin typeface="+mn-lt"/>
                <a:ea typeface="+mn-ea"/>
                <a:cs typeface="+mn-cs"/>
              </a:rPr>
              <a:t> = 0  will not have any exact solution due to noise in the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measurements. Therefore we will search for a solution to [</a:t>
            </a:r>
            <a:r>
              <a:rPr lang="is-IS"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endParaRPr lang="en-US" dirty="0"/>
          </a:p>
          <a:p>
            <a:pPr marL="171450" indent="-171450">
              <a:buFont typeface="Arial" charset="0"/>
              <a:buChar char="•"/>
            </a:pPr>
            <a:r>
              <a:rPr lang="en-US" dirty="0"/>
              <a:t>Therefore, to constrain our optimization, we minimize |P m|2 subject to the constraint that |m|2 = 1 </a:t>
            </a:r>
            <a:endParaRPr lang="en-US" sz="1200" kern="1200" dirty="0">
              <a:solidFill>
                <a:schemeClr val="tx1"/>
              </a:solidFill>
              <a:effectLst/>
              <a:latin typeface="+mn-lt"/>
              <a:ea typeface="+mn-ea"/>
              <a:cs typeface="+mn-cs"/>
            </a:endParaRPr>
          </a:p>
          <a:p>
            <a:pPr marL="171450" indent="-171450">
              <a:buFont typeface="Arial" charset="0"/>
              <a:buChar char="•"/>
            </a:pPr>
            <a:r>
              <a:rPr lang="en-US" dirty="0"/>
              <a:t>We can obtain the least-squares solution for m by factorizing P to UDVT using SVD and then taking the last column of V.</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\underset{m\in R^{12}}{\text{min}} \quad &amp; \| \tilde P m\|^2\\</a:t>
            </a:r>
          </a:p>
          <a:p>
            <a:r>
              <a:rPr lang="en-US" sz="1200" kern="1200" dirty="0">
                <a:solidFill>
                  <a:schemeClr val="tx1"/>
                </a:solidFill>
                <a:effectLst/>
                <a:latin typeface="+mn-lt"/>
                <a:ea typeface="+mn-ea"/>
                <a:cs typeface="+mn-cs"/>
              </a:rPr>
              <a:t>\text{subject to}\quad &amp; \| m\|^2 = 1</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18</a:t>
            </a:fld>
            <a:endParaRPr lang="en-US"/>
          </a:p>
        </p:txBody>
      </p:sp>
    </p:spTree>
    <p:extLst>
      <p:ext uri="{BB962C8B-B14F-4D97-AF65-F5344CB8AC3E}">
        <p14:creationId xmlns:p14="http://schemas.microsoft.com/office/powerpoint/2010/main" val="671790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dirty="0"/>
              <a:t>Once we have estimated the combined parameters in m, the next step is to extract the actual </a:t>
            </a:r>
            <a:r>
              <a:rPr lang="en-US" dirty="0" err="1"/>
              <a:t>intrinsics</a:t>
            </a:r>
            <a:r>
              <a:rPr lang="en-US" dirty="0"/>
              <a:t> and </a:t>
            </a:r>
            <a:r>
              <a:rPr lang="en-US" dirty="0" err="1"/>
              <a:t>extrinsics</a:t>
            </a:r>
            <a:r>
              <a:rPr lang="en-US" dirty="0"/>
              <a:t> from it.</a:t>
            </a:r>
          </a:p>
          <a:p>
            <a:pPr marL="171450" indent="-171450">
              <a:buFont typeface="Arial" charset="0"/>
              <a:buChar char="•"/>
            </a:pPr>
            <a:r>
              <a:rPr lang="en-US" sz="1200" kern="1200" dirty="0">
                <a:solidFill>
                  <a:schemeClr val="tx1"/>
                </a:solidFill>
                <a:effectLst/>
                <a:latin typeface="+mn-lt"/>
                <a:ea typeface="+mn-ea"/>
                <a:cs typeface="+mn-cs"/>
              </a:rPr>
              <a:t> If A  is an n  n  matrix then there is an orthogonal matrix Q  and a right triangular matrix R  such that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 RQ:</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dirty="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\tilde P = [KR\quad </a:t>
            </a:r>
            <a:r>
              <a:rPr lang="en-US" sz="1200" kern="1200" dirty="0" err="1">
                <a:solidFill>
                  <a:schemeClr val="tx1"/>
                </a:solidFill>
                <a:effectLst/>
                <a:latin typeface="+mn-lt"/>
                <a:ea typeface="+mn-ea"/>
                <a:cs typeface="+mn-cs"/>
              </a:rPr>
              <a:t>Kt</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19</a:t>
            </a:fld>
            <a:endParaRPr lang="en-US"/>
          </a:p>
        </p:txBody>
      </p:sp>
    </p:spTree>
    <p:extLst>
      <p:ext uri="{BB962C8B-B14F-4D97-AF65-F5344CB8AC3E}">
        <p14:creationId xmlns:p14="http://schemas.microsoft.com/office/powerpoint/2010/main" val="1295643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it is in general not possible to recover the structure of the 3D world  from just one image. This is due to the intrinsic ambiguity of the 3D to 2D mapping. </a:t>
            </a:r>
          </a:p>
          <a:p>
            <a:pPr marL="171450" indent="-171450">
              <a:buFont typeface="Arial" charset="0"/>
              <a:buChar char="•"/>
            </a:pPr>
            <a:r>
              <a:rPr lang="en-US" dirty="0"/>
              <a:t>Any point along the ray from the camera center O to a point p in the image (line of sight) is a possible candidate for the actual 3D point P. </a:t>
            </a:r>
          </a:p>
        </p:txBody>
      </p:sp>
      <p:sp>
        <p:nvSpPr>
          <p:cNvPr id="4" name="Slide Number Placeholder 3"/>
          <p:cNvSpPr>
            <a:spLocks noGrp="1"/>
          </p:cNvSpPr>
          <p:nvPr>
            <p:ph type="sldNum" sz="quarter" idx="10"/>
          </p:nvPr>
        </p:nvSpPr>
        <p:spPr/>
        <p:txBody>
          <a:bodyPr/>
          <a:lstStyle/>
          <a:p>
            <a:fld id="{63B2D7EC-928D-0645-AAE8-498D7443D60E}" type="slidenum">
              <a:rPr lang="en-US" smtClean="0"/>
              <a:t>20</a:t>
            </a:fld>
            <a:endParaRPr lang="en-US"/>
          </a:p>
        </p:txBody>
      </p:sp>
    </p:spTree>
    <p:extLst>
      <p:ext uri="{BB962C8B-B14F-4D97-AF65-F5344CB8AC3E}">
        <p14:creationId xmlns:p14="http://schemas.microsoft.com/office/powerpoint/2010/main" val="2000032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As we can see in this image, it is easy to fool our eyes. The </a:t>
            </a:r>
            <a:r>
              <a:rPr lang="en-US" dirty="0" err="1"/>
              <a:t>pisa</a:t>
            </a:r>
            <a:r>
              <a:rPr lang="en-US" dirty="0"/>
              <a:t> tower here is much further that the shoe of this person even if it looks like this person is kicking the tower! </a:t>
            </a:r>
          </a:p>
          <a:p>
            <a:pPr marL="171450" indent="-171450">
              <a:buFont typeface="Arial" charset="0"/>
              <a:buChar char="•"/>
            </a:pPr>
            <a:r>
              <a:rPr lang="en-US" dirty="0"/>
              <a:t>By careful inspection we could actually use the ground plane and the location of the object’s base as cues, and can figure out that the tower is actually in the background and that the person is in the foreground.</a:t>
            </a:r>
          </a:p>
          <a:p>
            <a:pPr marL="171450" indent="-171450">
              <a:buFont typeface="Arial" charset="0"/>
              <a:buChar char="•"/>
            </a:pPr>
            <a:r>
              <a:rPr lang="en-US" dirty="0"/>
              <a:t> If we use two eyes, or move our head a little bit, this illusion immediately disappears and we can perfectly figure out the correct scene layout. </a:t>
            </a:r>
          </a:p>
        </p:txBody>
      </p:sp>
      <p:sp>
        <p:nvSpPr>
          <p:cNvPr id="4" name="Slide Number Placeholder 3"/>
          <p:cNvSpPr>
            <a:spLocks noGrp="1"/>
          </p:cNvSpPr>
          <p:nvPr>
            <p:ph type="sldNum" sz="quarter" idx="10"/>
          </p:nvPr>
        </p:nvSpPr>
        <p:spPr/>
        <p:txBody>
          <a:bodyPr/>
          <a:lstStyle/>
          <a:p>
            <a:fld id="{63B2D7EC-928D-0645-AAE8-498D7443D60E}" type="slidenum">
              <a:rPr lang="en-US" smtClean="0"/>
              <a:t>21</a:t>
            </a:fld>
            <a:endParaRPr lang="en-US"/>
          </a:p>
        </p:txBody>
      </p:sp>
    </p:spTree>
    <p:extLst>
      <p:ext uri="{BB962C8B-B14F-4D97-AF65-F5344CB8AC3E}">
        <p14:creationId xmlns:p14="http://schemas.microsoft.com/office/powerpoint/2010/main" val="758205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Four methods are possible</a:t>
            </a:r>
          </a:p>
        </p:txBody>
      </p:sp>
      <p:sp>
        <p:nvSpPr>
          <p:cNvPr id="4" name="Slide Number Placeholder 3"/>
          <p:cNvSpPr>
            <a:spLocks noGrp="1"/>
          </p:cNvSpPr>
          <p:nvPr>
            <p:ph type="sldNum" sz="quarter" idx="10"/>
          </p:nvPr>
        </p:nvSpPr>
        <p:spPr/>
        <p:txBody>
          <a:bodyPr/>
          <a:lstStyle/>
          <a:p>
            <a:fld id="{63B2D7EC-928D-0645-AAE8-498D7443D60E}" type="slidenum">
              <a:rPr lang="en-US" smtClean="0"/>
              <a:t>22</a:t>
            </a:fld>
            <a:endParaRPr lang="en-US"/>
          </a:p>
        </p:txBody>
      </p:sp>
    </p:spTree>
    <p:extLst>
      <p:ext uri="{BB962C8B-B14F-4D97-AF65-F5344CB8AC3E}">
        <p14:creationId xmlns:p14="http://schemas.microsoft.com/office/powerpoint/2010/main" val="3452715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What if</a:t>
            </a:r>
            <a:r>
              <a:rPr lang="en-US" baseline="0" dirty="0"/>
              <a:t> </a:t>
            </a:r>
            <a:r>
              <a:rPr lang="en-US" dirty="0"/>
              <a:t>there are two cameras observing the object? </a:t>
            </a:r>
          </a:p>
          <a:p>
            <a:pPr marL="171450" indent="-171450">
              <a:buFont typeface="Arial" charset="0"/>
              <a:buChar char="•"/>
            </a:pPr>
            <a:r>
              <a:rPr lang="en-US" sz="1200" kern="1200" dirty="0">
                <a:solidFill>
                  <a:schemeClr val="tx1"/>
                </a:solidFill>
                <a:effectLst/>
                <a:latin typeface="+mn-lt"/>
                <a:ea typeface="+mn-ea"/>
                <a:cs typeface="+mn-cs"/>
              </a:rPr>
              <a:t>Fusing the pictures recorded by our two eyes and exploiting the difference (or disparity) between them allows us to gain a strong sense of depth. </a:t>
            </a:r>
          </a:p>
          <a:p>
            <a:pPr marL="171450" indent="-171450">
              <a:buFont typeface="Arial" charset="0"/>
              <a:buChar char="•"/>
            </a:pPr>
            <a:r>
              <a:rPr lang="en-US" sz="1200" kern="1200" dirty="0">
                <a:solidFill>
                  <a:schemeClr val="tx1"/>
                </a:solidFill>
                <a:effectLst/>
                <a:latin typeface="+mn-lt"/>
                <a:ea typeface="+mn-ea"/>
                <a:cs typeface="+mn-cs"/>
              </a:rPr>
              <a:t>We now focus</a:t>
            </a:r>
            <a:r>
              <a:rPr lang="en-US" sz="1200" kern="1200" baseline="0" dirty="0">
                <a:solidFill>
                  <a:schemeClr val="tx1"/>
                </a:solidFill>
                <a:effectLst/>
                <a:latin typeface="+mn-lt"/>
                <a:ea typeface="+mn-ea"/>
                <a:cs typeface="+mn-cs"/>
              </a:rPr>
              <a:t> on </a:t>
            </a:r>
            <a:r>
              <a:rPr lang="en-US" sz="1200" kern="1200" dirty="0">
                <a:solidFill>
                  <a:schemeClr val="tx1"/>
                </a:solidFill>
                <a:effectLst/>
                <a:latin typeface="+mn-lt"/>
                <a:ea typeface="+mn-ea"/>
                <a:cs typeface="+mn-cs"/>
              </a:rPr>
              <a:t>the design and implementation of algorithms that mimic our ability</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to perform this task, known as stereopsis .</a:t>
            </a:r>
          </a:p>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23</a:t>
            </a:fld>
            <a:endParaRPr lang="en-US"/>
          </a:p>
        </p:txBody>
      </p:sp>
    </p:spTree>
    <p:extLst>
      <p:ext uri="{BB962C8B-B14F-4D97-AF65-F5344CB8AC3E}">
        <p14:creationId xmlns:p14="http://schemas.microsoft.com/office/powerpoint/2010/main" val="686657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Here’s how having two eyes (or alternately, cameras) help. Suppose we have two cameras with known camera intrinsic parameters K and K’, respectively, and known relative locations and orientations (i.e., we know the transformations R and T that relate the two camera reference systems). </a:t>
            </a:r>
          </a:p>
          <a:p>
            <a:pPr marL="171450" indent="-171450">
              <a:buFont typeface="Arial" charset="0"/>
              <a:buChar char="•"/>
            </a:pPr>
            <a:r>
              <a:rPr lang="en-US" dirty="0"/>
              <a:t>Suppose we have a point P in 3D. Let p and p’ be the observations of P in the images of camera 1 and 2, respectively. </a:t>
            </a:r>
          </a:p>
          <a:p>
            <a:pPr marL="171450" indent="-171450">
              <a:buFont typeface="Arial" charset="0"/>
              <a:buChar char="•"/>
            </a:pPr>
            <a:r>
              <a:rPr lang="en-US" dirty="0"/>
              <a:t>The location of P is unknown in the 3D space, but we can measure the locations of p and p’ in each image. Because K, K’, R and T are known, we can compute the two lines of sight l and l’ which are defined by O and p, and O’ and p’, respectively. </a:t>
            </a:r>
          </a:p>
          <a:p>
            <a:pPr marL="171450" indent="-171450">
              <a:buFont typeface="Arial" charset="0"/>
              <a:buChar char="•"/>
            </a:pPr>
            <a:r>
              <a:rPr lang="en-US" dirty="0"/>
              <a:t>Thus, P can be computed as the intersection point between l and l’. </a:t>
            </a:r>
          </a:p>
          <a:p>
            <a:pPr marL="171450" indent="-171450">
              <a:buFont typeface="Arial" charset="0"/>
              <a:buChar char="•"/>
            </a:pPr>
            <a:r>
              <a:rPr lang="en-US" dirty="0"/>
              <a:t>This process is known as Triangulation. </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\begin{cases}</a:t>
            </a:r>
          </a:p>
          <a:p>
            <a:r>
              <a:rPr lang="en-US" sz="1200" kern="1200" dirty="0" err="1">
                <a:solidFill>
                  <a:schemeClr val="tx1"/>
                </a:solidFill>
                <a:effectLst/>
                <a:latin typeface="+mn-lt"/>
                <a:ea typeface="+mn-ea"/>
                <a:cs typeface="+mn-cs"/>
              </a:rPr>
              <a:t>p^h</a:t>
            </a:r>
            <a:r>
              <a:rPr lang="en-US" sz="1200" kern="1200" dirty="0">
                <a:solidFill>
                  <a:schemeClr val="tx1"/>
                </a:solidFill>
                <a:effectLst/>
                <a:latin typeface="+mn-lt"/>
                <a:ea typeface="+mn-ea"/>
                <a:cs typeface="+mn-cs"/>
              </a:rPr>
              <a:t> \times M \, </a:t>
            </a:r>
            <a:r>
              <a:rPr lang="en-US" sz="1200" kern="1200" dirty="0" err="1">
                <a:solidFill>
                  <a:schemeClr val="tx1"/>
                </a:solidFill>
                <a:effectLst/>
                <a:latin typeface="+mn-lt"/>
                <a:ea typeface="+mn-ea"/>
                <a:cs typeface="+mn-cs"/>
              </a:rPr>
              <a:t>P^h</a:t>
            </a:r>
            <a:r>
              <a:rPr lang="en-US" sz="1200" kern="1200" dirty="0">
                <a:solidFill>
                  <a:schemeClr val="tx1"/>
                </a:solidFill>
                <a:effectLst/>
                <a:latin typeface="+mn-lt"/>
                <a:ea typeface="+mn-ea"/>
                <a:cs typeface="+mn-cs"/>
              </a:rPr>
              <a:t> = 0\\</a:t>
            </a:r>
          </a:p>
          <a:p>
            <a:r>
              <a:rPr lang="en-US" sz="1200" kern="1200" dirty="0">
                <a:solidFill>
                  <a:schemeClr val="tx1"/>
                </a:solidFill>
                <a:effectLst/>
                <a:latin typeface="+mn-lt"/>
                <a:ea typeface="+mn-ea"/>
                <a:cs typeface="+mn-cs"/>
              </a:rPr>
              <a:t>p^{h,\prime} \times M \, P^{h,\prime} = 0</a:t>
            </a:r>
          </a:p>
          <a:p>
            <a:r>
              <a:rPr lang="en-US" sz="1200" kern="1200" dirty="0">
                <a:solidFill>
                  <a:schemeClr val="tx1"/>
                </a:solidFill>
                <a:effectLst/>
                <a:latin typeface="+mn-lt"/>
                <a:ea typeface="+mn-ea"/>
                <a:cs typeface="+mn-cs"/>
              </a:rPr>
              <a:t>\end{cases}</a:t>
            </a:r>
          </a:p>
          <a:p>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24</a:t>
            </a:fld>
            <a:endParaRPr lang="en-US"/>
          </a:p>
        </p:txBody>
      </p:sp>
    </p:spTree>
    <p:extLst>
      <p:ext uri="{BB962C8B-B14F-4D97-AF65-F5344CB8AC3E}">
        <p14:creationId xmlns:p14="http://schemas.microsoft.com/office/powerpoint/2010/main" val="653877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dirty="0"/>
              <a:t>In practice, because the observations p and p’ are noisy and the camera calibration parameters may not be accurately estimated, finding the intersection point P  may be problematic (in fact, the exact intersection point may not exist at all). </a:t>
            </a:r>
          </a:p>
          <a:p>
            <a:pPr marL="171450" indent="-171450">
              <a:buFont typeface="Arial" charset="0"/>
              <a:buChar char="•"/>
            </a:pPr>
            <a:r>
              <a:rPr lang="en-US" dirty="0"/>
              <a:t>Thus, the triangulation problem is often mathematically characterized by solving the minimization problem where we optimize the </a:t>
            </a:r>
            <a:r>
              <a:rPr lang="en-US" i="1" dirty="0"/>
              <a:t>reprojection error</a:t>
            </a:r>
            <a:r>
              <a:rPr lang="en-US" dirty="0"/>
              <a:t>, that is</a:t>
            </a:r>
          </a:p>
          <a:p>
            <a:pPr marL="171450" indent="-171450">
              <a:buFont typeface="Arial" charset="0"/>
              <a:buChar char="•"/>
            </a:pPr>
            <a:r>
              <a:rPr lang="en-US" dirty="0"/>
              <a:t>we seek to find a point Q in 3D that best approximates P by minimizing the re-projection error of Q in both images. </a:t>
            </a:r>
          </a:p>
          <a:p>
            <a:endParaRPr lang="en-US" dirty="0"/>
          </a:p>
          <a:p>
            <a:r>
              <a:rPr lang="en-US" dirty="0"/>
              <a:t>d^2(</a:t>
            </a:r>
            <a:r>
              <a:rPr lang="en-US" dirty="0" err="1"/>
              <a:t>p,q</a:t>
            </a:r>
            <a:r>
              <a:rPr lang="en-US" dirty="0"/>
              <a:t>) + d^2(p^{\prime}, q^{\prime})</a:t>
            </a:r>
          </a:p>
        </p:txBody>
      </p:sp>
      <p:sp>
        <p:nvSpPr>
          <p:cNvPr id="4" name="Slide Number Placeholder 3"/>
          <p:cNvSpPr>
            <a:spLocks noGrp="1"/>
          </p:cNvSpPr>
          <p:nvPr>
            <p:ph type="sldNum" sz="quarter" idx="10"/>
          </p:nvPr>
        </p:nvSpPr>
        <p:spPr/>
        <p:txBody>
          <a:bodyPr/>
          <a:lstStyle/>
          <a:p>
            <a:fld id="{63B2D7EC-928D-0645-AAE8-498D7443D60E}" type="slidenum">
              <a:rPr lang="en-US" smtClean="0"/>
              <a:t>25</a:t>
            </a:fld>
            <a:endParaRPr lang="en-US"/>
          </a:p>
        </p:txBody>
      </p:sp>
    </p:spTree>
    <p:extLst>
      <p:ext uri="{BB962C8B-B14F-4D97-AF65-F5344CB8AC3E}">
        <p14:creationId xmlns:p14="http://schemas.microsoft.com/office/powerpoint/2010/main" val="23208481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from motion (</a:t>
            </a:r>
            <a:r>
              <a:rPr lang="en-US" dirty="0" err="1"/>
              <a:t>SfM</a:t>
            </a:r>
            <a:r>
              <a:rPr lang="en-US" dirty="0"/>
              <a:t>) is a photogrammetric range imaging technique for estimating three-dimensional structures from two-dimensional image sequences that may be coupled with local motion signals. </a:t>
            </a:r>
          </a:p>
          <a:p>
            <a:endParaRPr lang="en-US" dirty="0"/>
          </a:p>
          <a:p>
            <a:r>
              <a:rPr lang="en-US" dirty="0"/>
              <a:t>Optical flow or optic flow is the pattern of apparent motion of objects, surfaces, and edges in a visual scene caused by the relative motion between an observer and a scene</a:t>
            </a:r>
          </a:p>
        </p:txBody>
      </p:sp>
      <p:sp>
        <p:nvSpPr>
          <p:cNvPr id="4" name="Slide Number Placeholder 3"/>
          <p:cNvSpPr>
            <a:spLocks noGrp="1"/>
          </p:cNvSpPr>
          <p:nvPr>
            <p:ph type="sldNum" sz="quarter" idx="10"/>
          </p:nvPr>
        </p:nvSpPr>
        <p:spPr/>
        <p:txBody>
          <a:bodyPr/>
          <a:lstStyle/>
          <a:p>
            <a:fld id="{63B2D7EC-928D-0645-AAE8-498D7443D60E}" type="slidenum">
              <a:rPr lang="en-US" smtClean="0"/>
              <a:t>26</a:t>
            </a:fld>
            <a:endParaRPr lang="en-US"/>
          </a:p>
        </p:txBody>
      </p:sp>
    </p:spTree>
    <p:extLst>
      <p:ext uri="{BB962C8B-B14F-4D97-AF65-F5344CB8AC3E}">
        <p14:creationId xmlns:p14="http://schemas.microsoft.com/office/powerpoint/2010/main" val="923606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6E59AD-1965-0B4F-BBAC-611B690A4A50}" type="datetime1">
              <a:rPr lang="en-US" smtClean="0"/>
              <a:t>12/20/2025</a:t>
            </a:fld>
            <a:endParaRPr lang="en-US" dirty="0"/>
          </a:p>
        </p:txBody>
      </p:sp>
      <p:sp>
        <p:nvSpPr>
          <p:cNvPr id="5" name="Footer Placeholder 4"/>
          <p:cNvSpPr>
            <a:spLocks noGrp="1"/>
          </p:cNvSpPr>
          <p:nvPr>
            <p:ph type="ftr" sz="quarter" idx="11"/>
          </p:nvPr>
        </p:nvSpPr>
        <p:spPr/>
        <p:txBody>
          <a:bodyPr/>
          <a:lstStyle/>
          <a:p>
            <a:r>
              <a:rPr lang="hr-HR"/>
              <a:t>AA 174A | Lecture 10</a:t>
            </a:r>
            <a:endParaRPr lang="en-US" dirty="0"/>
          </a:p>
        </p:txBody>
      </p:sp>
      <p:sp>
        <p:nvSpPr>
          <p:cNvPr id="6" name="Slide Number Placeholder 5"/>
          <p:cNvSpPr>
            <a:spLocks noGrp="1"/>
          </p:cNvSpPr>
          <p:nvPr>
            <p:ph type="sldNum" sz="quarter" idx="12"/>
          </p:nvPr>
        </p:nvSpPr>
        <p:spPr/>
        <p:txBody>
          <a:bodyPr/>
          <a:lstStyle/>
          <a:p>
            <a:fld id="{8AA1F273-EF2F-3941-BBF8-D365CB27DD6A}" type="slidenum">
              <a:rPr lang="en-US" smtClean="0"/>
              <a:t>‹#›</a:t>
            </a:fld>
            <a:endParaRPr lang="en-US" dirty="0"/>
          </a:p>
        </p:txBody>
      </p:sp>
      <p:sp>
        <p:nvSpPr>
          <p:cNvPr id="7" name="Rectangle 6"/>
          <p:cNvSpPr/>
          <p:nvPr userDrawn="1"/>
        </p:nvSpPr>
        <p:spPr>
          <a:xfrm>
            <a:off x="0" y="0"/>
            <a:ext cx="12192000" cy="274320"/>
          </a:xfrm>
          <a:prstGeom prst="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9013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542090"/>
            <a:ext cx="2743200" cy="365125"/>
          </a:xfrm>
        </p:spPr>
        <p:txBody>
          <a:bodyPr/>
          <a:lstStyle/>
          <a:p>
            <a:fld id="{4F1A43F1-81BF-1D4E-8918-631ADEAFD7A0}" type="datetime1">
              <a:rPr lang="en-US" smtClean="0"/>
              <a:t>12/20/2025</a:t>
            </a:fld>
            <a:endParaRPr lang="en-US"/>
          </a:p>
        </p:txBody>
      </p:sp>
      <p:sp>
        <p:nvSpPr>
          <p:cNvPr id="5" name="Footer Placeholder 4"/>
          <p:cNvSpPr>
            <a:spLocks noGrp="1"/>
          </p:cNvSpPr>
          <p:nvPr>
            <p:ph type="ftr" sz="quarter" idx="11"/>
          </p:nvPr>
        </p:nvSpPr>
        <p:spPr>
          <a:xfrm>
            <a:off x="4038600" y="6542090"/>
            <a:ext cx="4114800" cy="365125"/>
          </a:xfrm>
        </p:spPr>
        <p:txBody>
          <a:bodyPr/>
          <a:lstStyle/>
          <a:p>
            <a:r>
              <a:rPr lang="hr-HR"/>
              <a:t>AA 174A | Lecture 10</a:t>
            </a:r>
            <a:endParaRPr lang="en-US" dirty="0"/>
          </a:p>
        </p:txBody>
      </p:sp>
      <p:sp>
        <p:nvSpPr>
          <p:cNvPr id="6" name="Slide Number Placeholder 5"/>
          <p:cNvSpPr>
            <a:spLocks noGrp="1"/>
          </p:cNvSpPr>
          <p:nvPr>
            <p:ph type="sldNum" sz="quarter" idx="12"/>
          </p:nvPr>
        </p:nvSpPr>
        <p:spPr>
          <a:xfrm>
            <a:off x="8610600" y="6542090"/>
            <a:ext cx="2743200" cy="365125"/>
          </a:xfrm>
        </p:spPr>
        <p:txBody>
          <a:bodyPr/>
          <a:lstStyle/>
          <a:p>
            <a:fld id="{8AA1F273-EF2F-3941-BBF8-D365CB27DD6A}" type="slidenum">
              <a:rPr lang="en-US" smtClean="0"/>
              <a:t>‹#›</a:t>
            </a:fld>
            <a:endParaRPr lang="en-US"/>
          </a:p>
        </p:txBody>
      </p:sp>
      <p:sp>
        <p:nvSpPr>
          <p:cNvPr id="7" name="Rectangle 6"/>
          <p:cNvSpPr/>
          <p:nvPr userDrawn="1"/>
        </p:nvSpPr>
        <p:spPr>
          <a:xfrm>
            <a:off x="0" y="0"/>
            <a:ext cx="12192000" cy="274320"/>
          </a:xfrm>
          <a:prstGeom prst="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598045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4EF09A-6CCF-1F4C-8785-E3CA2FE17814}" type="datetime1">
              <a:rPr lang="en-US" smtClean="0"/>
              <a:t>12/20/2025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r-HR"/>
              <a:t>AA 174A | Lecture 10</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1F273-EF2F-3941-BBF8-D365CB27DD6A}" type="slidenum">
              <a:rPr lang="en-US" smtClean="0"/>
              <a:t>‹#›</a:t>
            </a:fld>
            <a:endParaRPr lang="en-US"/>
          </a:p>
        </p:txBody>
      </p:sp>
    </p:spTree>
    <p:extLst>
      <p:ext uri="{BB962C8B-B14F-4D97-AF65-F5344CB8AC3E}">
        <p14:creationId xmlns:p14="http://schemas.microsoft.com/office/powerpoint/2010/main" val="1371964118"/>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3.png"/><Relationship Id="rId7"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4.tiff"/></Relationships>
</file>

<file path=ppt/slides/_rels/slide5.xml.rels><?xml version="1.0" encoding="UTF-8" standalone="yes"?>
<Relationships xmlns="http://schemas.openxmlformats.org/package/2006/relationships"><Relationship Id="rId8" Type="http://schemas.openxmlformats.org/officeDocument/2006/relationships/image" Target="../media/image9.tiff"/><Relationship Id="rId3" Type="http://schemas.openxmlformats.org/officeDocument/2006/relationships/image" Target="../media/image64.png"/><Relationship Id="rId7" Type="http://schemas.openxmlformats.org/officeDocument/2006/relationships/image" Target="../media/image8.tif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tiff"/><Relationship Id="rId5" Type="http://schemas.openxmlformats.org/officeDocument/2006/relationships/image" Target="../media/image3.png"/><Relationship Id="rId4" Type="http://schemas.openxmlformats.org/officeDocument/2006/relationships/image" Target="../media/image7.tiff"/><Relationship Id="rId9" Type="http://schemas.openxmlformats.org/officeDocument/2006/relationships/image" Target="../media/image6.tiff"/></Relationships>
</file>

<file path=ppt/slides/_rels/slide6.xml.rels><?xml version="1.0" encoding="UTF-8" standalone="yes"?>
<Relationships xmlns="http://schemas.openxmlformats.org/package/2006/relationships"><Relationship Id="rId8" Type="http://schemas.openxmlformats.org/officeDocument/2006/relationships/image" Target="../media/image11.tiff"/><Relationship Id="rId3" Type="http://schemas.openxmlformats.org/officeDocument/2006/relationships/image" Target="../media/image3.png"/><Relationship Id="rId7" Type="http://schemas.openxmlformats.org/officeDocument/2006/relationships/image" Target="../media/image10.tif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tiff"/><Relationship Id="rId11" Type="http://schemas.openxmlformats.org/officeDocument/2006/relationships/image" Target="../media/image6.tiff"/><Relationship Id="rId5" Type="http://schemas.openxmlformats.org/officeDocument/2006/relationships/image" Target="../media/image8.tiff"/><Relationship Id="rId10" Type="http://schemas.openxmlformats.org/officeDocument/2006/relationships/image" Target="../media/image13.emf"/><Relationship Id="rId4" Type="http://schemas.openxmlformats.org/officeDocument/2006/relationships/image" Target="../media/image4.tiff"/><Relationship Id="rId9" Type="http://schemas.openxmlformats.org/officeDocument/2006/relationships/image" Target="../media/image12.tiff"/></Relationships>
</file>

<file path=ppt/slides/_rels/slide7.xml.rels><?xml version="1.0" encoding="UTF-8" standalone="yes"?>
<Relationships xmlns="http://schemas.openxmlformats.org/package/2006/relationships"><Relationship Id="rId8" Type="http://schemas.openxmlformats.org/officeDocument/2006/relationships/image" Target="../media/image18.tiff"/><Relationship Id="rId3" Type="http://schemas.openxmlformats.org/officeDocument/2006/relationships/image" Target="../media/image72.png"/><Relationship Id="rId7" Type="http://schemas.openxmlformats.org/officeDocument/2006/relationships/image" Target="../media/image17.tif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tiff"/><Relationship Id="rId5" Type="http://schemas.openxmlformats.org/officeDocument/2006/relationships/image" Target="../media/image15.tiff"/><Relationship Id="rId10" Type="http://schemas.openxmlformats.org/officeDocument/2006/relationships/image" Target="../media/image20.tiff"/><Relationship Id="rId4" Type="http://schemas.openxmlformats.org/officeDocument/2006/relationships/image" Target="../media/image14.tiff"/><Relationship Id="rId9" Type="http://schemas.openxmlformats.org/officeDocument/2006/relationships/image" Target="../media/image19.tiff"/></Relationships>
</file>

<file path=ppt/slides/_rels/slide8.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tiff"/></Relationships>
</file>

<file path=ppt/slides/_rels/slide9.xml.rels><?xml version="1.0" encoding="UTF-8" standalone="yes"?>
<Relationships xmlns="http://schemas.openxmlformats.org/package/2006/relationships"><Relationship Id="rId3" Type="http://schemas.openxmlformats.org/officeDocument/2006/relationships/image" Target="../media/image23.tiff"/><Relationship Id="rId7" Type="http://schemas.openxmlformats.org/officeDocument/2006/relationships/image" Target="../media/image8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83.png"/></Relationships>
</file>

<file path=ppt/slides/_rels/slide1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tif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tiff"/><Relationship Id="rId5" Type="http://schemas.openxmlformats.org/officeDocument/2006/relationships/image" Target="../media/image5.emf"/><Relationship Id="rId4" Type="http://schemas.openxmlformats.org/officeDocument/2006/relationships/image" Target="../media/image4.tiff"/></Relationships>
</file>

<file path=ppt/slides/_rels/slide12.xml.rels><?xml version="1.0" encoding="UTF-8" standalone="yes"?>
<Relationships xmlns="http://schemas.openxmlformats.org/package/2006/relationships"><Relationship Id="rId8" Type="http://schemas.openxmlformats.org/officeDocument/2006/relationships/image" Target="../media/image31.tiff"/><Relationship Id="rId3" Type="http://schemas.openxmlformats.org/officeDocument/2006/relationships/image" Target="../media/image27.emf"/><Relationship Id="rId7" Type="http://schemas.openxmlformats.org/officeDocument/2006/relationships/image" Target="../media/image30.tif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tiff"/><Relationship Id="rId5" Type="http://schemas.openxmlformats.org/officeDocument/2006/relationships/image" Target="../media/image29.tiff"/><Relationship Id="rId4" Type="http://schemas.openxmlformats.org/officeDocument/2006/relationships/image" Target="../media/image28.tiff"/><Relationship Id="rId9" Type="http://schemas.openxmlformats.org/officeDocument/2006/relationships/image" Target="../media/image32.tiff"/></Relationships>
</file>

<file path=ppt/slides/_rels/slide13.xml.rels><?xml version="1.0" encoding="UTF-8" standalone="yes"?>
<Relationships xmlns="http://schemas.openxmlformats.org/package/2006/relationships"><Relationship Id="rId3" Type="http://schemas.openxmlformats.org/officeDocument/2006/relationships/image" Target="../media/image33.tif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tiff"/></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7.tiff"/><Relationship Id="rId5" Type="http://schemas.openxmlformats.org/officeDocument/2006/relationships/image" Target="../media/image36.png"/><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610.png"/><Relationship Id="rId7" Type="http://schemas.openxmlformats.org/officeDocument/2006/relationships/image" Target="../media/image41.tif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0.tiff"/><Relationship Id="rId5" Type="http://schemas.openxmlformats.org/officeDocument/2006/relationships/image" Target="../media/image39.tiff"/><Relationship Id="rId4" Type="http://schemas.openxmlformats.org/officeDocument/2006/relationships/image" Target="../media/image38.tiff"/></Relationships>
</file>

<file path=ppt/slides/_rels/slide17.xml.rels><?xml version="1.0" encoding="UTF-8" standalone="yes"?>
<Relationships xmlns="http://schemas.openxmlformats.org/package/2006/relationships"><Relationship Id="rId3" Type="http://schemas.openxmlformats.org/officeDocument/2006/relationships/image" Target="../media/image42.tif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3.tiff"/></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4.tiff"/></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5.tiff"/></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7.tiff"/></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0.tiff"/><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dirty="0">
                <a:latin typeface="Calibri Light" panose="020F0302020204030204" pitchFamily="34" charset="0"/>
                <a:cs typeface="Calibri Light" panose="020F0302020204030204" pitchFamily="34" charset="0"/>
              </a:rPr>
              <a:t>Principles of Robot Autonomy I</a:t>
            </a:r>
            <a:endParaRPr lang="en-US" sz="5400" dirty="0"/>
          </a:p>
        </p:txBody>
      </p:sp>
      <p:sp>
        <p:nvSpPr>
          <p:cNvPr id="3" name="Subtitle 2"/>
          <p:cNvSpPr>
            <a:spLocks noGrp="1"/>
          </p:cNvSpPr>
          <p:nvPr>
            <p:ph type="subTitle" idx="1"/>
          </p:nvPr>
        </p:nvSpPr>
        <p:spPr/>
        <p:txBody>
          <a:bodyPr/>
          <a:lstStyle/>
          <a:p>
            <a:r>
              <a:rPr lang="en-US" dirty="0"/>
              <a:t>Camera models and camera calibration</a:t>
            </a:r>
          </a:p>
        </p:txBody>
      </p:sp>
      <p:pic>
        <p:nvPicPr>
          <p:cNvPr id="4" name="Picture 3"/>
          <p:cNvPicPr>
            <a:picLocks noChangeAspect="1"/>
          </p:cNvPicPr>
          <p:nvPr/>
        </p:nvPicPr>
        <p:blipFill>
          <a:blip r:embed="rId3"/>
          <a:stretch>
            <a:fillRect/>
          </a:stretch>
        </p:blipFill>
        <p:spPr>
          <a:xfrm>
            <a:off x="0" y="5687942"/>
            <a:ext cx="12192000" cy="1170058"/>
          </a:xfrm>
          <a:prstGeom prst="rect">
            <a:avLst/>
          </a:prstGeom>
        </p:spPr>
      </p:pic>
    </p:spTree>
    <p:extLst>
      <p:ext uri="{BB962C8B-B14F-4D97-AF65-F5344CB8AC3E}">
        <p14:creationId xmlns:p14="http://schemas.microsoft.com/office/powerpoint/2010/main" val="1672827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90B0-EB37-BE5C-04E7-4EA8696DA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9C11F-9CF3-5417-5DC4-4E4B8E153C8A}"/>
              </a:ext>
            </a:extLst>
          </p:cNvPr>
          <p:cNvSpPr>
            <a:spLocks noGrp="1"/>
          </p:cNvSpPr>
          <p:nvPr>
            <p:ph type="title"/>
          </p:nvPr>
        </p:nvSpPr>
        <p:spPr/>
        <p:txBody>
          <a:bodyPr/>
          <a:lstStyle/>
          <a:p>
            <a:r>
              <a:rPr lang="en-US">
                <a:ea typeface="Calibri Light"/>
                <a:cs typeface="Calibri Light"/>
              </a:rPr>
              <a:t>Attendance Form</a:t>
            </a:r>
            <a:endParaRPr lang="en-US"/>
          </a:p>
        </p:txBody>
      </p:sp>
      <p:pic>
        <p:nvPicPr>
          <p:cNvPr id="7" name="Content Placeholder 6" descr="A qr code with black squares&#10;&#10;AI-generated content may be incorrect.">
            <a:extLst>
              <a:ext uri="{FF2B5EF4-FFF2-40B4-BE49-F238E27FC236}">
                <a16:creationId xmlns:a16="http://schemas.microsoft.com/office/drawing/2014/main" id="{6FC79A78-5555-5B36-D187-31F9DBD9AC04}"/>
              </a:ext>
            </a:extLst>
          </p:cNvPr>
          <p:cNvPicPr>
            <a:picLocks noGrp="1" noChangeAspect="1"/>
          </p:cNvPicPr>
          <p:nvPr>
            <p:ph idx="1"/>
          </p:nvPr>
        </p:nvPicPr>
        <p:blipFill>
          <a:blip r:embed="rId2"/>
          <a:stretch>
            <a:fillRect/>
          </a:stretch>
        </p:blipFill>
        <p:spPr>
          <a:xfrm>
            <a:off x="4038600" y="1943894"/>
            <a:ext cx="4114800" cy="4114800"/>
          </a:xfrm>
          <a:prstGeom prst="rect">
            <a:avLst/>
          </a:prstGeom>
        </p:spPr>
      </p:pic>
      <p:sp>
        <p:nvSpPr>
          <p:cNvPr id="4" name="Date Placeholder 3">
            <a:extLst>
              <a:ext uri="{FF2B5EF4-FFF2-40B4-BE49-F238E27FC236}">
                <a16:creationId xmlns:a16="http://schemas.microsoft.com/office/drawing/2014/main" id="{25403DC6-C8A8-2ACD-BAD1-55817AEB56A5}"/>
              </a:ext>
            </a:extLst>
          </p:cNvPr>
          <p:cNvSpPr>
            <a:spLocks noGrp="1"/>
          </p:cNvSpPr>
          <p:nvPr>
            <p:ph type="dt" sz="half" idx="10"/>
          </p:nvPr>
        </p:nvSpPr>
        <p:spPr/>
        <p:txBody>
          <a:bodyPr/>
          <a:lstStyle/>
          <a:p>
            <a:fld id="{3951F07E-F16A-2A40-8168-4C568DBB1998}" type="datetime1">
              <a:rPr lang="en-US" smtClean="0"/>
              <a:t>12/20/2025</a:t>
            </a:fld>
            <a:endParaRPr lang="en-US"/>
          </a:p>
        </p:txBody>
      </p:sp>
      <p:sp>
        <p:nvSpPr>
          <p:cNvPr id="5" name="Footer Placeholder 4">
            <a:extLst>
              <a:ext uri="{FF2B5EF4-FFF2-40B4-BE49-F238E27FC236}">
                <a16:creationId xmlns:a16="http://schemas.microsoft.com/office/drawing/2014/main" id="{05195E3F-D2F3-70F1-92FC-D72CF33D9AF4}"/>
              </a:ext>
            </a:extLst>
          </p:cNvPr>
          <p:cNvSpPr>
            <a:spLocks noGrp="1"/>
          </p:cNvSpPr>
          <p:nvPr>
            <p:ph type="ftr" sz="quarter" idx="11"/>
          </p:nvPr>
        </p:nvSpPr>
        <p:spPr/>
        <p:txBody>
          <a:bodyPr/>
          <a:lstStyle/>
          <a:p>
            <a:r>
              <a:rPr lang="hr-HR"/>
              <a:t>AA 174A | Lecture 10</a:t>
            </a:r>
            <a:endParaRPr lang="en-US"/>
          </a:p>
        </p:txBody>
      </p:sp>
    </p:spTree>
    <p:extLst>
      <p:ext uri="{BB962C8B-B14F-4D97-AF65-F5344CB8AC3E}">
        <p14:creationId xmlns:p14="http://schemas.microsoft.com/office/powerpoint/2010/main" val="3374591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Agenda</a:t>
            </a:r>
            <a:endParaRPr/>
          </a:p>
        </p:txBody>
      </p:sp>
      <p:sp>
        <p:nvSpPr>
          <p:cNvPr id="43" name="Google Shape;43;p5"/>
          <p:cNvSpPr txBox="1">
            <a:spLocks noGrp="1"/>
          </p:cNvSpPr>
          <p:nvPr>
            <p:ph type="dt" idx="10"/>
          </p:nvPr>
        </p:nvSpPr>
        <p:spPr>
          <a:xfrm>
            <a:off x="838200" y="654209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0FD7D44-4CBD-814B-9B08-62ADEB196032}" type="datetime1">
              <a:rPr lang="en-US" smtClean="0"/>
              <a:t>12/20/2025</a:t>
            </a:fld>
            <a:endParaRPr/>
          </a:p>
        </p:txBody>
      </p:sp>
      <p:sp>
        <p:nvSpPr>
          <p:cNvPr id="44" name="Google Shape;44;p5"/>
          <p:cNvSpPr txBox="1">
            <a:spLocks noGrp="1"/>
          </p:cNvSpPr>
          <p:nvPr>
            <p:ph type="ftr" idx="11"/>
          </p:nvPr>
        </p:nvSpPr>
        <p:spPr>
          <a:xfrm>
            <a:off x="4038600" y="654209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AA 174A | Lecture 10</a:t>
            </a:r>
            <a:endParaRPr/>
          </a:p>
        </p:txBody>
      </p:sp>
      <p:sp>
        <p:nvSpPr>
          <p:cNvPr id="46" name="Google Shape;46;p5"/>
          <p:cNvSpPr txBox="1">
            <a:spLocks noGrp="1"/>
          </p:cNvSpPr>
          <p:nvPr>
            <p:ph type="body" idx="1"/>
          </p:nvPr>
        </p:nvSpPr>
        <p:spPr>
          <a:xfrm>
            <a:off x="838200" y="1690688"/>
            <a:ext cx="10829081" cy="3876735"/>
          </a:xfrm>
          <a:prstGeom prst="rect">
            <a:avLst/>
          </a:prstGeom>
          <a:noFill/>
          <a:ln>
            <a:noFill/>
          </a:ln>
        </p:spPr>
        <p:txBody>
          <a:bodyPr spcFirstLastPara="1" wrap="square" lIns="91425" tIns="45700" rIns="91425" bIns="45700" anchor="t" anchorCtr="0">
            <a:noAutofit/>
          </a:bodyPr>
          <a:lstStyle/>
          <a:p>
            <a:pPr indent="-457200">
              <a:spcBef>
                <a:spcPts val="0"/>
              </a:spcBef>
              <a:buSzPts val="2800"/>
            </a:pPr>
            <a:r>
              <a:rPr lang="en-US" dirty="0">
                <a:latin typeface="Source Sans Pro" panose="020B0503030403020204" pitchFamily="34" charset="0"/>
                <a:ea typeface="Source Sans Pro" panose="020B0503030403020204" pitchFamily="34" charset="0"/>
              </a:rPr>
              <a:t>Agenda</a:t>
            </a:r>
            <a:endParaRPr dirty="0">
              <a:latin typeface="Source Sans Pro" panose="020B0503030403020204" pitchFamily="34" charset="0"/>
              <a:ea typeface="Source Sans Pro" panose="020B0503030403020204" pitchFamily="34" charset="0"/>
            </a:endParaRPr>
          </a:p>
          <a:p>
            <a:pPr lvl="1">
              <a:buClr>
                <a:schemeClr val="dk1"/>
              </a:buClr>
              <a:buSzPts val="2400"/>
            </a:pPr>
            <a:r>
              <a:rPr lang="en-US" dirty="0">
                <a:latin typeface="Source Sans Pro" panose="020B0503030403020204" pitchFamily="34" charset="0"/>
                <a:ea typeface="Source Sans Pro" panose="020B0503030403020204" pitchFamily="34" charset="0"/>
              </a:rPr>
              <a:t>Perspective projections</a:t>
            </a:r>
          </a:p>
          <a:p>
            <a:pPr lvl="1">
              <a:buClr>
                <a:schemeClr val="dk1"/>
              </a:buClr>
              <a:buSzPts val="2400"/>
            </a:pPr>
            <a:r>
              <a:rPr lang="en-US" dirty="0">
                <a:latin typeface="Source Sans Pro" panose="020B0503030403020204" pitchFamily="34" charset="0"/>
                <a:ea typeface="Source Sans Pro" panose="020B0503030403020204" pitchFamily="34" charset="0"/>
              </a:rPr>
              <a:t>Camera calibration</a:t>
            </a:r>
          </a:p>
          <a:p>
            <a:pPr lvl="1">
              <a:buClr>
                <a:schemeClr val="dk1"/>
              </a:buClr>
              <a:buSzPts val="2400"/>
            </a:pPr>
            <a:r>
              <a:rPr lang="en-US" dirty="0">
                <a:latin typeface="Source Sans Pro" panose="020B0503030403020204" pitchFamily="34" charset="0"/>
                <a:ea typeface="Source Sans Pro" panose="020B0503030403020204" pitchFamily="34" charset="0"/>
              </a:rPr>
              <a:t>Basic concepts in 3D reconstruction</a:t>
            </a:r>
          </a:p>
          <a:p>
            <a:pPr marL="685800" lvl="1" indent="-228600" algn="l" rtl="0">
              <a:lnSpc>
                <a:spcPct val="90000"/>
              </a:lnSpc>
              <a:spcBef>
                <a:spcPts val="500"/>
              </a:spcBef>
              <a:spcAft>
                <a:spcPts val="0"/>
              </a:spcAft>
              <a:buClr>
                <a:schemeClr val="dk1"/>
              </a:buClr>
              <a:buSzPts val="2400"/>
              <a:buChar char="•"/>
            </a:pPr>
            <a:endParaRPr dirty="0">
              <a:latin typeface="Source Sans Pro" panose="020B0503030403020204" pitchFamily="34" charset="0"/>
              <a:ea typeface="Source Sans Pro" panose="020B0503030403020204" pitchFamily="34" charset="0"/>
            </a:endParaRPr>
          </a:p>
          <a:p>
            <a:pPr indent="-457200">
              <a:buSzPts val="2800"/>
            </a:pPr>
            <a:r>
              <a:rPr lang="en-US" dirty="0">
                <a:latin typeface="Source Sans Pro" panose="020B0503030403020204" pitchFamily="34" charset="0"/>
                <a:ea typeface="Source Sans Pro" panose="020B0503030403020204" pitchFamily="34" charset="0"/>
              </a:rPr>
              <a:t>Readings:</a:t>
            </a:r>
            <a:endParaRPr lang="en-US" sz="2400" dirty="0">
              <a:latin typeface="Source Sans Pro" panose="020B0503030403020204" pitchFamily="34" charset="0"/>
              <a:ea typeface="Source Sans Pro" panose="020B0503030403020204" pitchFamily="34" charset="0"/>
            </a:endParaRPr>
          </a:p>
          <a:p>
            <a:pPr lvl="1"/>
            <a:r>
              <a:rPr lang="en-US" dirty="0"/>
              <a:t>Chapter 7, sections 7.1 – 7.4 in D. </a:t>
            </a:r>
            <a:r>
              <a:rPr lang="en-US" dirty="0" err="1"/>
              <a:t>Gammelli</a:t>
            </a:r>
            <a:r>
              <a:rPr lang="en-US" dirty="0"/>
              <a:t>, J. Lorenzetti, K. Luo, G. </a:t>
            </a:r>
            <a:r>
              <a:rPr lang="en-US" dirty="0" err="1"/>
              <a:t>Zardini</a:t>
            </a:r>
            <a:r>
              <a:rPr lang="en-US" dirty="0"/>
              <a:t>, M. Pavone. </a:t>
            </a:r>
            <a:r>
              <a:rPr lang="en-US" i="1" dirty="0"/>
              <a:t>Principles of Robot Autonomy</a:t>
            </a:r>
            <a:r>
              <a:rPr lang="en-US" dirty="0"/>
              <a:t>. 2026.</a:t>
            </a:r>
          </a:p>
        </p:txBody>
      </p:sp>
    </p:spTree>
    <p:extLst>
      <p:ext uri="{BB962C8B-B14F-4D97-AF65-F5344CB8AC3E}">
        <p14:creationId xmlns:p14="http://schemas.microsoft.com/office/powerpoint/2010/main" val="4059848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437857" y="3605953"/>
            <a:ext cx="6221828" cy="2547764"/>
            <a:chOff x="437857" y="3605953"/>
            <a:chExt cx="6221828" cy="2547764"/>
          </a:xfrm>
        </p:grpSpPr>
        <p:grpSp>
          <p:nvGrpSpPr>
            <p:cNvPr id="28" name="Group 27"/>
            <p:cNvGrpSpPr/>
            <p:nvPr/>
          </p:nvGrpSpPr>
          <p:grpSpPr>
            <a:xfrm>
              <a:off x="437857" y="3605953"/>
              <a:ext cx="6221828" cy="2547764"/>
              <a:chOff x="2552212" y="1195813"/>
              <a:chExt cx="7143848" cy="3053325"/>
            </a:xfrm>
          </p:grpSpPr>
          <p:pic>
            <p:nvPicPr>
              <p:cNvPr id="24"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212" y="1195813"/>
                <a:ext cx="7143848" cy="3053325"/>
              </a:xfrm>
              <a:prstGeom prst="rect">
                <a:avLst/>
              </a:prstGeom>
            </p:spPr>
          </p:pic>
          <p:sp>
            <p:nvSpPr>
              <p:cNvPr id="25" name="Rectangle 24"/>
              <p:cNvSpPr/>
              <p:nvPr/>
            </p:nvSpPr>
            <p:spPr>
              <a:xfrm>
                <a:off x="4333912" y="1790184"/>
                <a:ext cx="365760"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p:cNvPicPr>
                <a:picLocks noChangeAspect="1"/>
              </p:cNvPicPr>
              <p:nvPr/>
            </p:nvPicPr>
            <p:blipFill>
              <a:blip r:embed="rId4"/>
              <a:stretch>
                <a:fillRect/>
              </a:stretch>
            </p:blipFill>
            <p:spPr>
              <a:xfrm>
                <a:off x="4516792" y="1870091"/>
                <a:ext cx="137646" cy="246314"/>
              </a:xfrm>
              <a:prstGeom prst="rect">
                <a:avLst/>
              </a:prstGeom>
            </p:spPr>
          </p:pic>
          <p:sp>
            <p:nvSpPr>
              <p:cNvPr id="27" name="Rectangle 26"/>
              <p:cNvSpPr/>
              <p:nvPr/>
            </p:nvSpPr>
            <p:spPr>
              <a:xfrm>
                <a:off x="3742716" y="1681621"/>
                <a:ext cx="251508"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p:cNvSpPr/>
            <p:nvPr/>
          </p:nvSpPr>
          <p:spPr>
            <a:xfrm>
              <a:off x="5514535" y="4234375"/>
              <a:ext cx="243253" cy="177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Perspective projection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25609"/>
                <a:ext cx="10515600" cy="4351338"/>
              </a:xfrm>
            </p:spPr>
            <p:txBody>
              <a:bodyPr>
                <a:normAutofit/>
              </a:bodyPr>
              <a:lstStyle/>
              <a:p>
                <a:r>
                  <a:rPr lang="en-US">
                    <a:solidFill>
                      <a:srgbClr val="C00000"/>
                    </a:solidFill>
                  </a:rPr>
                  <a:t>Goal</a:t>
                </a:r>
                <a:r>
                  <a:rPr lang="en-US"/>
                  <a:t>: find how world points map in the camera image</a:t>
                </a:r>
              </a:p>
              <a:p>
                <a:r>
                  <a:rPr lang="en-US"/>
                  <a:t>Assumption: pinhole camera model (</a:t>
                </a:r>
                <a:r>
                  <a:rPr lang="en-US" i="1"/>
                  <a:t>all results also hold under thin lens model, assuming camera is focused at </a:t>
                </a:r>
                <a14:m>
                  <m:oMath xmlns:m="http://schemas.openxmlformats.org/officeDocument/2006/math">
                    <m:r>
                      <a:rPr lang="en-US" b="0" i="1" smtClean="0">
                        <a:latin typeface="Cambria Math" charset="0"/>
                      </a:rPr>
                      <m:t>∞</m:t>
                    </m:r>
                  </m:oMath>
                </a14:m>
                <a:r>
                  <a:rPr lang="en-US"/>
                  <a:t>)</a:t>
                </a:r>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25609"/>
                <a:ext cx="10515600" cy="4351338"/>
              </a:xfrm>
              <a:blipFill>
                <a:blip r:embed="rId5"/>
                <a:stretch>
                  <a:fillRect l="-1043" t="-238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574F506-5A10-D145-85BC-8A889C80E15F}"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mc:AlternateContent xmlns:mc="http://schemas.openxmlformats.org/markup-compatibility/2006" xmlns:a14="http://schemas.microsoft.com/office/drawing/2010/main">
        <mc:Choice Requires="a14">
          <p:sp>
            <p:nvSpPr>
              <p:cNvPr id="14" name="Content Placeholder 2"/>
              <p:cNvSpPr txBox="1">
                <a:spLocks/>
              </p:cNvSpPr>
              <p:nvPr/>
            </p:nvSpPr>
            <p:spPr>
              <a:xfrm>
                <a:off x="6784253" y="3434539"/>
                <a:ext cx="5464126" cy="3322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a:t>Roadmap:</a:t>
                </a:r>
              </a:p>
              <a:p>
                <a:pPr marL="914400" lvl="1" indent="-457200">
                  <a:buFont typeface="+mj-lt"/>
                  <a:buAutoNum type="arabicPeriod"/>
                </a:pPr>
                <a:r>
                  <a:rPr lang="en-US"/>
                  <a:t>Map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𝑐</m:t>
                        </m:r>
                      </m:sub>
                    </m:sSub>
                  </m:oMath>
                </a14:m>
                <a:r>
                  <a:rPr lang="en-US"/>
                  <a:t> into </a:t>
                </a:r>
                <a:r>
                  <a:rPr lang="en-US" i="1"/>
                  <a:t>p </a:t>
                </a:r>
                <a:r>
                  <a:rPr lang="en-US"/>
                  <a:t>(image plane)</a:t>
                </a:r>
              </a:p>
              <a:p>
                <a:pPr marL="914400" lvl="1" indent="-457200">
                  <a:buFont typeface="+mj-lt"/>
                  <a:buAutoNum type="arabicPeriod"/>
                </a:pPr>
                <a:r>
                  <a:rPr lang="en-US"/>
                  <a:t>Map </a:t>
                </a:r>
                <a:r>
                  <a:rPr lang="en-US" i="1"/>
                  <a:t>p</a:t>
                </a:r>
                <a:r>
                  <a:rPr lang="en-US"/>
                  <a:t> into (</a:t>
                </a:r>
                <a:r>
                  <a:rPr lang="en-US" err="1"/>
                  <a:t>u,v</a:t>
                </a:r>
                <a:r>
                  <a:rPr lang="en-US"/>
                  <a:t>) (pixel coordinates)</a:t>
                </a:r>
              </a:p>
              <a:p>
                <a:pPr marL="914400" lvl="1" indent="-457200">
                  <a:buFont typeface="+mj-lt"/>
                  <a:buAutoNum type="arabicPeriod"/>
                </a:pPr>
                <a:r>
                  <a:rPr lang="en-US"/>
                  <a:t>Transform </a:t>
                </a:r>
                <a14:m>
                  <m:oMath xmlns:m="http://schemas.openxmlformats.org/officeDocument/2006/math">
                    <m:sSub>
                      <m:sSubPr>
                        <m:ctrlPr>
                          <a:rPr lang="en-US" i="1" smtClean="0">
                            <a:latin typeface="Cambria Math" panose="02040503050406030204" pitchFamily="18" charset="0"/>
                          </a:rPr>
                        </m:ctrlPr>
                      </m:sSubPr>
                      <m:e>
                        <m:r>
                          <a:rPr lang="en-US" i="1">
                            <a:latin typeface="Cambria Math" charset="0"/>
                          </a:rPr>
                          <m:t>𝑃</m:t>
                        </m:r>
                      </m:e>
                      <m:sub>
                        <m:r>
                          <a:rPr lang="en-US" b="0" i="1" smtClean="0">
                            <a:latin typeface="Cambria Math" charset="0"/>
                          </a:rPr>
                          <m:t>𝑤</m:t>
                        </m:r>
                      </m:sub>
                    </m:sSub>
                  </m:oMath>
                </a14:m>
                <a:r>
                  <a:rPr lang="en-US"/>
                  <a:t> into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𝑃</m:t>
                        </m:r>
                      </m:e>
                      <m:sub>
                        <m:r>
                          <a:rPr lang="en-US" i="1">
                            <a:latin typeface="Cambria Math" charset="0"/>
                          </a:rPr>
                          <m:t>𝑐</m:t>
                        </m:r>
                      </m:sub>
                    </m:sSub>
                  </m:oMath>
                </a14:m>
                <a:r>
                  <a:rPr lang="en-US"/>
                  <a:t> </a:t>
                </a:r>
              </a:p>
            </p:txBody>
          </p:sp>
        </mc:Choice>
        <mc:Fallback xmlns="">
          <p:sp>
            <p:nvSpPr>
              <p:cNvPr id="14" name="Content Placeholder 2"/>
              <p:cNvSpPr txBox="1">
                <a:spLocks noRot="1" noChangeAspect="1" noMove="1" noResize="1" noEditPoints="1" noAdjustHandles="1" noChangeArrowheads="1" noChangeShapeType="1" noTextEdit="1"/>
              </p:cNvSpPr>
              <p:nvPr/>
            </p:nvSpPr>
            <p:spPr>
              <a:xfrm>
                <a:off x="6784253" y="3434539"/>
                <a:ext cx="5464126" cy="3322222"/>
              </a:xfrm>
              <a:prstGeom prst="rect">
                <a:avLst/>
              </a:prstGeom>
              <a:blipFill>
                <a:blip r:embed="rId6"/>
                <a:stretch>
                  <a:fillRect l="-2344" t="-2936" r="-781"/>
                </a:stretch>
              </a:blipFill>
            </p:spPr>
            <p:txBody>
              <a:bodyPr/>
              <a:lstStyle/>
              <a:p>
                <a:r>
                  <a:rPr lang="en-US">
                    <a:noFill/>
                  </a:rPr>
                  <a:t> </a:t>
                </a:r>
              </a:p>
            </p:txBody>
          </p:sp>
        </mc:Fallback>
      </mc:AlternateContent>
      <p:sp>
        <p:nvSpPr>
          <p:cNvPr id="16" name="TextBox 15"/>
          <p:cNvSpPr txBox="1"/>
          <p:nvPr/>
        </p:nvSpPr>
        <p:spPr>
          <a:xfrm>
            <a:off x="4522183" y="3358876"/>
            <a:ext cx="1941342" cy="369332"/>
          </a:xfrm>
          <a:prstGeom prst="rect">
            <a:avLst/>
          </a:prstGeom>
          <a:noFill/>
        </p:spPr>
        <p:txBody>
          <a:bodyPr wrap="square" rtlCol="0">
            <a:spAutoFit/>
          </a:bodyPr>
          <a:lstStyle/>
          <a:p>
            <a:r>
              <a:rPr lang="en-US" i="1"/>
              <a:t>P</a:t>
            </a:r>
            <a:r>
              <a:rPr lang="en-US"/>
              <a:t> in camera frame</a:t>
            </a:r>
          </a:p>
        </p:txBody>
      </p:sp>
      <p:sp>
        <p:nvSpPr>
          <p:cNvPr id="17" name="TextBox 16"/>
          <p:cNvSpPr txBox="1"/>
          <p:nvPr/>
        </p:nvSpPr>
        <p:spPr>
          <a:xfrm>
            <a:off x="3843570" y="3812809"/>
            <a:ext cx="1941342" cy="369332"/>
          </a:xfrm>
          <a:prstGeom prst="rect">
            <a:avLst/>
          </a:prstGeom>
          <a:noFill/>
        </p:spPr>
        <p:txBody>
          <a:bodyPr wrap="square" rtlCol="0">
            <a:spAutoFit/>
          </a:bodyPr>
          <a:lstStyle/>
          <a:p>
            <a:r>
              <a:rPr lang="en-US" i="1"/>
              <a:t>P</a:t>
            </a:r>
            <a:r>
              <a:rPr lang="en-US"/>
              <a:t> in world frame</a:t>
            </a:r>
          </a:p>
        </p:txBody>
      </p:sp>
      <p:cxnSp>
        <p:nvCxnSpPr>
          <p:cNvPr id="19" name="Straight Arrow Connector 18"/>
          <p:cNvCxnSpPr>
            <a:stCxn id="17" idx="2"/>
          </p:cNvCxnSpPr>
          <p:nvPr/>
        </p:nvCxnSpPr>
        <p:spPr>
          <a:xfrm>
            <a:off x="4814241" y="4182141"/>
            <a:ext cx="678613" cy="8921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776394" y="3656929"/>
            <a:ext cx="305064" cy="59962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4658" y="6259461"/>
            <a:ext cx="1941342" cy="369332"/>
          </a:xfrm>
          <a:prstGeom prst="rect">
            <a:avLst/>
          </a:prstGeom>
          <a:noFill/>
        </p:spPr>
        <p:txBody>
          <a:bodyPr wrap="square" rtlCol="0">
            <a:spAutoFit/>
          </a:bodyPr>
          <a:lstStyle/>
          <a:p>
            <a:r>
              <a:rPr lang="en-US"/>
              <a:t>World frame</a:t>
            </a:r>
          </a:p>
        </p:txBody>
      </p:sp>
      <p:sp>
        <p:nvSpPr>
          <p:cNvPr id="23" name="TextBox 22"/>
          <p:cNvSpPr txBox="1"/>
          <p:nvPr/>
        </p:nvSpPr>
        <p:spPr>
          <a:xfrm>
            <a:off x="2480176" y="3543542"/>
            <a:ext cx="1941342" cy="369332"/>
          </a:xfrm>
          <a:prstGeom prst="rect">
            <a:avLst/>
          </a:prstGeom>
          <a:noFill/>
        </p:spPr>
        <p:txBody>
          <a:bodyPr wrap="square" rtlCol="0">
            <a:spAutoFit/>
          </a:bodyPr>
          <a:lstStyle/>
          <a:p>
            <a:r>
              <a:rPr lang="en-US"/>
              <a:t>Camera frame</a:t>
            </a:r>
          </a:p>
        </p:txBody>
      </p:sp>
      <p:sp>
        <p:nvSpPr>
          <p:cNvPr id="38" name="TextBox 37"/>
          <p:cNvSpPr txBox="1"/>
          <p:nvPr/>
        </p:nvSpPr>
        <p:spPr>
          <a:xfrm>
            <a:off x="141311" y="6148275"/>
            <a:ext cx="1941342" cy="369332"/>
          </a:xfrm>
          <a:prstGeom prst="rect">
            <a:avLst/>
          </a:prstGeom>
          <a:noFill/>
        </p:spPr>
        <p:txBody>
          <a:bodyPr wrap="square" rtlCol="0">
            <a:spAutoFit/>
          </a:bodyPr>
          <a:lstStyle/>
          <a:p>
            <a:r>
              <a:rPr lang="en-US"/>
              <a:t>Image plane </a:t>
            </a:r>
          </a:p>
        </p:txBody>
      </p:sp>
      <p:pic>
        <p:nvPicPr>
          <p:cNvPr id="42" name="Picture 41"/>
          <p:cNvPicPr>
            <a:picLocks noChangeAspect="1"/>
          </p:cNvPicPr>
          <p:nvPr/>
        </p:nvPicPr>
        <p:blipFill>
          <a:blip r:embed="rId7"/>
          <a:stretch>
            <a:fillRect/>
          </a:stretch>
        </p:blipFill>
        <p:spPr>
          <a:xfrm>
            <a:off x="3598543" y="5330808"/>
            <a:ext cx="1342220" cy="1393844"/>
          </a:xfrm>
          <a:prstGeom prst="rect">
            <a:avLst/>
          </a:prstGeom>
        </p:spPr>
      </p:pic>
      <p:pic>
        <p:nvPicPr>
          <p:cNvPr id="30" name="Picture 29"/>
          <p:cNvPicPr>
            <a:picLocks noChangeAspect="1"/>
          </p:cNvPicPr>
          <p:nvPr/>
        </p:nvPicPr>
        <p:blipFill>
          <a:blip r:embed="rId8"/>
          <a:stretch>
            <a:fillRect/>
          </a:stretch>
        </p:blipFill>
        <p:spPr>
          <a:xfrm>
            <a:off x="5486973" y="4302663"/>
            <a:ext cx="782268" cy="215798"/>
          </a:xfrm>
          <a:prstGeom prst="rect">
            <a:avLst/>
          </a:prstGeom>
        </p:spPr>
      </p:pic>
    </p:spTree>
    <p:extLst>
      <p:ext uri="{BB962C8B-B14F-4D97-AF65-F5344CB8AC3E}">
        <p14:creationId xmlns:p14="http://schemas.microsoft.com/office/powerpoint/2010/main" val="2375764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228600" lvl="1">
                  <a:spcBef>
                    <a:spcPts val="1000"/>
                  </a:spcBef>
                </a:pPr>
                <a:r>
                  <a:rPr lang="en-US" sz="2800"/>
                  <a:t>Task: Map </a:t>
                </a:r>
                <a14:m>
                  <m:oMath xmlns:m="http://schemas.openxmlformats.org/officeDocument/2006/math">
                    <m:sSub>
                      <m:sSubPr>
                        <m:ctrlPr>
                          <a:rPr lang="en-US" sz="2800" i="1">
                            <a:latin typeface="Cambria Math" panose="02040503050406030204" pitchFamily="18" charset="0"/>
                          </a:rPr>
                        </m:ctrlPr>
                      </m:sSubPr>
                      <m:e>
                        <m:r>
                          <a:rPr lang="en-US" sz="2800" i="1">
                            <a:latin typeface="Cambria Math" charset="0"/>
                          </a:rPr>
                          <m:t>𝑃</m:t>
                        </m:r>
                      </m:e>
                      <m:sub>
                        <m:r>
                          <a:rPr lang="en-US" sz="2800" i="1">
                            <a:latin typeface="Cambria Math" charset="0"/>
                          </a:rPr>
                          <m:t>𝑐</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𝑋</m:t>
                        </m:r>
                      </m:e>
                      <m:sub>
                        <m:r>
                          <a:rPr lang="en-US" sz="2800" b="0" i="1" smtClean="0">
                            <a:latin typeface="Cambria Math" charset="0"/>
                          </a:rPr>
                          <m:t>𝐶</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𝑌</m:t>
                        </m:r>
                      </m:e>
                      <m:sub>
                        <m:r>
                          <a:rPr lang="en-US" sz="2800" b="0" i="1" smtClean="0">
                            <a:latin typeface="Cambria Math" charset="0"/>
                          </a:rPr>
                          <m:t>𝐶</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𝑍</m:t>
                        </m:r>
                      </m:e>
                      <m:sub>
                        <m:r>
                          <a:rPr lang="en-US" sz="2800" b="0" i="1" smtClean="0">
                            <a:latin typeface="Cambria Math" charset="0"/>
                          </a:rPr>
                          <m:t>𝐶</m:t>
                        </m:r>
                      </m:sub>
                    </m:sSub>
                    <m:r>
                      <a:rPr lang="en-US" sz="2800" b="0" i="1" smtClean="0">
                        <a:latin typeface="Cambria Math" charset="0"/>
                      </a:rPr>
                      <m:t>)</m:t>
                    </m:r>
                  </m:oMath>
                </a14:m>
                <a:r>
                  <a:rPr lang="en-US" sz="2800"/>
                  <a:t> into </a:t>
                </a:r>
                <a14:m>
                  <m:oMath xmlns:m="http://schemas.openxmlformats.org/officeDocument/2006/math">
                    <m:r>
                      <a:rPr lang="en-US" sz="2800" b="0" i="1" smtClean="0">
                        <a:latin typeface="Cambria Math" charset="0"/>
                      </a:rPr>
                      <m:t>𝑝</m:t>
                    </m:r>
                    <m:r>
                      <a:rPr lang="en-US" sz="2800" b="0" i="1" smtClean="0">
                        <a:latin typeface="Cambria Math" charset="0"/>
                      </a:rPr>
                      <m:t>=(</m:t>
                    </m:r>
                    <m:r>
                      <a:rPr lang="en-US" sz="2800" b="0" i="1" smtClean="0">
                        <a:latin typeface="Cambria Math" charset="0"/>
                      </a:rPr>
                      <m:t>𝑥</m:t>
                    </m:r>
                    <m:r>
                      <a:rPr lang="en-US" sz="2800" b="0" i="1" smtClean="0">
                        <a:latin typeface="Cambria Math" charset="0"/>
                      </a:rPr>
                      <m:t>,</m:t>
                    </m:r>
                    <m:r>
                      <a:rPr lang="en-US" sz="2800" b="0" i="1" smtClean="0">
                        <a:latin typeface="Cambria Math" charset="0"/>
                      </a:rPr>
                      <m:t>𝑦</m:t>
                    </m:r>
                    <m:r>
                      <a:rPr lang="en-US" sz="2800" b="0" i="1" smtClean="0">
                        <a:latin typeface="Cambria Math" charset="0"/>
                      </a:rPr>
                      <m:t>)</m:t>
                    </m:r>
                  </m:oMath>
                </a14:m>
                <a:r>
                  <a:rPr lang="en-US" sz="2800" i="1"/>
                  <a:t> </a:t>
                </a:r>
                <a:r>
                  <a:rPr lang="en-US" sz="2800"/>
                  <a:t>(image plane)</a:t>
                </a:r>
              </a:p>
              <a:p>
                <a:pPr marL="228600" lvl="1">
                  <a:spcBef>
                    <a:spcPts val="1000"/>
                  </a:spcBef>
                </a:pPr>
                <a:r>
                  <a:rPr lang="en-US" sz="2800"/>
                  <a:t>From before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C267B199-DF51-764C-B82E-1DCC654197A4}"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p:pic>
        <p:nvPicPr>
          <p:cNvPr id="22" name="Picture 21"/>
          <p:cNvPicPr>
            <a:picLocks noChangeAspect="1"/>
          </p:cNvPicPr>
          <p:nvPr/>
        </p:nvPicPr>
        <p:blipFill>
          <a:blip r:embed="rId4"/>
          <a:stretch>
            <a:fillRect/>
          </a:stretch>
        </p:blipFill>
        <p:spPr>
          <a:xfrm>
            <a:off x="3581400" y="2664006"/>
            <a:ext cx="1645149" cy="1100130"/>
          </a:xfrm>
          <a:prstGeom prst="rect">
            <a:avLst/>
          </a:prstGeom>
        </p:spPr>
      </p:pic>
      <p:grpSp>
        <p:nvGrpSpPr>
          <p:cNvPr id="14" name="Group 13"/>
          <p:cNvGrpSpPr/>
          <p:nvPr/>
        </p:nvGrpSpPr>
        <p:grpSpPr>
          <a:xfrm>
            <a:off x="838200" y="3764136"/>
            <a:ext cx="6221828" cy="2547764"/>
            <a:chOff x="437857" y="3605953"/>
            <a:chExt cx="6221828" cy="2547764"/>
          </a:xfrm>
        </p:grpSpPr>
        <p:grpSp>
          <p:nvGrpSpPr>
            <p:cNvPr id="16" name="Group 15"/>
            <p:cNvGrpSpPr/>
            <p:nvPr/>
          </p:nvGrpSpPr>
          <p:grpSpPr>
            <a:xfrm>
              <a:off x="437857" y="3605953"/>
              <a:ext cx="6221828" cy="2547764"/>
              <a:chOff x="2552212" y="1195813"/>
              <a:chExt cx="7143848" cy="3053325"/>
            </a:xfrm>
          </p:grpSpPr>
          <p:pic>
            <p:nvPicPr>
              <p:cNvPr id="18" name="Content Placeholder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2212" y="1195813"/>
                <a:ext cx="7143848" cy="3053325"/>
              </a:xfrm>
              <a:prstGeom prst="rect">
                <a:avLst/>
              </a:prstGeom>
            </p:spPr>
          </p:pic>
          <p:sp>
            <p:nvSpPr>
              <p:cNvPr id="19" name="Rectangle 18"/>
              <p:cNvSpPr/>
              <p:nvPr/>
            </p:nvSpPr>
            <p:spPr>
              <a:xfrm>
                <a:off x="4333912" y="1790184"/>
                <a:ext cx="365760"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p:cNvPicPr>
                <a:picLocks noChangeAspect="1"/>
              </p:cNvPicPr>
              <p:nvPr/>
            </p:nvPicPr>
            <p:blipFill>
              <a:blip r:embed="rId6"/>
              <a:stretch>
                <a:fillRect/>
              </a:stretch>
            </p:blipFill>
            <p:spPr>
              <a:xfrm>
                <a:off x="4516792" y="1870091"/>
                <a:ext cx="137646" cy="246314"/>
              </a:xfrm>
              <a:prstGeom prst="rect">
                <a:avLst/>
              </a:prstGeom>
            </p:spPr>
          </p:pic>
          <p:sp>
            <p:nvSpPr>
              <p:cNvPr id="21" name="Rectangle 20"/>
              <p:cNvSpPr/>
              <p:nvPr/>
            </p:nvSpPr>
            <p:spPr>
              <a:xfrm>
                <a:off x="3742716" y="1681621"/>
                <a:ext cx="251508"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5514535" y="4234375"/>
              <a:ext cx="243253" cy="177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4" name="Straight Arrow Connector 23"/>
          <p:cNvCxnSpPr/>
          <p:nvPr/>
        </p:nvCxnSpPr>
        <p:spPr>
          <a:xfrm flipV="1">
            <a:off x="1561514" y="4260093"/>
            <a:ext cx="0" cy="8605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1026942" y="5097675"/>
            <a:ext cx="534573" cy="459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7"/>
          <a:stretch>
            <a:fillRect/>
          </a:stretch>
        </p:blipFill>
        <p:spPr>
          <a:xfrm>
            <a:off x="1475789" y="4001294"/>
            <a:ext cx="171450" cy="228600"/>
          </a:xfrm>
          <a:prstGeom prst="rect">
            <a:avLst/>
          </a:prstGeom>
        </p:spPr>
      </p:pic>
      <p:pic>
        <p:nvPicPr>
          <p:cNvPr id="32" name="Picture 31"/>
          <p:cNvPicPr>
            <a:picLocks noChangeAspect="1"/>
          </p:cNvPicPr>
          <p:nvPr/>
        </p:nvPicPr>
        <p:blipFill>
          <a:blip r:embed="rId8"/>
          <a:stretch>
            <a:fillRect/>
          </a:stretch>
        </p:blipFill>
        <p:spPr>
          <a:xfrm>
            <a:off x="984739" y="5247249"/>
            <a:ext cx="183700" cy="164363"/>
          </a:xfrm>
          <a:prstGeom prst="rect">
            <a:avLst/>
          </a:prstGeom>
        </p:spPr>
      </p:pic>
      <p:pic>
        <p:nvPicPr>
          <p:cNvPr id="25" name="Picture 24"/>
          <p:cNvPicPr>
            <a:picLocks noChangeAspect="1"/>
          </p:cNvPicPr>
          <p:nvPr/>
        </p:nvPicPr>
        <p:blipFill>
          <a:blip r:embed="rId9"/>
          <a:stretch>
            <a:fillRect/>
          </a:stretch>
        </p:blipFill>
        <p:spPr>
          <a:xfrm>
            <a:off x="5914878" y="4429534"/>
            <a:ext cx="782268" cy="215798"/>
          </a:xfrm>
          <a:prstGeom prst="rect">
            <a:avLst/>
          </a:prstGeom>
        </p:spPr>
      </p:pic>
    </p:spTree>
    <p:extLst>
      <p:ext uri="{BB962C8B-B14F-4D97-AF65-F5344CB8AC3E}">
        <p14:creationId xmlns:p14="http://schemas.microsoft.com/office/powerpoint/2010/main" val="3316695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2.a</a:t>
            </a:r>
          </a:p>
        </p:txBody>
      </p:sp>
      <p:sp>
        <p:nvSpPr>
          <p:cNvPr id="3" name="Content Placeholder 2"/>
          <p:cNvSpPr>
            <a:spLocks noGrp="1"/>
          </p:cNvSpPr>
          <p:nvPr>
            <p:ph idx="1"/>
          </p:nvPr>
        </p:nvSpPr>
        <p:spPr/>
        <p:txBody>
          <a:bodyPr/>
          <a:lstStyle/>
          <a:p>
            <a:r>
              <a:rPr lang="en-US"/>
              <a:t>Actual origin of the camera coordinate system is usually at a corner (e.g., top left, bottom left)</a:t>
            </a:r>
          </a:p>
          <a:p>
            <a:endParaRPr lang="en-US"/>
          </a:p>
        </p:txBody>
      </p:sp>
      <p:sp>
        <p:nvSpPr>
          <p:cNvPr id="4" name="Date Placeholder 3"/>
          <p:cNvSpPr>
            <a:spLocks noGrp="1"/>
          </p:cNvSpPr>
          <p:nvPr>
            <p:ph type="dt" sz="half" idx="10"/>
          </p:nvPr>
        </p:nvSpPr>
        <p:spPr/>
        <p:txBody>
          <a:bodyPr/>
          <a:lstStyle/>
          <a:p>
            <a:fld id="{143C54D0-1E55-274A-97AF-4C11C09E3BFE}"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p:grpSp>
        <p:nvGrpSpPr>
          <p:cNvPr id="27" name="Group 26"/>
          <p:cNvGrpSpPr/>
          <p:nvPr/>
        </p:nvGrpSpPr>
        <p:grpSpPr>
          <a:xfrm>
            <a:off x="838200" y="3994326"/>
            <a:ext cx="6221828" cy="2547764"/>
            <a:chOff x="437857" y="3605953"/>
            <a:chExt cx="6221828" cy="2547764"/>
          </a:xfrm>
        </p:grpSpPr>
        <p:grpSp>
          <p:nvGrpSpPr>
            <p:cNvPr id="29" name="Group 28"/>
            <p:cNvGrpSpPr/>
            <p:nvPr/>
          </p:nvGrpSpPr>
          <p:grpSpPr>
            <a:xfrm>
              <a:off x="437857" y="3605953"/>
              <a:ext cx="6221828" cy="2547764"/>
              <a:chOff x="2552212" y="1195813"/>
              <a:chExt cx="7143848" cy="3053325"/>
            </a:xfrm>
          </p:grpSpPr>
          <p:pic>
            <p:nvPicPr>
              <p:cNvPr id="31"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212" y="1195813"/>
                <a:ext cx="7143848" cy="3053325"/>
              </a:xfrm>
              <a:prstGeom prst="rect">
                <a:avLst/>
              </a:prstGeom>
            </p:spPr>
          </p:pic>
          <p:sp>
            <p:nvSpPr>
              <p:cNvPr id="32" name="Rectangle 31"/>
              <p:cNvSpPr/>
              <p:nvPr/>
            </p:nvSpPr>
            <p:spPr>
              <a:xfrm>
                <a:off x="4333912" y="1790184"/>
                <a:ext cx="365760"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p:nvPicPr>
            <p:blipFill>
              <a:blip r:embed="rId4"/>
              <a:stretch>
                <a:fillRect/>
              </a:stretch>
            </p:blipFill>
            <p:spPr>
              <a:xfrm>
                <a:off x="4516792" y="1870091"/>
                <a:ext cx="137646" cy="246314"/>
              </a:xfrm>
              <a:prstGeom prst="rect">
                <a:avLst/>
              </a:prstGeom>
            </p:spPr>
          </p:pic>
          <p:sp>
            <p:nvSpPr>
              <p:cNvPr id="34" name="Rectangle 33"/>
              <p:cNvSpPr/>
              <p:nvPr/>
            </p:nvSpPr>
            <p:spPr>
              <a:xfrm>
                <a:off x="3742716" y="1681621"/>
                <a:ext cx="251508"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p:cNvSpPr/>
            <p:nvPr/>
          </p:nvSpPr>
          <p:spPr>
            <a:xfrm>
              <a:off x="5514535" y="4234375"/>
              <a:ext cx="243253" cy="177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3" name="Straight Arrow Connector 22"/>
          <p:cNvCxnSpPr/>
          <p:nvPr/>
        </p:nvCxnSpPr>
        <p:spPr>
          <a:xfrm flipV="1">
            <a:off x="1561514" y="4490283"/>
            <a:ext cx="0" cy="8605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1026942" y="5327865"/>
            <a:ext cx="534573" cy="459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5"/>
          <a:stretch>
            <a:fillRect/>
          </a:stretch>
        </p:blipFill>
        <p:spPr>
          <a:xfrm>
            <a:off x="1475789" y="4231484"/>
            <a:ext cx="171450" cy="228600"/>
          </a:xfrm>
          <a:prstGeom prst="rect">
            <a:avLst/>
          </a:prstGeom>
        </p:spPr>
      </p:pic>
      <p:pic>
        <p:nvPicPr>
          <p:cNvPr id="26" name="Picture 25"/>
          <p:cNvPicPr>
            <a:picLocks noChangeAspect="1"/>
          </p:cNvPicPr>
          <p:nvPr/>
        </p:nvPicPr>
        <p:blipFill>
          <a:blip r:embed="rId6"/>
          <a:stretch>
            <a:fillRect/>
          </a:stretch>
        </p:blipFill>
        <p:spPr>
          <a:xfrm>
            <a:off x="984739" y="5477439"/>
            <a:ext cx="183700" cy="164363"/>
          </a:xfrm>
          <a:prstGeom prst="rect">
            <a:avLst/>
          </a:prstGeom>
        </p:spPr>
      </p:pic>
      <p:cxnSp>
        <p:nvCxnSpPr>
          <p:cNvPr id="49" name="Straight Arrow Connector 48"/>
          <p:cNvCxnSpPr/>
          <p:nvPr/>
        </p:nvCxnSpPr>
        <p:spPr>
          <a:xfrm flipV="1">
            <a:off x="2251461" y="4711881"/>
            <a:ext cx="0" cy="8605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1716889" y="5549463"/>
            <a:ext cx="534573" cy="459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3" name="Picture 52"/>
          <p:cNvPicPr>
            <a:picLocks noChangeAspect="1"/>
          </p:cNvPicPr>
          <p:nvPr/>
        </p:nvPicPr>
        <p:blipFill>
          <a:blip r:embed="rId7"/>
          <a:stretch>
            <a:fillRect/>
          </a:stretch>
        </p:blipFill>
        <p:spPr>
          <a:xfrm>
            <a:off x="1703452" y="6037580"/>
            <a:ext cx="200465" cy="274320"/>
          </a:xfrm>
          <a:prstGeom prst="rect">
            <a:avLst/>
          </a:prstGeom>
        </p:spPr>
      </p:pic>
      <p:pic>
        <p:nvPicPr>
          <p:cNvPr id="54" name="Picture 53"/>
          <p:cNvPicPr>
            <a:picLocks noChangeAspect="1"/>
          </p:cNvPicPr>
          <p:nvPr/>
        </p:nvPicPr>
        <p:blipFill>
          <a:blip r:embed="rId8"/>
          <a:stretch>
            <a:fillRect/>
          </a:stretch>
        </p:blipFill>
        <p:spPr>
          <a:xfrm>
            <a:off x="2195631" y="4354112"/>
            <a:ext cx="180023" cy="320040"/>
          </a:xfrm>
          <a:prstGeom prst="rect">
            <a:avLst/>
          </a:prstGeom>
        </p:spPr>
      </p:pic>
      <p:pic>
        <p:nvPicPr>
          <p:cNvPr id="56" name="Picture 55"/>
          <p:cNvPicPr>
            <a:picLocks noChangeAspect="1"/>
          </p:cNvPicPr>
          <p:nvPr/>
        </p:nvPicPr>
        <p:blipFill>
          <a:blip r:embed="rId9"/>
          <a:stretch>
            <a:fillRect/>
          </a:stretch>
        </p:blipFill>
        <p:spPr>
          <a:xfrm>
            <a:off x="3120585" y="3024997"/>
            <a:ext cx="5950829" cy="847093"/>
          </a:xfrm>
          <a:prstGeom prst="rect">
            <a:avLst/>
          </a:prstGeom>
        </p:spPr>
      </p:pic>
      <p:pic>
        <p:nvPicPr>
          <p:cNvPr id="7" name="Picture 6"/>
          <p:cNvPicPr>
            <a:picLocks noChangeAspect="1"/>
          </p:cNvPicPr>
          <p:nvPr/>
        </p:nvPicPr>
        <p:blipFill>
          <a:blip r:embed="rId10"/>
          <a:stretch>
            <a:fillRect/>
          </a:stretch>
        </p:blipFill>
        <p:spPr>
          <a:xfrm>
            <a:off x="8096880" y="4159252"/>
            <a:ext cx="3581400" cy="2565400"/>
          </a:xfrm>
          <a:prstGeom prst="rect">
            <a:avLst/>
          </a:prstGeom>
        </p:spPr>
      </p:pic>
      <p:pic>
        <p:nvPicPr>
          <p:cNvPr id="36" name="Picture 35"/>
          <p:cNvPicPr>
            <a:picLocks noChangeAspect="1"/>
          </p:cNvPicPr>
          <p:nvPr/>
        </p:nvPicPr>
        <p:blipFill>
          <a:blip r:embed="rId11"/>
          <a:stretch>
            <a:fillRect/>
          </a:stretch>
        </p:blipFill>
        <p:spPr>
          <a:xfrm>
            <a:off x="5945115" y="4677759"/>
            <a:ext cx="782268" cy="215798"/>
          </a:xfrm>
          <a:prstGeom prst="rect">
            <a:avLst/>
          </a:prstGeom>
        </p:spPr>
      </p:pic>
    </p:spTree>
    <p:extLst>
      <p:ext uri="{BB962C8B-B14F-4D97-AF65-F5344CB8AC3E}">
        <p14:creationId xmlns:p14="http://schemas.microsoft.com/office/powerpoint/2010/main" val="3180360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2.b</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1874178"/>
              </a:xfrm>
            </p:spPr>
            <p:txBody>
              <a:bodyPr/>
              <a:lstStyle/>
              <a:p>
                <a:r>
                  <a:rPr lang="en-US"/>
                  <a:t>Task: convert from image coordinates </a:t>
                </a:r>
                <a14:m>
                  <m:oMath xmlns:m="http://schemas.openxmlformats.org/officeDocument/2006/math">
                    <m:r>
                      <a:rPr lang="en-US" b="0" i="1" smtClean="0">
                        <a:latin typeface="Cambria Math" charset="0"/>
                      </a:rPr>
                      <m:t>(</m:t>
                    </m:r>
                    <m:acc>
                      <m:accPr>
                        <m:chr m:val="̃"/>
                        <m:ctrlPr>
                          <a:rPr lang="en-US" b="0" i="1" smtClean="0">
                            <a:latin typeface="Cambria Math" panose="02040503050406030204" pitchFamily="18" charset="0"/>
                          </a:rPr>
                        </m:ctrlPr>
                      </m:accPr>
                      <m:e>
                        <m:r>
                          <a:rPr lang="en-US" b="0" i="1" smtClean="0">
                            <a:latin typeface="Cambria Math" charset="0"/>
                          </a:rPr>
                          <m:t>𝑥</m:t>
                        </m:r>
                      </m:e>
                    </m:acc>
                    <m:r>
                      <a:rPr lang="en-US" b="0" i="1" smtClean="0">
                        <a:latin typeface="Cambria Math" charset="0"/>
                      </a:rPr>
                      <m:t>,</m:t>
                    </m:r>
                    <m:acc>
                      <m:accPr>
                        <m:chr m:val="̃"/>
                        <m:ctrlPr>
                          <a:rPr lang="en-US" b="0" i="1" smtClean="0">
                            <a:latin typeface="Cambria Math" panose="02040503050406030204" pitchFamily="18" charset="0"/>
                          </a:rPr>
                        </m:ctrlPr>
                      </m:accPr>
                      <m:e>
                        <m:r>
                          <a:rPr lang="en-US" b="0" i="1" smtClean="0">
                            <a:latin typeface="Cambria Math" charset="0"/>
                          </a:rPr>
                          <m:t>𝑦</m:t>
                        </m:r>
                      </m:e>
                    </m:acc>
                    <m:r>
                      <a:rPr lang="en-US" b="0" i="1" smtClean="0">
                        <a:latin typeface="Cambria Math" charset="0"/>
                      </a:rPr>
                      <m:t>)</m:t>
                    </m:r>
                  </m:oMath>
                </a14:m>
                <a:r>
                  <a:rPr lang="en-US"/>
                  <a:t> to pixel coordinates </a:t>
                </a:r>
                <a14:m>
                  <m:oMath xmlns:m="http://schemas.openxmlformats.org/officeDocument/2006/math">
                    <m:r>
                      <a:rPr lang="en-US" b="0" i="1" smtClean="0">
                        <a:latin typeface="Cambria Math" charset="0"/>
                      </a:rPr>
                      <m:t>(</m:t>
                    </m:r>
                    <m:r>
                      <a:rPr lang="en-US" b="0" i="1" smtClean="0">
                        <a:latin typeface="Cambria Math" charset="0"/>
                      </a:rPr>
                      <m:t>𝑢</m:t>
                    </m:r>
                    <m:r>
                      <a:rPr lang="en-US" b="0" i="1" smtClean="0">
                        <a:latin typeface="Cambria Math" charset="0"/>
                      </a:rPr>
                      <m:t>,</m:t>
                    </m:r>
                    <m:r>
                      <a:rPr lang="en-US" b="0" i="1" smtClean="0">
                        <a:latin typeface="Cambria Math" charset="0"/>
                      </a:rPr>
                      <m:t>𝑣</m:t>
                    </m:r>
                    <m:r>
                      <a:rPr lang="en-US" b="0" i="1" smtClean="0">
                        <a:latin typeface="Cambria Math" charset="0"/>
                      </a:rPr>
                      <m:t>)</m:t>
                    </m:r>
                  </m:oMath>
                </a14:m>
                <a:endParaRPr lang="en-US"/>
              </a:p>
              <a:p>
                <a:r>
                  <a:rPr lang="en-US"/>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𝑘</m:t>
                        </m:r>
                      </m:e>
                      <m:sub>
                        <m:r>
                          <a:rPr lang="en-US" b="0" i="1" smtClean="0">
                            <a:latin typeface="Cambria Math" charset="0"/>
                          </a:rPr>
                          <m:t>𝑥</m:t>
                        </m:r>
                      </m:sub>
                    </m:sSub>
                  </m:oMath>
                </a14:m>
                <a:r>
                  <a:rPr lang="en-US"/>
                  <a:t> and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𝑘</m:t>
                        </m:r>
                      </m:e>
                      <m:sub>
                        <m:r>
                          <a:rPr lang="en-US" b="0" i="1" smtClean="0">
                            <a:latin typeface="Cambria Math" charset="0"/>
                          </a:rPr>
                          <m:t>𝑦</m:t>
                        </m:r>
                      </m:sub>
                    </m:sSub>
                  </m:oMath>
                </a14:m>
                <a:r>
                  <a:rPr lang="en-US"/>
                  <a:t> be the number of pixels per unit distance in image coordinates in the </a:t>
                </a:r>
                <a:r>
                  <a:rPr lang="en-US" i="1"/>
                  <a:t>x </a:t>
                </a:r>
                <a:r>
                  <a:rPr lang="en-US"/>
                  <a:t>and </a:t>
                </a:r>
                <a:r>
                  <a:rPr lang="en-US" i="1"/>
                  <a:t>y</a:t>
                </a:r>
                <a:r>
                  <a:rPr lang="en-US"/>
                  <a:t> directions, respectively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1874178"/>
              </a:xfrm>
              <a:blipFill>
                <a:blip r:embed="rId3"/>
                <a:stretch>
                  <a:fillRect l="-1043" t="-5519" r="-2087" b="-422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60A0150-4907-734C-9CE1-D8854326207F}" type="datetime1">
              <a:rPr lang="en-US" smtClean="0"/>
              <a:t>12/20/2025</a:t>
            </a:fld>
            <a:endParaRPr lang="en-US"/>
          </a:p>
        </p:txBody>
      </p:sp>
      <p:grpSp>
        <p:nvGrpSpPr>
          <p:cNvPr id="17" name="Group 16"/>
          <p:cNvGrpSpPr/>
          <p:nvPr/>
        </p:nvGrpSpPr>
        <p:grpSpPr>
          <a:xfrm>
            <a:off x="1283091" y="3763501"/>
            <a:ext cx="4596618" cy="2778589"/>
            <a:chOff x="3797691" y="3755569"/>
            <a:chExt cx="4596618" cy="2778589"/>
          </a:xfrm>
        </p:grpSpPr>
        <p:pic>
          <p:nvPicPr>
            <p:cNvPr id="8" name="Picture 7"/>
            <p:cNvPicPr>
              <a:picLocks noChangeAspect="1"/>
            </p:cNvPicPr>
            <p:nvPr/>
          </p:nvPicPr>
          <p:blipFill>
            <a:blip r:embed="rId4"/>
            <a:stretch>
              <a:fillRect/>
            </a:stretch>
          </p:blipFill>
          <p:spPr>
            <a:xfrm>
              <a:off x="3797691" y="4174262"/>
              <a:ext cx="4596618" cy="1893369"/>
            </a:xfrm>
            <a:prstGeom prst="rect">
              <a:avLst/>
            </a:prstGeom>
          </p:spPr>
        </p:pic>
        <p:sp>
          <p:nvSpPr>
            <p:cNvPr id="9" name="Left Brace 8"/>
            <p:cNvSpPr/>
            <p:nvPr/>
          </p:nvSpPr>
          <p:spPr>
            <a:xfrm rot="5400000" flipV="1">
              <a:off x="5916472" y="3898769"/>
              <a:ext cx="246513" cy="607258"/>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rot="16200000" flipV="1">
              <a:off x="5803931" y="5735866"/>
              <a:ext cx="246513" cy="607258"/>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p:cNvSpPr/>
            <p:nvPr/>
          </p:nvSpPr>
          <p:spPr>
            <a:xfrm rot="16200000" flipV="1">
              <a:off x="7686070" y="5735867"/>
              <a:ext cx="246513" cy="607258"/>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p:cNvSpPr/>
            <p:nvPr/>
          </p:nvSpPr>
          <p:spPr>
            <a:xfrm rot="5400000" flipV="1">
              <a:off x="7854881" y="3894928"/>
              <a:ext cx="246513" cy="607258"/>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Picture 12"/>
            <p:cNvPicPr>
              <a:picLocks noChangeAspect="1"/>
            </p:cNvPicPr>
            <p:nvPr/>
          </p:nvPicPr>
          <p:blipFill>
            <a:blip r:embed="rId5"/>
            <a:stretch>
              <a:fillRect/>
            </a:stretch>
          </p:blipFill>
          <p:spPr>
            <a:xfrm>
              <a:off x="7763805" y="3755569"/>
              <a:ext cx="378483" cy="256032"/>
            </a:xfrm>
            <a:prstGeom prst="rect">
              <a:avLst/>
            </a:prstGeom>
          </p:spPr>
        </p:pic>
        <p:pic>
          <p:nvPicPr>
            <p:cNvPr id="14" name="Picture 13"/>
            <p:cNvPicPr>
              <a:picLocks noChangeAspect="1"/>
            </p:cNvPicPr>
            <p:nvPr/>
          </p:nvPicPr>
          <p:blipFill>
            <a:blip r:embed="rId6"/>
            <a:stretch>
              <a:fillRect/>
            </a:stretch>
          </p:blipFill>
          <p:spPr>
            <a:xfrm>
              <a:off x="7674509" y="6278126"/>
              <a:ext cx="345087" cy="256032"/>
            </a:xfrm>
            <a:prstGeom prst="rect">
              <a:avLst/>
            </a:prstGeom>
          </p:spPr>
        </p:pic>
      </p:grpSp>
      <p:pic>
        <p:nvPicPr>
          <p:cNvPr id="18" name="Picture 17"/>
          <p:cNvPicPr>
            <a:picLocks noChangeAspect="1"/>
          </p:cNvPicPr>
          <p:nvPr/>
        </p:nvPicPr>
        <p:blipFill>
          <a:blip r:embed="rId7"/>
          <a:stretch>
            <a:fillRect/>
          </a:stretch>
        </p:blipFill>
        <p:spPr>
          <a:xfrm>
            <a:off x="6639363" y="5010223"/>
            <a:ext cx="419100" cy="254000"/>
          </a:xfrm>
          <a:prstGeom prst="rect">
            <a:avLst/>
          </a:prstGeom>
        </p:spPr>
      </p:pic>
      <p:sp>
        <p:nvSpPr>
          <p:cNvPr id="20" name="Rectangle 19"/>
          <p:cNvSpPr/>
          <p:nvPr/>
        </p:nvSpPr>
        <p:spPr>
          <a:xfrm>
            <a:off x="7569194" y="4005092"/>
            <a:ext cx="2841674" cy="224757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569194" y="6345211"/>
            <a:ext cx="2571025" cy="369332"/>
          </a:xfrm>
          <a:prstGeom prst="rect">
            <a:avLst/>
          </a:prstGeom>
          <a:noFill/>
        </p:spPr>
        <p:txBody>
          <a:bodyPr wrap="none" rtlCol="0">
            <a:spAutoFit/>
          </a:bodyPr>
          <a:lstStyle/>
          <a:p>
            <a:r>
              <a:rPr lang="en-US">
                <a:solidFill>
                  <a:srgbClr val="C00000"/>
                </a:solidFill>
              </a:rPr>
              <a:t>Nonlinear</a:t>
            </a:r>
            <a:r>
              <a:rPr lang="en-US"/>
              <a:t> transformation</a:t>
            </a:r>
          </a:p>
        </p:txBody>
      </p:sp>
      <p:pic>
        <p:nvPicPr>
          <p:cNvPr id="7" name="Picture 6"/>
          <p:cNvPicPr>
            <a:picLocks noChangeAspect="1"/>
          </p:cNvPicPr>
          <p:nvPr/>
        </p:nvPicPr>
        <p:blipFill>
          <a:blip r:embed="rId8"/>
          <a:stretch>
            <a:fillRect/>
          </a:stretch>
        </p:blipFill>
        <p:spPr>
          <a:xfrm>
            <a:off x="3413125" y="3814107"/>
            <a:ext cx="279400" cy="215900"/>
          </a:xfrm>
          <a:prstGeom prst="rect">
            <a:avLst/>
          </a:prstGeom>
        </p:spPr>
      </p:pic>
      <p:pic>
        <p:nvPicPr>
          <p:cNvPr id="22" name="Picture 21"/>
          <p:cNvPicPr>
            <a:picLocks noChangeAspect="1"/>
          </p:cNvPicPr>
          <p:nvPr/>
        </p:nvPicPr>
        <p:blipFill>
          <a:blip r:embed="rId9"/>
          <a:stretch>
            <a:fillRect/>
          </a:stretch>
        </p:blipFill>
        <p:spPr>
          <a:xfrm>
            <a:off x="3306494" y="6244014"/>
            <a:ext cx="221119" cy="347472"/>
          </a:xfrm>
          <a:prstGeom prst="rect">
            <a:avLst/>
          </a:prstGeom>
        </p:spPr>
      </p:pic>
      <p:pic>
        <p:nvPicPr>
          <p:cNvPr id="23" name="Picture 22"/>
          <p:cNvPicPr>
            <a:picLocks noChangeAspect="1"/>
          </p:cNvPicPr>
          <p:nvPr/>
        </p:nvPicPr>
        <p:blipFill>
          <a:blip r:embed="rId10"/>
          <a:stretch>
            <a:fillRect/>
          </a:stretch>
        </p:blipFill>
        <p:spPr>
          <a:xfrm>
            <a:off x="7700858" y="4137502"/>
            <a:ext cx="2656885" cy="1989788"/>
          </a:xfrm>
          <a:prstGeom prst="rect">
            <a:avLst/>
          </a:prstGeom>
        </p:spPr>
      </p:pic>
      <p:sp>
        <p:nvSpPr>
          <p:cNvPr id="24" name="Footer Placeholder 4"/>
          <p:cNvSpPr>
            <a:spLocks noGrp="1"/>
          </p:cNvSpPr>
          <p:nvPr>
            <p:ph type="ftr" sz="quarter" idx="11"/>
          </p:nvPr>
        </p:nvSpPr>
        <p:spPr>
          <a:xfrm>
            <a:off x="4038600" y="6542090"/>
            <a:ext cx="4114800" cy="365125"/>
          </a:xfrm>
        </p:spPr>
        <p:txBody>
          <a:bodyPr/>
          <a:lstStyle/>
          <a:p>
            <a:r>
              <a:rPr lang="hr-HR"/>
              <a:t>AA 174A | Lecture 10</a:t>
            </a:r>
            <a:endParaRPr lang="en-US"/>
          </a:p>
        </p:txBody>
      </p:sp>
    </p:spTree>
    <p:extLst>
      <p:ext uri="{BB962C8B-B14F-4D97-AF65-F5344CB8AC3E}">
        <p14:creationId xmlns:p14="http://schemas.microsoft.com/office/powerpoint/2010/main" val="93576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Homogeneous coordinates</a:t>
            </a:r>
          </a:p>
        </p:txBody>
      </p:sp>
      <p:sp>
        <p:nvSpPr>
          <p:cNvPr id="3" name="Content Placeholder 2"/>
          <p:cNvSpPr>
            <a:spLocks noGrp="1"/>
          </p:cNvSpPr>
          <p:nvPr>
            <p:ph idx="1"/>
          </p:nvPr>
        </p:nvSpPr>
        <p:spPr/>
        <p:txBody>
          <a:bodyPr/>
          <a:lstStyle/>
          <a:p>
            <a:r>
              <a:rPr lang="en-US"/>
              <a:t>Goal: represent the transformation as a linear mapping</a:t>
            </a:r>
          </a:p>
          <a:p>
            <a:r>
              <a:rPr lang="en-US"/>
              <a:t>Key idea: introduce homogeneous coordinates</a:t>
            </a:r>
          </a:p>
        </p:txBody>
      </p:sp>
      <p:sp>
        <p:nvSpPr>
          <p:cNvPr id="4" name="Date Placeholder 3"/>
          <p:cNvSpPr>
            <a:spLocks noGrp="1"/>
          </p:cNvSpPr>
          <p:nvPr>
            <p:ph type="dt" sz="half" idx="10"/>
          </p:nvPr>
        </p:nvSpPr>
        <p:spPr/>
        <p:txBody>
          <a:bodyPr/>
          <a:lstStyle/>
          <a:p>
            <a:fld id="{693596DB-8E50-FA43-87C9-AD88140A0A49}"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p:sp>
        <p:nvSpPr>
          <p:cNvPr id="12" name="TextBox 11"/>
          <p:cNvSpPr txBox="1"/>
          <p:nvPr/>
        </p:nvSpPr>
        <p:spPr>
          <a:xfrm>
            <a:off x="281211" y="3395404"/>
            <a:ext cx="3279552" cy="369332"/>
          </a:xfrm>
          <a:prstGeom prst="rect">
            <a:avLst/>
          </a:prstGeom>
          <a:noFill/>
        </p:spPr>
        <p:txBody>
          <a:bodyPr wrap="none" rtlCol="0">
            <a:spAutoFit/>
          </a:bodyPr>
          <a:lstStyle/>
          <a:p>
            <a:r>
              <a:rPr lang="en-US" err="1"/>
              <a:t>Inhomogenous</a:t>
            </a:r>
            <a:r>
              <a:rPr lang="en-US"/>
              <a:t> -&gt; homogeneous</a:t>
            </a:r>
          </a:p>
        </p:txBody>
      </p:sp>
      <p:sp>
        <p:nvSpPr>
          <p:cNvPr id="13" name="TextBox 12"/>
          <p:cNvSpPr txBox="1"/>
          <p:nvPr/>
        </p:nvSpPr>
        <p:spPr>
          <a:xfrm>
            <a:off x="6096000" y="3386185"/>
            <a:ext cx="3244286" cy="369332"/>
          </a:xfrm>
          <a:prstGeom prst="rect">
            <a:avLst/>
          </a:prstGeom>
          <a:noFill/>
        </p:spPr>
        <p:txBody>
          <a:bodyPr wrap="none" rtlCol="0">
            <a:spAutoFit/>
          </a:bodyPr>
          <a:lstStyle/>
          <a:p>
            <a:r>
              <a:rPr lang="en-US"/>
              <a:t>Homogenous -&gt; inhomogeneous</a:t>
            </a:r>
          </a:p>
        </p:txBody>
      </p:sp>
      <p:cxnSp>
        <p:nvCxnSpPr>
          <p:cNvPr id="15" name="Straight Connector 14"/>
          <p:cNvCxnSpPr/>
          <p:nvPr/>
        </p:nvCxnSpPr>
        <p:spPr>
          <a:xfrm>
            <a:off x="5700274" y="4001294"/>
            <a:ext cx="0" cy="1686779"/>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3"/>
          <a:stretch>
            <a:fillRect/>
          </a:stretch>
        </p:blipFill>
        <p:spPr>
          <a:xfrm>
            <a:off x="6219199" y="4219618"/>
            <a:ext cx="5381589" cy="1567365"/>
          </a:xfrm>
          <a:prstGeom prst="rect">
            <a:avLst/>
          </a:prstGeom>
        </p:spPr>
      </p:pic>
      <p:pic>
        <p:nvPicPr>
          <p:cNvPr id="7" name="Picture 6"/>
          <p:cNvPicPr>
            <a:picLocks noChangeAspect="1"/>
          </p:cNvPicPr>
          <p:nvPr/>
        </p:nvPicPr>
        <p:blipFill>
          <a:blip r:embed="rId4"/>
          <a:stretch>
            <a:fillRect/>
          </a:stretch>
        </p:blipFill>
        <p:spPr>
          <a:xfrm>
            <a:off x="281211" y="4215696"/>
            <a:ext cx="4986337" cy="1571287"/>
          </a:xfrm>
          <a:prstGeom prst="rect">
            <a:avLst/>
          </a:prstGeom>
        </p:spPr>
      </p:pic>
    </p:spTree>
    <p:extLst>
      <p:ext uri="{BB962C8B-B14F-4D97-AF65-F5344CB8AC3E}">
        <p14:creationId xmlns:p14="http://schemas.microsoft.com/office/powerpoint/2010/main" val="4264212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Perspective projection in </a:t>
            </a:r>
            <a:br>
              <a:rPr lang="en-US"/>
            </a:br>
            <a:r>
              <a:rPr lang="en-US"/>
              <a:t>homogeneous coordinates</a:t>
            </a:r>
          </a:p>
        </p:txBody>
      </p:sp>
      <p:sp>
        <p:nvSpPr>
          <p:cNvPr id="3" name="Content Placeholder 2"/>
          <p:cNvSpPr>
            <a:spLocks noGrp="1"/>
          </p:cNvSpPr>
          <p:nvPr>
            <p:ph idx="1"/>
          </p:nvPr>
        </p:nvSpPr>
        <p:spPr>
          <a:xfrm>
            <a:off x="838200" y="1656814"/>
            <a:ext cx="10515600" cy="4351338"/>
          </a:xfrm>
        </p:spPr>
        <p:txBody>
          <a:bodyPr/>
          <a:lstStyle/>
          <a:p>
            <a:r>
              <a:rPr lang="en-US"/>
              <a:t>Projection can be equivalently written in homogeneous coordinates</a:t>
            </a:r>
          </a:p>
          <a:p>
            <a:endParaRPr lang="en-US"/>
          </a:p>
          <a:p>
            <a:endParaRPr lang="en-US"/>
          </a:p>
          <a:p>
            <a:endParaRPr lang="en-US"/>
          </a:p>
          <a:p>
            <a:endParaRPr lang="en-US"/>
          </a:p>
          <a:p>
            <a:endParaRPr lang="en-US"/>
          </a:p>
          <a:p>
            <a:endParaRPr lang="en-US"/>
          </a:p>
          <a:p>
            <a:r>
              <a:rPr lang="en-US"/>
              <a:t>In homogeneous coordinates, the mapping is </a:t>
            </a:r>
            <a:r>
              <a:rPr lang="en-US">
                <a:solidFill>
                  <a:srgbClr val="C00000"/>
                </a:solidFill>
              </a:rPr>
              <a:t>linear</a:t>
            </a:r>
            <a:r>
              <a:rPr lang="en-US"/>
              <a:t>: </a:t>
            </a:r>
          </a:p>
        </p:txBody>
      </p:sp>
      <p:sp>
        <p:nvSpPr>
          <p:cNvPr id="4" name="Date Placeholder 3"/>
          <p:cNvSpPr>
            <a:spLocks noGrp="1"/>
          </p:cNvSpPr>
          <p:nvPr>
            <p:ph type="dt" sz="half" idx="10"/>
          </p:nvPr>
        </p:nvSpPr>
        <p:spPr/>
        <p:txBody>
          <a:bodyPr/>
          <a:lstStyle/>
          <a:p>
            <a:fld id="{1E890CA4-D9DB-AD43-9222-03E78BAD59F6}"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p:pic>
        <p:nvPicPr>
          <p:cNvPr id="8" name="Picture 7"/>
          <p:cNvPicPr>
            <a:picLocks noChangeAspect="1"/>
          </p:cNvPicPr>
          <p:nvPr/>
        </p:nvPicPr>
        <p:blipFill>
          <a:blip r:embed="rId3"/>
          <a:stretch>
            <a:fillRect/>
          </a:stretch>
        </p:blipFill>
        <p:spPr>
          <a:xfrm>
            <a:off x="3022600" y="2548970"/>
            <a:ext cx="6146800" cy="1648677"/>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5472333" y="4346382"/>
                <a:ext cx="2110154" cy="646331"/>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𝑐</m:t>
                        </m:r>
                      </m:sub>
                    </m:sSub>
                  </m:oMath>
                </a14:m>
                <a:r>
                  <a:rPr lang="en-US"/>
                  <a:t> in homogeneous coordinates</a:t>
                </a:r>
              </a:p>
            </p:txBody>
          </p:sp>
        </mc:Choice>
        <mc:Fallback xmlns="">
          <p:sp>
            <p:nvSpPr>
              <p:cNvPr id="9" name="TextBox 8"/>
              <p:cNvSpPr txBox="1">
                <a:spLocks noRot="1" noChangeAspect="1" noMove="1" noResize="1" noEditPoints="1" noAdjustHandles="1" noChangeArrowheads="1" noChangeShapeType="1" noTextEdit="1"/>
              </p:cNvSpPr>
              <p:nvPr/>
            </p:nvSpPr>
            <p:spPr>
              <a:xfrm>
                <a:off x="5472333" y="4346382"/>
                <a:ext cx="2110154" cy="646331"/>
              </a:xfrm>
              <a:prstGeom prst="rect">
                <a:avLst/>
              </a:prstGeom>
              <a:blipFill>
                <a:blip r:embed="rId4"/>
                <a:stretch>
                  <a:fillRect l="-2601" t="-5660" b="-14151"/>
                </a:stretch>
              </a:blipFill>
            </p:spPr>
            <p:txBody>
              <a:bodyPr/>
              <a:lstStyle/>
              <a:p>
                <a:r>
                  <a:rPr lang="en-US">
                    <a:noFill/>
                  </a:rPr>
                  <a:t> </a:t>
                </a:r>
              </a:p>
            </p:txBody>
          </p:sp>
        </mc:Fallback>
      </mc:AlternateContent>
      <p:sp>
        <p:nvSpPr>
          <p:cNvPr id="10" name="TextBox 9"/>
          <p:cNvSpPr txBox="1"/>
          <p:nvPr/>
        </p:nvSpPr>
        <p:spPr>
          <a:xfrm>
            <a:off x="8153400" y="4346381"/>
            <a:ext cx="2110154" cy="646331"/>
          </a:xfrm>
          <a:prstGeom prst="rect">
            <a:avLst/>
          </a:prstGeom>
          <a:noFill/>
        </p:spPr>
        <p:txBody>
          <a:bodyPr wrap="square" rtlCol="0">
            <a:spAutoFit/>
          </a:bodyPr>
          <a:lstStyle/>
          <a:p>
            <a:r>
              <a:rPr lang="en-US"/>
              <a:t>Homogeneous pixel coordinates</a:t>
            </a:r>
          </a:p>
        </p:txBody>
      </p:sp>
      <p:cxnSp>
        <p:nvCxnSpPr>
          <p:cNvPr id="12" name="Straight Arrow Connector 11"/>
          <p:cNvCxnSpPr/>
          <p:nvPr/>
        </p:nvCxnSpPr>
        <p:spPr>
          <a:xfrm flipV="1">
            <a:off x="5950634" y="4197647"/>
            <a:ext cx="0" cy="14873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8482818" y="3923011"/>
            <a:ext cx="393896" cy="42337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16189" y="2811663"/>
            <a:ext cx="1526149" cy="1123536"/>
          </a:xfrm>
          <a:prstGeom prst="rect">
            <a:avLst/>
          </a:prstGeom>
          <a:noFill/>
          <a:ln w="254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593753" y="4360179"/>
            <a:ext cx="3123027" cy="646331"/>
          </a:xfrm>
          <a:prstGeom prst="rect">
            <a:avLst/>
          </a:prstGeom>
          <a:noFill/>
        </p:spPr>
        <p:txBody>
          <a:bodyPr wrap="square" rtlCol="0">
            <a:spAutoFit/>
          </a:bodyPr>
          <a:lstStyle/>
          <a:p>
            <a:r>
              <a:rPr lang="en-US"/>
              <a:t>Camera matrix/</a:t>
            </a:r>
          </a:p>
          <a:p>
            <a:r>
              <a:rPr lang="en-US"/>
              <a:t>Matrix of intrinsic parameters</a:t>
            </a:r>
          </a:p>
        </p:txBody>
      </p:sp>
      <p:cxnSp>
        <p:nvCxnSpPr>
          <p:cNvPr id="18" name="Straight Arrow Connector 17"/>
          <p:cNvCxnSpPr/>
          <p:nvPr/>
        </p:nvCxnSpPr>
        <p:spPr>
          <a:xfrm flipV="1">
            <a:off x="2660943" y="4060329"/>
            <a:ext cx="975555" cy="2998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Left Brace 19"/>
          <p:cNvSpPr/>
          <p:nvPr/>
        </p:nvSpPr>
        <p:spPr>
          <a:xfrm rot="5400000" flipV="1">
            <a:off x="3794204" y="1838400"/>
            <a:ext cx="202651" cy="1493619"/>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Picture 20"/>
          <p:cNvPicPr>
            <a:picLocks noChangeAspect="1"/>
          </p:cNvPicPr>
          <p:nvPr/>
        </p:nvPicPr>
        <p:blipFill>
          <a:blip r:embed="rId5"/>
          <a:stretch>
            <a:fillRect/>
          </a:stretch>
        </p:blipFill>
        <p:spPr>
          <a:xfrm>
            <a:off x="3757832" y="2197911"/>
            <a:ext cx="301675" cy="243286"/>
          </a:xfrm>
          <a:prstGeom prst="rect">
            <a:avLst/>
          </a:prstGeom>
        </p:spPr>
      </p:pic>
      <p:pic>
        <p:nvPicPr>
          <p:cNvPr id="22" name="Picture 21"/>
          <p:cNvPicPr>
            <a:picLocks noChangeAspect="1"/>
          </p:cNvPicPr>
          <p:nvPr/>
        </p:nvPicPr>
        <p:blipFill>
          <a:blip r:embed="rId6"/>
          <a:stretch>
            <a:fillRect/>
          </a:stretch>
        </p:blipFill>
        <p:spPr>
          <a:xfrm>
            <a:off x="4291330" y="5817180"/>
            <a:ext cx="3318608" cy="492069"/>
          </a:xfrm>
          <a:prstGeom prst="rect">
            <a:avLst/>
          </a:prstGeom>
        </p:spPr>
      </p:pic>
      <p:sp>
        <p:nvSpPr>
          <p:cNvPr id="23" name="TextBox 22"/>
          <p:cNvSpPr txBox="1"/>
          <p:nvPr/>
        </p:nvSpPr>
        <p:spPr>
          <a:xfrm>
            <a:off x="1167814" y="6015673"/>
            <a:ext cx="2567354" cy="646331"/>
          </a:xfrm>
          <a:prstGeom prst="rect">
            <a:avLst/>
          </a:prstGeom>
          <a:noFill/>
        </p:spPr>
        <p:txBody>
          <a:bodyPr wrap="square" rtlCol="0">
            <a:spAutoFit/>
          </a:bodyPr>
          <a:lstStyle/>
          <a:p>
            <a:r>
              <a:rPr lang="en-US"/>
              <a:t>Point </a:t>
            </a:r>
            <a:r>
              <a:rPr lang="en-US" i="1"/>
              <a:t>p </a:t>
            </a:r>
            <a:r>
              <a:rPr lang="en-US"/>
              <a:t>in</a:t>
            </a:r>
            <a:r>
              <a:rPr lang="en-US" i="1"/>
              <a:t> </a:t>
            </a:r>
            <a:r>
              <a:rPr lang="en-US"/>
              <a:t>homogeneous pixel coordinates</a:t>
            </a:r>
          </a:p>
        </p:txBody>
      </p:sp>
      <mc:AlternateContent xmlns:mc="http://schemas.openxmlformats.org/markup-compatibility/2006" xmlns:a14="http://schemas.microsoft.com/office/drawing/2010/main">
        <mc:Choice Requires="a14">
          <p:sp>
            <p:nvSpPr>
              <p:cNvPr id="24" name="TextBox 23"/>
              <p:cNvSpPr txBox="1"/>
              <p:nvPr/>
            </p:nvSpPr>
            <p:spPr>
              <a:xfrm>
                <a:off x="8039003" y="6016921"/>
                <a:ext cx="2567354" cy="646331"/>
              </a:xfrm>
              <a:prstGeom prst="rect">
                <a:avLst/>
              </a:prstGeom>
              <a:noFill/>
            </p:spPr>
            <p:txBody>
              <a:bodyPr wrap="square" rtlCol="0">
                <a:spAutoFit/>
              </a:bodyPr>
              <a:lstStyle/>
              <a:p>
                <a:r>
                  <a:rPr lang="en-US"/>
                  <a:t>Point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𝑃</m:t>
                        </m:r>
                      </m:e>
                      <m:sub>
                        <m:r>
                          <a:rPr lang="en-US" i="1">
                            <a:latin typeface="Cambria Math" charset="0"/>
                          </a:rPr>
                          <m:t>𝑐</m:t>
                        </m:r>
                      </m:sub>
                    </m:sSub>
                  </m:oMath>
                </a14:m>
                <a:r>
                  <a:rPr lang="en-US" i="1"/>
                  <a:t> </a:t>
                </a:r>
                <a:r>
                  <a:rPr lang="en-US"/>
                  <a:t>in homogeneous camera coordinates</a:t>
                </a:r>
              </a:p>
            </p:txBody>
          </p:sp>
        </mc:Choice>
        <mc:Fallback xmlns="">
          <p:sp>
            <p:nvSpPr>
              <p:cNvPr id="24" name="TextBox 23"/>
              <p:cNvSpPr txBox="1">
                <a:spLocks noRot="1" noChangeAspect="1" noMove="1" noResize="1" noEditPoints="1" noAdjustHandles="1" noChangeArrowheads="1" noChangeShapeType="1" noTextEdit="1"/>
              </p:cNvSpPr>
              <p:nvPr/>
            </p:nvSpPr>
            <p:spPr>
              <a:xfrm>
                <a:off x="8039003" y="6016921"/>
                <a:ext cx="2567354" cy="646331"/>
              </a:xfrm>
              <a:prstGeom prst="rect">
                <a:avLst/>
              </a:prstGeom>
              <a:blipFill>
                <a:blip r:embed="rId7"/>
                <a:stretch>
                  <a:fillRect l="-2138" t="-4717" r="-2138" b="-14151"/>
                </a:stretch>
              </a:blipFill>
            </p:spPr>
            <p:txBody>
              <a:bodyPr/>
              <a:lstStyle/>
              <a:p>
                <a:r>
                  <a:rPr lang="en-US">
                    <a:noFill/>
                  </a:rPr>
                  <a:t> </a:t>
                </a:r>
              </a:p>
            </p:txBody>
          </p:sp>
        </mc:Fallback>
      </mc:AlternateContent>
      <p:cxnSp>
        <p:nvCxnSpPr>
          <p:cNvPr id="25" name="Straight Arrow Connector 24"/>
          <p:cNvCxnSpPr>
            <a:stCxn id="24" idx="1"/>
          </p:cNvCxnSpPr>
          <p:nvPr/>
        </p:nvCxnSpPr>
        <p:spPr>
          <a:xfrm flipH="1" flipV="1">
            <a:off x="7737035" y="6114336"/>
            <a:ext cx="301968" cy="22575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3" idx="3"/>
          </p:cNvCxnSpPr>
          <p:nvPr/>
        </p:nvCxnSpPr>
        <p:spPr>
          <a:xfrm flipV="1">
            <a:off x="3735168" y="6102263"/>
            <a:ext cx="429065" cy="23657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04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Skewness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589463"/>
              </a:xfrm>
            </p:spPr>
            <p:txBody>
              <a:bodyPr/>
              <a:lstStyle/>
              <a:p>
                <a:r>
                  <a:rPr lang="en-US"/>
                  <a:t>In some (rare) cases</a:t>
                </a:r>
              </a:p>
              <a:p>
                <a:endParaRPr lang="en-US"/>
              </a:p>
              <a:p>
                <a:endParaRPr lang="en-US"/>
              </a:p>
              <a:p>
                <a:endParaRPr lang="en-US"/>
              </a:p>
              <a:p>
                <a:endParaRPr lang="en-US"/>
              </a:p>
              <a:p>
                <a:r>
                  <a:rPr lang="en-US"/>
                  <a:t>When is </a:t>
                </a:r>
                <a14:m>
                  <m:oMath xmlns:m="http://schemas.openxmlformats.org/officeDocument/2006/math">
                    <m:r>
                      <a:rPr lang="en-US" b="0" i="1" smtClean="0">
                        <a:latin typeface="Cambria Math" charset="0"/>
                      </a:rPr>
                      <m:t>𝛾</m:t>
                    </m:r>
                    <m:r>
                      <a:rPr lang="en-US" b="0" i="1" smtClean="0">
                        <a:latin typeface="Cambria Math" charset="0"/>
                      </a:rPr>
                      <m:t>≠0</m:t>
                    </m:r>
                  </m:oMath>
                </a14:m>
                <a:r>
                  <a:rPr lang="en-US"/>
                  <a:t>?</a:t>
                </a:r>
              </a:p>
              <a:p>
                <a:pPr lvl="1"/>
                <a:r>
                  <a:rPr lang="en-US"/>
                  <a:t>x- and y-axis of the camera are not perpendicular (unlikely)</a:t>
                </a:r>
              </a:p>
              <a:p>
                <a:pPr lvl="1"/>
                <a:r>
                  <a:rPr lang="en-US"/>
                  <a:t>For example, as a result of taking an image of an image</a:t>
                </a:r>
              </a:p>
              <a:p>
                <a:r>
                  <a:rPr lang="en-US"/>
                  <a:t>Five parameters in total!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589463"/>
              </a:xfrm>
              <a:blipFill>
                <a:blip r:embed="rId3"/>
                <a:stretch>
                  <a:fillRect l="-1043" t="-225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BF828213-04AF-AC4C-AE81-2DAF874BE0AA}"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a:p>
        </p:txBody>
      </p:sp>
      <p:sp>
        <p:nvSpPr>
          <p:cNvPr id="9" name="TextBox 8"/>
          <p:cNvSpPr txBox="1"/>
          <p:nvPr/>
        </p:nvSpPr>
        <p:spPr>
          <a:xfrm>
            <a:off x="6998310" y="2169612"/>
            <a:ext cx="2567354" cy="369332"/>
          </a:xfrm>
          <a:prstGeom prst="rect">
            <a:avLst/>
          </a:prstGeom>
          <a:noFill/>
        </p:spPr>
        <p:txBody>
          <a:bodyPr wrap="square" rtlCol="0">
            <a:spAutoFit/>
          </a:bodyPr>
          <a:lstStyle/>
          <a:p>
            <a:r>
              <a:rPr lang="en-US"/>
              <a:t>Skew parameter</a:t>
            </a:r>
          </a:p>
        </p:txBody>
      </p:sp>
      <p:cxnSp>
        <p:nvCxnSpPr>
          <p:cNvPr id="10" name="Straight Arrow Connector 9"/>
          <p:cNvCxnSpPr/>
          <p:nvPr/>
        </p:nvCxnSpPr>
        <p:spPr>
          <a:xfrm flipH="1">
            <a:off x="6586539" y="2419881"/>
            <a:ext cx="411771" cy="18097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4"/>
          <a:stretch>
            <a:fillRect/>
          </a:stretch>
        </p:blipFill>
        <p:spPr>
          <a:xfrm>
            <a:off x="4666404" y="2481792"/>
            <a:ext cx="2859192" cy="1371568"/>
          </a:xfrm>
          <a:prstGeom prst="rect">
            <a:avLst/>
          </a:prstGeom>
        </p:spPr>
      </p:pic>
    </p:spTree>
    <p:extLst>
      <p:ext uri="{BB962C8B-B14F-4D97-AF65-F5344CB8AC3E}">
        <p14:creationId xmlns:p14="http://schemas.microsoft.com/office/powerpoint/2010/main" val="3397436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a:t>
            </a:r>
          </a:p>
        </p:txBody>
      </p:sp>
      <p:sp>
        <p:nvSpPr>
          <p:cNvPr id="3" name="Content Placeholder 2"/>
          <p:cNvSpPr>
            <a:spLocks noGrp="1"/>
          </p:cNvSpPr>
          <p:nvPr>
            <p:ph idx="1"/>
          </p:nvPr>
        </p:nvSpPr>
        <p:spPr>
          <a:xfrm>
            <a:off x="838200" y="1594779"/>
            <a:ext cx="10515600" cy="4351338"/>
          </a:xfrm>
        </p:spPr>
        <p:txBody>
          <a:bodyPr>
            <a:normAutofit/>
          </a:bodyPr>
          <a:lstStyle/>
          <a:p>
            <a:r>
              <a:rPr lang="en-US" dirty="0"/>
              <a:t>So far, we have derived a mapping between a point </a:t>
            </a:r>
            <a:r>
              <a:rPr lang="en-US" i="1" dirty="0"/>
              <a:t>P</a:t>
            </a:r>
            <a:r>
              <a:rPr lang="en-US" dirty="0"/>
              <a:t> in the 3D camera reference frame to a point </a:t>
            </a:r>
            <a:r>
              <a:rPr lang="en-US" i="1" dirty="0"/>
              <a:t>p</a:t>
            </a:r>
            <a:r>
              <a:rPr lang="en-US" dirty="0"/>
              <a:t> in the 2D image plane  </a:t>
            </a:r>
          </a:p>
          <a:p>
            <a:r>
              <a:rPr lang="en-US" dirty="0"/>
              <a:t>Last step is to include in our mapping an additional transformation to account for the difference between the world frame and the 3D camera reference frame</a:t>
            </a:r>
          </a:p>
        </p:txBody>
      </p:sp>
      <p:sp>
        <p:nvSpPr>
          <p:cNvPr id="4" name="Date Placeholder 3"/>
          <p:cNvSpPr>
            <a:spLocks noGrp="1"/>
          </p:cNvSpPr>
          <p:nvPr>
            <p:ph type="dt" sz="half" idx="10"/>
          </p:nvPr>
        </p:nvSpPr>
        <p:spPr/>
        <p:txBody>
          <a:bodyPr/>
          <a:lstStyle/>
          <a:p>
            <a:fld id="{5A53D8D5-C0C3-7C47-AB9D-9886C2C1C767}"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grpSp>
        <p:nvGrpSpPr>
          <p:cNvPr id="8" name="Group 7"/>
          <p:cNvGrpSpPr/>
          <p:nvPr/>
        </p:nvGrpSpPr>
        <p:grpSpPr>
          <a:xfrm>
            <a:off x="3581400" y="3629199"/>
            <a:ext cx="6221828" cy="2547764"/>
            <a:chOff x="437857" y="3605953"/>
            <a:chExt cx="6221828" cy="2547764"/>
          </a:xfrm>
        </p:grpSpPr>
        <p:grpSp>
          <p:nvGrpSpPr>
            <p:cNvPr id="10" name="Group 9"/>
            <p:cNvGrpSpPr/>
            <p:nvPr/>
          </p:nvGrpSpPr>
          <p:grpSpPr>
            <a:xfrm>
              <a:off x="437857" y="3605953"/>
              <a:ext cx="6221828" cy="2547764"/>
              <a:chOff x="2552212" y="1195813"/>
              <a:chExt cx="7143848" cy="3053325"/>
            </a:xfrm>
          </p:grpSpPr>
          <p:pic>
            <p:nvPicPr>
              <p:cNvPr id="12"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212" y="1195813"/>
                <a:ext cx="7143848" cy="3053325"/>
              </a:xfrm>
              <a:prstGeom prst="rect">
                <a:avLst/>
              </a:prstGeom>
            </p:spPr>
          </p:pic>
          <p:sp>
            <p:nvSpPr>
              <p:cNvPr id="13" name="Rectangle 12"/>
              <p:cNvSpPr/>
              <p:nvPr/>
            </p:nvSpPr>
            <p:spPr>
              <a:xfrm>
                <a:off x="4333912" y="1790184"/>
                <a:ext cx="365760"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4"/>
              <a:stretch>
                <a:fillRect/>
              </a:stretch>
            </p:blipFill>
            <p:spPr>
              <a:xfrm>
                <a:off x="4516792" y="1870091"/>
                <a:ext cx="137646" cy="246314"/>
              </a:xfrm>
              <a:prstGeom prst="rect">
                <a:avLst/>
              </a:prstGeom>
            </p:spPr>
          </p:pic>
          <p:sp>
            <p:nvSpPr>
              <p:cNvPr id="15" name="Rectangle 14"/>
              <p:cNvSpPr/>
              <p:nvPr/>
            </p:nvSpPr>
            <p:spPr>
              <a:xfrm>
                <a:off x="3742716" y="1681621"/>
                <a:ext cx="251508" cy="3706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p:cNvSpPr/>
            <p:nvPr/>
          </p:nvSpPr>
          <p:spPr>
            <a:xfrm>
              <a:off x="5514535" y="4234375"/>
              <a:ext cx="243253" cy="177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p:cNvPicPr>
            <a:picLocks noChangeAspect="1"/>
          </p:cNvPicPr>
          <p:nvPr/>
        </p:nvPicPr>
        <p:blipFill>
          <a:blip r:embed="rId5"/>
          <a:stretch>
            <a:fillRect/>
          </a:stretch>
        </p:blipFill>
        <p:spPr>
          <a:xfrm>
            <a:off x="6811180" y="5364618"/>
            <a:ext cx="1342220" cy="1393844"/>
          </a:xfrm>
          <a:prstGeom prst="rect">
            <a:avLst/>
          </a:prstGeom>
        </p:spPr>
      </p:pic>
      <p:pic>
        <p:nvPicPr>
          <p:cNvPr id="18" name="Picture 17"/>
          <p:cNvPicPr>
            <a:picLocks noChangeAspect="1"/>
          </p:cNvPicPr>
          <p:nvPr/>
        </p:nvPicPr>
        <p:blipFill>
          <a:blip r:embed="rId6"/>
          <a:stretch>
            <a:fillRect/>
          </a:stretch>
        </p:blipFill>
        <p:spPr>
          <a:xfrm>
            <a:off x="8658078" y="4237445"/>
            <a:ext cx="782268" cy="215798"/>
          </a:xfrm>
          <a:prstGeom prst="rect">
            <a:avLst/>
          </a:prstGeom>
        </p:spPr>
      </p:pic>
    </p:spTree>
    <p:extLst>
      <p:ext uri="{BB962C8B-B14F-4D97-AF65-F5344CB8AC3E}">
        <p14:creationId xmlns:p14="http://schemas.microsoft.com/office/powerpoint/2010/main" val="411161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Rigid transformations</a:t>
            </a:r>
          </a:p>
        </p:txBody>
      </p:sp>
      <p:sp>
        <p:nvSpPr>
          <p:cNvPr id="4" name="Date Placeholder 3"/>
          <p:cNvSpPr>
            <a:spLocks noGrp="1"/>
          </p:cNvSpPr>
          <p:nvPr>
            <p:ph type="dt" sz="half" idx="10"/>
          </p:nvPr>
        </p:nvSpPr>
        <p:spPr/>
        <p:txBody>
          <a:bodyPr/>
          <a:lstStyle/>
          <a:p>
            <a:fld id="{F4E52D6E-59EF-3443-AAEB-E4475832FEBC}"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sp>
        <p:nvSpPr>
          <p:cNvPr id="11" name="Content Placeholder 2"/>
          <p:cNvSpPr>
            <a:spLocks noGrp="1"/>
          </p:cNvSpPr>
          <p:nvPr>
            <p:ph idx="1"/>
          </p:nvPr>
        </p:nvSpPr>
        <p:spPr>
          <a:xfrm>
            <a:off x="6376230" y="2832886"/>
            <a:ext cx="4831080" cy="1308528"/>
          </a:xfrm>
        </p:spPr>
        <p:txBody>
          <a:bodyPr>
            <a:normAutofit/>
          </a:bodyPr>
          <a:lstStyle/>
          <a:p>
            <a:pPr marL="0" indent="0">
              <a:buNone/>
            </a:pPr>
            <a:r>
              <a:rPr lang="en-US" dirty="0"/>
              <a:t>where </a:t>
            </a:r>
            <a:r>
              <a:rPr lang="en-US" i="1" dirty="0"/>
              <a:t>R</a:t>
            </a:r>
            <a:r>
              <a:rPr lang="en-US" dirty="0"/>
              <a:t> is the rotation matrix relating camera and world frames</a:t>
            </a:r>
          </a:p>
        </p:txBody>
      </p:sp>
      <p:pic>
        <p:nvPicPr>
          <p:cNvPr id="13" name="Picture 12"/>
          <p:cNvPicPr>
            <a:picLocks noChangeAspect="1"/>
          </p:cNvPicPr>
          <p:nvPr/>
        </p:nvPicPr>
        <p:blipFill>
          <a:blip r:embed="rId3"/>
          <a:stretch>
            <a:fillRect/>
          </a:stretch>
        </p:blipFill>
        <p:spPr>
          <a:xfrm>
            <a:off x="573803" y="2062950"/>
            <a:ext cx="4475815" cy="3702096"/>
          </a:xfrm>
          <a:prstGeom prst="rect">
            <a:avLst/>
          </a:prstGeom>
        </p:spPr>
      </p:pic>
      <p:pic>
        <p:nvPicPr>
          <p:cNvPr id="14" name="Picture 13"/>
          <p:cNvPicPr>
            <a:picLocks noChangeAspect="1"/>
          </p:cNvPicPr>
          <p:nvPr/>
        </p:nvPicPr>
        <p:blipFill>
          <a:blip r:embed="rId4"/>
          <a:stretch>
            <a:fillRect/>
          </a:stretch>
        </p:blipFill>
        <p:spPr>
          <a:xfrm>
            <a:off x="6376230" y="4188876"/>
            <a:ext cx="4106008" cy="1152875"/>
          </a:xfrm>
          <a:prstGeom prst="rect">
            <a:avLst/>
          </a:prstGeom>
        </p:spPr>
      </p:pic>
      <p:pic>
        <p:nvPicPr>
          <p:cNvPr id="17" name="Picture 16"/>
          <p:cNvPicPr>
            <a:picLocks noChangeAspect="1"/>
          </p:cNvPicPr>
          <p:nvPr/>
        </p:nvPicPr>
        <p:blipFill>
          <a:blip r:embed="rId5"/>
          <a:stretch>
            <a:fillRect/>
          </a:stretch>
        </p:blipFill>
        <p:spPr>
          <a:xfrm>
            <a:off x="6376230" y="5769039"/>
            <a:ext cx="2669296" cy="293433"/>
          </a:xfrm>
          <a:prstGeom prst="rect">
            <a:avLst/>
          </a:prstGeom>
        </p:spPr>
      </p:pic>
      <p:sp>
        <p:nvSpPr>
          <p:cNvPr id="18" name="Rectangle 17"/>
          <p:cNvSpPr/>
          <p:nvPr/>
        </p:nvSpPr>
        <p:spPr>
          <a:xfrm>
            <a:off x="6166340" y="5686756"/>
            <a:ext cx="3104271" cy="4601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86238" y="2414589"/>
            <a:ext cx="371475"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6"/>
          <a:stretch>
            <a:fillRect/>
          </a:stretch>
        </p:blipFill>
        <p:spPr>
          <a:xfrm>
            <a:off x="4166578" y="2467732"/>
            <a:ext cx="946785" cy="261182"/>
          </a:xfrm>
          <a:prstGeom prst="rect">
            <a:avLst/>
          </a:prstGeom>
        </p:spPr>
      </p:pic>
      <p:pic>
        <p:nvPicPr>
          <p:cNvPr id="9" name="Picture 8"/>
          <p:cNvPicPr>
            <a:picLocks noChangeAspect="1"/>
          </p:cNvPicPr>
          <p:nvPr/>
        </p:nvPicPr>
        <p:blipFill>
          <a:blip r:embed="rId7"/>
          <a:stretch>
            <a:fillRect/>
          </a:stretch>
        </p:blipFill>
        <p:spPr>
          <a:xfrm>
            <a:off x="6376230" y="1622187"/>
            <a:ext cx="1680405" cy="320077"/>
          </a:xfrm>
          <a:prstGeom prst="rect">
            <a:avLst/>
          </a:prstGeom>
        </p:spPr>
      </p:pic>
      <p:pic>
        <p:nvPicPr>
          <p:cNvPr id="10" name="Picture 9"/>
          <p:cNvPicPr>
            <a:picLocks noChangeAspect="1"/>
          </p:cNvPicPr>
          <p:nvPr/>
        </p:nvPicPr>
        <p:blipFill>
          <a:blip r:embed="rId8"/>
          <a:stretch>
            <a:fillRect/>
          </a:stretch>
        </p:blipFill>
        <p:spPr>
          <a:xfrm>
            <a:off x="6376230" y="2258693"/>
            <a:ext cx="1608967" cy="343246"/>
          </a:xfrm>
          <a:prstGeom prst="rect">
            <a:avLst/>
          </a:prstGeom>
        </p:spPr>
      </p:pic>
      <p:sp>
        <p:nvSpPr>
          <p:cNvPr id="12" name="Rectangle 11"/>
          <p:cNvSpPr/>
          <p:nvPr/>
        </p:nvSpPr>
        <p:spPr>
          <a:xfrm>
            <a:off x="4081464" y="3581400"/>
            <a:ext cx="333375" cy="2703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9"/>
          <a:stretch>
            <a:fillRect/>
          </a:stretch>
        </p:blipFill>
        <p:spPr>
          <a:xfrm>
            <a:off x="4176713" y="3566522"/>
            <a:ext cx="171450" cy="274320"/>
          </a:xfrm>
          <a:prstGeom prst="rect">
            <a:avLst/>
          </a:prstGeom>
        </p:spPr>
      </p:pic>
    </p:spTree>
    <p:extLst>
      <p:ext uri="{BB962C8B-B14F-4D97-AF65-F5344CB8AC3E}">
        <p14:creationId xmlns:p14="http://schemas.microsoft.com/office/powerpoint/2010/main" val="181820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Rigid transformations in </a:t>
            </a:r>
            <a:br>
              <a:rPr lang="en-US" dirty="0"/>
            </a:br>
            <a:r>
              <a:rPr lang="en-US" dirty="0"/>
              <a:t>homogeneous coordinates</a:t>
            </a:r>
          </a:p>
        </p:txBody>
      </p:sp>
      <p:sp>
        <p:nvSpPr>
          <p:cNvPr id="4" name="Date Placeholder 3"/>
          <p:cNvSpPr>
            <a:spLocks noGrp="1"/>
          </p:cNvSpPr>
          <p:nvPr>
            <p:ph type="dt" sz="half" idx="10"/>
          </p:nvPr>
        </p:nvSpPr>
        <p:spPr/>
        <p:txBody>
          <a:bodyPr/>
          <a:lstStyle/>
          <a:p>
            <a:fld id="{7E93F09F-0F67-B24D-8A71-B618D42C92E1}"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7" name="Picture 6"/>
          <p:cNvPicPr>
            <a:picLocks noChangeAspect="1"/>
          </p:cNvPicPr>
          <p:nvPr/>
        </p:nvPicPr>
        <p:blipFill>
          <a:blip r:embed="rId3"/>
          <a:stretch>
            <a:fillRect/>
          </a:stretch>
        </p:blipFill>
        <p:spPr>
          <a:xfrm>
            <a:off x="3947844" y="2752232"/>
            <a:ext cx="4296312" cy="909438"/>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2754923" y="3924777"/>
                <a:ext cx="2567354" cy="646331"/>
              </a:xfrm>
              <a:prstGeom prst="rect">
                <a:avLst/>
              </a:prstGeom>
              <a:noFill/>
            </p:spPr>
            <p:txBody>
              <a:bodyPr wrap="square" rtlCol="0">
                <a:spAutoFit/>
              </a:bodyPr>
              <a:lstStyle/>
              <a:p>
                <a:r>
                  <a:rPr lang="en-US" dirty="0"/>
                  <a:t>Point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𝑃</m:t>
                        </m:r>
                      </m:e>
                      <m:sub>
                        <m:r>
                          <a:rPr lang="en-US" i="1">
                            <a:latin typeface="Cambria Math" charset="0"/>
                          </a:rPr>
                          <m:t>𝑐</m:t>
                        </m:r>
                      </m:sub>
                    </m:sSub>
                  </m:oMath>
                </a14:m>
                <a:r>
                  <a:rPr lang="en-US" i="1" dirty="0"/>
                  <a:t> </a:t>
                </a:r>
                <a:r>
                  <a:rPr lang="en-US" dirty="0"/>
                  <a:t>in homogeneous coordinates</a:t>
                </a:r>
              </a:p>
            </p:txBody>
          </p:sp>
        </mc:Choice>
        <mc:Fallback xmlns="">
          <p:sp>
            <p:nvSpPr>
              <p:cNvPr id="9" name="TextBox 8"/>
              <p:cNvSpPr txBox="1">
                <a:spLocks noRot="1" noChangeAspect="1" noMove="1" noResize="1" noEditPoints="1" noAdjustHandles="1" noChangeArrowheads="1" noChangeShapeType="1" noTextEdit="1"/>
              </p:cNvSpPr>
              <p:nvPr/>
            </p:nvSpPr>
            <p:spPr>
              <a:xfrm>
                <a:off x="2754923" y="3924777"/>
                <a:ext cx="2567354" cy="646331"/>
              </a:xfrm>
              <a:prstGeom prst="rect">
                <a:avLst/>
              </a:prstGeom>
              <a:blipFill rotWithShape="0">
                <a:blip r:embed="rId4"/>
                <a:stretch>
                  <a:fillRect l="-2138" t="-5660" r="-2138" b="-14151"/>
                </a:stretch>
              </a:blipFill>
            </p:spPr>
            <p:txBody>
              <a:bodyPr/>
              <a:lstStyle/>
              <a:p>
                <a:r>
                  <a:rPr lang="en-US">
                    <a:noFill/>
                  </a:rPr>
                  <a:t> </a:t>
                </a:r>
              </a:p>
            </p:txBody>
          </p:sp>
        </mc:Fallback>
      </mc:AlternateContent>
      <p:cxnSp>
        <p:nvCxnSpPr>
          <p:cNvPr id="10" name="Straight Arrow Connector 9"/>
          <p:cNvCxnSpPr/>
          <p:nvPr/>
        </p:nvCxnSpPr>
        <p:spPr>
          <a:xfrm flipV="1">
            <a:off x="3581400" y="3661671"/>
            <a:ext cx="457200" cy="263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334912" y="3898951"/>
                <a:ext cx="2721952" cy="646331"/>
              </a:xfrm>
              <a:prstGeom prst="rect">
                <a:avLst/>
              </a:prstGeom>
              <a:noFill/>
            </p:spPr>
            <p:txBody>
              <a:bodyPr wrap="square" rtlCol="0">
                <a:spAutoFit/>
              </a:bodyPr>
              <a:lstStyle/>
              <a:p>
                <a:r>
                  <a:rPr lang="en-US" dirty="0"/>
                  <a:t>Point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𝑃</m:t>
                        </m:r>
                      </m:e>
                      <m:sub>
                        <m:r>
                          <a:rPr lang="en-US" b="0" i="1" smtClean="0">
                            <a:latin typeface="Cambria Math" charset="0"/>
                          </a:rPr>
                          <m:t>𝑤</m:t>
                        </m:r>
                      </m:sub>
                    </m:sSub>
                  </m:oMath>
                </a14:m>
                <a:r>
                  <a:rPr lang="en-US" i="1" dirty="0"/>
                  <a:t> </a:t>
                </a:r>
                <a:r>
                  <a:rPr lang="en-US" dirty="0"/>
                  <a:t>in homogeneous coordinates</a:t>
                </a:r>
              </a:p>
            </p:txBody>
          </p:sp>
        </mc:Choice>
        <mc:Fallback xmlns="">
          <p:sp>
            <p:nvSpPr>
              <p:cNvPr id="12" name="TextBox 11"/>
              <p:cNvSpPr txBox="1">
                <a:spLocks noRot="1" noChangeAspect="1" noMove="1" noResize="1" noEditPoints="1" noAdjustHandles="1" noChangeArrowheads="1" noChangeShapeType="1" noTextEdit="1"/>
              </p:cNvSpPr>
              <p:nvPr/>
            </p:nvSpPr>
            <p:spPr>
              <a:xfrm>
                <a:off x="8334912" y="3898951"/>
                <a:ext cx="2721952" cy="646331"/>
              </a:xfrm>
              <a:prstGeom prst="rect">
                <a:avLst/>
              </a:prstGeom>
              <a:blipFill rotWithShape="0">
                <a:blip r:embed="rId5"/>
                <a:stretch>
                  <a:fillRect l="-1790" t="-5660" b="-14151"/>
                </a:stretch>
              </a:blipFill>
            </p:spPr>
            <p:txBody>
              <a:bodyPr/>
              <a:lstStyle/>
              <a:p>
                <a:r>
                  <a:rPr lang="en-US">
                    <a:noFill/>
                  </a:rPr>
                  <a:t> </a:t>
                </a:r>
              </a:p>
            </p:txBody>
          </p:sp>
        </mc:Fallback>
      </mc:AlternateContent>
      <p:cxnSp>
        <p:nvCxnSpPr>
          <p:cNvPr id="13" name="Straight Arrow Connector 12"/>
          <p:cNvCxnSpPr/>
          <p:nvPr/>
        </p:nvCxnSpPr>
        <p:spPr>
          <a:xfrm flipH="1" flipV="1">
            <a:off x="8244156" y="3635844"/>
            <a:ext cx="519113" cy="26739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743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Perspective projection equation</a:t>
            </a:r>
          </a:p>
        </p:txBody>
      </p:sp>
      <p:sp>
        <p:nvSpPr>
          <p:cNvPr id="3" name="Content Placeholder 2"/>
          <p:cNvSpPr>
            <a:spLocks noGrp="1"/>
          </p:cNvSpPr>
          <p:nvPr>
            <p:ph idx="1"/>
          </p:nvPr>
        </p:nvSpPr>
        <p:spPr>
          <a:xfrm>
            <a:off x="838200" y="1797048"/>
            <a:ext cx="10515600" cy="4716465"/>
          </a:xfrm>
        </p:spPr>
        <p:txBody>
          <a:bodyPr>
            <a:normAutofit/>
          </a:bodyPr>
          <a:lstStyle/>
          <a:p>
            <a:r>
              <a:rPr lang="en-US" dirty="0"/>
              <a:t>Collecting all results</a:t>
            </a:r>
          </a:p>
          <a:p>
            <a:endParaRPr lang="en-US" dirty="0"/>
          </a:p>
          <a:p>
            <a:endParaRPr lang="en-US" dirty="0"/>
          </a:p>
          <a:p>
            <a:r>
              <a:rPr lang="en-US" dirty="0"/>
              <a:t>Hence</a:t>
            </a:r>
          </a:p>
          <a:p>
            <a:endParaRPr lang="en-US" dirty="0"/>
          </a:p>
          <a:p>
            <a:endParaRPr lang="en-US" dirty="0"/>
          </a:p>
          <a:p>
            <a:endParaRPr lang="en-US" dirty="0"/>
          </a:p>
          <a:p>
            <a:r>
              <a:rPr lang="en-US" dirty="0"/>
              <a:t>Degrees of freedom: 4 for </a:t>
            </a:r>
            <a:r>
              <a:rPr lang="en-US" i="1" dirty="0"/>
              <a:t>K </a:t>
            </a:r>
            <a:r>
              <a:rPr lang="en-US" dirty="0"/>
              <a:t>(or 5 if we also include skewness), 3 for </a:t>
            </a:r>
            <a:r>
              <a:rPr lang="en-US" i="1" dirty="0"/>
              <a:t>R</a:t>
            </a:r>
            <a:r>
              <a:rPr lang="en-US" dirty="0"/>
              <a:t>, and 3 for </a:t>
            </a:r>
            <a:r>
              <a:rPr lang="en-US" i="1" dirty="0"/>
              <a:t>t. </a:t>
            </a:r>
            <a:r>
              <a:rPr lang="en-US" dirty="0"/>
              <a:t>Total is  10 (or 11 if we include skewness)</a:t>
            </a:r>
            <a:endParaRPr lang="en-US" i="1" dirty="0"/>
          </a:p>
        </p:txBody>
      </p:sp>
      <p:sp>
        <p:nvSpPr>
          <p:cNvPr id="4" name="Date Placeholder 3"/>
          <p:cNvSpPr>
            <a:spLocks noGrp="1"/>
          </p:cNvSpPr>
          <p:nvPr>
            <p:ph type="dt" sz="half" idx="10"/>
          </p:nvPr>
        </p:nvSpPr>
        <p:spPr/>
        <p:txBody>
          <a:bodyPr/>
          <a:lstStyle/>
          <a:p>
            <a:fld id="{4874945D-5288-D540-A7B4-6638325BFF1E}"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7" name="Picture 6"/>
          <p:cNvPicPr>
            <a:picLocks noChangeAspect="1"/>
          </p:cNvPicPr>
          <p:nvPr/>
        </p:nvPicPr>
        <p:blipFill>
          <a:blip r:embed="rId3"/>
          <a:stretch>
            <a:fillRect/>
          </a:stretch>
        </p:blipFill>
        <p:spPr>
          <a:xfrm>
            <a:off x="2311400" y="2204830"/>
            <a:ext cx="7569200" cy="827287"/>
          </a:xfrm>
          <a:prstGeom prst="rect">
            <a:avLst/>
          </a:prstGeom>
        </p:spPr>
      </p:pic>
      <p:sp>
        <p:nvSpPr>
          <p:cNvPr id="9" name="Rectangle 8"/>
          <p:cNvSpPr/>
          <p:nvPr/>
        </p:nvSpPr>
        <p:spPr>
          <a:xfrm>
            <a:off x="4543864" y="4161026"/>
            <a:ext cx="3104271" cy="5455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740761" y="4839482"/>
            <a:ext cx="2102827" cy="369332"/>
          </a:xfrm>
          <a:prstGeom prst="rect">
            <a:avLst/>
          </a:prstGeom>
          <a:noFill/>
        </p:spPr>
        <p:txBody>
          <a:bodyPr wrap="square" rtlCol="0">
            <a:spAutoFit/>
          </a:bodyPr>
          <a:lstStyle/>
          <a:p>
            <a:r>
              <a:rPr lang="en-US"/>
              <a:t>Intrinsic parameters</a:t>
            </a:r>
            <a:endParaRPr lang="en-US" dirty="0"/>
          </a:p>
        </p:txBody>
      </p:sp>
      <p:cxnSp>
        <p:nvCxnSpPr>
          <p:cNvPr id="11" name="Straight Arrow Connector 10"/>
          <p:cNvCxnSpPr/>
          <p:nvPr/>
        </p:nvCxnSpPr>
        <p:spPr>
          <a:xfrm flipV="1">
            <a:off x="5210175" y="4586679"/>
            <a:ext cx="457200" cy="263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267450" y="4839482"/>
            <a:ext cx="2102827" cy="369332"/>
          </a:xfrm>
          <a:prstGeom prst="rect">
            <a:avLst/>
          </a:prstGeom>
          <a:noFill/>
        </p:spPr>
        <p:txBody>
          <a:bodyPr wrap="square" rtlCol="0">
            <a:spAutoFit/>
          </a:bodyPr>
          <a:lstStyle/>
          <a:p>
            <a:r>
              <a:rPr lang="en-US" dirty="0"/>
              <a:t>Extrinsic parameters</a:t>
            </a:r>
          </a:p>
        </p:txBody>
      </p:sp>
      <p:cxnSp>
        <p:nvCxnSpPr>
          <p:cNvPr id="13" name="Straight Arrow Connector 12"/>
          <p:cNvCxnSpPr/>
          <p:nvPr/>
        </p:nvCxnSpPr>
        <p:spPr>
          <a:xfrm flipH="1" flipV="1">
            <a:off x="6429155" y="4574982"/>
            <a:ext cx="501381" cy="27480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Left Brace 14"/>
          <p:cNvSpPr/>
          <p:nvPr/>
        </p:nvSpPr>
        <p:spPr>
          <a:xfrm rot="5400000" flipV="1">
            <a:off x="6117365" y="3401446"/>
            <a:ext cx="226316" cy="1140660"/>
          </a:xfrm>
          <a:prstGeom prst="leftBrace">
            <a:avLst>
              <a:gd name="adj1" fmla="val 8333"/>
              <a:gd name="adj2" fmla="val 49999"/>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5179109" y="3478093"/>
            <a:ext cx="2292810" cy="369332"/>
          </a:xfrm>
          <a:prstGeom prst="rect">
            <a:avLst/>
          </a:prstGeom>
          <a:noFill/>
        </p:spPr>
        <p:txBody>
          <a:bodyPr wrap="square" rtlCol="0">
            <a:spAutoFit/>
          </a:bodyPr>
          <a:lstStyle/>
          <a:p>
            <a:r>
              <a:rPr lang="en-US" dirty="0"/>
              <a:t>Projection matrix </a:t>
            </a:r>
            <a:r>
              <a:rPr lang="en-US" i="1" dirty="0"/>
              <a:t>M</a:t>
            </a:r>
          </a:p>
        </p:txBody>
      </p:sp>
      <p:pic>
        <p:nvPicPr>
          <p:cNvPr id="17" name="Picture 16"/>
          <p:cNvPicPr>
            <a:picLocks noChangeAspect="1"/>
          </p:cNvPicPr>
          <p:nvPr/>
        </p:nvPicPr>
        <p:blipFill>
          <a:blip r:embed="rId4"/>
          <a:stretch>
            <a:fillRect/>
          </a:stretch>
        </p:blipFill>
        <p:spPr>
          <a:xfrm>
            <a:off x="4643437" y="4200985"/>
            <a:ext cx="2828482" cy="453824"/>
          </a:xfrm>
          <a:prstGeom prst="rect">
            <a:avLst/>
          </a:prstGeom>
        </p:spPr>
      </p:pic>
    </p:spTree>
    <p:extLst>
      <p:ext uri="{BB962C8B-B14F-4D97-AF65-F5344CB8AC3E}">
        <p14:creationId xmlns:p14="http://schemas.microsoft.com/office/powerpoint/2010/main" val="1016131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Camera calibration: </a:t>
            </a:r>
            <a:br>
              <a:rPr lang="en-US" dirty="0"/>
            </a:br>
            <a:r>
              <a:rPr lang="en-US" dirty="0"/>
              <a:t>direct linear transformation method</a:t>
            </a:r>
          </a:p>
        </p:txBody>
      </p:sp>
      <p:sp>
        <p:nvSpPr>
          <p:cNvPr id="3" name="Content Placeholder 2"/>
          <p:cNvSpPr>
            <a:spLocks noGrp="1"/>
          </p:cNvSpPr>
          <p:nvPr>
            <p:ph idx="1"/>
          </p:nvPr>
        </p:nvSpPr>
        <p:spPr>
          <a:xfrm>
            <a:off x="838200" y="1782761"/>
            <a:ext cx="10515600" cy="4351338"/>
          </a:xfrm>
        </p:spPr>
        <p:txBody>
          <a:bodyPr/>
          <a:lstStyle/>
          <a:p>
            <a:r>
              <a:rPr lang="en-US" dirty="0">
                <a:solidFill>
                  <a:srgbClr val="C00000"/>
                </a:solidFill>
              </a:rPr>
              <a:t>Goal</a:t>
            </a:r>
            <a:r>
              <a:rPr lang="en-US" dirty="0"/>
              <a:t>: find the intrinsic and extrinsic parameters of the camera </a:t>
            </a:r>
          </a:p>
        </p:txBody>
      </p:sp>
      <p:sp>
        <p:nvSpPr>
          <p:cNvPr id="4" name="Date Placeholder 3"/>
          <p:cNvSpPr>
            <a:spLocks noGrp="1"/>
          </p:cNvSpPr>
          <p:nvPr>
            <p:ph type="dt" sz="half" idx="10"/>
          </p:nvPr>
        </p:nvSpPr>
        <p:spPr/>
        <p:txBody>
          <a:bodyPr/>
          <a:lstStyle/>
          <a:p>
            <a:fld id="{634C25D9-0710-084A-A23F-1536884FE22C}"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mc:AlternateContent xmlns:mc="http://schemas.openxmlformats.org/markup-compatibility/2006" xmlns:a14="http://schemas.microsoft.com/office/drawing/2010/main">
        <mc:Choice Requires="a14">
          <p:sp>
            <p:nvSpPr>
              <p:cNvPr id="8" name="Content Placeholder 2"/>
              <p:cNvSpPr txBox="1">
                <a:spLocks/>
              </p:cNvSpPr>
              <p:nvPr/>
            </p:nvSpPr>
            <p:spPr>
              <a:xfrm>
                <a:off x="7367588" y="2860856"/>
                <a:ext cx="4591050" cy="22224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solidFill>
                      <a:srgbClr val="C00000"/>
                    </a:solidFill>
                  </a:rPr>
                  <a:t>Strategy</a:t>
                </a:r>
                <a:r>
                  <a:rPr lang="en-US" dirty="0"/>
                  <a:t>: given known correspondences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𝑝</m:t>
                        </m:r>
                      </m:e>
                      <m:sub>
                        <m:r>
                          <a:rPr lang="en-US" b="0" i="1" smtClean="0">
                            <a:latin typeface="Cambria Math" charset="0"/>
                          </a:rPr>
                          <m:t>𝑖</m:t>
                        </m:r>
                      </m:sub>
                    </m:sSub>
                    <m:r>
                      <a:rPr lang="en-US" b="0" i="1" smtClean="0">
                        <a:latin typeface="Cambria Math" charset="0"/>
                      </a:rPr>
                      <m:t> </m:t>
                    </m:r>
                    <m:r>
                      <a:rPr lang="en-US" b="0" i="1" smtClean="0">
                        <a:latin typeface="Cambria Math" charset="0"/>
                        <a:ea typeface="Cambria Math" charset="0"/>
                        <a:cs typeface="Cambria Math" charset="0"/>
                      </a:rPr>
                      <m:t>↔</m:t>
                    </m:r>
                    <m:sSub>
                      <m:sSubPr>
                        <m:ctrlPr>
                          <a:rPr lang="en-US" b="0" i="1" smtClean="0">
                            <a:latin typeface="Cambria Math" panose="02040503050406030204" pitchFamily="18" charset="0"/>
                            <a:ea typeface="Cambria Math" charset="0"/>
                            <a:cs typeface="Cambria Math" charset="0"/>
                          </a:rPr>
                        </m:ctrlPr>
                      </m:sSubPr>
                      <m:e>
                        <m:r>
                          <a:rPr lang="en-US" b="0" i="1" smtClean="0">
                            <a:latin typeface="Cambria Math" charset="0"/>
                            <a:ea typeface="Cambria Math" charset="0"/>
                            <a:cs typeface="Cambria Math" charset="0"/>
                          </a:rPr>
                          <m:t>𝑃</m:t>
                        </m:r>
                      </m:e>
                      <m:sub>
                        <m:r>
                          <a:rPr lang="en-US" b="0" i="1" smtClean="0">
                            <a:latin typeface="Cambria Math" charset="0"/>
                            <a:ea typeface="Cambria Math" charset="0"/>
                            <a:cs typeface="Cambria Math" charset="0"/>
                          </a:rPr>
                          <m:t>𝑊</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𝑖</m:t>
                        </m:r>
                      </m:sub>
                    </m:sSub>
                  </m:oMath>
                </a14:m>
                <a:r>
                  <a:rPr lang="en-US" dirty="0"/>
                  <a:t>, compute unknown parameters </a:t>
                </a:r>
                <a:r>
                  <a:rPr lang="en-US" i="1" dirty="0"/>
                  <a:t>K</a:t>
                </a:r>
                <a:r>
                  <a:rPr lang="en-US" dirty="0"/>
                  <a:t>, </a:t>
                </a:r>
                <a:r>
                  <a:rPr lang="en-US" i="1" dirty="0"/>
                  <a:t>R</a:t>
                </a:r>
                <a:r>
                  <a:rPr lang="en-US" dirty="0"/>
                  <a:t>, </a:t>
                </a:r>
                <a:r>
                  <a:rPr lang="en-US" i="1" dirty="0"/>
                  <a:t>t</a:t>
                </a:r>
                <a:r>
                  <a:rPr lang="en-US" dirty="0"/>
                  <a:t> by applying perspective projection</a:t>
                </a: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7367588" y="2860856"/>
                <a:ext cx="4591050" cy="2222406"/>
              </a:xfrm>
              <a:prstGeom prst="rect">
                <a:avLst/>
              </a:prstGeom>
              <a:blipFill rotWithShape="0">
                <a:blip r:embed="rId3"/>
                <a:stretch>
                  <a:fillRect l="-2789" t="-4384" r="-19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p:cNvSpPr txBox="1">
                <a:spLocks/>
              </p:cNvSpPr>
              <p:nvPr/>
            </p:nvSpPr>
            <p:spPr>
              <a:xfrm>
                <a:off x="838199" y="5491253"/>
                <a:ext cx="7934325" cy="120879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𝑊</m:t>
                        </m:r>
                        <m:r>
                          <a:rPr lang="en-US" b="0" i="1" smtClean="0">
                            <a:latin typeface="Cambria Math" charset="0"/>
                          </a:rPr>
                          <m:t>,1</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𝑊</m:t>
                        </m:r>
                        <m:r>
                          <a:rPr lang="en-US" b="0" i="1" smtClean="0">
                            <a:latin typeface="Cambria Math" charset="0"/>
                          </a:rPr>
                          <m:t>,2</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𝑊</m:t>
                        </m:r>
                        <m:r>
                          <a:rPr lang="en-US" b="0" i="1" smtClean="0">
                            <a:latin typeface="Cambria Math" charset="0"/>
                          </a:rPr>
                          <m:t>,</m:t>
                        </m:r>
                        <m:r>
                          <a:rPr lang="en-US" b="0" i="1" smtClean="0">
                            <a:latin typeface="Cambria Math" charset="0"/>
                          </a:rPr>
                          <m:t>𝑛</m:t>
                        </m:r>
                      </m:sub>
                    </m:sSub>
                  </m:oMath>
                </a14:m>
                <a:r>
                  <a:rPr lang="en-US" dirty="0"/>
                  <a:t> with </a:t>
                </a:r>
                <a:r>
                  <a:rPr lang="en-US" dirty="0">
                    <a:solidFill>
                      <a:srgbClr val="C00000"/>
                    </a:solidFill>
                  </a:rPr>
                  <a:t>known</a:t>
                </a:r>
                <a:r>
                  <a:rPr lang="en-US" dirty="0"/>
                  <a:t> positions in world frame</a:t>
                </a:r>
              </a:p>
              <a:p>
                <a:pPr marL="0" indent="0">
                  <a:buNone/>
                </a:pPr>
                <a14:m>
                  <m:oMath xmlns:m="http://schemas.openxmlformats.org/officeDocument/2006/math">
                    <m:sSub>
                      <m:sSubPr>
                        <m:ctrlPr>
                          <a:rPr lang="en-US" i="1">
                            <a:latin typeface="Cambria Math" panose="02040503050406030204" pitchFamily="18" charset="0"/>
                          </a:rPr>
                        </m:ctrlPr>
                      </m:sSubPr>
                      <m:e>
                        <m:r>
                          <a:rPr lang="en-US" b="0" i="1" smtClean="0">
                            <a:latin typeface="Cambria Math" charset="0"/>
                          </a:rPr>
                          <m:t>𝑝</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b="0" i="1" smtClean="0">
                            <a:latin typeface="Cambria Math" charset="0"/>
                          </a:rPr>
                          <m:t>𝑝</m:t>
                        </m:r>
                      </m:e>
                      <m:sub>
                        <m:r>
                          <a:rPr lang="en-US" i="1">
                            <a:latin typeface="Cambria Math" charset="0"/>
                          </a:rPr>
                          <m:t>2</m:t>
                        </m:r>
                      </m:sub>
                    </m:sSub>
                    <m:r>
                      <a:rPr lang="en-US" i="1">
                        <a:latin typeface="Cambria Math" charset="0"/>
                      </a:rPr>
                      <m:t>,…,</m:t>
                    </m:r>
                    <m:sSub>
                      <m:sSubPr>
                        <m:ctrlPr>
                          <a:rPr lang="en-US" i="1">
                            <a:latin typeface="Cambria Math" panose="02040503050406030204" pitchFamily="18" charset="0"/>
                          </a:rPr>
                        </m:ctrlPr>
                      </m:sSubPr>
                      <m:e>
                        <m:r>
                          <a:rPr lang="en-US" b="0" i="1" smtClean="0">
                            <a:latin typeface="Cambria Math" charset="0"/>
                          </a:rPr>
                          <m:t>𝑝</m:t>
                        </m:r>
                      </m:e>
                      <m:sub>
                        <m:r>
                          <a:rPr lang="en-US" i="1">
                            <a:latin typeface="Cambria Math" charset="0"/>
                          </a:rPr>
                          <m:t>𝑛</m:t>
                        </m:r>
                      </m:sub>
                    </m:sSub>
                  </m:oMath>
                </a14:m>
                <a:r>
                  <a:rPr lang="en-US" dirty="0"/>
                  <a:t> with </a:t>
                </a:r>
                <a:r>
                  <a:rPr lang="en-US" dirty="0">
                    <a:solidFill>
                      <a:srgbClr val="C00000"/>
                    </a:solidFill>
                  </a:rPr>
                  <a:t>known</a:t>
                </a:r>
                <a:r>
                  <a:rPr lang="en-US" dirty="0"/>
                  <a:t> positions in image frame</a:t>
                </a:r>
              </a:p>
              <a:p>
                <a:pPr marL="0" indent="0">
                  <a:buFont typeface="Arial"/>
                  <a:buNone/>
                </a:pPr>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838199" y="5491253"/>
                <a:ext cx="7934325" cy="1208796"/>
              </a:xfrm>
              <a:prstGeom prst="rect">
                <a:avLst/>
              </a:prstGeom>
              <a:blipFill rotWithShape="0">
                <a:blip r:embed="rId4"/>
                <a:stretch>
                  <a:fillRect t="-6566"/>
                </a:stretch>
              </a:blipFill>
            </p:spPr>
            <p:txBody>
              <a:bodyPr/>
              <a:lstStyle/>
              <a:p>
                <a:r>
                  <a:rPr lang="en-US">
                    <a:noFill/>
                  </a:rPr>
                  <a:t> </a:t>
                </a:r>
              </a:p>
            </p:txBody>
          </p:sp>
        </mc:Fallback>
      </mc:AlternateContent>
      <p:sp>
        <p:nvSpPr>
          <p:cNvPr id="11" name="TextBox 10"/>
          <p:cNvSpPr txBox="1"/>
          <p:nvPr/>
        </p:nvSpPr>
        <p:spPr>
          <a:xfrm>
            <a:off x="3396577" y="5059202"/>
            <a:ext cx="1833563" cy="246221"/>
          </a:xfrm>
          <a:prstGeom prst="rect">
            <a:avLst/>
          </a:prstGeom>
          <a:noFill/>
        </p:spPr>
        <p:txBody>
          <a:bodyPr wrap="square" rtlCol="0">
            <a:spAutoFit/>
          </a:bodyPr>
          <a:lstStyle/>
          <a:p>
            <a:r>
              <a:rPr lang="en-US" sz="1000" dirty="0"/>
              <a:t>Credit: FP </a:t>
            </a:r>
            <a:r>
              <a:rPr lang="en-US" sz="1000"/>
              <a:t>Chapter 1</a:t>
            </a:r>
            <a:endParaRPr lang="en-US" sz="1000" dirty="0"/>
          </a:p>
        </p:txBody>
      </p:sp>
      <p:grpSp>
        <p:nvGrpSpPr>
          <p:cNvPr id="15" name="Group 14"/>
          <p:cNvGrpSpPr/>
          <p:nvPr/>
        </p:nvGrpSpPr>
        <p:grpSpPr>
          <a:xfrm>
            <a:off x="585787" y="2270926"/>
            <a:ext cx="6372225" cy="2956712"/>
            <a:chOff x="585787" y="2270926"/>
            <a:chExt cx="6372225" cy="2956712"/>
          </a:xfrm>
        </p:grpSpPr>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5787" y="2270926"/>
              <a:ext cx="6372225" cy="2956712"/>
            </a:xfrm>
            <a:prstGeom prst="rect">
              <a:avLst/>
            </a:prstGeom>
          </p:spPr>
        </p:pic>
        <p:sp>
          <p:nvSpPr>
            <p:cNvPr id="7" name="Rectangle 6"/>
            <p:cNvSpPr/>
            <p:nvPr/>
          </p:nvSpPr>
          <p:spPr>
            <a:xfrm>
              <a:off x="2057398" y="3413125"/>
              <a:ext cx="139702" cy="171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022473" y="3465557"/>
              <a:ext cx="60327" cy="171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063748" y="3467893"/>
              <a:ext cx="93665" cy="171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p:cNvPicPr>
            <a:picLocks noChangeAspect="1"/>
          </p:cNvPicPr>
          <p:nvPr/>
        </p:nvPicPr>
        <p:blipFill>
          <a:blip r:embed="rId6"/>
          <a:stretch>
            <a:fillRect/>
          </a:stretch>
        </p:blipFill>
        <p:spPr>
          <a:xfrm>
            <a:off x="1976534" y="3419837"/>
            <a:ext cx="517745" cy="274562"/>
          </a:xfrm>
          <a:prstGeom prst="rect">
            <a:avLst/>
          </a:prstGeom>
        </p:spPr>
      </p:pic>
    </p:spTree>
    <p:extLst>
      <p:ext uri="{BB962C8B-B14F-4D97-AF65-F5344CB8AC3E}">
        <p14:creationId xmlns:p14="http://schemas.microsoft.com/office/powerpoint/2010/main" val="1650393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First consider </a:t>
                </a:r>
                <a:r>
                  <a:rPr lang="en-US" dirty="0">
                    <a:solidFill>
                      <a:srgbClr val="C00000"/>
                    </a:solidFill>
                  </a:rPr>
                  <a:t>combined</a:t>
                </a:r>
                <a:r>
                  <a:rPr lang="en-US" dirty="0"/>
                  <a:t> parameters</a:t>
                </a:r>
              </a:p>
              <a:p>
                <a:endParaRPr lang="en-US" dirty="0"/>
              </a:p>
              <a:p>
                <a:endParaRPr lang="en-US" dirty="0"/>
              </a:p>
              <a:p>
                <a:endParaRPr lang="en-US" dirty="0"/>
              </a:p>
              <a:p>
                <a:r>
                  <a:rPr lang="en-US" dirty="0"/>
                  <a:t>This gives rise to </a:t>
                </a:r>
                <a14:m>
                  <m:oMath xmlns:m="http://schemas.openxmlformats.org/officeDocument/2006/math">
                    <m:r>
                      <a:rPr lang="en-US" b="0" i="1" smtClean="0">
                        <a:latin typeface="Cambria Math" charset="0"/>
                      </a:rPr>
                      <m:t>2</m:t>
                    </m:r>
                    <m:r>
                      <a:rPr lang="en-US" b="0" i="1" smtClean="0">
                        <a:latin typeface="Cambria Math" charset="0"/>
                      </a:rPr>
                      <m:t>𝑛</m:t>
                    </m:r>
                  </m:oMath>
                </a14:m>
                <a:r>
                  <a:rPr lang="en-US" dirty="0"/>
                  <a:t> component-wise equations, for </a:t>
                </a:r>
                <a14:m>
                  <m:oMath xmlns:m="http://schemas.openxmlformats.org/officeDocument/2006/math">
                    <m:r>
                      <a:rPr lang="en-US" b="0" i="1" smtClean="0">
                        <a:latin typeface="Cambria Math" charset="0"/>
                      </a:rPr>
                      <m:t>𝑖</m:t>
                    </m:r>
                    <m:r>
                      <a:rPr lang="en-US" b="0" i="1" smtClean="0">
                        <a:latin typeface="Cambria Math" charset="0"/>
                      </a:rPr>
                      <m:t>=1,…, </m:t>
                    </m:r>
                    <m:r>
                      <a:rPr lang="en-US" b="0" i="1" smtClean="0">
                        <a:latin typeface="Cambria Math" charset="0"/>
                      </a:rPr>
                      <m:t>𝑛</m:t>
                    </m:r>
                    <m:r>
                      <a:rPr lang="en-US" b="0" i="1" smtClean="0">
                        <a:latin typeface="Cambria Math" charset="0"/>
                      </a:rPr>
                      <m:t> </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1043" t="-224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B5E4F07-043D-AA48-80DB-4C1CE4153F62}"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10" name="Picture 9"/>
          <p:cNvPicPr>
            <a:picLocks noChangeAspect="1"/>
          </p:cNvPicPr>
          <p:nvPr/>
        </p:nvPicPr>
        <p:blipFill>
          <a:blip r:embed="rId4"/>
          <a:stretch>
            <a:fillRect/>
          </a:stretch>
        </p:blipFill>
        <p:spPr>
          <a:xfrm>
            <a:off x="1012031" y="2245836"/>
            <a:ext cx="10167937" cy="1361310"/>
          </a:xfrm>
          <a:prstGeom prst="rect">
            <a:avLst/>
          </a:prstGeom>
        </p:spPr>
      </p:pic>
      <p:pic>
        <p:nvPicPr>
          <p:cNvPr id="12" name="Picture 11"/>
          <p:cNvPicPr>
            <a:picLocks noChangeAspect="1"/>
          </p:cNvPicPr>
          <p:nvPr/>
        </p:nvPicPr>
        <p:blipFill>
          <a:blip r:embed="rId5"/>
          <a:stretch>
            <a:fillRect/>
          </a:stretch>
        </p:blipFill>
        <p:spPr>
          <a:xfrm>
            <a:off x="1492073" y="4436227"/>
            <a:ext cx="2222856" cy="2105863"/>
          </a:xfrm>
          <a:prstGeom prst="rect">
            <a:avLst/>
          </a:prstGeom>
        </p:spPr>
      </p:pic>
      <p:pic>
        <p:nvPicPr>
          <p:cNvPr id="13" name="Picture 12"/>
          <p:cNvPicPr>
            <a:picLocks noChangeAspect="1"/>
          </p:cNvPicPr>
          <p:nvPr/>
        </p:nvPicPr>
        <p:blipFill>
          <a:blip r:embed="rId6"/>
          <a:stretch>
            <a:fillRect/>
          </a:stretch>
        </p:blipFill>
        <p:spPr>
          <a:xfrm>
            <a:off x="5829300" y="4915468"/>
            <a:ext cx="4943385" cy="1147380"/>
          </a:xfrm>
          <a:prstGeom prst="rect">
            <a:avLst/>
          </a:prstGeom>
        </p:spPr>
      </p:pic>
      <p:pic>
        <p:nvPicPr>
          <p:cNvPr id="14" name="Picture 13"/>
          <p:cNvPicPr>
            <a:picLocks noChangeAspect="1"/>
          </p:cNvPicPr>
          <p:nvPr/>
        </p:nvPicPr>
        <p:blipFill>
          <a:blip r:embed="rId7"/>
          <a:stretch>
            <a:fillRect/>
          </a:stretch>
        </p:blipFill>
        <p:spPr>
          <a:xfrm>
            <a:off x="4643438" y="5404306"/>
            <a:ext cx="325526" cy="178514"/>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9624646" y="1456293"/>
                <a:ext cx="2567354" cy="369332"/>
              </a:xfrm>
              <a:prstGeom prst="rect">
                <a:avLst/>
              </a:prstGeom>
              <a:noFill/>
            </p:spPr>
            <p:txBody>
              <a:bodyPr wrap="square" rtlCol="0">
                <a:spAutoFit/>
              </a:bodyPr>
              <a:lstStyle/>
              <a:p>
                <a14:m>
                  <m:oMath xmlns:m="http://schemas.openxmlformats.org/officeDocument/2006/math">
                    <m:r>
                      <a:rPr lang="en-US" b="0" i="1" smtClean="0">
                        <a:latin typeface="Cambria Math" charset="0"/>
                      </a:rPr>
                      <m:t>1×4</m:t>
                    </m:r>
                  </m:oMath>
                </a14:m>
                <a:r>
                  <a:rPr lang="en-US" dirty="0"/>
                  <a:t> vector</a:t>
                </a:r>
              </a:p>
            </p:txBody>
          </p:sp>
        </mc:Choice>
        <mc:Fallback xmlns="">
          <p:sp>
            <p:nvSpPr>
              <p:cNvPr id="11" name="TextBox 10"/>
              <p:cNvSpPr txBox="1">
                <a:spLocks noRot="1" noChangeAspect="1" noMove="1" noResize="1" noEditPoints="1" noAdjustHandles="1" noChangeArrowheads="1" noChangeShapeType="1" noTextEdit="1"/>
              </p:cNvSpPr>
              <p:nvPr/>
            </p:nvSpPr>
            <p:spPr>
              <a:xfrm>
                <a:off x="9624646" y="1456293"/>
                <a:ext cx="2567354" cy="369332"/>
              </a:xfrm>
              <a:prstGeom prst="rect">
                <a:avLst/>
              </a:prstGeom>
              <a:blipFill rotWithShape="0">
                <a:blip r:embed="rId8"/>
                <a:stretch>
                  <a:fillRect t="-10000" b="-26667"/>
                </a:stretch>
              </a:blipFill>
            </p:spPr>
            <p:txBody>
              <a:bodyPr/>
              <a:lstStyle/>
              <a:p>
                <a:r>
                  <a:rPr lang="en-US">
                    <a:noFill/>
                  </a:rPr>
                  <a:t> </a:t>
                </a:r>
              </a:p>
            </p:txBody>
          </p:sp>
        </mc:Fallback>
      </mc:AlternateContent>
      <p:cxnSp>
        <p:nvCxnSpPr>
          <p:cNvPr id="15" name="Straight Arrow Connector 14"/>
          <p:cNvCxnSpPr/>
          <p:nvPr/>
        </p:nvCxnSpPr>
        <p:spPr>
          <a:xfrm>
            <a:off x="10543808" y="1795810"/>
            <a:ext cx="228877" cy="54252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75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262310" y="2123718"/>
            <a:ext cx="5450907" cy="1461068"/>
          </a:xfrm>
          <a:prstGeom prst="rect">
            <a:avLst/>
          </a:prstGeom>
        </p:spPr>
      </p:pic>
      <p:sp>
        <p:nvSpPr>
          <p:cNvPr id="2" name="Title 1"/>
          <p:cNvSpPr>
            <a:spLocks noGrp="1"/>
          </p:cNvSpPr>
          <p:nvPr>
            <p:ph type="title"/>
          </p:nvPr>
        </p:nvSpPr>
        <p:spPr/>
        <p:txBody>
          <a:bodyPr/>
          <a:lstStyle/>
          <a:p>
            <a:r>
              <a:rPr lang="en-US" dirty="0"/>
              <a:t>Calibration problem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716465"/>
              </a:xfrm>
            </p:spPr>
            <p:txBody>
              <a:bodyPr>
                <a:normAutofit/>
              </a:bodyPr>
              <a:lstStyle/>
              <a:p>
                <a:r>
                  <a:rPr lang="en-US" dirty="0"/>
                  <a:t>Stacking all equations together</a:t>
                </a:r>
              </a:p>
              <a:p>
                <a:endParaRPr lang="en-US" dirty="0"/>
              </a:p>
              <a:p>
                <a:endParaRPr lang="en-US" dirty="0"/>
              </a:p>
              <a:p>
                <a:endParaRPr lang="en-US" dirty="0"/>
              </a:p>
              <a:p>
                <a:endParaRPr lang="en-US" dirty="0"/>
              </a:p>
              <a:p>
                <a:endParaRPr lang="en-US"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charset="0"/>
                          </a:rPr>
                          <m:t>𝑃</m:t>
                        </m:r>
                      </m:e>
                    </m:acc>
                  </m:oMath>
                </a14:m>
                <a:r>
                  <a:rPr lang="en-US" dirty="0"/>
                  <a:t> contains in block form the known coefficients stemming from the given correspondences </a:t>
                </a:r>
              </a:p>
              <a:p>
                <a:r>
                  <a:rPr lang="en-US" dirty="0"/>
                  <a:t>To estimate 11 coefficients, we need </a:t>
                </a:r>
                <a:r>
                  <a:rPr lang="en-US" dirty="0">
                    <a:solidFill>
                      <a:srgbClr val="C00000"/>
                    </a:solidFill>
                  </a:rPr>
                  <a:t>at least 6 </a:t>
                </a:r>
                <a:r>
                  <a:rPr lang="en-US" dirty="0"/>
                  <a:t>correspondences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716465"/>
              </a:xfrm>
              <a:blipFill rotWithShape="0">
                <a:blip r:embed="rId4"/>
                <a:stretch>
                  <a:fillRect l="-1043" t="-206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02FCCDB2-26BF-3240-AB22-7BAF09D6F93A}"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sp>
        <p:nvSpPr>
          <p:cNvPr id="9" name="TextBox 8"/>
          <p:cNvSpPr txBox="1"/>
          <p:nvPr/>
        </p:nvSpPr>
        <p:spPr>
          <a:xfrm>
            <a:off x="8610600" y="3564146"/>
            <a:ext cx="740908" cy="369332"/>
          </a:xfrm>
          <a:prstGeom prst="rect">
            <a:avLst/>
          </a:prstGeom>
          <a:noFill/>
        </p:spPr>
        <p:txBody>
          <a:bodyPr wrap="none" rtlCol="0">
            <a:spAutoFit/>
          </a:bodyPr>
          <a:lstStyle/>
          <a:p>
            <a:r>
              <a:rPr lang="en-US" dirty="0"/>
              <a:t>12 x 1</a:t>
            </a:r>
          </a:p>
        </p:txBody>
      </p:sp>
      <p:sp>
        <p:nvSpPr>
          <p:cNvPr id="10" name="TextBox 9"/>
          <p:cNvSpPr txBox="1"/>
          <p:nvPr/>
        </p:nvSpPr>
        <p:spPr>
          <a:xfrm>
            <a:off x="3905250" y="3456447"/>
            <a:ext cx="2190750" cy="646331"/>
          </a:xfrm>
          <a:prstGeom prst="rect">
            <a:avLst/>
          </a:prstGeom>
          <a:noFill/>
        </p:spPr>
        <p:txBody>
          <a:bodyPr wrap="square" rtlCol="0">
            <a:spAutoFit/>
          </a:bodyPr>
          <a:lstStyle/>
          <a:p>
            <a:r>
              <a:rPr lang="en-US" dirty="0"/>
              <a:t>12 x 1 vector </a:t>
            </a:r>
            <a:r>
              <a:rPr lang="en-US"/>
              <a:t>of unknown coefficients</a:t>
            </a:r>
            <a:endParaRPr lang="en-US" dirty="0"/>
          </a:p>
        </p:txBody>
      </p:sp>
      <p:sp>
        <p:nvSpPr>
          <p:cNvPr id="11" name="TextBox 10"/>
          <p:cNvSpPr txBox="1"/>
          <p:nvPr/>
        </p:nvSpPr>
        <p:spPr>
          <a:xfrm>
            <a:off x="1143539" y="3481861"/>
            <a:ext cx="2190750" cy="646331"/>
          </a:xfrm>
          <a:prstGeom prst="rect">
            <a:avLst/>
          </a:prstGeom>
          <a:noFill/>
        </p:spPr>
        <p:txBody>
          <a:bodyPr wrap="square" rtlCol="0">
            <a:spAutoFit/>
          </a:bodyPr>
          <a:lstStyle/>
          <a:p>
            <a:r>
              <a:rPr lang="en-US" dirty="0"/>
              <a:t>2</a:t>
            </a:r>
            <a:r>
              <a:rPr lang="en-US" i="1" dirty="0"/>
              <a:t>n</a:t>
            </a:r>
            <a:r>
              <a:rPr lang="en-US" dirty="0"/>
              <a:t> x 12 matrix of known coefficients</a:t>
            </a:r>
          </a:p>
        </p:txBody>
      </p:sp>
      <p:cxnSp>
        <p:nvCxnSpPr>
          <p:cNvPr id="12" name="Straight Arrow Connector 11"/>
          <p:cNvCxnSpPr/>
          <p:nvPr/>
        </p:nvCxnSpPr>
        <p:spPr>
          <a:xfrm flipV="1">
            <a:off x="2847975" y="3042084"/>
            <a:ext cx="457200" cy="263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826952" y="3042084"/>
            <a:ext cx="423296" cy="263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29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To find non-zero solution</a:t>
                </a:r>
              </a:p>
              <a:p>
                <a:endParaRPr lang="en-US" dirty="0"/>
              </a:p>
              <a:p>
                <a:endParaRPr lang="en-US" dirty="0"/>
              </a:p>
              <a:p>
                <a:endParaRPr lang="en-US" dirty="0"/>
              </a:p>
              <a:p>
                <a:r>
                  <a:rPr lang="en-US" dirty="0"/>
                  <a:t>Solution: select eigenvector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charset="0"/>
                          </a:rPr>
                          <m:t> </m:t>
                        </m:r>
                        <m:acc>
                          <m:accPr>
                            <m:chr m:val="̃"/>
                            <m:ctrlPr>
                              <a:rPr lang="en-US" i="1">
                                <a:latin typeface="Cambria Math" panose="02040503050406030204" pitchFamily="18" charset="0"/>
                              </a:rPr>
                            </m:ctrlPr>
                          </m:accPr>
                          <m:e>
                            <m:r>
                              <a:rPr lang="en-US" i="1">
                                <a:latin typeface="Cambria Math" charset="0"/>
                              </a:rPr>
                              <m:t>𝑃</m:t>
                            </m:r>
                          </m:e>
                        </m:acc>
                      </m:e>
                      <m:sup>
                        <m:r>
                          <a:rPr lang="en-US" b="0" i="1" smtClean="0">
                            <a:latin typeface="Cambria Math" charset="0"/>
                          </a:rPr>
                          <m:t>𝑇</m:t>
                        </m:r>
                      </m:sup>
                    </m:sSup>
                    <m:acc>
                      <m:accPr>
                        <m:chr m:val="̃"/>
                        <m:ctrlPr>
                          <a:rPr lang="en-US" i="1">
                            <a:latin typeface="Cambria Math" panose="02040503050406030204" pitchFamily="18" charset="0"/>
                          </a:rPr>
                        </m:ctrlPr>
                      </m:accPr>
                      <m:e>
                        <m:r>
                          <a:rPr lang="en-US" i="1">
                            <a:latin typeface="Cambria Math" charset="0"/>
                          </a:rPr>
                          <m:t>𝑃</m:t>
                        </m:r>
                      </m:e>
                    </m:acc>
                  </m:oMath>
                </a14:m>
                <a:r>
                  <a:rPr lang="en-US" dirty="0"/>
                  <a:t> with the smallest eigenvalue</a:t>
                </a:r>
              </a:p>
              <a:p>
                <a:r>
                  <a:rPr lang="en-US" dirty="0"/>
                  <a:t>Readily computed via SVD (singular value decomposition)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E7C26461-18D1-A449-980F-E3764B268569}"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9" name="Picture 8"/>
          <p:cNvPicPr>
            <a:picLocks noChangeAspect="1"/>
          </p:cNvPicPr>
          <p:nvPr/>
        </p:nvPicPr>
        <p:blipFill>
          <a:blip r:embed="rId4"/>
          <a:stretch>
            <a:fillRect/>
          </a:stretch>
        </p:blipFill>
        <p:spPr>
          <a:xfrm>
            <a:off x="4343400" y="2316426"/>
            <a:ext cx="3513137" cy="1233225"/>
          </a:xfrm>
          <a:prstGeom prst="rect">
            <a:avLst/>
          </a:prstGeom>
        </p:spPr>
      </p:pic>
    </p:spTree>
    <p:extLst>
      <p:ext uri="{BB962C8B-B14F-4D97-AF65-F5344CB8AC3E}">
        <p14:creationId xmlns:p14="http://schemas.microsoft.com/office/powerpoint/2010/main" val="112409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Next, we need to extract the camera parameters, i.e., we want to factorize </a:t>
                </a:r>
                <a:r>
                  <a:rPr lang="en-US" i="1" dirty="0"/>
                  <a:t>M</a:t>
                </a:r>
                <a:r>
                  <a:rPr lang="en-US" dirty="0"/>
                  <a:t> as</a:t>
                </a:r>
              </a:p>
              <a:p>
                <a:endParaRPr lang="en-US" i="1" dirty="0"/>
              </a:p>
              <a:p>
                <a:endParaRPr lang="en-US" i="1" dirty="0"/>
              </a:p>
              <a:p>
                <a:r>
                  <a:rPr lang="en-US" dirty="0"/>
                  <a:t>This can be done efficiently (indeed, explicitly) by using RQ factorization, whereby the submatrix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charset="0"/>
                          </a:rPr>
                          <m:t>M</m:t>
                        </m:r>
                      </m:e>
                      <m:sub>
                        <m:r>
                          <a:rPr lang="en-US" b="0" i="1" smtClean="0">
                            <a:latin typeface="Cambria Math" charset="0"/>
                          </a:rPr>
                          <m:t>1:3</m:t>
                        </m:r>
                        <m:r>
                          <a:rPr lang="en-US" b="0" i="1" smtClean="0">
                            <a:latin typeface="Cambria Math" panose="02040503050406030204" pitchFamily="18" charset="0"/>
                          </a:rPr>
                          <m:t>,1:</m:t>
                        </m:r>
                        <m:r>
                          <a:rPr lang="en-US" b="0" i="1" smtClean="0">
                            <a:latin typeface="Cambria Math" charset="0"/>
                          </a:rPr>
                          <m:t>3</m:t>
                        </m:r>
                      </m:sub>
                    </m:sSub>
                  </m:oMath>
                </a14:m>
                <a:r>
                  <a:rPr lang="en-US" dirty="0"/>
                  <a:t> is decomposed into the product of an upper triangular matrix </a:t>
                </a:r>
                <a:r>
                  <a:rPr lang="en-US" i="1" dirty="0"/>
                  <a:t>K</a:t>
                </a:r>
                <a:r>
                  <a:rPr lang="en-US" dirty="0"/>
                  <a:t> and a rotation matrix </a:t>
                </a:r>
                <a:r>
                  <a:rPr lang="en-US" i="1" dirty="0"/>
                  <a:t>R</a:t>
                </a:r>
              </a:p>
              <a:p>
                <a:endParaRPr lang="en-US" i="1" dirty="0"/>
              </a:p>
              <a:p>
                <a:r>
                  <a:rPr lang="en-US" dirty="0"/>
                  <a:t>These concepts will be investigated further in </a:t>
                </a:r>
                <a:r>
                  <a:rPr lang="en-US" dirty="0">
                    <a:solidFill>
                      <a:srgbClr val="C00000"/>
                    </a:solidFill>
                  </a:rPr>
                  <a:t>Problem 1 in HW3</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86" t="-2326" r="-483" b="-29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320C0CB-522F-9D49-B14E-32E1EAA9393F}"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9" name="Picture 8"/>
          <p:cNvPicPr>
            <a:picLocks noChangeAspect="1"/>
          </p:cNvPicPr>
          <p:nvPr/>
        </p:nvPicPr>
        <p:blipFill>
          <a:blip r:embed="rId4"/>
          <a:stretch>
            <a:fillRect/>
          </a:stretch>
        </p:blipFill>
        <p:spPr>
          <a:xfrm>
            <a:off x="4672013" y="2940466"/>
            <a:ext cx="2844800" cy="431384"/>
          </a:xfrm>
          <a:prstGeom prst="rect">
            <a:avLst/>
          </a:prstGeom>
        </p:spPr>
      </p:pic>
    </p:spTree>
    <p:extLst>
      <p:ext uri="{BB962C8B-B14F-4D97-AF65-F5344CB8AC3E}">
        <p14:creationId xmlns:p14="http://schemas.microsoft.com/office/powerpoint/2010/main" val="169265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depth</a:t>
            </a:r>
          </a:p>
        </p:txBody>
      </p:sp>
      <p:sp>
        <p:nvSpPr>
          <p:cNvPr id="4" name="Date Placeholder 3"/>
          <p:cNvSpPr>
            <a:spLocks noGrp="1"/>
          </p:cNvSpPr>
          <p:nvPr>
            <p:ph type="dt" sz="half" idx="10"/>
          </p:nvPr>
        </p:nvSpPr>
        <p:spPr/>
        <p:txBody>
          <a:bodyPr/>
          <a:lstStyle/>
          <a:p>
            <a:fld id="{656DF391-C9ED-F646-A0B7-F97748F9567B}"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352976"/>
            <a:ext cx="7143848" cy="3053325"/>
          </a:xfrm>
        </p:spPr>
      </p:pic>
      <p:pic>
        <p:nvPicPr>
          <p:cNvPr id="8" name="Picture 7"/>
          <p:cNvPicPr>
            <a:picLocks noChangeAspect="1"/>
          </p:cNvPicPr>
          <p:nvPr/>
        </p:nvPicPr>
        <p:blipFill>
          <a:blip r:embed="rId4"/>
          <a:stretch>
            <a:fillRect/>
          </a:stretch>
        </p:blipFill>
        <p:spPr>
          <a:xfrm>
            <a:off x="8610600" y="2115010"/>
            <a:ext cx="2828482" cy="453824"/>
          </a:xfrm>
          <a:prstGeom prst="rect">
            <a:avLst/>
          </a:prstGeom>
        </p:spPr>
      </p:pic>
      <p:sp>
        <p:nvSpPr>
          <p:cNvPr id="9" name="TextBox 8"/>
          <p:cNvSpPr txBox="1"/>
          <p:nvPr/>
        </p:nvSpPr>
        <p:spPr>
          <a:xfrm>
            <a:off x="8548686" y="2950100"/>
            <a:ext cx="2860065" cy="369332"/>
          </a:xfrm>
          <a:prstGeom prst="rect">
            <a:avLst/>
          </a:prstGeom>
          <a:noFill/>
        </p:spPr>
        <p:txBody>
          <a:bodyPr wrap="square" rtlCol="0">
            <a:spAutoFit/>
          </a:bodyPr>
          <a:lstStyle/>
          <a:p>
            <a:pPr algn="ctr"/>
            <a:r>
              <a:rPr lang="en-US" dirty="0"/>
              <a:t>Homogeneous coordinates</a:t>
            </a:r>
          </a:p>
        </p:txBody>
      </p:sp>
      <p:cxnSp>
        <p:nvCxnSpPr>
          <p:cNvPr id="10" name="Straight Arrow Connector 9"/>
          <p:cNvCxnSpPr/>
          <p:nvPr/>
        </p:nvCxnSpPr>
        <p:spPr>
          <a:xfrm flipH="1" flipV="1">
            <a:off x="8662987" y="2626721"/>
            <a:ext cx="481013" cy="36643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0801350" y="2656858"/>
            <a:ext cx="414338" cy="33629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838200" y="4699542"/>
            <a:ext cx="10515600" cy="1601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p>
        </p:txBody>
      </p:sp>
      <p:sp>
        <p:nvSpPr>
          <p:cNvPr id="17" name="Content Placeholder 2"/>
          <p:cNvSpPr txBox="1">
            <a:spLocks/>
          </p:cNvSpPr>
          <p:nvPr/>
        </p:nvSpPr>
        <p:spPr>
          <a:xfrm>
            <a:off x="838200" y="4699542"/>
            <a:ext cx="10777538" cy="1601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Once the camera is calibrated, can we measure the location of a point </a:t>
            </a:r>
            <a:r>
              <a:rPr lang="en-US" i="1" dirty="0"/>
              <a:t>P</a:t>
            </a:r>
            <a:r>
              <a:rPr lang="en-US" dirty="0"/>
              <a:t> in 3D given its known observation </a:t>
            </a:r>
            <a:r>
              <a:rPr lang="en-US" i="1" dirty="0"/>
              <a:t>p</a:t>
            </a:r>
            <a:r>
              <a:rPr lang="en-US" dirty="0"/>
              <a:t>? </a:t>
            </a:r>
          </a:p>
          <a:p>
            <a:pPr lvl="1"/>
            <a:r>
              <a:rPr lang="en-US" dirty="0">
                <a:solidFill>
                  <a:srgbClr val="C00000"/>
                </a:solidFill>
              </a:rPr>
              <a:t>No</a:t>
            </a:r>
            <a:r>
              <a:rPr lang="en-US" dirty="0"/>
              <a:t>: one can only say that </a:t>
            </a:r>
            <a:r>
              <a:rPr lang="en-US" i="1" dirty="0"/>
              <a:t>P</a:t>
            </a:r>
            <a:r>
              <a:rPr lang="en-US" dirty="0"/>
              <a:t> is located </a:t>
            </a:r>
            <a:r>
              <a:rPr lang="en-US" i="1" dirty="0"/>
              <a:t>somewhere</a:t>
            </a:r>
            <a:r>
              <a:rPr lang="en-US" dirty="0"/>
              <a:t> along the line joining </a:t>
            </a:r>
            <a:r>
              <a:rPr lang="en-US" i="1" dirty="0"/>
              <a:t>p </a:t>
            </a:r>
            <a:r>
              <a:rPr lang="en-US" dirty="0"/>
              <a:t>and</a:t>
            </a:r>
            <a:r>
              <a:rPr lang="en-US" i="1" dirty="0"/>
              <a:t> O</a:t>
            </a:r>
            <a:r>
              <a:rPr lang="en-US" dirty="0"/>
              <a:t>!  </a:t>
            </a:r>
          </a:p>
          <a:p>
            <a:pPr lvl="1"/>
            <a:endParaRPr lang="en-US" dirty="0"/>
          </a:p>
          <a:p>
            <a:pPr lvl="1"/>
            <a:endParaRPr lang="en-US" dirty="0"/>
          </a:p>
        </p:txBody>
      </p:sp>
      <p:sp>
        <p:nvSpPr>
          <p:cNvPr id="18" name="TextBox 17"/>
          <p:cNvSpPr txBox="1"/>
          <p:nvPr/>
        </p:nvSpPr>
        <p:spPr>
          <a:xfrm>
            <a:off x="4410124" y="1799263"/>
            <a:ext cx="1490614" cy="369332"/>
          </a:xfrm>
          <a:prstGeom prst="rect">
            <a:avLst/>
          </a:prstGeom>
          <a:noFill/>
        </p:spPr>
        <p:txBody>
          <a:bodyPr wrap="square" rtlCol="0">
            <a:spAutoFit/>
          </a:bodyPr>
          <a:lstStyle/>
          <a:p>
            <a:pPr algn="ctr"/>
            <a:r>
              <a:rPr lang="en-US" dirty="0"/>
              <a:t>Line </a:t>
            </a:r>
            <a:r>
              <a:rPr lang="en-US"/>
              <a:t>of sight</a:t>
            </a:r>
            <a:endParaRPr lang="en-US" dirty="0"/>
          </a:p>
        </p:txBody>
      </p:sp>
      <p:cxnSp>
        <p:nvCxnSpPr>
          <p:cNvPr id="19" name="Straight Arrow Connector 18"/>
          <p:cNvCxnSpPr/>
          <p:nvPr/>
        </p:nvCxnSpPr>
        <p:spPr>
          <a:xfrm>
            <a:off x="4914900" y="2154307"/>
            <a:ext cx="0" cy="48826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464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with recovering structure</a:t>
            </a:r>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20333" y="1500188"/>
            <a:ext cx="5351333" cy="5041902"/>
          </a:xfrm>
        </p:spPr>
      </p:pic>
      <p:sp>
        <p:nvSpPr>
          <p:cNvPr id="4" name="Date Placeholder 3"/>
          <p:cNvSpPr>
            <a:spLocks noGrp="1"/>
          </p:cNvSpPr>
          <p:nvPr>
            <p:ph type="dt" sz="half" idx="10"/>
          </p:nvPr>
        </p:nvSpPr>
        <p:spPr/>
        <p:txBody>
          <a:bodyPr/>
          <a:lstStyle/>
          <a:p>
            <a:fld id="{5003CF10-FF63-3D49-B6EE-9C4C6E9319ED}"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spTree>
    <p:extLst>
      <p:ext uri="{BB962C8B-B14F-4D97-AF65-F5344CB8AC3E}">
        <p14:creationId xmlns:p14="http://schemas.microsoft.com/office/powerpoint/2010/main" val="2128235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Recovering structure</a:t>
            </a:r>
          </a:p>
        </p:txBody>
      </p:sp>
      <p:sp>
        <p:nvSpPr>
          <p:cNvPr id="3" name="Content Placeholder 2"/>
          <p:cNvSpPr>
            <a:spLocks noGrp="1"/>
          </p:cNvSpPr>
          <p:nvPr>
            <p:ph idx="1"/>
          </p:nvPr>
        </p:nvSpPr>
        <p:spPr>
          <a:xfrm>
            <a:off x="838200" y="1825624"/>
            <a:ext cx="10648950" cy="4716465"/>
          </a:xfrm>
        </p:spPr>
        <p:txBody>
          <a:bodyPr>
            <a:normAutofit/>
          </a:bodyPr>
          <a:lstStyle/>
          <a:p>
            <a:r>
              <a:rPr lang="en-US" dirty="0">
                <a:solidFill>
                  <a:srgbClr val="C00000"/>
                </a:solidFill>
              </a:rPr>
              <a:t>Structure</a:t>
            </a:r>
            <a:r>
              <a:rPr lang="en-US" dirty="0"/>
              <a:t>: 3D scene to be reconstructed by having access to 2D images</a:t>
            </a:r>
          </a:p>
          <a:p>
            <a:endParaRPr lang="en-US" dirty="0"/>
          </a:p>
          <a:p>
            <a:r>
              <a:rPr lang="en-US" dirty="0"/>
              <a:t>Common methods</a:t>
            </a:r>
          </a:p>
          <a:p>
            <a:pPr marL="971550" lvl="1" indent="-514350">
              <a:buFont typeface="+mj-lt"/>
              <a:buAutoNum type="arabicPeriod"/>
            </a:pPr>
            <a:r>
              <a:rPr lang="en-US" dirty="0"/>
              <a:t>Through recognition of landmarks (e.g., orthogonal walls)</a:t>
            </a:r>
          </a:p>
          <a:p>
            <a:pPr marL="971550" lvl="1" indent="-514350">
              <a:buFont typeface="+mj-lt"/>
              <a:buAutoNum type="arabicPeriod"/>
            </a:pPr>
            <a:r>
              <a:rPr lang="en-US" dirty="0"/>
              <a:t>Depth from focus: determines distance to one point by taking multiple images with better and better focus</a:t>
            </a:r>
          </a:p>
          <a:p>
            <a:pPr marL="971550" lvl="1" indent="-514350">
              <a:buFont typeface="+mj-lt"/>
              <a:buAutoNum type="arabicPeriod"/>
            </a:pPr>
            <a:r>
              <a:rPr lang="en-US" dirty="0"/>
              <a:t>Stereo vision: processes two distinct images taken at the </a:t>
            </a:r>
            <a:r>
              <a:rPr lang="en-US" i="1" dirty="0"/>
              <a:t>same time </a:t>
            </a:r>
            <a:r>
              <a:rPr lang="en-US" dirty="0"/>
              <a:t>and assumes that the relative pose between the two cameras is </a:t>
            </a:r>
            <a:r>
              <a:rPr lang="en-US" i="1" dirty="0"/>
              <a:t>known</a:t>
            </a:r>
          </a:p>
          <a:p>
            <a:pPr marL="971550" lvl="1" indent="-514350">
              <a:buFont typeface="+mj-lt"/>
              <a:buAutoNum type="arabicPeriod"/>
            </a:pPr>
            <a:r>
              <a:rPr lang="en-US" dirty="0"/>
              <a:t>Structure from motion: processes two images taken with the same or different cameras at </a:t>
            </a:r>
            <a:r>
              <a:rPr lang="en-US" i="1" dirty="0"/>
              <a:t>different times</a:t>
            </a:r>
            <a:r>
              <a:rPr lang="en-US" dirty="0"/>
              <a:t> and from different </a:t>
            </a:r>
            <a:r>
              <a:rPr lang="en-US" i="1" dirty="0"/>
              <a:t>unknown</a:t>
            </a:r>
            <a:r>
              <a:rPr lang="en-US" dirty="0"/>
              <a:t> positions</a:t>
            </a:r>
          </a:p>
        </p:txBody>
      </p:sp>
      <p:sp>
        <p:nvSpPr>
          <p:cNvPr id="4" name="Date Placeholder 3"/>
          <p:cNvSpPr>
            <a:spLocks noGrp="1"/>
          </p:cNvSpPr>
          <p:nvPr>
            <p:ph type="dt" sz="half" idx="10"/>
          </p:nvPr>
        </p:nvSpPr>
        <p:spPr/>
        <p:txBody>
          <a:bodyPr/>
          <a:lstStyle/>
          <a:p>
            <a:fld id="{BA224C7D-ECBC-D34A-8AA0-8EC728FD4F55}"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spTree>
    <p:extLst>
      <p:ext uri="{BB962C8B-B14F-4D97-AF65-F5344CB8AC3E}">
        <p14:creationId xmlns:p14="http://schemas.microsoft.com/office/powerpoint/2010/main" val="2176840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Stereopsis, or why we have two eyes</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0" y="1942309"/>
            <a:ext cx="5439172" cy="4351338"/>
          </a:xfrm>
        </p:spPr>
      </p:pic>
      <p:sp>
        <p:nvSpPr>
          <p:cNvPr id="4" name="Date Placeholder 3"/>
          <p:cNvSpPr>
            <a:spLocks noGrp="1"/>
          </p:cNvSpPr>
          <p:nvPr>
            <p:ph type="dt" sz="half" idx="10"/>
          </p:nvPr>
        </p:nvSpPr>
        <p:spPr/>
        <p:txBody>
          <a:bodyPr/>
          <a:lstStyle/>
          <a:p>
            <a:fld id="{7A84A4F2-0414-8D4D-B142-646010AAC0F4}"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7" name="Picture 6"/>
          <p:cNvPicPr>
            <a:picLocks noChangeAspect="1"/>
          </p:cNvPicPr>
          <p:nvPr/>
        </p:nvPicPr>
        <p:blipFill>
          <a:blip r:embed="rId4"/>
          <a:stretch>
            <a:fillRect/>
          </a:stretch>
        </p:blipFill>
        <p:spPr>
          <a:xfrm>
            <a:off x="1366838" y="1867219"/>
            <a:ext cx="3771900" cy="4498340"/>
          </a:xfrm>
          <a:prstGeom prst="rect">
            <a:avLst/>
          </a:prstGeom>
        </p:spPr>
      </p:pic>
    </p:spTree>
    <p:extLst>
      <p:ext uri="{BB962C8B-B14F-4D97-AF65-F5344CB8AC3E}">
        <p14:creationId xmlns:p14="http://schemas.microsoft.com/office/powerpoint/2010/main" val="314688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Binocular reconstruction</a:t>
            </a:r>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0500" y="1981993"/>
            <a:ext cx="5132084" cy="3961608"/>
          </a:xfrm>
        </p:spPr>
      </p:pic>
      <p:sp>
        <p:nvSpPr>
          <p:cNvPr id="4" name="Date Placeholder 3"/>
          <p:cNvSpPr>
            <a:spLocks noGrp="1"/>
          </p:cNvSpPr>
          <p:nvPr>
            <p:ph type="dt" sz="half" idx="10"/>
          </p:nvPr>
        </p:nvSpPr>
        <p:spPr/>
        <p:txBody>
          <a:bodyPr/>
          <a:lstStyle/>
          <a:p>
            <a:fld id="{45E31C4D-9052-FF44-BDBD-716BCC43D8DC}"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5322584" y="2710653"/>
                <a:ext cx="6687496" cy="2249077"/>
              </a:xfrm>
              <a:prstGeom prst="rect">
                <a:avLst/>
              </a:prstGeom>
              <a:noFill/>
            </p:spPr>
            <p:txBody>
              <a:bodyPr wrap="square" rtlCol="0">
                <a:spAutoFit/>
              </a:bodyPr>
              <a:lstStyle/>
              <a:p>
                <a:pPr marL="285750" indent="-285750">
                  <a:buFont typeface="Arial" charset="0"/>
                  <a:buChar char="•"/>
                </a:pPr>
                <a:r>
                  <a:rPr lang="en-US" sz="2800" dirty="0">
                    <a:solidFill>
                      <a:srgbClr val="C00000"/>
                    </a:solidFill>
                  </a:rPr>
                  <a:t>Given: </a:t>
                </a:r>
                <a:r>
                  <a:rPr lang="en-US" sz="2800" i="1" dirty="0">
                    <a:solidFill>
                      <a:schemeClr val="tx1"/>
                    </a:solidFill>
                  </a:rPr>
                  <a:t>calibrated</a:t>
                </a:r>
                <a:r>
                  <a:rPr lang="en-US" sz="2800" dirty="0">
                    <a:solidFill>
                      <a:schemeClr val="tx1"/>
                    </a:solidFill>
                  </a:rPr>
                  <a:t> stereo rig and two image matching points </a:t>
                </a:r>
                <a14:m>
                  <m:oMath xmlns:m="http://schemas.openxmlformats.org/officeDocument/2006/math">
                    <m:r>
                      <a:rPr lang="en-US" sz="2800" b="0" i="1" smtClean="0">
                        <a:solidFill>
                          <a:schemeClr val="tx1"/>
                        </a:solidFill>
                        <a:latin typeface="Cambria Math" charset="0"/>
                      </a:rPr>
                      <m:t>𝑝</m:t>
                    </m:r>
                  </m:oMath>
                </a14:m>
                <a:r>
                  <a:rPr lang="en-US" sz="2800" dirty="0">
                    <a:solidFill>
                      <a:schemeClr val="tx1"/>
                    </a:solidFill>
                  </a:rPr>
                  <a:t> and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i="1">
                            <a:solidFill>
                              <a:schemeClr val="tx1"/>
                            </a:solidFill>
                            <a:latin typeface="Cambria Math" charset="0"/>
                          </a:rPr>
                          <m:t>𝑝</m:t>
                        </m:r>
                      </m:e>
                      <m:sup>
                        <m:r>
                          <a:rPr lang="en-US" sz="2800" b="0" i="1" smtClean="0">
                            <a:solidFill>
                              <a:schemeClr val="tx1"/>
                            </a:solidFill>
                            <a:latin typeface="Cambria Math" charset="0"/>
                          </a:rPr>
                          <m:t>′</m:t>
                        </m:r>
                      </m:sup>
                    </m:sSup>
                  </m:oMath>
                </a14:m>
                <a:endParaRPr lang="en-US" sz="2800" dirty="0">
                  <a:solidFill>
                    <a:srgbClr val="C00000"/>
                  </a:solidFill>
                </a:endParaRPr>
              </a:p>
              <a:p>
                <a:pPr marL="285750" indent="-285750">
                  <a:buFont typeface="Arial" charset="0"/>
                  <a:buChar char="•"/>
                </a:pPr>
                <a:r>
                  <a:rPr lang="en-US" sz="2800" dirty="0">
                    <a:solidFill>
                      <a:srgbClr val="C00000"/>
                    </a:solidFill>
                  </a:rPr>
                  <a:t>Find </a:t>
                </a:r>
                <a:r>
                  <a:rPr lang="en-US" sz="2800" dirty="0"/>
                  <a:t>corresponding scene point by intersecting the two rays</a:t>
                </a:r>
                <a14:m>
                  <m:oMath xmlns:m="http://schemas.openxmlformats.org/officeDocument/2006/math">
                    <m:r>
                      <a:rPr lang="en-US" sz="2800" b="0" i="0" smtClean="0">
                        <a:latin typeface="Cambria Math" charset="0"/>
                      </a:rPr>
                      <m:t> </m:t>
                    </m:r>
                    <m:acc>
                      <m:accPr>
                        <m:chr m:val="̅"/>
                        <m:ctrlPr>
                          <a:rPr lang="en-US" sz="2800" b="0" i="1" smtClean="0">
                            <a:latin typeface="Cambria Math" panose="02040503050406030204" pitchFamily="18" charset="0"/>
                          </a:rPr>
                        </m:ctrlPr>
                      </m:accPr>
                      <m:e>
                        <m:r>
                          <a:rPr lang="en-US" sz="2800" b="0" i="1" smtClean="0">
                            <a:latin typeface="Cambria Math" charset="0"/>
                          </a:rPr>
                          <m:t>𝑂𝑝</m:t>
                        </m:r>
                      </m:e>
                    </m:acc>
                  </m:oMath>
                </a14:m>
                <a:r>
                  <a:rPr lang="en-US" sz="2800" dirty="0">
                    <a:solidFill>
                      <a:srgbClr val="C00000"/>
                    </a:solidFill>
                  </a:rPr>
                  <a:t> </a:t>
                </a:r>
                <a:r>
                  <a:rPr lang="en-US" sz="2800" dirty="0"/>
                  <a:t>and</a:t>
                </a:r>
                <a:r>
                  <a:rPr lang="en-US" sz="2800" dirty="0">
                    <a:solidFill>
                      <a:srgbClr val="C00000"/>
                    </a:solidFill>
                  </a:rPr>
                  <a:t> </a:t>
                </a:r>
                <a14:m>
                  <m:oMath xmlns:m="http://schemas.openxmlformats.org/officeDocument/2006/math">
                    <m:acc>
                      <m:accPr>
                        <m:chr m:val="̅"/>
                        <m:ctrlPr>
                          <a:rPr lang="en-US" sz="2800" i="1">
                            <a:latin typeface="Cambria Math" panose="02040503050406030204" pitchFamily="18" charset="0"/>
                          </a:rPr>
                        </m:ctrlPr>
                      </m:accPr>
                      <m:e>
                        <m:sSup>
                          <m:sSupPr>
                            <m:ctrlPr>
                              <a:rPr lang="en-US" sz="2800" b="0" i="1" smtClean="0">
                                <a:latin typeface="Cambria Math" panose="02040503050406030204" pitchFamily="18" charset="0"/>
                              </a:rPr>
                            </m:ctrlPr>
                          </m:sSupPr>
                          <m:e>
                            <m:r>
                              <a:rPr lang="en-US" sz="2800" i="1">
                                <a:latin typeface="Cambria Math" charset="0"/>
                              </a:rPr>
                              <m:t>𝑂</m:t>
                            </m:r>
                          </m:e>
                          <m:sup>
                            <m:r>
                              <a:rPr lang="en-US" sz="2800" b="0" i="1" smtClean="0">
                                <a:latin typeface="Cambria Math" charset="0"/>
                              </a:rPr>
                              <m:t>′</m:t>
                            </m:r>
                          </m:sup>
                        </m:sSup>
                        <m:sSup>
                          <m:sSupPr>
                            <m:ctrlPr>
                              <a:rPr lang="en-US" sz="2800" b="0" i="1" smtClean="0">
                                <a:latin typeface="Cambria Math" panose="02040503050406030204" pitchFamily="18" charset="0"/>
                              </a:rPr>
                            </m:ctrlPr>
                          </m:sSupPr>
                          <m:e>
                            <m:r>
                              <a:rPr lang="en-US" sz="2800" i="1">
                                <a:latin typeface="Cambria Math" charset="0"/>
                              </a:rPr>
                              <m:t>𝑝</m:t>
                            </m:r>
                          </m:e>
                          <m:sup>
                            <m:r>
                              <a:rPr lang="en-US" sz="2800" b="0" i="1" smtClean="0">
                                <a:latin typeface="Cambria Math" charset="0"/>
                              </a:rPr>
                              <m:t>′</m:t>
                            </m:r>
                          </m:sup>
                        </m:sSup>
                      </m:e>
                    </m:acc>
                  </m:oMath>
                </a14:m>
                <a:r>
                  <a:rPr lang="en-US" sz="2800" dirty="0"/>
                  <a:t> (process known as </a:t>
                </a:r>
                <a:r>
                  <a:rPr lang="en-US" sz="2800" dirty="0">
                    <a:solidFill>
                      <a:srgbClr val="C00000"/>
                    </a:solidFill>
                  </a:rPr>
                  <a:t>triangulation</a:t>
                </a:r>
                <a:r>
                  <a:rPr lang="en-US" sz="2800"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5322584" y="2710653"/>
                <a:ext cx="6687496" cy="2249077"/>
              </a:xfrm>
              <a:prstGeom prst="rect">
                <a:avLst/>
              </a:prstGeom>
              <a:blipFill>
                <a:blip r:embed="rId4"/>
                <a:stretch>
                  <a:fillRect l="-1515" t="-2235" r="-1326" b="-6145"/>
                </a:stretch>
              </a:blipFill>
            </p:spPr>
            <p:txBody>
              <a:bodyPr/>
              <a:lstStyle/>
              <a:p>
                <a:r>
                  <a:rPr lang="en-US">
                    <a:noFill/>
                  </a:rPr>
                  <a:t> </a:t>
                </a:r>
              </a:p>
            </p:txBody>
          </p:sp>
        </mc:Fallback>
      </mc:AlternateContent>
    </p:spTree>
    <p:extLst>
      <p:ext uri="{BB962C8B-B14F-4D97-AF65-F5344CB8AC3E}">
        <p14:creationId xmlns:p14="http://schemas.microsoft.com/office/powerpoint/2010/main" val="2092404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Approximate triangulation</a:t>
            </a:r>
          </a:p>
        </p:txBody>
      </p:sp>
      <p:sp>
        <p:nvSpPr>
          <p:cNvPr id="4" name="Date Placeholder 3"/>
          <p:cNvSpPr>
            <a:spLocks noGrp="1"/>
          </p:cNvSpPr>
          <p:nvPr>
            <p:ph type="dt" sz="half" idx="10"/>
          </p:nvPr>
        </p:nvSpPr>
        <p:spPr/>
        <p:txBody>
          <a:bodyPr/>
          <a:lstStyle/>
          <a:p>
            <a:fld id="{B4BC7CAC-A1BE-D145-9147-D96518662327}"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8" y="1690688"/>
            <a:ext cx="7127524" cy="4070350"/>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7429149" y="1853403"/>
                <a:ext cx="4615213" cy="2246769"/>
              </a:xfrm>
              <a:prstGeom prst="rect">
                <a:avLst/>
              </a:prstGeom>
              <a:noFill/>
            </p:spPr>
            <p:txBody>
              <a:bodyPr wrap="square" rtlCol="0">
                <a:spAutoFit/>
              </a:bodyPr>
              <a:lstStyle/>
              <a:p>
                <a:pPr marL="285750" indent="-285750">
                  <a:buFont typeface="Arial" charset="0"/>
                  <a:buChar char="•"/>
                </a:pPr>
                <a:r>
                  <a:rPr lang="en-US" sz="2800" dirty="0">
                    <a:solidFill>
                      <a:schemeClr val="tx1"/>
                    </a:solidFill>
                  </a:rPr>
                  <a:t>Due to noise,</a:t>
                </a:r>
                <a:r>
                  <a:rPr lang="en-US" sz="2800" dirty="0">
                    <a:solidFill>
                      <a:srgbClr val="C00000"/>
                    </a:solidFill>
                  </a:rPr>
                  <a:t> </a:t>
                </a:r>
                <a:r>
                  <a:rPr lang="en-US" sz="2800" dirty="0"/>
                  <a:t>triangulation problem is often solved as finding the point </a:t>
                </a:r>
                <a:r>
                  <a:rPr lang="en-US" sz="2800" i="1" dirty="0"/>
                  <a:t>Q </a:t>
                </a:r>
                <a:r>
                  <a:rPr lang="en-US" sz="2800" dirty="0"/>
                  <a:t>with images</a:t>
                </a:r>
                <a:r>
                  <a:rPr lang="en-US" sz="2800" i="1" dirty="0"/>
                  <a:t> </a:t>
                </a:r>
                <a14:m>
                  <m:oMath xmlns:m="http://schemas.openxmlformats.org/officeDocument/2006/math">
                    <m:r>
                      <a:rPr lang="en-US" sz="2800" b="0" i="1" smtClean="0">
                        <a:latin typeface="Cambria Math" charset="0"/>
                      </a:rPr>
                      <m:t>𝑞</m:t>
                    </m:r>
                  </m:oMath>
                </a14:m>
                <a:r>
                  <a:rPr lang="en-US" sz="2800" dirty="0"/>
                  <a:t> and </a:t>
                </a:r>
                <a14:m>
                  <m:oMath xmlns:m="http://schemas.openxmlformats.org/officeDocument/2006/math">
                    <m:sSup>
                      <m:sSupPr>
                        <m:ctrlPr>
                          <a:rPr lang="en-US" sz="2800" i="1">
                            <a:latin typeface="Cambria Math" panose="02040503050406030204" pitchFamily="18" charset="0"/>
                          </a:rPr>
                        </m:ctrlPr>
                      </m:sSupPr>
                      <m:e>
                        <m:r>
                          <a:rPr lang="en-US" sz="2800" b="0" i="1" smtClean="0">
                            <a:latin typeface="Cambria Math" charset="0"/>
                          </a:rPr>
                          <m:t>𝑞</m:t>
                        </m:r>
                      </m:e>
                      <m:sup>
                        <m:r>
                          <a:rPr lang="en-US" sz="2800" i="1">
                            <a:latin typeface="Cambria Math" charset="0"/>
                          </a:rPr>
                          <m:t>′</m:t>
                        </m:r>
                      </m:sup>
                    </m:sSup>
                  </m:oMath>
                </a14:m>
                <a:r>
                  <a:rPr lang="en-US" sz="2800" dirty="0"/>
                  <a:t> that minimizes</a:t>
                </a:r>
              </a:p>
            </p:txBody>
          </p:sp>
        </mc:Choice>
        <mc:Fallback xmlns="">
          <p:sp>
            <p:nvSpPr>
              <p:cNvPr id="9" name="TextBox 8"/>
              <p:cNvSpPr txBox="1">
                <a:spLocks noRot="1" noChangeAspect="1" noMove="1" noResize="1" noEditPoints="1" noAdjustHandles="1" noChangeArrowheads="1" noChangeShapeType="1" noTextEdit="1"/>
              </p:cNvSpPr>
              <p:nvPr/>
            </p:nvSpPr>
            <p:spPr>
              <a:xfrm>
                <a:off x="7429149" y="1853403"/>
                <a:ext cx="4615213" cy="2246769"/>
              </a:xfrm>
              <a:prstGeom prst="rect">
                <a:avLst/>
              </a:prstGeom>
              <a:blipFill rotWithShape="0">
                <a:blip r:embed="rId4"/>
                <a:stretch>
                  <a:fillRect l="-2378" t="-2439" b="-6775"/>
                </a:stretch>
              </a:blipFill>
            </p:spPr>
            <p:txBody>
              <a:bodyPr/>
              <a:lstStyle/>
              <a:p>
                <a:r>
                  <a:rPr lang="en-US">
                    <a:noFill/>
                  </a:rPr>
                  <a:t> </a:t>
                </a:r>
              </a:p>
            </p:txBody>
          </p:sp>
        </mc:Fallback>
      </mc:AlternateContent>
      <p:pic>
        <p:nvPicPr>
          <p:cNvPr id="10" name="Picture 9"/>
          <p:cNvPicPr>
            <a:picLocks noChangeAspect="1"/>
          </p:cNvPicPr>
          <p:nvPr/>
        </p:nvPicPr>
        <p:blipFill>
          <a:blip r:embed="rId5"/>
          <a:stretch>
            <a:fillRect/>
          </a:stretch>
        </p:blipFill>
        <p:spPr>
          <a:xfrm>
            <a:off x="8515525" y="4262887"/>
            <a:ext cx="2933349" cy="417595"/>
          </a:xfrm>
          <a:prstGeom prst="rect">
            <a:avLst/>
          </a:prstGeom>
        </p:spPr>
      </p:pic>
      <p:sp>
        <p:nvSpPr>
          <p:cNvPr id="3" name="Left Brace 2"/>
          <p:cNvSpPr/>
          <p:nvPr/>
        </p:nvSpPr>
        <p:spPr>
          <a:xfrm rot="-5400000">
            <a:off x="9855675" y="3287057"/>
            <a:ext cx="253048" cy="3112279"/>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9096375" y="5005911"/>
            <a:ext cx="2257425" cy="369332"/>
          </a:xfrm>
          <a:prstGeom prst="rect">
            <a:avLst/>
          </a:prstGeom>
          <a:noFill/>
        </p:spPr>
        <p:txBody>
          <a:bodyPr wrap="square" rtlCol="0">
            <a:spAutoFit/>
          </a:bodyPr>
          <a:lstStyle/>
          <a:p>
            <a:r>
              <a:rPr lang="en-US"/>
              <a:t>Re-projection </a:t>
            </a:r>
            <a:r>
              <a:rPr lang="en-US" dirty="0"/>
              <a:t>error</a:t>
            </a:r>
          </a:p>
        </p:txBody>
      </p:sp>
    </p:spTree>
    <p:extLst>
      <p:ext uri="{BB962C8B-B14F-4D97-AF65-F5344CB8AC3E}">
        <p14:creationId xmlns:p14="http://schemas.microsoft.com/office/powerpoint/2010/main" val="2472688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88880" cy="1325563"/>
          </a:xfrm>
        </p:spPr>
        <p:txBody>
          <a:bodyPr/>
          <a:lstStyle/>
          <a:p>
            <a:r>
              <a:rPr lang="en-US" dirty="0"/>
              <a:t>Next time: image processing,</a:t>
            </a:r>
            <a:br>
              <a:rPr lang="en-US" dirty="0"/>
            </a:br>
            <a:r>
              <a:rPr lang="en-US" dirty="0"/>
              <a:t>		     feature detection &amp; description</a:t>
            </a:r>
          </a:p>
        </p:txBody>
      </p:sp>
      <p:sp>
        <p:nvSpPr>
          <p:cNvPr id="4" name="Date Placeholder 3"/>
          <p:cNvSpPr>
            <a:spLocks noGrp="1"/>
          </p:cNvSpPr>
          <p:nvPr>
            <p:ph type="dt" sz="half" idx="10"/>
          </p:nvPr>
        </p:nvSpPr>
        <p:spPr/>
        <p:txBody>
          <a:bodyPr/>
          <a:lstStyle/>
          <a:p>
            <a:fld id="{B47FBA6B-78FA-E24A-8DE8-8AE8746D8EE3}"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10</a:t>
            </a:r>
            <a:endParaRPr lang="en-US" dirty="0"/>
          </a:p>
        </p:txBody>
      </p:sp>
      <p:pic>
        <p:nvPicPr>
          <p:cNvPr id="8" name="Picture 7">
            <a:extLst>
              <a:ext uri="{FF2B5EF4-FFF2-40B4-BE49-F238E27FC236}">
                <a16:creationId xmlns:a16="http://schemas.microsoft.com/office/drawing/2014/main" id="{6960C1C9-BDF9-C74C-9EBA-841B9F6F1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6537" y="2684147"/>
            <a:ext cx="6638925" cy="2864483"/>
          </a:xfrm>
          <a:prstGeom prst="rect">
            <a:avLst/>
          </a:prstGeom>
        </p:spPr>
      </p:pic>
    </p:spTree>
    <p:extLst>
      <p:ext uri="{BB962C8B-B14F-4D97-AF65-F5344CB8AC3E}">
        <p14:creationId xmlns:p14="http://schemas.microsoft.com/office/powerpoint/2010/main" val="629011366"/>
      </p:ext>
    </p:extLst>
  </p:cSld>
  <p:clrMapOvr>
    <a:masterClrMapping/>
  </p:clrMapOvr>
</p:sld>
</file>

<file path=ppt/theme/theme1.xml><?xml version="1.0" encoding="utf-8"?>
<a:theme xmlns:a="http://schemas.openxmlformats.org/drawingml/2006/main" name="AA27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19934</TotalTime>
  <Words>4405</Words>
  <Application>Microsoft Office PowerPoint</Application>
  <PresentationFormat>Widescreen</PresentationFormat>
  <Paragraphs>444</Paragraphs>
  <Slides>26</Slides>
  <Notes>25</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AA274</vt:lpstr>
      <vt:lpstr>Principles of Robot Autonomy I</vt:lpstr>
      <vt:lpstr>Attendance Form</vt:lpstr>
      <vt:lpstr>Agenda</vt:lpstr>
      <vt:lpstr>Perspective projection</vt:lpstr>
      <vt:lpstr>Step 1</vt:lpstr>
      <vt:lpstr>Step 2.a</vt:lpstr>
      <vt:lpstr>Step 2.b</vt:lpstr>
      <vt:lpstr>Homogeneous coordinates</vt:lpstr>
      <vt:lpstr>Perspective projection in  homogeneous coordinates</vt:lpstr>
      <vt:lpstr>Skewness</vt:lpstr>
      <vt:lpstr>Step 3</vt:lpstr>
      <vt:lpstr>Rigid transformations</vt:lpstr>
      <vt:lpstr>Rigid transformations in  homogeneous coordinates</vt:lpstr>
      <vt:lpstr>Perspective projection equation</vt:lpstr>
      <vt:lpstr>Camera calibration:  direct linear transformation method</vt:lpstr>
      <vt:lpstr>Step 1</vt:lpstr>
      <vt:lpstr>Calibration problem </vt:lpstr>
      <vt:lpstr>Solution</vt:lpstr>
      <vt:lpstr>Step 2</vt:lpstr>
      <vt:lpstr>Measuring depth</vt:lpstr>
      <vt:lpstr>Issues with recovering structure</vt:lpstr>
      <vt:lpstr>Recovering structure</vt:lpstr>
      <vt:lpstr>Stereopsis, or why we have two eyes</vt:lpstr>
      <vt:lpstr>Binocular reconstruction</vt:lpstr>
      <vt:lpstr>Approximate triangulation</vt:lpstr>
      <vt:lpstr>Next time: image processing,        feature detection &amp; description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 274 Principles of Robotic Autonomy</dc:title>
  <dc:creator>Marco Pavone</dc:creator>
  <cp:lastModifiedBy>Marco Pavone</cp:lastModifiedBy>
  <cp:revision>366</cp:revision>
  <cp:lastPrinted>2018-01-24T20:15:58Z</cp:lastPrinted>
  <dcterms:created xsi:type="dcterms:W3CDTF">2017-01-06T12:29:52Z</dcterms:created>
  <dcterms:modified xsi:type="dcterms:W3CDTF">2025-12-20T20:21:42Z</dcterms:modified>
</cp:coreProperties>
</file>